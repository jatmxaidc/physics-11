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Hour 1: leftover L03 tables, HW answers, prefixes, compound, small angle. Hour 2: ASTC method, max-min, phasor.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Hour 1 leftover L03. Hour 2 new ASTC method, max-min, phasor.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Reciprocal of 0 is not defined. tan 90 and sec 90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Second quadrant: only sin and cosec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Third quadrant: only tan and cot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Fourth quadrant: only cos and sec positive. 360° is the same as 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Arc = Rθ. Never put 90° into this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it. Wherever you see π rad, put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slowly. π rad = 180. Half of that is 90. Quarter is 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Number times 180, divide by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Multiply by π/180. π alone is already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each full name. fm nucleus. pm atom spacing. nm light. μm cell. Å atom.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milli, centi, metre, kilo, mega. Earth radius is about 6.4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milli is thousandth. kilo is thousand. micro is millionth. nano is billionth. femto is a thousand-trillionth.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Plus for sum. Minus for difference. Say it 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Cosine of a sum has a minus. Cosine of a difference has a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Minus in the denominator for the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Put B = A in the compound lines. sin2θ = 2sin cos. cos2θ = 1 − 2sin².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tan = opposite/adjacent = h/l. So l = h/tanθ.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Wire is hypotenuse. After fall, extra bit = wire − base. None of four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a=l/2, b=l√3/2. tan60=(10+a)/b. l=10 m.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Brother angle. 120=180-60. 150=180-30. 240=180+60.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skip. Class notes stop before small angle. Teach 71–82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θ ≤ 5°. sinθ≈θ, tanθ≈θ in radian. cosθ≈1.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π/90, π/60, 1. Convert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Option 2. Not 2°, not 2 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(13) sin θ. (14) − cos θ. This was tonight of last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 PT, B QT, C QT, D PS. Option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Those two allied lines and the match-column are now on the board. Compound ten times still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180=π. Arc=Rθ in radian. This was last-class slides 79–80.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the three compound pairs. Prefix full names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class slides 81–82. sinθ≈θ, tanθ≈θ in radian. cosθ≈1. tan2° is π/90.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Hour 1 leftover L03 done. Hour 2: ASTC method, max-min, phasor.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Sign from ASTC. Function changes only at 90 and 270. Reciprocals swap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point. 90+θ and 180−θ are second. 180+θ and 270−θ are third. Negative is fourth.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They say each line. 90 changes the function. 180 keeps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450 is 360+90. 540 is 360+180. Reduce first, then the same three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Both −√3/2 and −1/2. Two routes, same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405=45. 480=120. 780=60.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green column. 510=150. cot 210 = cot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2 sin37 cos37 = 24/25.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√[(1−cos45)/2] = √[(√2−1)/(2√2)].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Hour 1 done. Allied method locked. Hour 2 is max-min then phasor.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sin max +1 at 90. cos max +1 at 0. sin min −1 at 270. cos min −1 at 180.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ymax +6 at 90. ymin −6 at 270.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ymax=4. Angle 3θ=90 so θ=30.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sin2θ max at 2θ=90, θ=45. Rmax=u²/g.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3sin+4sin=7sin. ymax=7 at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3+2sin: 5 and +1. 3+4sin: 7 and −1. 3sin−4: −1 and −7.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Amplitude is √(a²+b²). They cannot both be +1 at the same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√25=5. min −5.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Bigger denominator, smaller fraction. ymin mag = 4/√13.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5, √13, 6 and −4, 3 and −1,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Phase is the whole argument. Used later in SHM, waves, AC, optics, EM,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Same ratio. Δφ = φ2 − φ1. Plus is lead. Minus is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+30 − (−60) = 90. Phasor: +30 and −60 on the sin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cos(ωt−90)=sin(ωt). Δφ=0. Naked subtract gives a fake 90°.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cos(ωt+π/2)= −sin(ωt). Δφ=180°.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150° and 135°. Then 30° leftover as a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Convert V to sine. 90−(−30)=120=2π/3.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I=sin(ωt−π/2). Δφ=π/3.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d = 40(√3 − 1/√3)=80/√3.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sin75=cos15. 2(1+sin30)=3.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θ=30. √3(√3/2 + 2/√3)=7/2. Option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cos=2/3. tan=√5/2. sec=3/2. Answer √5/2 + 6.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Range of tan⁻¹ is (−π/2, π/2). Only π/4. Not 5π/4.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Convert to the same ratio first. Answers stay off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before next lecture. Compound and ASTC three steps on a rough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the three steps. 90 and 270 change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both boxes. Do not add a and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function first. Then subtract. Fake 90° if you skip the convert.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D646"/>
                </a:solidFill>
                <a:latin typeface="Aptos"/>
              </a:rPr>
              <a:t>Leftover last class, then ASTC, max–min,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4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Full table  0° to 360°  for all six ratios, then arc and radian ↔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Last-class homework  —  slides 21, 23, 25, 33, 35, 37, 49  —  answers in simple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Length prefixes with full names, then compound  sin / cos /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Pending last class, slides 71–82  —  small angle, then allied 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ASTC method  —  sign first, then change the function only at 90° and 270°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Maximum and minimum, then phase / phasor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3892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tan 90° and sec 90° are not defined. cosec 0° and cot 0° are not defined.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90° to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135°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150°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−2/√3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3892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Second quadrant: only sin and cosec are positive. cot 180° and cosec 180° are not defined.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180° to 270°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210°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225°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240°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270°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−2/√3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−2/√3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3892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Third quadrant: only tan and cot are positive. tan 270° and sec 270° are not defined.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270°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270°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300°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315°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330°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360°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−2/√3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3892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Fourth quadrant: only cos and sec are positive. 360° repeats 0°. Never write cosec 360°.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Arc length — θ must be in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Arc length  =  R θ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78992"/>
            <a:ext cx="448056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225295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θ in radian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Practical unit of angle: degree.     SI unit of angle: radian.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+θ anti-clockwise.     −θ clockwise.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59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the object turns 90° on a circle of radius R, first change 90° to π/2. Distance = πR/2. Never R × 90°.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one line:  180° = π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Lock this. Every conversion starts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degree → radian:     multiply by  π/180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radian → degree:     multiply by  180/π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write π = 180°. Write π rad = 180°.  π with no degree mark is already radian.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21 — six conversions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21. Convert each. Easy rule:  π rad  =  180°.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you see π, put 180°. If you see a degree, multiply by π/180.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π/2 rad  =  180°/2  = 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π/4 rad  =  180°/4  =  45°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π/6 rad  =  180°/6  =  30°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9456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45°  =  45 × π/180  =  π/4 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8716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 =  90 × π/180  =  π/2 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8716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60°  =  60 × π/180  =  π/3 rad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23 — radian into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23.  Example:  5π/6  means  5 × 180° /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5π/6  =  150°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2π/3  =  120°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4π/3  =  240°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3π/5  =  108°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  =  900°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2π/5  =  72°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7π/12  =  105°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5π/2  =  450°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3π  =  540°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How: cancel.  5π/6  →  5 × 180 / 6  →  5 × 30  =  150.  Same for every 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25 — degree into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25.  Multiply the degree by π/180.  Cancel 180 if you 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120°  =  2π/3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3619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30°  =  π/6 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3619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150°  =  5π/6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270°  =  3π/2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2880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135°  =  3π/4 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2880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  is already radian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8600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π°  treated as π 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The board wrote π, not π°.  π is already radian.  π° would be π²/180 rad.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Tiny lengths you will meet in 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prefix is a short name stuck in front of metre. It tells you how many metres.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90472"/>
            <a:ext cx="137160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90472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490472"/>
            <a:ext cx="24688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6" y="149047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full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90472"/>
            <a:ext cx="219456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490472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in metres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490472"/>
            <a:ext cx="4983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1490472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where you meet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65960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1965960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fm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1965960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1965960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femtometre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965960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65960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10⁻¹⁵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1965960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1965960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nucleus of an atom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441448"/>
            <a:ext cx="13716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441448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2441448"/>
            <a:ext cx="24688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2441448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picometre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441448"/>
            <a:ext cx="21945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2441448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10⁻¹² 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441448"/>
            <a:ext cx="4983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5976" y="2441448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spacing inside an atom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916936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916936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2916936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2536" y="2916936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ångström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2916936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2916936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10⁻¹⁰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2916936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2916936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atom size, X-ray wavelength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392424"/>
            <a:ext cx="13716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39242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nm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3392424"/>
            <a:ext cx="24688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2536" y="3392424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nanometre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3392424"/>
            <a:ext cx="21945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1416" y="3392424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10⁻⁹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3392424"/>
            <a:ext cx="4983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5976" y="3392424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visible light, DNA, thin films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867912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867912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μm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65960" y="3867912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02536" y="386791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micrometre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3867912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71416" y="3867912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10⁻⁶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3867912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5976" y="3867912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cell, dust, width of a hair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445312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Å is not SI, but physics still uses it for atoms. Nuclear size is fm, never mm.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Everyday and large lengths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37160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078992"/>
            <a:ext cx="24688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107899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full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78992"/>
            <a:ext cx="219456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078992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in metres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078992"/>
            <a:ext cx="4983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1078992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where you meet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554480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554480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1554480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1554480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millimetre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554480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1554480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10⁻³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554480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1554480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small lab length, thickness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29967"/>
            <a:ext cx="13716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029967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2029967"/>
            <a:ext cx="24688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2536" y="2029967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centimetre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029967"/>
            <a:ext cx="21945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2029967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10⁻²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2029967"/>
            <a:ext cx="4983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5976" y="2029967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ruler, height in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505456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505456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2505456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2536" y="2505456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metre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2505456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1416" y="2505456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2505456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5976" y="2505456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 unit of length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2980944"/>
            <a:ext cx="13716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298094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km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5960" y="2980944"/>
            <a:ext cx="24688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02536" y="2980944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kilometre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2980944"/>
            <a:ext cx="21945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1416" y="2980944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10³ 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2980944"/>
            <a:ext cx="4983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65976" y="2980944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road, tower, walking distance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456432"/>
            <a:ext cx="13716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3456432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65960" y="3456432"/>
            <a:ext cx="2468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02536" y="345643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megametre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3456432"/>
            <a:ext cx="21945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1416" y="3456432"/>
            <a:ext cx="21214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10⁶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3456432"/>
            <a:ext cx="4983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65976" y="3456432"/>
            <a:ext cx="49103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Earth radius ≈ 6.4 Mm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096511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424281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1 m  =  100 cm          1 km  =  1000 m          1 Å  =  10⁻¹⁰ m          1 fm  =  10⁻¹⁵ 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How to read a prefix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milli  =  one thousandth          kilo  =  one thousand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micro  =  one millionth          nano  =  one billionth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pico  =  one trillionth          femto  =  one thousand-trillionth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 mm is 1 m cut into 1000 equal pieces.  1 km is 1000 metres joined.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 μm is 1 m cut into 1 000 000 pieces.  A red-blood-cell is a few μm.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mix them: a nucleus is a few fm. An atom is about 1 Å. Light is a few hundred nm.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sine — two angles, one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and B are two angles. Compound means we open the bracket into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(A + B)  =  sin A cos B  +  cos A sin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In words: sine of a sum  =  sine-cosine  plus  cosine-sine.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(A − B)  =  sin A cos B  −  cos A sin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Same line, only the middle sign flips. Difference takes a minus.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358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write sin(A+B) = sin A + sin B. That is the classic trap.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cosine — watch the minus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(A + B)  =  cos A cos B  −  sin A sin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In words: cosine of a sum  =  cosine-cosine  minus  sine-sine.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(A − B)  =  cos A cos B  +  sin A sin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Difference of cosine takes a plus. Sum of cosine takes a minus. Opposite of sine.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Swap those two signs and every 15°, 75°, 105° value will come out wrong.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tangent — one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(A + B)  =  (tan A + tan B) / (1 − tan A tan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Top: add the tans.  Bottom: 1 minus the product.  Sum has a minus downstairs.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(A − B)  =  (tan A − tan B) / (1 + tan A tan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Difference: minus on the top, plus downstairs.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78608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If tan A tan B = 1, then tan(A + B) is not defined.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When A and B are the same — double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Put B = A in the compound lines. Two of the same angle become 2A.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2A  =  2 sin A cos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2A  =  cos² A  −  sin² A  =  1  −  2 sin² A  =  2 cos² A  −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2A  =  2 tan A / (1 − tan²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sin 2θ is not 2 sin θ. The 2 sits with the angle, not in front of the sine.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33 — shadow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Last class, slide 33. Pole height h. Shadow l. Sun at angle θ above the ground. Find l.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184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367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842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025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025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500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682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682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15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34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34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sin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36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Picture: height is the wall, shadow is the floor.  tan θ  =  wall / floor  =  h / 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289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So  l  =  h / tan θ     (same as  h cot 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8619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2     l  =  h / tan 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434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Option 1 swaps height and shadow. tan is not shadow/height.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35 — wire 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Last class, slide 35. Wire from the top at angle θ breaks and falls. Find x from the base.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91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cot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38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56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22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88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sec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Wire is the long side  =  h / sin θ.  Original base  =  h / tan θ.  After the fall, x is wire minus 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x  =  h / sin θ  −  h / tan θ  =  h (cosec θ  −  cot 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x  =  h (cosec θ  −  cot θ)      —  none of the four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Option 1 is only the original base, before the wire falls.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37 — shadow on a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Last class, slide 37. Pole 10 m. Slope 30°. Sun 60°. Shadow length l on the slope?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91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38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56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22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10√3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88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/ (√3 − 1)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Rise of the slope over length l is l/2.  Horizontal run is l√3/2.  tan 60° looks at (10 + rise) over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√3  =  (10 + l/2) / (l √3 / 2)          3l/2  =  10 + l/2          l  = 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2     l  =  10 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 slide 49 — four values, easy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49. Find  sin 120°,  cos 150°,  sin 240°,  cos 120°.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Easy way: write each as 180° with a small angle. ASTC then gives the 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(1)  sin 120°  =  sin (180° − 60°)  =  + sin 60°  =  √3/2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(2)  cos 150°  =  cos (180° − 30°)  =  − cos 30°  =  −√3/2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(3)  sin 240°  =  sin (180° + 60°)  =  − sin 60°  =  −√3/2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(4)  cos 120°  =  cos (180° − 60°)  =  − cos 60°  =  −1/2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√3/2          −√3/2          −√3/2          −1/2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stopped at slide 71 — small angle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ended before small angle. Slides 71 to 82 of that deck are today’s leftover.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small-angle rule  →  sin 2°, tan 3°, cos 3°  →  tan 2° trap  →  allied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Then we start the new work: ASTC method, max–min, phase.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SMALL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When θ is small, the arc looks like the opposite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On a circle of radius R, a tiny angle makes opposite ≈ arc = Rθ, and adjacent ≈ 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≈  θ          tan θ  ≈  θ          cos θ  ≈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θ in radian.   Use only if θ ≤ 5°.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Easy words: change the degree to radian first, then drop the word radian. That number is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sin 2° is not 2. 2° in radian is 2π/180 = π/90. That is the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Pending slide 72 — sin 2°, tan 3°, cos 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72. Using small-angle, find  sin 2°,  tan 3°,  cos 3°.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Step 1: the angle is small, so sine and tan become the radian number. Cosine becomes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(i)    sin 2°  ≈  2 × (π/180)  =  π/90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(ii)   tan 3°  ≈  3 × (π/180)  =  π/60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(iii)  cos 3°  ≈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00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2°  ≈  π/90          tan 3°  ≈  π/60          cos 3°  ≈ 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Pending slide 74 — which tan 2° is correct?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74. Which is correct for  tan 2°  under small-angle?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7276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3852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 / 90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860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042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0428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 / 30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700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7004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72384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tan 2°  =  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6499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tan 2°  ≈  2 × (π/180)  =  π/90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221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tan 2°  ≈  π/90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062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Option 1 leaves the degree. Option 4 pretends 2° is already 2 radian. Both are wrong.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Pending slides 76–77 — two allied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slides 76–77. Simplify.   (13)  sin (180° − θ)     (14)  cos (180° + 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(180° − θ)  =  0 · cos θ  −  (−1) sin θ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(13)   sin (180° − θ)  =  sin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(180° + θ)  =  (−1) cos θ  −  0  =  −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(14)   cos (180° + θ)  =  − cos 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Pending slide 77 — match the 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Last class, slide 77. Match.  Modulus means size, ignore the minus.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63039"/>
            <a:ext cx="310896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63039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Column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463039"/>
            <a:ext cx="484632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463039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easy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463039"/>
            <a:ext cx="306324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6215" y="1463039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47088"/>
            <a:ext cx="31089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847088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(A)  sin 390°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847088"/>
            <a:ext cx="484632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847088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as sin 30°  =  +1/2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847088"/>
            <a:ext cx="306324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1847088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 and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231136"/>
            <a:ext cx="31089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231136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(B)  sin (−30°)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2231136"/>
            <a:ext cx="484632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9896" y="2231136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minus, so  −1/2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231136"/>
            <a:ext cx="306324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5" y="2231136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 and 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615184"/>
            <a:ext cx="31089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615184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(C)  cos 120°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2615184"/>
            <a:ext cx="484632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2615184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minus, so  −1/2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615184"/>
            <a:ext cx="306324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2615184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 and 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999232"/>
            <a:ext cx="31089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99923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(D)  tan (−120°)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2999232"/>
            <a:ext cx="484632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9896" y="2999232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comes out  +√3  which is bigger than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2999232"/>
            <a:ext cx="306324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5" y="2999232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 and S</a:t>
            </a:r>
          </a:p>
        </p:txBody>
      </p:sp>
      <p:sp>
        <p:nvSpPr>
          <p:cNvPr id="38" name="Oval 37"/>
          <p:cNvSpPr/>
          <p:nvPr/>
        </p:nvSpPr>
        <p:spPr>
          <a:xfrm>
            <a:off x="594360" y="34472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4655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3465575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PT,   B → QT,   C → QT,   D → PS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" y="3813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3133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3831335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PT,   B → QS,   C → QT,   D → PS</a:t>
            </a:r>
          </a:p>
        </p:txBody>
      </p:sp>
      <p:sp>
        <p:nvSpPr>
          <p:cNvPr id="44" name="Oval 43"/>
          <p:cNvSpPr/>
          <p:nvPr/>
        </p:nvSpPr>
        <p:spPr>
          <a:xfrm>
            <a:off x="594360" y="417880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19709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4197095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QT,   B → QS,   C → PT,   D → PS</a:t>
            </a:r>
          </a:p>
        </p:txBody>
      </p:sp>
      <p:sp>
        <p:nvSpPr>
          <p:cNvPr id="47" name="Oval 46"/>
          <p:cNvSpPr/>
          <p:nvPr/>
        </p:nvSpPr>
        <p:spPr>
          <a:xfrm>
            <a:off x="594360" y="4544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5628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4562855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QS,   B → PT,   C → QT,   D → 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919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1     A → PT,   B → QT,   C → QT,   D → 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|√3| &gt; 1 so D is P and S, not T.  |1/2| &lt; 1 so A, B, C take 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 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class, slide 78 — after that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That class asked you to write the six compound-angle lines ten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two allied lines and the match-column are now answered on the board. Copy them once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(180° − θ)  =  sin θ          cos (180° + θ)  =  −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Match:  A → PT,   B → QT,   C → QT,   D → 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Radian and arc — now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789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2252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degree → radian:     multiply by  π/180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radian → degree:     multiply by  180/π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Arc length  =  R θ     with θ in radian.     Never  R × 90°.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7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on a circle of radius R  →  distance  πR/2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and prefixes — now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(A + B)  =  sin A cos B  +  cos A sin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(A + B)  =  cos A cos B  −  sin A sin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(A + B)  =  (tan A + tan B) / (1 − tan A tan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fm femtometre  10⁻¹⁵ m     nm nanometre  10⁻⁹ m     Å ångström  10⁻¹⁰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write sin(A+B) = sin A + sin B. Nuclear size is fm, not mm.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Small angle — the one lock-line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sin θ  ≈  θ      tan θ  ≈  θ      cos θ  ≈  1      (θ in radian,  θ ≤ 5°)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2°  ≈  π/90          tan 3°  ≈  π/60          cos 3°  ≈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leave the degree number in the approximation. Convert, then drop the word radian.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Leftover from last class is done. After the break: ASTC method, max–min, phase.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4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409CFF"/>
                </a:solidFill>
                <a:latin typeface="Aptos"/>
              </a:rPr>
              <a:t>Leftover from last class is done.  Next: ASTC method, max–min,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Three steps for any allied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is acute. The three steps write the value without opening the compound line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1.   Decide the quadrant. Write the sign of that ratio from ASTC.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2.   At  90° ± θ  and  270° ± θ  the function changes.   At  180° ± θ  and  360° ± θ  it stays.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3.   Change pairs:     sin  ↔  cos          tan  ↔  cot          sec  ↔  cosec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78608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A   S   T   C      →      All    sin    tan    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3872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look at the sign of the result after the change. Write the ASTC sign first, then the brother.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Where each allied angle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11018520" cy="86868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3502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I     0° to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35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All +ve          90° − θ          360° + 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39112"/>
            <a:ext cx="11018520" cy="86868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09CFF"/>
                </a:solidFill>
                <a:latin typeface="Aptos"/>
              </a:rPr>
              <a:t>II    90° to 180°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951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sin, cosec +ve   90° + θ          180° − 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99232"/>
            <a:ext cx="11018520" cy="86868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FF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CC48"/>
                </a:solidFill>
                <a:latin typeface="Aptos"/>
              </a:rPr>
              <a:t>III   180° to 270°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552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tan, cot +ve     180° + θ          270° − 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59352"/>
            <a:ext cx="11018520" cy="86868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1538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IV    270° to 360°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2153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cos, sec +ve     270° + θ          360° − θ          −θ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Allied lines — 90° and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(90° + θ)  =  + cos θ          sin (90° − θ)  =  + cos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(90° + θ)  =  − sin θ          cos (90° − θ)  =  +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(90° − θ)  =  + cot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(180° + θ)  =  − sin θ          sin (180° − θ)  =  + sin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(180° + θ)  =  − cos θ          tan (180° − θ)  =  − tan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cos (90° + θ) is minus sine. That minus is the ASTC sign of cosine in the second quadrant.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Allied lines — 270°, 360°, 450°, 540°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(270° + θ)  =  − cos θ          sin (270° − θ)  =  − cos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(270° + θ)  =  + sin θ          tan (360° + θ)  =  +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(360° − θ)  =  + cos θ          cos (−θ)  =  +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(450° + θ)  =  sin (90° + θ)  =  +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(540° + θ)  =  tan (180° + θ)  =  + tan 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71216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Drop full turns of 360° first.  450° = 90°.   540° = 180°.   720° = 0°.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300°  and  cos 240°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 (1)  sin 300°     and     (2)  cos 240°.   Two routes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sin 300°  =  sin (270° + 30°)  =  − cos 30°  =  −√3/2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         =  sin (360° − 60°)  =  − sin 60°  =  −√3/2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(1)   sin 300°  =  −√3/2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cos 240°  =  cos (180° + 60°)  =  − cos 60°  =  −1/2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         =  cos (270° − 30°)  =  − sin 30°  =  −1/2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(2)   cos 240°  =  −1/2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Past 360° — drop full turns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Find  sin 405°,   cos 480°   and   cos 780°.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405°  =  sin (360° + 45°)  =  sin 45°  =  1/√2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480°  =  cos (450° + 30°)  =  cos (90° + 30°)  =  − sin 30°  =  −1/2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780°  =  cos (720° + 60°)  =  cos 60°  = 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405°  =  1/√2          cos 480°  =  −1/2          cos 780°  =  1/2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00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720° is two full turns. Cross it out. Do not open a compound line on 780°.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Ten values from ASTC — read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each value. Drop 360° first. Then the three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777240" cy="34747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444752"/>
            <a:ext cx="1965960" cy="34747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1444752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angle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44752"/>
            <a:ext cx="5212080" cy="34747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444752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444752"/>
            <a:ext cx="3063240" cy="34747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1444752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92224"/>
            <a:ext cx="777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1792224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1792224"/>
            <a:ext cx="196596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17922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30°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792224"/>
            <a:ext cx="521208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1792224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792224"/>
            <a:ext cx="3063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5" y="1792224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39696"/>
            <a:ext cx="777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139696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139696"/>
            <a:ext cx="196596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2139696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45°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139696"/>
            <a:ext cx="521208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4136" y="2139696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139696"/>
            <a:ext cx="3063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2139696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487168"/>
            <a:ext cx="777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487168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487168"/>
            <a:ext cx="196596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8176" y="2487168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510°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2487168"/>
            <a:ext cx="521208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2487168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(360° + 150°)  =  sin 150°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2487168"/>
            <a:ext cx="3063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5" y="248716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2834640"/>
            <a:ext cx="777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2834640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2834640"/>
            <a:ext cx="196596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8176" y="2834640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240°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2834640"/>
            <a:ext cx="521208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2834640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(180° + 60°)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9640" y="2834640"/>
            <a:ext cx="3063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86215" y="2834640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182112"/>
            <a:ext cx="777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182112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3182112"/>
            <a:ext cx="196596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08176" y="3182112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330°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3182112"/>
            <a:ext cx="521208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74136" y="3182112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(360° − 30°)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49640" y="3182112"/>
            <a:ext cx="3063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86215" y="3182112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3529584"/>
            <a:ext cx="777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3529584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(f)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529584"/>
            <a:ext cx="196596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08176" y="352958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 300°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3529584"/>
            <a:ext cx="521208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74136" y="3529584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 (360° − 60°)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3529584"/>
            <a:ext cx="3063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86215" y="3529584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3877056"/>
            <a:ext cx="777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" y="3877056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(g)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0" y="3877056"/>
            <a:ext cx="196596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08176" y="3877056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tan 135°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37560" y="3877056"/>
            <a:ext cx="521208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74136" y="3877056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tan (180° − 45°)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49640" y="3877056"/>
            <a:ext cx="3063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86215" y="3877056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4224528"/>
            <a:ext cx="777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" y="4224528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(h)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4224528"/>
            <a:ext cx="196596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08176" y="4224528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cot 210°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37560" y="4224528"/>
            <a:ext cx="521208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74136" y="4224528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cot (180° + 30°)  =  cot 30°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49640" y="4224528"/>
            <a:ext cx="3063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86215" y="4224528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" y="4572000"/>
            <a:ext cx="777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936" y="4572000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(i)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0" y="4572000"/>
            <a:ext cx="196596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08176" y="4572000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 510°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37560" y="4572000"/>
            <a:ext cx="521208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74136" y="4572000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 150°  =  − cos 30°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4572000"/>
            <a:ext cx="3063240" cy="34747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4572000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" y="4919472"/>
            <a:ext cx="777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" y="4919472"/>
            <a:ext cx="704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(j)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4919472"/>
            <a:ext cx="196596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08176" y="4919472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135°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7560" y="4919472"/>
            <a:ext cx="521208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74136" y="4919472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(180° − 45°)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49640" y="4919472"/>
            <a:ext cx="3063240" cy="34747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86215" y="4919472"/>
            <a:ext cx="2990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74°  from  2 × 37°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 sin 74°.   Last class:  sin 37° = 3/5,  cos 37° = 4/5.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74°  =  sin (2 × 37°)  =  2 sin 37° cos 37°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 =  2 × (3/5) × (4/5)  =  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sin 74°  =  24/25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43199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889503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sin 2θ  =  2 sin θ cos 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22.5°  from the half-angle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 sin 22.5°.   Last class:  sin θ  =  √[(1 − cos 2θ) / 2].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22.5°  =  √[ (1 − cos 45°) / 2 ]  =  √[ (1 − 1/√2) / 2 ]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   =  √[ (√2 − 1) / (2√2)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sin 22.5°  =  √[(√2 − 1) / (2√2)]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1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Same line gives  cos 15°  =  (√6 + √2)/4     and     cos 105°  =  (√2 − √6)/4.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4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409CFF"/>
                </a:solidFill>
                <a:latin typeface="Aptos"/>
              </a:rPr>
              <a:t>After the break:  maximum and minimum,  then phase and phasor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Maximum and minimum of sine and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(sin θ)max  =  +1     at     θ  =  90°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(cos θ)max  =  +1     at     θ  =  0°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−1  ≤  sin θ  ≤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(sin θ)min  =  −1     at     θ  =  270°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(cos θ)min  =  −1     at     θ  =  180°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799"/>
            <a:ext cx="448056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975103"/>
            <a:ext cx="41513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−1  ≤  cos θ  ≤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constant in front of sine is not the angle.  y = 6 sin θ  has ymax = 6, not 6 × 90°.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  =  6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If  y  =  6 sin θ,  find the maximum and minimum value of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ymax  =  6 × (sin θ)max  =  6 × 1  =  +6          at  θ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ymin  =  6 × (sin θ)min  =  6 × (−1)  =  −6          at  θ  =  270°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ymax  =  +6          ymin  =  −6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3θ is the angle, not the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y  =  4 sin (3θ),  find ymax and the θ at which y is maximum.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(sin 3θ)max  =  +1          so          ymax  =  4 × 1  = 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The angle that is 90° is  3θ,  not θ.          3θ  =  90°          θ  = 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ymax  =  +4     at     θ  =  30°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set θ = 90°. The sine is of 3θ. Divide 90° by 3.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Range of a projectile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R  =  u² sin(2θ) / g,  with u and g constant, find θ at which R is maximum.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Rmax when  sin(2θ)  is maximum,  so  sin(2θ)  =  1          2θ  =  90°          θ  =  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θ  =  45°          Rmax  =  u² /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This is why a level-ground projectile goes farthest at 45°.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Add like sines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 y  =  3 sin θ  +  4 sin θ,  find ymax.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 =  7 sin θ          ymax  =  7 × 1  =  7          at  θ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ymax  = 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open √(3²+4²) here. Both terms are sine of the same angle. Add the 3 and the 4.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 constant sitting next to the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ymax and ymin.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+ 2 sin θ          ymax  =  3 + 2(1)  =  5          ymin  =  3 + 2(−1)  =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+ 4 sin θ          ymax  =  7          ymin  =  3 − 4  =  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sin θ − 4          ymax  =  3 − 4  =  −1          ymin  =  −3 − 4  =  −7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+ 2 sin θ  →  5  and  1          3 + 4 sin θ  →  7  and  −1          3 sin θ − 4  →  −1  and  −7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When sine and cosine are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 θ and cos θ do not peak together. The combined amplitude is the hypotenuse of a and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 =  a sin θ  +  b cos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ymax  =  + √(a² + b²)          ymin  =  − √(a² + b²)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write ymax = a + b. That would need sin = 1 and cos = 1 at the same instant, which never happens.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  =  3 sin θ  +  4 cos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If  y  =  3 sin θ  +  4 cos θ,  find ymax and ymin.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ymax  =  √(3² + 4²)  =  √(9 + 16)  =  √25  =  +5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ymin  =  −5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ymax  =  +5          ymin  =  −5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Minimum magnitude of a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y  =  4 / (3 sin θ + 2 cos θ),  find the minimum magnitude of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4/10 = 0.4.   4/100 = 0.04.   A larger denominator makes a smaller positive fraction.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ymin  =  4  /  (3 sin θ + 2 cos θ)max  =  4 / √(3² + 2²)  =  4 / √13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minimum magnitude  =  4 / √13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Five max–min — every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maximum and minimum of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77724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444752"/>
            <a:ext cx="38404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144475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444752"/>
            <a:ext cx="32004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44475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444752"/>
            <a:ext cx="32004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44475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883664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1883664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1883664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1883664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 sin θ + 3 cos 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883664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1883664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√(16+9)  = 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83664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1883664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22576"/>
            <a:ext cx="7772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322576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322576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2322576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 sin θ − 3 cos 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322576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8656" y="232257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√(4+9)  =  √13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322576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5" y="232257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−√13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761488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761488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761488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8176" y="2761488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 + 5 sin 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761488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48656" y="276148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1+5  = 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761488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5" y="276148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1−5  =  −4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200400"/>
            <a:ext cx="7772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2004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3200400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8176" y="3200400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1 − 2 sin 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200400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48656" y="3200400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1−2(−1)  = 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200400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5" y="3200400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1−2(1)  =  −1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639312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639312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3639312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08176" y="363931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5 sin θ − 12 cos 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3639312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6" y="363931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√(25+144)  = 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639312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5" y="363931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is the angle inside the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Phase is the angle sitting inside the trigonometric function. Not the 4 in front.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                       phase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(θ + α)                   phase  =  θ +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(ωt + α + 90°)            phase  =  ωt + α + 90°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78608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Later:  AC,  SHM,  waves,  wave optics,  EM waves,  vectors.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difference — same function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Angle difference between two of the same trigonometric function is called phase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y1  =  sin θ                         φ1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y2  =  sin (θ + 60°)                 φ2  =  θ + 60°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φ2 − φ1  =  +60°     (y2 leads y1)          Δφ  =  φ1 − φ2  =  −60°     (lag)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subtract a cosine phase from a sine phase until both are written as the same ratio.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y1 leads y2 by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the phase difference.   y1  =  sin (ωt + 30°)     y2  =  sin (ωt − 60°)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18120" y="3108960"/>
            <a:ext cx="283464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35440" y="1691640"/>
            <a:ext cx="0" cy="28346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0" y="31638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sin (ωt)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0" y="2468880"/>
            <a:ext cx="1097280" cy="64008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3108960"/>
            <a:ext cx="640080" cy="109728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41280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D646"/>
                </a:solidFill>
                <a:latin typeface="Aptos"/>
              </a:rPr>
              <a:t>y1  +30°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42245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D646"/>
                </a:solidFill>
                <a:latin typeface="Aptos"/>
              </a:rPr>
              <a:t>y2  −60°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9443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90°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58191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Δφ  =  φ1 − φ2  =  (ωt + 30°)  −  (ωt − 60°)  =  90°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03911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Δφ  =  90°     —  y1 is ahead of y2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to the same ratio, or the answer is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Δφ.   y1  =  3 cos (ωt − 90°)     y2  =  4 sin (ωt)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Δφ  =  ωt − (ωt − 90°)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first write both as sine (or both as cosine)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(ωt − 90°)  =  sin ωt          so          y1  =  3 sin (ωt)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Δφ  =  0     —  they are in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minus cosine is a sine with a shift. Convert, then subtract.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cos (ωt + π/2)  points opposite to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Δφ.   y1  =  3 sin (ωt)     y2  =  4 cos (ωt + π/2)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(ωt + π/2)  =  − sin (ωt)          so          y2  =  − 4 sin (ωt)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Δφ  =  180°     =     π rad     —  opposite on the phasor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4480560"/>
            <a:ext cx="246888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3246120"/>
            <a:ext cx="0" cy="246888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77840" y="45354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sin (ωt)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32278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cos (ωt)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4480560"/>
            <a:ext cx="1188720" cy="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06240" y="4480560"/>
            <a:ext cx="118872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y2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Two more phase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(1)  x1 = A cos(ωt − π/2)     y2 = A cos(ωt + π/3)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Same function already.   Δφ  =  (ωt + π/3) − (ωt − π/2)  =  5π/6  =  150°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(1)   Δφ  =  150°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(2)  y1 = 4 sin(θ + π/4)     y2 = 3 sin(θ − π/2)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Δφ  =  (θ + π/4) − (θ − π/2)  =  π/4 + π/2  =  135°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(2)   Δφ  =  135°          Also:  y1 = 4 sin(θ+π/3), y2 = 3 sin(θ+π/6)  →  30°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AC current and voltage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  =  I0 sin(ωt − 30°)     V  =  V0 cos(ωt).   Find the phase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  =  V0 cos(ωt)  =  V0 sin(ωt + 90°)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90° − (−30°)  =  120°  =  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Δφ  =  2π/3     —  voltage leads current by 120°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Negative cosine is a shifted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  =  − I0 cos(ωt)     V  =  V0 sin(ωt − π/6).   Find Δφ.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7276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2π/3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3852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π/3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860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042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0428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π/6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700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7004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5π/6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− cos(ωt)  =  sin(ωt − π/2)          Δφ  =  (−π/6) − (−π/2)  =  π/3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478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Δφ  =  π/3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Person walks toward a 40 m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person sees a 40 m building at elevation 30°, then at 60°. Distance moved toward the building?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4591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6420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40/√3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1167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2996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80/√3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7743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9572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60/√3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61488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120/√3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8211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x1  =  40 cot 30°  =  40√3          x2  =  40 cot 60°  =  40/√3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747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d  =  x1 − x2  =  40√3 − 40/√3  =  40(3 − 1)/√3  =  80/√3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3191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2     d  =  80/√3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2 (sin 15° + sin 75°)²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What is the value of  2 (sin 15° + sin 75°)²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75°  =  cos 15°          so          2 (sin 15° + cos 15°)²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        =  2 ( sin²15° + cos²15° + 2 sin 15° cos 15° )  =  2 ( 1 + sin 30°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=  2 ( 1 + 1/2 )  =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2 (sin 15° + sin 75°)²  =  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If sin θ = 1/2, first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sin θ  =  1/2,  the value of  √3 (cos θ + 2 tan θ)  is: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91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38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56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15/2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22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88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First quadrant:  θ  =  30°          cos 30°  =  √3/2          tan 30°  =  1/√3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√3 ( √3/2  +  2/√3 )  =  3/2  +  2  =  7/2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3     7/2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If sin θ = √5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sin θ  =  √5 / 3,  find  tan θ  +  4 sec θ.   Take θ acute.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θ  =  √(1 − 5/9)  =  √(4/9)  =  2/3          tan θ  =  (√5/3) / (2/3)  =  √5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sec θ  =  3/2          tan θ + 4 sec θ  =  √5/2  +  4 × (3/2)  =  √5/2  +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tan θ  +  4 sec θ  =  6 + √5/2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tan⁻¹(1)  —  principal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The value of  tan⁻¹(1) 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27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45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π/4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89280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1109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1109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5π/4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2768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both (1) and (2)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243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426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426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none of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449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tan(5π/4) = 1, so 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tan⁻¹ returns only the principal value, in (−π/2, π/2)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9475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1     π/4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7880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5π/4 is an angle whose tangent is 1. It is not the inverse-tangent of 1.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difference table — copy, do not 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Find the phase difference in each row. Convert to the same trigonometric function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379476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554480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Equation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402336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55448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Equation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554480"/>
            <a:ext cx="320040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55448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Δφ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38528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938528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I0 sin(θ + π/3)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38528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938528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I0 sin(θ − π/6)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938528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93852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322576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322576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I0 sin(θ + π/3)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322576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32257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I0 cos(θ + π/3)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322576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32257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706624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706624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sin(ωt)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706624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270662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cos(ωt − π/3)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706624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270662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90672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090672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 sin(ωt + π/2)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90672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309067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5 cos(ωt)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090672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09067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474720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3474720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cos(ωt − π/2)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74720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347472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sin(ωt + π/2)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474720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347472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858768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" y="3858768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 sin(ωt + π/3)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858768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5696" y="3858768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 cos(ωt)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858768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49056" y="385876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4242816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4242816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sin(θ − 60°)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4242816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25696" y="424281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cos(θ − 30°)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242816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424281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the three ASTC steps ten times on a rough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 ymax = √(a² + b²)  for  y = a sin θ + b cos θ  ten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Tonight: the seven phase-difference rows. Convert first, then subtract.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ASTC method — now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1.  Sign from ASTC.     2.  Function changes at 90° and 270° only.     3.  sin ↔ 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300°  =  −√3/2          cos 480°  =  −1/2          sin 405°  =  1/√2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74°  =  24/25          sin 22.5°  =  √[(√2 − 1)/(2√2)]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96896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Drop full turns of 360° first.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Max–min — the two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 =  A sin (nθ)          ymax  =  |A|          at  nθ  =  90°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  =  a sin θ + b cos θ          ymax  =  √(a² + b²)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sin θ + 4 cos θ  →  ±5          4 / (3 sin θ + 2 cos θ)  →  4/√13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3 sin θ + 4 sin θ is 7 sin θ, not √(9+16). Add like ratios first.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— the one lock-line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Phase is the angle inside the ratio. Phase difference needs the same trigonometric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φ2 − φ1          after both are sine, or both are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cos(ωt − 90°)  and  4 sin(ωt)   →   Δφ  = 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subtract a cosine-phase from a sine-phase. Convert, then subtract.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 Seven phase rows tonight.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