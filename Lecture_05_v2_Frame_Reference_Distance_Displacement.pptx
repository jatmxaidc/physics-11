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— Welcome. Ask: 'If I say a ball is at position 5, is that complete?' (No — no unit, no origin, no direction.) Today we build the full vocabulary of kinematics.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0:02 — Read each outcome briefly. Explain structure: 45 min concepts → 5 min break → 45 min application → exit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0:06 — Show both cards. Ask students: 'GPS says 10 km, odometer reads 18 km — one is wrong. Which?' After class discussion reveal: NEITHER is wrong. GPS measures change in position (displacement). Odometer measures total path (distance). Both are valid measurements of different things. That is today's entire lesson in one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0:12 — Give 25 seconds per question. Q1: value + unit. Q2: metre. Q3: derived (uses length ÷ time). Q4: opposite to the chosen positive direction. These build the vocabulary for the next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0:18 — Draw the axis on the board as you speak. Point to each component. Key point: changing the frame changes the coordinates but NOT the actual separation between objects. Demo: use classroom door as origin, right wall as +x.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0:26 — Ask: 'What is the position of A?' (−4 m). 'What is the position of B?' (+3 m). 'What does the negative sign tell us?' (It is left of the origin — nothing more about motion.)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0:34 — Draw each path segment on the board as you speak. Emphasise: distance records every step you take regardless of direction — like the odometer. It can never decrease during a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0:44 — Use the SAME path as the previous slide. Ask: 'Forget the journey — where did you start and where did you finish?' Draw one arrow from A to C. That arrow is displacement. Δx = xf − xi = (−3) − 2 = −5 m. The negative means the net change is in the negative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0:53 — Go through each row. For NEET: most-tested rows are 'physical type' and 'possible values'. For CBSE: scalar/vector distinction and the example. Ask students to reproduce the table in their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— Ask students to predict before you calculate. 'Are distance and displacement magnitude equal here? Why?' Because every step goes in the same direction — no path is wasted. Would they differ if the object went from 1 to 9 and back to 7? Yes — distance = 16, but Δx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— Most commonly tested NEET scenario. Ask students to predict before calculating. A common wrong answer is distance = 3 m (using the signed sum). Stress: for distance you ADD all segment lengths regardless of direction. The signed approach gives displacement, not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— 5 minutes. After break review 2–3 student sentences from the prompt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1:18 — Stress: the sign depends entirely on which direction was chosen as positive. Δx = 0 does NOT mean the object did not move — it means it returned to its starting position. A large negative displacement may correspond to a very long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1:28 — Ask students to read each wrong statement and correct it before you reveal. These appear almost every year as MCQ distractors.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1:36 — Students work individually for 10 minutes. Do not show answers yet. Walk the room and check: (a) path diagram drawn, (b) formula written, (c) units, (d) correct sign on displacement. After 10 min call on 3 students to explain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 — Answers: 1(B), 2(C), 3(B). Q1: equality only for straight path without reversal. Q2: complete revolution → xf = xi → Δx = 0. Q3: position coordinate is measured from origin, so it changes when origin shifts; distance and displacement between any two fixed events do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1:58 — 7 minutes individual. Collect for topic-wise analysis. Model answer for Q3: distance = 8 + 5 = 13 m; displacement = 1 − (−2) = +3 m. For NEET: correct formula + correct sign = full marks. Q4 tests complete-revolution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 — One-minute close. Ask: 'Complete the sentence: Motion is relative because…' Read the four cards. Homework: NCERT §3.1–3.3; daily test (separate sheet); draw 3 original number-line journeys and calculate both quantities. Next: average speed, average velocity, x–t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0C3EB"/>
                </a:solidFill>
                <a:latin typeface="Aptos"/>
              </a:rPr>
              <a:t>LECTURE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Motion in a
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57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BB9DC"/>
                </a:solidFill>
                <a:latin typeface="Aptos"/>
              </a:rPr>
              <a:t>Chapter 2  —  NCERT Physics Part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961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Class 11  •  CBSE + NEET  •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0972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81E3F"/>
                </a:solidFill>
                <a:latin typeface="Aptos"/>
              </a:rPr>
              <a:t>Frame of Reference,
Position, Distance
and Displacement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2461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2-hour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03320"/>
            <a:ext cx="7498079" cy="347472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81304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5FAA"/>
                </a:solidFill>
                <a:latin typeface="Aptos"/>
              </a:rPr>
              <a:t>Observe  →  Define  →  Represent  → 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SESSION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What you will be able to do by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161288"/>
            <a:ext cx="365760" cy="365760"/>
          </a:xfrm>
          <a:prstGeom prst="ellipse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527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1188720"/>
            <a:ext cx="10415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Decide  </a:t>
            </a:r>
            <a:r>
              <a:rPr sz="1500" b="0">
                <a:solidFill>
                  <a:srgbClr val="141A26"/>
                </a:solidFill>
                <a:latin typeface="Aptos"/>
              </a:rPr>
              <a:t>whether an object is at rest or in motion relative to a stated observer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1801368"/>
            <a:ext cx="365760" cy="365760"/>
          </a:xfrm>
          <a:prstGeom prst="ellipse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92807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1828800"/>
            <a:ext cx="10415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Describe  </a:t>
            </a:r>
            <a:r>
              <a:rPr sz="1500" b="0">
                <a:solidFill>
                  <a:srgbClr val="141A26"/>
                </a:solidFill>
                <a:latin typeface="Aptos"/>
              </a:rPr>
              <a:t>the location of any object using an origin, direction and position coordinate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441448"/>
            <a:ext cx="365760" cy="365760"/>
          </a:xfrm>
          <a:prstGeom prst="ellipse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328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2468880"/>
            <a:ext cx="10415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Calculate  </a:t>
            </a:r>
            <a:r>
              <a:rPr sz="1500" b="0">
                <a:solidFill>
                  <a:srgbClr val="141A26"/>
                </a:solidFill>
                <a:latin typeface="Aptos"/>
              </a:rPr>
              <a:t>distance and displacement for straight-line and reversal paths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081527"/>
            <a:ext cx="365760" cy="365760"/>
          </a:xfrm>
          <a:prstGeom prst="ellipse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72967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3108959"/>
            <a:ext cx="10415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Distinguish  </a:t>
            </a:r>
            <a:r>
              <a:rPr sz="1500" b="0">
                <a:solidFill>
                  <a:srgbClr val="141A26"/>
                </a:solidFill>
                <a:latin typeface="Aptos"/>
              </a:rPr>
              <a:t>scalar distance from vector displacement and state when they are equal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3721607"/>
            <a:ext cx="365760" cy="365760"/>
          </a:xfrm>
          <a:prstGeom prst="ellipse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130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3749039"/>
            <a:ext cx="10415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Solve  </a:t>
            </a:r>
            <a:r>
              <a:rPr sz="1500" b="0">
                <a:solidFill>
                  <a:srgbClr val="141A26"/>
                </a:solidFill>
                <a:latin typeface="Aptos"/>
              </a:rPr>
              <a:t>NEET-pattern MCQs and CBSE 3-mark questions on this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89120"/>
            <a:ext cx="11018520" cy="457200"/>
          </a:xfrm>
          <a:prstGeom prst="roundRect">
            <a:avLst/>
          </a:prstGeom>
          <a:solidFill>
            <a:srgbClr val="E6F8EE"/>
          </a:solidFill>
          <a:ln w="1143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59436" cy="457200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462272"/>
            <a:ext cx="10817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6C30"/>
                </a:solidFill>
                <a:latin typeface="Aptos"/>
              </a:rPr>
              <a:t>Mastery check: explain why distance can be non-zero when displacement is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THE CENTRAL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Which instrument is telling the truth?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A26"/>
                </a:solidFill>
                <a:latin typeface="Aptos"/>
              </a:rPr>
              <a:t>You drive from home to school by a winding road.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54480"/>
            <a:ext cx="5349240" cy="196596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554480"/>
            <a:ext cx="59436" cy="196596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682495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55FAA"/>
                </a:solidFill>
                <a:latin typeface="Aptos"/>
              </a:rPr>
              <a:t>GPS /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920240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81E3F"/>
                </a:solidFill>
                <a:latin typeface="Aptos"/>
              </a:rPr>
              <a:t>Reads: 10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2257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Straight-line change in position from start to finish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349240" cy="1965960"/>
          </a:xfrm>
          <a:prstGeom prst="roundRect">
            <a:avLst/>
          </a:prstGeom>
          <a:solidFill>
            <a:srgbClr val="FFFBDE"/>
          </a:solidFill>
          <a:ln w="1524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59436" cy="1965960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682495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A05C00"/>
                </a:solidFill>
                <a:latin typeface="Aptos"/>
              </a:rPr>
              <a:t>ODOMETER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1920240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81E3F"/>
                </a:solidFill>
                <a:latin typeface="Aptos"/>
              </a:rPr>
              <a:t>Reads: 18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2257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Total length of road actually travelled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9417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08A"/>
                </a:solidFill>
                <a:latin typeface="Aptos"/>
              </a:rPr>
              <a:t>Neither is wrong. They measure different things — and naming those two things precisely is today's entire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37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Recall — answer before we begin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152144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43584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179576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What makes a physical quantity complete — not just a number?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856231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What is the SI base unit of length?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505456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96896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532888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Is speed a base quantity or a derived quantity? Justify in one sentence.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182111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73551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209543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In one-dimensional motion, what does a negative sign on a value indicate?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Frame of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11018520" cy="868680"/>
          </a:xfrm>
          <a:prstGeom prst="roundRect">
            <a:avLst/>
          </a:prstGeom>
          <a:solidFill>
            <a:srgbClr val="E7F3FF"/>
          </a:solidFill>
          <a:ln w="1143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59436" cy="8686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207008"/>
            <a:ext cx="10817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55FAA"/>
                </a:solidFill>
                <a:latin typeface="Aptos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1399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81E3F"/>
                </a:solidFill>
                <a:latin typeface="Aptos"/>
              </a:rPr>
              <a:t>A frame of reference is the coordinate system relative to which position and motion are described.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691640"/>
            <a:ext cx="10817352" cy="237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It sets the rules for measuring where and when things happen.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39696"/>
            <a:ext cx="3493008" cy="14813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139696"/>
            <a:ext cx="3493008" cy="54864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258568"/>
            <a:ext cx="3291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55FAA"/>
                </a:solidFill>
                <a:latin typeface="Aptos"/>
              </a:rPr>
              <a:t>ORIGIN  (O)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2523744"/>
            <a:ext cx="3291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The reference point — assigned coordinate zero. Measurements start 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139696"/>
            <a:ext cx="3493008" cy="14813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139696"/>
            <a:ext cx="3493008" cy="54864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258568"/>
            <a:ext cx="3291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A05C00"/>
                </a:solidFill>
                <a:latin typeface="Aptos"/>
              </a:rPr>
              <a:t>POSITIVE DIRECTION  (+x)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523744"/>
            <a:ext cx="3291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One direction is chosen as positive. Opposite is negative.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139696"/>
            <a:ext cx="3493008" cy="14813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2139696"/>
            <a:ext cx="3493008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2258568"/>
            <a:ext cx="3291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808A"/>
                </a:solidFill>
                <a:latin typeface="Aptos"/>
              </a:rPr>
              <a:t>CLOCK  (t)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523744"/>
            <a:ext cx="3291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Records when each observation is made. Position can change with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49039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Key principle: shifting the origin changes every position coordinate but leaves the separation between any two points unchanged.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15568"/>
            <a:ext cx="59436" cy="512064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33856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081E3F"/>
                </a:solidFill>
                <a:latin typeface="Aptos"/>
              </a:rPr>
              <a:t>Position specifies the location of an object relative to the chosen origin.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435607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678"/>
                </a:solidFill>
                <a:latin typeface="Aptos"/>
              </a:rPr>
              <a:t>In one-dimensional motion, position is a single signed coordinate  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22576"/>
            <a:ext cx="10652760" cy="2743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11301984" y="2287828"/>
            <a:ext cx="164592" cy="96926"/>
          </a:xfrm>
          <a:prstGeom prst="rightArrow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3556" y="2244852"/>
            <a:ext cx="18288" cy="182880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268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7212" y="1847088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128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041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901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814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0674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587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8132" y="1847088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1E3F"/>
                </a:solidFill>
                <a:latin typeface="Aptos"/>
              </a:rPr>
              <a:t>Origin 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8220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133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993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906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57666" y="2244852"/>
            <a:ext cx="18288" cy="182880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679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6C30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1322" y="1847088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6C30"/>
                </a:solidFill>
                <a:latin typeface="Aptos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539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452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3312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8225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20856" y="224485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69980" y="24323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287121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C1616"/>
                </a:solidFill>
                <a:latin typeface="Aptos"/>
              </a:rPr>
              <a:t>A :  x = − 4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287121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6C30"/>
                </a:solidFill>
                <a:latin typeface="Aptos"/>
              </a:rPr>
              <a:t>B :  x = + 3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287121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6678"/>
                </a:solidFill>
                <a:latin typeface="Aptos"/>
              </a:rPr>
              <a:t>SI unit: metre (m)   ·   Dimension: [L]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8686800" cy="877824"/>
          </a:xfrm>
          <a:prstGeom prst="roundRect">
            <a:avLst/>
          </a:prstGeom>
          <a:solidFill>
            <a:srgbClr val="FFFBDE"/>
          </a:solidFill>
          <a:ln w="1143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59436" cy="877824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207008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A05C00"/>
                </a:solidFill>
                <a:latin typeface="Aptos"/>
              </a:rPr>
              <a:t>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1399032"/>
            <a:ext cx="8485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81E3F"/>
                </a:solidFill>
                <a:latin typeface="Aptos"/>
              </a:rPr>
              <a:t>Total length of the actual path followed by an object.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691640"/>
            <a:ext cx="8485632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Scalar  ·  always ≥ 0  ·  increases with every step  ·  path-dependent  ·  SI unit: metre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35808"/>
            <a:ext cx="10835640" cy="2743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11393424" y="3001060"/>
            <a:ext cx="164592" cy="96926"/>
          </a:xfrm>
          <a:prstGeom prst="rightArrow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0166" y="2958084"/>
            <a:ext cx="18288" cy="182880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9290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822" y="256032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3677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2801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7188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6312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0699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9823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4209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3333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77720" y="2958084"/>
            <a:ext cx="18288" cy="1828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6844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1376" y="256032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1231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0355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44742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3866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8252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7376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11763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0887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45274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4398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78785" y="2958084"/>
            <a:ext cx="18288" cy="182880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7909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2441" y="256032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Turn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512296" y="295808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61420" y="3145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9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686864" y="2414016"/>
            <a:ext cx="5001064" cy="118872"/>
          </a:xfrm>
          <a:prstGeom prst="rightArrow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11908" y="219456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6 m</a:t>
            </a:r>
          </a:p>
        </p:txBody>
      </p:sp>
      <p:sp>
        <p:nvSpPr>
          <p:cNvPr id="50" name="Left Arrow 49"/>
          <p:cNvSpPr/>
          <p:nvPr/>
        </p:nvSpPr>
        <p:spPr>
          <a:xfrm>
            <a:off x="1519310" y="3456432"/>
            <a:ext cx="9168618" cy="118872"/>
          </a:xfrm>
          <a:prstGeom prst="leftArrow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8132" y="361188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11 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4361688"/>
            <a:ext cx="6858000" cy="640080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" y="4361688"/>
            <a:ext cx="59436" cy="640080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" y="4453128"/>
            <a:ext cx="66568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Distance  =  6  +  11  =  17 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4800600"/>
            <a:ext cx="6656832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Add every segment length — direction does not matter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8686800" cy="877824"/>
          </a:xfrm>
          <a:prstGeom prst="roundRect">
            <a:avLst/>
          </a:prstGeom>
          <a:solidFill>
            <a:srgbClr val="E7F3FF"/>
          </a:solidFill>
          <a:ln w="1143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59436" cy="877824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207008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55FAA"/>
                </a:solidFill>
                <a:latin typeface="Aptos"/>
              </a:rPr>
              <a:t>DISPLACEMENT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1399032"/>
            <a:ext cx="8485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81E3F"/>
                </a:solidFill>
                <a:latin typeface="Aptos"/>
              </a:rPr>
              <a:t>Change in position from the initial point to the final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691640"/>
            <a:ext cx="8485632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Vector  ·  can be positive, negative or zero  ·  path-independent  ·  SI unit: metre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39696"/>
            <a:ext cx="7772400" cy="777240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139696"/>
            <a:ext cx="59436" cy="777240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231136"/>
            <a:ext cx="75712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Δx  =  xᶠinal  −  xᶢnitial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2578608"/>
            <a:ext cx="7571231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Subtract initial position from final — the sign gives the direction of net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19856"/>
            <a:ext cx="10835640" cy="2743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1393424" y="3385108"/>
            <a:ext cx="164592" cy="96926"/>
          </a:xfrm>
          <a:prstGeom prst="rightArrow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10166" y="3342132"/>
            <a:ext cx="18288" cy="182880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9290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22" y="2944368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xf = −3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43677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2801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7188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312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0699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9823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4209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3333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77720" y="3342132"/>
            <a:ext cx="18288" cy="1828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6844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1376" y="2944368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xᵢ =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1231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0355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44742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3866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8252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7376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11763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0887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45274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4398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78785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27909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512296" y="3342132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61420" y="35295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9</a:t>
            </a:r>
          </a:p>
        </p:txBody>
      </p:sp>
      <p:sp>
        <p:nvSpPr>
          <p:cNvPr id="51" name="Left Arrow 50"/>
          <p:cNvSpPr/>
          <p:nvPr/>
        </p:nvSpPr>
        <p:spPr>
          <a:xfrm>
            <a:off x="1519310" y="3840480"/>
            <a:ext cx="4167553" cy="118872"/>
          </a:xfrm>
          <a:prstGeom prst="leftArrow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27599" y="399592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Δx = −5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4379976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1E3F"/>
                </a:solidFill>
                <a:latin typeface="Aptos"/>
              </a:rPr>
              <a:t>Δx  =  (−3)  −  2  =  −5 m   →   5 m in the negative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Distance vs displacement —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15568"/>
            <a:ext cx="2743200" cy="365760"/>
          </a:xfrm>
          <a:prstGeom prst="rect">
            <a:avLst/>
          </a:prstGeom>
          <a:solidFill>
            <a:srgbClr val="081E3F"/>
          </a:solidFill>
          <a:ln>
            <a:solidFill>
              <a:srgbClr val="08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070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115568"/>
            <a:ext cx="3931920" cy="365760"/>
          </a:xfrm>
          <a:prstGeom prst="rect">
            <a:avLst/>
          </a:prstGeom>
          <a:solidFill>
            <a:srgbClr val="081E3F"/>
          </a:solidFill>
          <a:ln>
            <a:solidFill>
              <a:srgbClr val="08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207008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115568"/>
            <a:ext cx="4206240" cy="365760"/>
          </a:xfrm>
          <a:prstGeom prst="rect">
            <a:avLst/>
          </a:prstGeom>
          <a:solidFill>
            <a:srgbClr val="081E3F"/>
          </a:solidFill>
          <a:ln>
            <a:solidFill>
              <a:srgbClr val="08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1207008"/>
            <a:ext cx="4023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Displacement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48132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591056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Measures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48132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1591056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Total path length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481328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1591056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Change in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1920240"/>
            <a:ext cx="274320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0299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1920240"/>
            <a:ext cx="393192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202996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Scalar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1920240"/>
            <a:ext cx="420624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7" y="2029968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Vector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35915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246888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235915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2468880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Depends on path taken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359152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53527" y="2468880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Depends only on start and 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798064"/>
            <a:ext cx="274320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290779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Possible 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798064"/>
            <a:ext cx="393192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2907792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Zero or positive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2798064"/>
            <a:ext cx="4206240" cy="438912"/>
          </a:xfrm>
          <a:prstGeom prst="rect">
            <a:avLst/>
          </a:prstGeom>
          <a:solidFill>
            <a:srgbClr val="F7FAFD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53527" y="2907792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Positive, zero or negative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23697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33467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SI unit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23697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0168" y="334670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metre (m)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236976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53527" y="3346704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metre (m)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3749039"/>
            <a:ext cx="11018520" cy="475488"/>
          </a:xfrm>
          <a:prstGeom prst="roundRect">
            <a:avLst/>
          </a:prstGeom>
          <a:solidFill>
            <a:srgbClr val="E6F8EE"/>
          </a:solidFill>
          <a:ln w="1143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3749039"/>
            <a:ext cx="59436" cy="47548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3822191"/>
            <a:ext cx="10817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6C30"/>
                </a:solidFill>
                <a:latin typeface="Aptos"/>
              </a:rPr>
              <a:t>Distance ≥ |Displacement|    Equality holds only when motion is along a straight line without any reversal.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WORKED EXAMPLE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Straight-line path — when distance equals |displacement|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E3F"/>
                </a:solidFill>
                <a:latin typeface="Aptos"/>
              </a:rPr>
              <a:t>An object moves from  x = 1 m  to  x = 9 m  in a straight line without reversing.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04288"/>
            <a:ext cx="10835640" cy="2743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11393424" y="2269540"/>
            <a:ext cx="164592" cy="96926"/>
          </a:xfrm>
          <a:prstGeom prst="rightArrow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60220" y="2226564"/>
            <a:ext cx="18288" cy="1828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" y="182880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Start (xᵢ =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3784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2908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27348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912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0036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7164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1604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45168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4292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8732" y="2226564"/>
            <a:ext cx="18288" cy="182880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6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6C30"/>
                </a:solidFill>
                <a:latin typeface="Aptos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2388" y="182880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6C30"/>
                </a:solidFill>
                <a:latin typeface="Aptos"/>
              </a:rPr>
              <a:t>Finish (xf = 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1229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6142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10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769364" y="1682495"/>
            <a:ext cx="8668512" cy="118872"/>
          </a:xfrm>
          <a:prstGeom prst="rightArrow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8132" y="1463039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8 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419856"/>
            <a:ext cx="5074920" cy="749808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" y="3419856"/>
            <a:ext cx="59436" cy="749808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" y="3511296"/>
            <a:ext cx="4873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Distance  =  8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3858768"/>
            <a:ext cx="48737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Straight path — one segment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419856"/>
            <a:ext cx="5074920" cy="749808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419856"/>
            <a:ext cx="59436" cy="749808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3511296"/>
            <a:ext cx="4873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Δx  =  9 − 1  =  + 8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3858768"/>
            <a:ext cx="48737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Direction: positive (+x)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334256"/>
            <a:ext cx="11018520" cy="475488"/>
          </a:xfrm>
          <a:prstGeom prst="roundRect">
            <a:avLst/>
          </a:prstGeom>
          <a:solidFill>
            <a:srgbClr val="E6F8EE"/>
          </a:solidFill>
          <a:ln w="1143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4334256"/>
            <a:ext cx="59436" cy="47548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4407408"/>
            <a:ext cx="10817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6C30"/>
                </a:solidFill>
                <a:latin typeface="Aptos"/>
              </a:rPr>
              <a:t>Distance = |Displacement| = 8 m   ✓   This equality holds for any straight path with no reversal.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WORKED EXAMPLE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Reversal of direction — when they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Path:  x = − 2 m  →  x = 6 m  →  x = 1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04288"/>
            <a:ext cx="10835640" cy="27432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11393424" y="2269540"/>
            <a:ext cx="164592" cy="96926"/>
          </a:xfrm>
          <a:prstGeom prst="rightArrow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60220" y="2226564"/>
            <a:ext cx="18288" cy="1828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" y="182880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3784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2908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-1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27348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912" y="2226564"/>
            <a:ext cx="18288" cy="182880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0036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82880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C1616"/>
                </a:solidFill>
                <a:latin typeface="Aptos"/>
              </a:rPr>
              <a:t>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7164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1604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45168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4292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8732" y="2226564"/>
            <a:ext cx="18288" cy="182880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77856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2388" y="1828800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Turn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512296" y="2226564"/>
            <a:ext cx="18288" cy="1828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61420" y="241401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1E3F"/>
                </a:solidFill>
                <a:latin typeface="Aptos"/>
              </a:rPr>
              <a:t>7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769364" y="1682495"/>
            <a:ext cx="8668512" cy="118872"/>
          </a:xfrm>
          <a:prstGeom prst="rightArrow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8132" y="1463039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FAA"/>
                </a:solidFill>
                <a:latin typeface="Aptos"/>
              </a:rPr>
              <a:t>8 m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5020056" y="2724912"/>
            <a:ext cx="5417820" cy="118872"/>
          </a:xfrm>
          <a:prstGeom prst="leftArrow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3478" y="288036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4600"/>
                </a:solidFill>
                <a:latin typeface="Aptos"/>
              </a:rPr>
              <a:t>5 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3438144"/>
            <a:ext cx="5074920" cy="749808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3438144"/>
            <a:ext cx="59436" cy="749808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3529584"/>
            <a:ext cx="4873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Distance  =  8  +  5  =  13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3877056"/>
            <a:ext cx="48737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Sum both segment lengths — all positive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438144"/>
            <a:ext cx="5074920" cy="749808"/>
          </a:xfrm>
          <a:prstGeom prst="roundRect">
            <a:avLst/>
          </a:prstGeom>
          <a:solidFill>
            <a:srgbClr val="FFFBDE"/>
          </a:solidFill>
          <a:ln w="1397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438144"/>
            <a:ext cx="59436" cy="749808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1656" y="3529584"/>
            <a:ext cx="48737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Δx  =  1 − (−2)  =  + 3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1656" y="3877056"/>
            <a:ext cx="487375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xf − xi only — direction is positive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352544"/>
            <a:ext cx="11018520" cy="640080"/>
          </a:xfrm>
          <a:prstGeom prst="roundRect">
            <a:avLst/>
          </a:prstGeom>
          <a:solidFill>
            <a:srgbClr val="FFF2E1"/>
          </a:solidFill>
          <a:ln w="11430">
            <a:solidFill>
              <a:srgbClr val="C8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4352544"/>
            <a:ext cx="59436" cy="640080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4425696"/>
            <a:ext cx="10817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C84600"/>
                </a:solidFill>
                <a:latin typeface="Aptos"/>
              </a:rPr>
              <a:t>NEET TRAP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4608576"/>
            <a:ext cx="10817352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Do NOT compute distance by adding signed displacements: (+8) + (−5) = 3 m is the displacement, not the distance. Distance = 13 m; |Δx| = 3 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081E3F"/>
                </a:solidFill>
                <a:latin typeface="Aptos"/>
              </a:rPr>
              <a:t>5-MINUTE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9748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678"/>
                </a:solidFill>
                <a:latin typeface="Aptos"/>
              </a:rPr>
              <a:t>Before you return: write one sentence distinguishing distance from displacement.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5FAA"/>
                </a:solidFill>
                <a:latin typeface="Aptos"/>
              </a:rPr>
              <a:t>Origin  ·  Position x  ·  Distance (path)  ·  Displacement Δx = xf − 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What does the sign of displacement mean?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34930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3493008" cy="475488"/>
          </a:xfrm>
          <a:prstGeom prst="rect">
            <a:avLst/>
          </a:prstGeom>
          <a:solidFill>
            <a:srgbClr val="155FAA"/>
          </a:solidFill>
          <a:ln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07008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Δx &gt;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55FAA"/>
                </a:solidFill>
                <a:latin typeface="Aptos"/>
              </a:rPr>
              <a:t>Net movement in
the positive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218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Finish is to the right of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15568"/>
            <a:ext cx="34930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15568"/>
            <a:ext cx="3493008" cy="475488"/>
          </a:xfrm>
          <a:prstGeom prst="rect">
            <a:avLst/>
          </a:prstGeom>
          <a:solidFill>
            <a:srgbClr val="C84600"/>
          </a:solidFill>
          <a:ln>
            <a:solidFill>
              <a:srgbClr val="C8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07008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Δx &lt;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8288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84600"/>
                </a:solidFill>
                <a:latin typeface="Aptos"/>
              </a:rPr>
              <a:t>Net movement in
the negative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532888"/>
            <a:ext cx="3218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Finish is to the left of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115568"/>
            <a:ext cx="34930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115568"/>
            <a:ext cx="3493008" cy="475488"/>
          </a:xfrm>
          <a:prstGeom prst="rect">
            <a:avLst/>
          </a:prstGeom>
          <a:solidFill>
            <a:srgbClr val="196C30"/>
          </a:solidFill>
          <a:ln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207008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Δx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18288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96C30"/>
                </a:solidFill>
                <a:latin typeface="Aptos"/>
              </a:rPr>
              <a:t>Start = Finish
(position unchanged)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532888"/>
            <a:ext cx="32186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678"/>
                </a:solidFill>
                <a:latin typeface="Aptos"/>
              </a:rPr>
              <a:t>At rest OR returned to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023360"/>
            <a:ext cx="11018520" cy="493776"/>
          </a:xfrm>
          <a:prstGeom prst="roundRect">
            <a:avLst/>
          </a:prstGeom>
          <a:solidFill>
            <a:srgbClr val="E6F8EE"/>
          </a:solidFill>
          <a:ln w="1143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023360"/>
            <a:ext cx="59436" cy="493776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09651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6C30"/>
                </a:solidFill>
                <a:latin typeface="Aptos"/>
              </a:rPr>
              <a:t>Zero displacement does NOT mean zero distance. A complete revolution returns Δx = 0 but distance = full circumference.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EXAM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Three traps that cost marks — NEET and CBSE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11018520" cy="292608"/>
          </a:xfrm>
          <a:prstGeom prst="roundRect">
            <a:avLst/>
          </a:prstGeom>
          <a:solidFill>
            <a:srgbClr val="FFECEC"/>
          </a:solidFill>
          <a:ln w="8890">
            <a:solidFill>
              <a:srgbClr val="AC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50292" cy="292608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7957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C1616"/>
                </a:solidFill>
                <a:latin typeface="Aptos"/>
              </a:rPr>
              <a:t>✗  Distance and displacement are always equal.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435607"/>
            <a:ext cx="10762488" cy="292608"/>
          </a:xfrm>
          <a:prstGeom prst="roundRect">
            <a:avLst/>
          </a:prstGeom>
          <a:solidFill>
            <a:srgbClr val="E6F8EE"/>
          </a:solidFill>
          <a:ln w="889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1435607"/>
            <a:ext cx="50292" cy="29260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1499616"/>
            <a:ext cx="10579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6C30"/>
                </a:solidFill>
                <a:latin typeface="Aptos"/>
              </a:rPr>
              <a:t>✓  Equal ONLY for a straight-line path with no reversal.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975104"/>
            <a:ext cx="11018520" cy="292608"/>
          </a:xfrm>
          <a:prstGeom prst="roundRect">
            <a:avLst/>
          </a:prstGeom>
          <a:solidFill>
            <a:srgbClr val="FFECEC"/>
          </a:solidFill>
          <a:ln w="8890">
            <a:solidFill>
              <a:srgbClr val="AC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1975104"/>
            <a:ext cx="50292" cy="292608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039112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C1616"/>
                </a:solidFill>
                <a:latin typeface="Aptos"/>
              </a:rPr>
              <a:t>✗  Negative displacement means the object moved in the wrong direction.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2295144"/>
            <a:ext cx="10762488" cy="292608"/>
          </a:xfrm>
          <a:prstGeom prst="roundRect">
            <a:avLst/>
          </a:prstGeom>
          <a:solidFill>
            <a:srgbClr val="E6F8EE"/>
          </a:solidFill>
          <a:ln w="889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" y="2295144"/>
            <a:ext cx="50292" cy="29260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2359152"/>
            <a:ext cx="10579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6C30"/>
                </a:solidFill>
                <a:latin typeface="Aptos"/>
              </a:rPr>
              <a:t>✓  Negative means net movement opposite to the chosen positive axis — it is not an error.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834640"/>
            <a:ext cx="11018520" cy="292608"/>
          </a:xfrm>
          <a:prstGeom prst="roundRect">
            <a:avLst/>
          </a:prstGeom>
          <a:solidFill>
            <a:srgbClr val="FFECEC"/>
          </a:solidFill>
          <a:ln w="8890">
            <a:solidFill>
              <a:srgbClr val="AC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2834640"/>
            <a:ext cx="50292" cy="292608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898648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C1616"/>
                </a:solidFill>
                <a:latin typeface="Aptos"/>
              </a:rPr>
              <a:t>✗  After one complete revolution, both distance and displacement are zero.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" y="3154680"/>
            <a:ext cx="10762488" cy="292608"/>
          </a:xfrm>
          <a:prstGeom prst="roundRect">
            <a:avLst/>
          </a:prstGeom>
          <a:solidFill>
            <a:srgbClr val="E6F8EE"/>
          </a:solidFill>
          <a:ln w="889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" y="3154680"/>
            <a:ext cx="50292" cy="29260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218688"/>
            <a:ext cx="10579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6C30"/>
                </a:solidFill>
                <a:latin typeface="Aptos"/>
              </a:rPr>
              <a:t>✓  Displacement = 0 (returned to start), but distance = circumference ≠ 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STUDENT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Solve — show full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8"/>
                </a:solidFill>
                <a:latin typeface="Aptos"/>
              </a:rPr>
              <a:t>Show:  path diagram  →  formula  →  substitution  →  unit  →  direction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7276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An object starts at x = −5 m, moves to x = +8 m, then returns to x = +2 m. Find distance and displacement.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176272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240279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A ball rolls 12 m east then 5 m west. Find: (i) distance, (ii) displacement, (iii) is |displacement| &lt; distance?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889504"/>
            <a:ext cx="365760" cy="365760"/>
          </a:xfrm>
          <a:prstGeom prst="ellipse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9923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53512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A26"/>
                </a:solidFill>
                <a:latin typeface="Aptos"/>
              </a:rPr>
              <a:t>A runner completes exactly one lap of a 400 m circular track. Find distance and displacement.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C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NEET MCQ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Choose first — justify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Q1.  Distance equals the magnitude of displacement when an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5331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(A) moves in a curved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545336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(B) moves in a straight line without reversing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37360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(C) completes a full circular revolution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29384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(D) moves in a straight line and reverses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94560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Q2.  A particle completes one full revolution along a circular track. Its displacement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32304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(A) equal to the circumference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24328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(B) equal to the diameter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1635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(C)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08376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(D) equal to the 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73552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E3F"/>
                </a:solidFill>
                <a:latin typeface="Aptos"/>
              </a:rPr>
              <a:t>Q3.  If only the origin of a reference frame is shifted, which quantity changes for a fixed object?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11296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(A) Distance between two given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03320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(B) Position coordinate of each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95344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(C) Displacement between two given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87368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A26"/>
                </a:solidFill>
                <a:latin typeface="Aptos"/>
              </a:rPr>
              <a:t>(D) Total path length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89120"/>
            <a:ext cx="11018520" cy="292608"/>
          </a:xfrm>
          <a:prstGeom prst="roundRect">
            <a:avLst/>
          </a:prstGeom>
          <a:solidFill>
            <a:srgbClr val="FFFBDE"/>
          </a:solidFill>
          <a:ln w="1016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62272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05C00"/>
                </a:solidFill>
                <a:latin typeface="Aptos"/>
              </a:rPr>
              <a:t>Choose your answer first — then justify in one sentence.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EXIT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Answer individually — full working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115568"/>
            <a:ext cx="365760" cy="365760"/>
          </a:xfrm>
          <a:prstGeom prst="ellipse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2529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179576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A26"/>
                </a:solidFill>
                <a:latin typeface="Aptos"/>
              </a:rPr>
              <a:t>What minimum information is required before calling an object 'at rest'?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1682495"/>
            <a:ext cx="365760" cy="365760"/>
          </a:xfrm>
          <a:prstGeom prst="ellipse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922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746504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A26"/>
                </a:solidFill>
                <a:latin typeface="Aptos"/>
              </a:rPr>
              <a:t>Write the position of an object located 7 m in the negative direction from the origin.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249424"/>
            <a:ext cx="365760" cy="365760"/>
          </a:xfrm>
          <a:prstGeom prst="ellipse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915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313432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A26"/>
                </a:solidFill>
                <a:latin typeface="Aptos"/>
              </a:rPr>
              <a:t>An object moves from x = −2 m to x = 6 m, then to x = 1 m. Calculate distance and displacement with full working.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rgbClr val="AC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80360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A26"/>
                </a:solidFill>
                <a:latin typeface="Aptos"/>
              </a:rPr>
              <a:t>A car completes exactly half a circular lap of radius 7 m. Find (i) distance and (ii) magnitude of displacement.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1E3F"/>
                </a:solidFill>
                <a:latin typeface="Aptos"/>
              </a:rPr>
              <a:t>Lecture summary and next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678"/>
                </a:solidFill>
                <a:latin typeface="Aptos"/>
              </a:rPr>
              <a:t>LECTURE 05  •  CH. 2  MOTION IN A STRAIGHT LINE  •  CBSE + NEET  CLASS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6678"/>
                </a:solidFill>
                <a:latin typeface="Apto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047488"/>
            <a:ext cx="11018520" cy="10972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9320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DD7E4"/>
                </a:solidFill>
                <a:latin typeface="Aptos"/>
              </a:rPr>
              <a:t>MY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15568"/>
            <a:ext cx="5321808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64008" cy="118872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43584"/>
            <a:ext cx="5065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55FAA"/>
                </a:solidFill>
                <a:latin typeface="Aptos"/>
              </a:rPr>
              <a:t>FRAME OF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527048"/>
            <a:ext cx="50657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Origin + direction + clock — sets the coordinate system for observation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15568"/>
            <a:ext cx="5321808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15568"/>
            <a:ext cx="64008" cy="1188720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43584"/>
            <a:ext cx="5065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0808A"/>
                </a:solidFill>
                <a:latin typeface="Aptos"/>
              </a:rPr>
              <a:t>POSITION 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527048"/>
            <a:ext cx="50657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Location of an object relative to the origin  •  Unit: m  •  Dim: [L]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532888"/>
            <a:ext cx="5321808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A0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532888"/>
            <a:ext cx="64008" cy="1188720"/>
          </a:xfrm>
          <a:prstGeom prst="rect">
            <a:avLst/>
          </a:prstGeom>
          <a:solidFill>
            <a:srgbClr val="A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660904"/>
            <a:ext cx="5065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A05C00"/>
                </a:solidFill>
                <a:latin typeface="Aptos"/>
              </a:rPr>
              <a:t>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944368"/>
            <a:ext cx="50657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Total path length  •  Scalar  •  ≥ 0  •  path-dependent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32888"/>
            <a:ext cx="5321808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532888"/>
            <a:ext cx="64008" cy="1188720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660904"/>
            <a:ext cx="5065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96C30"/>
                </a:solidFill>
                <a:latin typeface="Aptos"/>
              </a:rPr>
              <a:t>DISPLACEMENT  Δx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44368"/>
            <a:ext cx="50657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A26"/>
                </a:solidFill>
                <a:latin typeface="Aptos"/>
              </a:rPr>
              <a:t>xf − xi  •  Vector  •  Path-independent  •  Can be +, − or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59936"/>
            <a:ext cx="11018520" cy="475488"/>
          </a:xfrm>
          <a:prstGeom prst="roundRect">
            <a:avLst/>
          </a:prstGeom>
          <a:solidFill>
            <a:srgbClr val="E6F8EE"/>
          </a:solidFill>
          <a:ln w="11430">
            <a:solidFill>
              <a:srgbClr val="196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59936"/>
            <a:ext cx="59436" cy="475488"/>
          </a:xfrm>
          <a:prstGeom prst="rect">
            <a:avLst/>
          </a:prstGeom>
          <a:solidFill>
            <a:srgbClr val="196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4133088"/>
            <a:ext cx="10817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6C30"/>
                </a:solidFill>
                <a:latin typeface="Aptos"/>
              </a:rPr>
              <a:t>Next lecture:  Average speed, average velocity and the position–time graph  (x–t graph)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