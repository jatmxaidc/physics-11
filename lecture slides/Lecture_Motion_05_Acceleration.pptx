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PW Motion 05. Skips speed, U-turn, half-circle, and endpoint-average recipes already in Motion 03 and 04.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rule: a = dv/dt = (dv/dx)(dx/dt) = v dv/dx.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Motion 05</a:t>
            </a:r>
          </a:p>
        </p:txBody>
      </p:sp>
      <p:sp>
        <p:nvSpPr>
          <p:cNvPr id="12" name="TextBox 11"/>
          <p:cNvSpPr txBox="1"/>
          <p:nvPr/>
        </p:nvSpPr>
        <p:spPr>
          <a:xfrm>
            <a:off x="1874519" y="3401568"/>
            <a:ext cx="8412480" cy="502920"/>
          </a:xfrm>
          <a:prstGeom prst="rect">
            <a:avLst/>
          </a:prstGeom>
          <a:noFill/>
        </p:spPr>
        <p:txBody>
          <a:bodyPr wrap="square" lIns="0" rIns="0" tIns="0" bIns="0" anchor="t">
            <a:spAutoFit/>
          </a:bodyPr>
          <a:lstStyle/>
          <a:p>
            <a:pPr algn="ctr">
              <a:lnSpc>
                <a:spcPct val="110000"/>
              </a:lnSpc>
              <a:spcBef>
                <a:spcPts val="0"/>
              </a:spcBef>
              <a:spcAft>
                <a:spcPts val="0"/>
              </a:spcAft>
            </a:pPr>
            <a:r>
              <a:rPr sz="2800" b="1">
                <a:solidFill>
                  <a:srgbClr val="FFFFFF"/>
                </a:solidFill>
                <a:latin typeface="Georgia"/>
              </a:rPr>
              <a:t>Motion in a Straight Line</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D646"/>
                </a:solidFill>
                <a:latin typeface="Aptos"/>
              </a:rPr>
              <a:t>Acceleration · later intervals · when a stays constant</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22 October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What is new today</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115568"/>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52144"/>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1</a:t>
            </a:r>
          </a:p>
        </p:txBody>
      </p:sp>
      <p:sp>
        <p:nvSpPr>
          <p:cNvPr id="6" name="TextBox 5"/>
          <p:cNvSpPr txBox="1"/>
          <p:nvPr/>
        </p:nvSpPr>
        <p:spPr>
          <a:xfrm>
            <a:off x="1124712" y="1133856"/>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Average velocity on an interval that starts after t = 0</a:t>
            </a:r>
          </a:p>
        </p:txBody>
      </p:sp>
      <p:sp>
        <p:nvSpPr>
          <p:cNvPr id="7" name="Oval 6"/>
          <p:cNvSpPr/>
          <p:nvPr/>
        </p:nvSpPr>
        <p:spPr>
          <a:xfrm>
            <a:off x="594360" y="1773936"/>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10512"/>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2</a:t>
            </a:r>
          </a:p>
        </p:txBody>
      </p:sp>
      <p:sp>
        <p:nvSpPr>
          <p:cNvPr id="9" name="TextBox 8"/>
          <p:cNvSpPr txBox="1"/>
          <p:nvPr/>
        </p:nvSpPr>
        <p:spPr>
          <a:xfrm>
            <a:off x="1124712" y="1792224"/>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Which of two x–t curves is faster, early and late</a:t>
            </a:r>
          </a:p>
        </p:txBody>
      </p:sp>
      <p:sp>
        <p:nvSpPr>
          <p:cNvPr id="10" name="Oval 9"/>
          <p:cNvSpPr/>
          <p:nvPr/>
        </p:nvSpPr>
        <p:spPr>
          <a:xfrm>
            <a:off x="594360" y="2432304"/>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68880"/>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3</a:t>
            </a:r>
          </a:p>
        </p:txBody>
      </p:sp>
      <p:sp>
        <p:nvSpPr>
          <p:cNvPr id="12" name="TextBox 11"/>
          <p:cNvSpPr txBox="1"/>
          <p:nvPr/>
        </p:nvSpPr>
        <p:spPr>
          <a:xfrm>
            <a:off x="1124712" y="2450592"/>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Acceleration: a = dv/dt and a = v dv/dx</a:t>
            </a:r>
          </a:p>
        </p:txBody>
      </p:sp>
      <p:sp>
        <p:nvSpPr>
          <p:cNvPr id="13" name="Oval 12"/>
          <p:cNvSpPr/>
          <p:nvPr/>
        </p:nvSpPr>
        <p:spPr>
          <a:xfrm>
            <a:off x="594360" y="309067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27248"/>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4</a:t>
            </a:r>
          </a:p>
        </p:txBody>
      </p:sp>
      <p:sp>
        <p:nvSpPr>
          <p:cNvPr id="15" name="TextBox 14"/>
          <p:cNvSpPr txBox="1"/>
          <p:nvPr/>
        </p:nvSpPr>
        <p:spPr>
          <a:xfrm>
            <a:off x="1124712" y="3108960"/>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Speed can rise while a falls; v = 0 can sit with a ≠ 0</a:t>
            </a:r>
          </a:p>
        </p:txBody>
      </p:sp>
      <p:sp>
        <p:nvSpPr>
          <p:cNvPr id="16" name="Oval 15"/>
          <p:cNvSpPr/>
          <p:nvPr/>
        </p:nvSpPr>
        <p:spPr>
          <a:xfrm>
            <a:off x="594360" y="3749039"/>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85615"/>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5</a:t>
            </a:r>
          </a:p>
        </p:txBody>
      </p:sp>
      <p:sp>
        <p:nvSpPr>
          <p:cNvPr id="18" name="TextBox 17"/>
          <p:cNvSpPr txBox="1"/>
          <p:nvPr/>
        </p:nvSpPr>
        <p:spPr>
          <a:xfrm>
            <a:off x="1124712" y="3767327"/>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Opposite velocity and acceleration</a:t>
            </a:r>
          </a:p>
        </p:txBody>
      </p:sp>
      <p:sp>
        <p:nvSpPr>
          <p:cNvPr id="19" name="Oval 18"/>
          <p:cNvSpPr/>
          <p:nvPr/>
        </p:nvSpPr>
        <p:spPr>
          <a:xfrm>
            <a:off x="594360" y="4407407"/>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443983"/>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6</a:t>
            </a:r>
          </a:p>
        </p:txBody>
      </p:sp>
      <p:sp>
        <p:nvSpPr>
          <p:cNvPr id="21" name="TextBox 20"/>
          <p:cNvSpPr txBox="1"/>
          <p:nvPr/>
        </p:nvSpPr>
        <p:spPr>
          <a:xfrm>
            <a:off x="1124712" y="4425695"/>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A later velocity from two readings, when a is constant</a:t>
            </a:r>
          </a:p>
        </p:txBody>
      </p:sp>
      <p:sp>
        <p:nvSpPr>
          <p:cNvPr id="22" name="Oval 21"/>
          <p:cNvSpPr/>
          <p:nvPr/>
        </p:nvSpPr>
        <p:spPr>
          <a:xfrm>
            <a:off x="594360" y="5065776"/>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102352"/>
            <a:ext cx="384048" cy="310896"/>
          </a:xfrm>
          <a:prstGeom prst="rect">
            <a:avLst/>
          </a:prstGeom>
          <a:noFill/>
        </p:spPr>
        <p:txBody>
          <a:bodyPr wrap="square" lIns="0" rIns="0" tIns="0" bIns="0" anchor="t">
            <a:spAutoFit/>
          </a:bodyPr>
          <a:lstStyle/>
          <a:p>
            <a:pPr algn="ctr">
              <a:lnSpc>
                <a:spcPct val="110000"/>
              </a:lnSpc>
              <a:spcBef>
                <a:spcPts val="0"/>
              </a:spcBef>
              <a:spcAft>
                <a:spcPts val="0"/>
              </a:spcAft>
            </a:pPr>
            <a:r>
              <a:rPr sz="1600" b="1">
                <a:solidFill>
                  <a:srgbClr val="FFFFFF"/>
                </a:solidFill>
                <a:latin typeface="Aptos"/>
              </a:rPr>
              <a:t>7</a:t>
            </a:r>
          </a:p>
        </p:txBody>
      </p:sp>
      <p:sp>
        <p:nvSpPr>
          <p:cNvPr id="24" name="TextBox 23"/>
          <p:cNvSpPr txBox="1"/>
          <p:nvPr/>
        </p:nvSpPr>
        <p:spPr>
          <a:xfrm>
            <a:off x="1124712" y="5084064"/>
            <a:ext cx="10488168" cy="384048"/>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Which formulas hide a constant acceleration</a:t>
            </a:r>
          </a:p>
        </p:txBody>
      </p:sp>
      <p:sp>
        <p:nvSpPr>
          <p:cNvPr id="25" name="TextBox 24"/>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Average velocity between t = 2 s and t = 5 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Position is x = 5 + 2t². The interval asked for starts at t = 2 s, so the average uses those two clock readings.</a:t>
            </a:r>
          </a:p>
        </p:txBody>
      </p:sp>
      <p:sp>
        <p:nvSpPr>
          <p:cNvPr id="8" name="TextBox 7"/>
          <p:cNvSpPr txBox="1"/>
          <p:nvPr/>
        </p:nvSpPr>
        <p:spPr>
          <a:xfrm>
            <a:off x="594360" y="19933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x(5) = 5 + 2(25) = 55 m</a:t>
            </a:r>
          </a:p>
        </p:txBody>
      </p:sp>
      <p:sp>
        <p:nvSpPr>
          <p:cNvPr id="9" name="TextBox 8"/>
          <p:cNvSpPr txBox="1"/>
          <p:nvPr/>
        </p:nvSpPr>
        <p:spPr>
          <a:xfrm>
            <a:off x="594360" y="25420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x(2) = 5 + 2(4) = 13 m</a:t>
            </a:r>
          </a:p>
        </p:txBody>
      </p:sp>
      <p:sp>
        <p:nvSpPr>
          <p:cNvPr id="10" name="TextBox 9"/>
          <p:cNvSpPr txBox="1"/>
          <p:nvPr/>
        </p:nvSpPr>
        <p:spPr>
          <a:xfrm>
            <a:off x="594360" y="30906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vₐᵥ</a:t>
            </a:r>
            <a:r>
              <a:rPr sz="1620" b="1">
                <a:solidFill>
                  <a:srgbClr val="5AC8FF"/>
                </a:solidFill>
                <a:latin typeface="Aptos"/>
                <a:baseline val="-25000"/>
              </a:rPr>
              <a:t>g</a:t>
            </a:r>
            <a:r>
              <a:rPr sz="1620" b="1">
                <a:solidFill>
                  <a:srgbClr val="5AC8FF"/>
                </a:solidFill>
                <a:latin typeface="Aptos"/>
              </a:rPr>
              <a:t> = (55 − 13) / (5 − 2) = 42 / 3 = 14 m/s</a:t>
            </a:r>
          </a:p>
        </p:txBody>
      </p:sp>
      <p:sp>
        <p:nvSpPr>
          <p:cNvPr id="11" name="TextBox 10"/>
          <p:cNvSpPr txBox="1"/>
          <p:nvPr/>
        </p:nvSpPr>
        <p:spPr>
          <a:xfrm>
            <a:off x="594360" y="3685032"/>
            <a:ext cx="11018520" cy="8686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v = 4t stays positive from 2 s to 5 s, so the particle keeps the same direction. Distance equals the 42 m displacement, and the average speed is 14 m/s as well.</a:t>
            </a:r>
          </a:p>
        </p:txBody>
      </p:sp>
      <p:sp>
        <p:nvSpPr>
          <p:cNvPr id="12" name="TextBox 11"/>
          <p:cNvSpPr txBox="1"/>
          <p:nvPr/>
        </p:nvSpPr>
        <p:spPr>
          <a:xfrm>
            <a:off x="594360" y="4736592"/>
            <a:ext cx="2926080" cy="438912"/>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D680"/>
                </a:solidFill>
                <a:latin typeface="Aptos"/>
              </a:rPr>
              <a:t>14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CHECK</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The integral agrees, with one careful step</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Average velocity is also the time-average of v. Here v = dx/dt = 4t.</a:t>
            </a:r>
          </a:p>
        </p:txBody>
      </p:sp>
      <p:sp>
        <p:nvSpPr>
          <p:cNvPr id="8" name="TextBox 7"/>
          <p:cNvSpPr txBox="1"/>
          <p:nvPr/>
        </p:nvSpPr>
        <p:spPr>
          <a:xfrm>
            <a:off x="594360" y="18562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vₐᵥ</a:t>
            </a:r>
            <a:r>
              <a:rPr sz="1620" b="1">
                <a:solidFill>
                  <a:srgbClr val="5AC8FF"/>
                </a:solidFill>
                <a:latin typeface="Aptos"/>
                <a:baseline val="-25000"/>
              </a:rPr>
              <a:t>g</a:t>
            </a:r>
            <a:r>
              <a:rPr sz="1620" b="1">
                <a:solidFill>
                  <a:srgbClr val="5AC8FF"/>
                </a:solidFill>
                <a:latin typeface="Aptos"/>
              </a:rPr>
              <a:t> = (1 / 3) ∫₂⁵ 4t dt = [2t²]₂⁵ / 3</a:t>
            </a:r>
          </a:p>
        </p:txBody>
      </p:sp>
      <p:sp>
        <p:nvSpPr>
          <p:cNvPr id="9" name="TextBox 8"/>
          <p:cNvSpPr txBox="1"/>
          <p:nvPr/>
        </p:nvSpPr>
        <p:spPr>
          <a:xfrm>
            <a:off x="594360" y="24048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 = 2(5² − 2²) / 3 = 2(25 − 4) / 3 = 14 m/s</a:t>
            </a:r>
          </a:p>
        </p:txBody>
      </p:sp>
      <p:sp>
        <p:nvSpPr>
          <p:cNvPr id="10" name="TextBox 9"/>
          <p:cNvSpPr txBox="1"/>
          <p:nvPr/>
        </p:nvSpPr>
        <p:spPr>
          <a:xfrm>
            <a:off x="594360" y="327355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2(5 − 2) = 6 uses the × in place of their squares. The antiderivative of 4t is 2t², so the squares stay.</a:t>
            </a:r>
          </a:p>
        </p:txBody>
      </p:sp>
      <p:sp>
        <p:nvSpPr>
          <p:cNvPr id="11" name="TextBox 10"/>
          <p:cNvSpPr txBox="1"/>
          <p:nvPr/>
        </p:nvSpPr>
        <p:spPr>
          <a:xfrm>
            <a:off x="594360" y="42793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Endpoints and the integral both give 14 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particle is faster?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6126480" cy="7772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 and B move on the x–t graph. Which statement is correct?</a:t>
            </a:r>
          </a:p>
        </p:txBody>
      </p:sp>
      <p:sp>
        <p:nvSpPr>
          <p:cNvPr id="8" name="Oval 7"/>
          <p:cNvSpPr/>
          <p:nvPr/>
        </p:nvSpPr>
        <p:spPr>
          <a:xfrm>
            <a:off x="594360" y="20939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122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75688"/>
            <a:ext cx="570585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 is faster at the start and slower at the end</a:t>
            </a:r>
          </a:p>
        </p:txBody>
      </p:sp>
      <p:sp>
        <p:nvSpPr>
          <p:cNvPr id="11" name="Oval 10"/>
          <p:cNvSpPr/>
          <p:nvPr/>
        </p:nvSpPr>
        <p:spPr>
          <a:xfrm>
            <a:off x="594360" y="25694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51176"/>
            <a:ext cx="570585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 is slower at the start and faster at the end</a:t>
            </a:r>
          </a:p>
        </p:txBody>
      </p:sp>
      <p:sp>
        <p:nvSpPr>
          <p:cNvPr id="14" name="Oval 13"/>
          <p:cNvSpPr/>
          <p:nvPr/>
        </p:nvSpPr>
        <p:spPr>
          <a:xfrm>
            <a:off x="594360" y="30449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26664"/>
            <a:ext cx="570585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 is faster at the start and at the end</a:t>
            </a:r>
          </a:p>
        </p:txBody>
      </p:sp>
      <p:sp>
        <p:nvSpPr>
          <p:cNvPr id="17" name="Oval 16"/>
          <p:cNvSpPr/>
          <p:nvPr/>
        </p:nvSpPr>
        <p:spPr>
          <a:xfrm>
            <a:off x="594360" y="35204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02152"/>
            <a:ext cx="570585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B is slower at the start and at the end</a:t>
            </a:r>
          </a:p>
        </p:txBody>
      </p:sp>
      <p:cxnSp>
        <p:nvCxnSpPr>
          <p:cNvPr id="20" name="Connector 19"/>
          <p:cNvCxnSpPr/>
          <p:nvPr/>
        </p:nvCxnSpPr>
        <p:spPr>
          <a:xfrm>
            <a:off x="7040880" y="5653485"/>
            <a:ext cx="448056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276698" y="1417320"/>
            <a:ext cx="0" cy="448056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356848" y="5699205"/>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23" name="TextBox 22"/>
          <p:cNvSpPr txBox="1"/>
          <p:nvPr/>
        </p:nvSpPr>
        <p:spPr>
          <a:xfrm>
            <a:off x="7340706" y="141732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x</a:t>
            </a:r>
          </a:p>
        </p:txBody>
      </p:sp>
      <p:cxnSp>
        <p:nvCxnSpPr>
          <p:cNvPr id="24" name="Connector 23"/>
          <p:cNvCxnSpPr/>
          <p:nvPr/>
        </p:nvCxnSpPr>
        <p:spPr>
          <a:xfrm flipV="1">
            <a:off x="7276698" y="5580167"/>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374956" y="5506849"/>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473214" y="5433531"/>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571472" y="5360212"/>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669730" y="5286894"/>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767988" y="5213576"/>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866246" y="5140258"/>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964504" y="5066939"/>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062762" y="4993621"/>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161020" y="4920303"/>
            <a:ext cx="98257"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259277" y="4846985"/>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357535" y="4773666"/>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455793" y="4700348"/>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554051" y="4627030"/>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652309" y="4553712"/>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750567" y="4480393"/>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8848825" y="4407075"/>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8947083" y="4333757"/>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045341" y="4260438"/>
            <a:ext cx="98257"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9143598" y="4187120"/>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241856" y="4113802"/>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340114" y="4040484"/>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438372" y="3967165"/>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9536630" y="3893847"/>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9634888" y="3820529"/>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733146" y="3747211"/>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831404" y="3673892"/>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9929662" y="3600574"/>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0027920" y="3527256"/>
            <a:ext cx="98257"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126177" y="3453938"/>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0224435" y="3380619"/>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0322693" y="3307301"/>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0420951" y="3233983"/>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0519209" y="3160665"/>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0617467" y="3087346"/>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0715725" y="3014028"/>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0813983" y="2940710"/>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912241" y="2867392"/>
            <a:ext cx="98257"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11010498" y="2794073"/>
            <a:ext cx="98258" cy="733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1108756" y="2720755"/>
            <a:ext cx="98258" cy="7331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7276698" y="4389886"/>
            <a:ext cx="78607" cy="896"/>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355305" y="4387198"/>
            <a:ext cx="78606" cy="2688"/>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433911" y="4382717"/>
            <a:ext cx="78606" cy="4481"/>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512517" y="4376444"/>
            <a:ext cx="78607" cy="6273"/>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591124" y="4368379"/>
            <a:ext cx="78606" cy="8065"/>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669730" y="4358522"/>
            <a:ext cx="78606" cy="9857"/>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748336" y="4346873"/>
            <a:ext cx="78607" cy="11649"/>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7826943" y="4333431"/>
            <a:ext cx="78606" cy="13442"/>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7905549" y="4318197"/>
            <a:ext cx="78606" cy="15234"/>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7984155" y="4301171"/>
            <a:ext cx="78607" cy="17026"/>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8062762" y="4282352"/>
            <a:ext cx="78606" cy="18819"/>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8141368" y="4261742"/>
            <a:ext cx="78606" cy="20610"/>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8219974" y="4239339"/>
            <a:ext cx="78607" cy="22403"/>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8298581" y="4215144"/>
            <a:ext cx="78606" cy="24195"/>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8377187" y="4189157"/>
            <a:ext cx="78606" cy="25987"/>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8455793" y="4161377"/>
            <a:ext cx="78607" cy="27780"/>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8534400" y="4131806"/>
            <a:ext cx="78606" cy="29571"/>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613006" y="4100442"/>
            <a:ext cx="78606" cy="31364"/>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691612" y="4067286"/>
            <a:ext cx="78606" cy="33156"/>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8770218" y="4032337"/>
            <a:ext cx="78607" cy="34949"/>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8848825" y="3995597"/>
            <a:ext cx="78606" cy="36740"/>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8927431" y="3957064"/>
            <a:ext cx="78606" cy="38533"/>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9006037" y="3916739"/>
            <a:ext cx="78607" cy="40325"/>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84644" y="3874622"/>
            <a:ext cx="78606" cy="42117"/>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163250" y="3830712"/>
            <a:ext cx="78606" cy="43910"/>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9241856" y="3785010"/>
            <a:ext cx="78607" cy="45702"/>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9320463" y="3737516"/>
            <a:ext cx="78606" cy="47494"/>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399069" y="3688230"/>
            <a:ext cx="78606" cy="49286"/>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477675" y="3637152"/>
            <a:ext cx="78607" cy="51078"/>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556282" y="3584281"/>
            <a:ext cx="78606" cy="52871"/>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634888" y="3529618"/>
            <a:ext cx="78606" cy="54663"/>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713494" y="3473163"/>
            <a:ext cx="78607" cy="56455"/>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792101" y="3414916"/>
            <a:ext cx="78606" cy="58247"/>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9870707" y="3354877"/>
            <a:ext cx="78606" cy="60039"/>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9949313" y="3293045"/>
            <a:ext cx="78607" cy="61832"/>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0027920" y="3229421"/>
            <a:ext cx="78606" cy="63624"/>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0106526" y="3164005"/>
            <a:ext cx="78606" cy="65416"/>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185132" y="3096796"/>
            <a:ext cx="78606" cy="67209"/>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263738" y="3027796"/>
            <a:ext cx="78607" cy="69000"/>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0342345" y="2957003"/>
            <a:ext cx="78606" cy="70793"/>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0420951" y="2884418"/>
            <a:ext cx="78606" cy="72585"/>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0499557" y="2810040"/>
            <a:ext cx="78607" cy="74378"/>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0578164" y="2733871"/>
            <a:ext cx="78606" cy="76169"/>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0656770" y="2655909"/>
            <a:ext cx="78606" cy="77962"/>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0735376" y="2576155"/>
            <a:ext cx="78607" cy="79754"/>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0813983" y="2494609"/>
            <a:ext cx="78606" cy="81546"/>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0892589" y="2411271"/>
            <a:ext cx="78606" cy="83338"/>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0971195" y="2326140"/>
            <a:ext cx="78607" cy="85131"/>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1049802" y="2239217"/>
            <a:ext cx="78606" cy="86923"/>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1128408" y="2150502"/>
            <a:ext cx="78606" cy="88715"/>
          </a:xfrm>
          <a:prstGeom prst="line">
            <a:avLst/>
          </a:prstGeom>
          <a:ln w="30480">
            <a:solidFill>
              <a:srgbClr val="28B4BE"/>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0886974" y="2428147"/>
            <a:ext cx="365760" cy="219456"/>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FFD646"/>
                </a:solidFill>
                <a:latin typeface="Aptos"/>
              </a:rPr>
              <a:t>A</a:t>
            </a:r>
          </a:p>
        </p:txBody>
      </p:sp>
      <p:sp>
        <p:nvSpPr>
          <p:cNvPr id="115" name="TextBox 114"/>
          <p:cNvSpPr txBox="1"/>
          <p:nvPr/>
        </p:nvSpPr>
        <p:spPr>
          <a:xfrm>
            <a:off x="11280166" y="1894470"/>
            <a:ext cx="365760" cy="219456"/>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28B4BE"/>
                </a:solidFill>
                <a:latin typeface="Aptos"/>
              </a:rPr>
              <a: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particle is faster?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
        <p:nvSpPr>
          <p:cNvPr id="7" name="TextBox 6"/>
          <p:cNvSpPr txBox="1"/>
          <p:nvPr/>
        </p:nvSpPr>
        <p:spPr>
          <a:xfrm>
            <a:off x="594360" y="1078992"/>
            <a:ext cx="6675120" cy="19659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 slope of an x–t graph is the velocity. A is a straight line, so its speed stays fixed. B opens with a horizontal tangent, so B’s initial speed is zero, below A’s. At the right-hand end B’s tangent is steeper than A’s line, so B is faster there.</a:t>
            </a:r>
          </a:p>
        </p:txBody>
      </p:sp>
      <p:sp>
        <p:nvSpPr>
          <p:cNvPr id="8" name="TextBox 7"/>
          <p:cNvSpPr txBox="1"/>
          <p:nvPr/>
        </p:nvSpPr>
        <p:spPr>
          <a:xfrm>
            <a:off x="594360" y="3227832"/>
            <a:ext cx="6675120" cy="6400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Answer: B is slower at first, faster at the end</a:t>
            </a:r>
          </a:p>
        </p:txBody>
      </p:sp>
      <p:cxnSp>
        <p:nvCxnSpPr>
          <p:cNvPr id="9" name="Connector 8"/>
          <p:cNvCxnSpPr/>
          <p:nvPr/>
        </p:nvCxnSpPr>
        <p:spPr>
          <a:xfrm>
            <a:off x="7589520" y="5302688"/>
            <a:ext cx="393192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96463" y="1325880"/>
            <a:ext cx="0" cy="420624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356848" y="5348408"/>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2" name="TextBox 11"/>
          <p:cNvSpPr txBox="1"/>
          <p:nvPr/>
        </p:nvSpPr>
        <p:spPr>
          <a:xfrm>
            <a:off x="7860471" y="132588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x</a:t>
            </a:r>
          </a:p>
        </p:txBody>
      </p:sp>
      <p:cxnSp>
        <p:nvCxnSpPr>
          <p:cNvPr id="13" name="Connector 12"/>
          <p:cNvCxnSpPr/>
          <p:nvPr/>
        </p:nvCxnSpPr>
        <p:spPr>
          <a:xfrm flipV="1">
            <a:off x="7796463" y="5233859"/>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882689" y="5165029"/>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968915" y="5096200"/>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055142" y="5027371"/>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141368" y="4958541"/>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227594" y="4889712"/>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313821" y="4820883"/>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400047" y="4752053"/>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486273" y="4683224"/>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572500" y="4614394"/>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658726" y="4545565"/>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744952" y="4476736"/>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831178" y="4407906"/>
            <a:ext cx="86227"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917405" y="4339077"/>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003631" y="4270248"/>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089857" y="4201418"/>
            <a:ext cx="86227"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176084" y="4132589"/>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262310" y="4063759"/>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348536" y="3994930"/>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434763" y="3926101"/>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520989" y="3857271"/>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607215" y="3788442"/>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693442" y="3719612"/>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779668" y="3650783"/>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865894" y="3581954"/>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952121" y="3513124"/>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038347" y="3444295"/>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124573" y="3375466"/>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210800" y="3306636"/>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297026" y="3237807"/>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383252" y="3168977"/>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469478" y="3100148"/>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555705" y="3031319"/>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641931" y="2962489"/>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0728157" y="2893660"/>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0814384" y="2824830"/>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900610" y="2756001"/>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986836" y="2687172"/>
            <a:ext cx="86227"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073063" y="2618342"/>
            <a:ext cx="86226" cy="68830"/>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1159289" y="2549513"/>
            <a:ext cx="86226" cy="6882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796463" y="4116452"/>
            <a:ext cx="68981" cy="84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7865444" y="4113928"/>
            <a:ext cx="68981" cy="252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7934425" y="4109722"/>
            <a:ext cx="68981" cy="420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003406" y="4103833"/>
            <a:ext cx="68981" cy="588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072387" y="4096262"/>
            <a:ext cx="68981" cy="757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141368" y="4087008"/>
            <a:ext cx="68981" cy="925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210349" y="4076072"/>
            <a:ext cx="68981" cy="1093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279330" y="4063453"/>
            <a:ext cx="68981" cy="1261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348311" y="4049152"/>
            <a:ext cx="68981" cy="1430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417292" y="4033169"/>
            <a:ext cx="68981" cy="15983"/>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486273" y="4015502"/>
            <a:ext cx="68981" cy="17667"/>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555254" y="3996154"/>
            <a:ext cx="68981" cy="19348"/>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624235" y="3975122"/>
            <a:ext cx="68981" cy="21032"/>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693216" y="3952409"/>
            <a:ext cx="68981" cy="22713"/>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762197" y="3928013"/>
            <a:ext cx="68981" cy="2439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831178" y="3901934"/>
            <a:ext cx="68982" cy="2607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900160" y="3874173"/>
            <a:ext cx="68981" cy="2776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969141" y="3844729"/>
            <a:ext cx="68981" cy="2944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038122" y="3813603"/>
            <a:ext cx="68981" cy="3112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107103" y="3780794"/>
            <a:ext cx="68981" cy="3280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176084" y="3746303"/>
            <a:ext cx="68981" cy="3449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245065" y="3710129"/>
            <a:ext cx="68981" cy="3617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314046" y="3672273"/>
            <a:ext cx="68981" cy="3785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383027" y="3632734"/>
            <a:ext cx="68981" cy="3953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452008" y="3591513"/>
            <a:ext cx="68981" cy="4122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9520989" y="3548610"/>
            <a:ext cx="68981" cy="42903"/>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9589970" y="3504024"/>
            <a:ext cx="68981" cy="4458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9658951" y="3457755"/>
            <a:ext cx="68981" cy="4626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9727932" y="3409804"/>
            <a:ext cx="68981" cy="4795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9796913" y="3360170"/>
            <a:ext cx="68981" cy="4963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9865894" y="3308854"/>
            <a:ext cx="68981" cy="5131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934875" y="3255855"/>
            <a:ext cx="68981" cy="5299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003856" y="3201174"/>
            <a:ext cx="68981" cy="5468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072837" y="3144811"/>
            <a:ext cx="68981" cy="56363"/>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141818" y="3086765"/>
            <a:ext cx="68982" cy="5804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210800" y="3027036"/>
            <a:ext cx="68981" cy="5972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279781" y="2965625"/>
            <a:ext cx="68981" cy="6141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348762" y="2902531"/>
            <a:ext cx="68981" cy="6309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417743" y="2837755"/>
            <a:ext cx="68981" cy="6477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0486724" y="2771297"/>
            <a:ext cx="68981" cy="66458"/>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555705" y="2703155"/>
            <a:ext cx="68981" cy="68142"/>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624686" y="2633332"/>
            <a:ext cx="68981" cy="69823"/>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0693667" y="2561826"/>
            <a:ext cx="68981" cy="71506"/>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0762648" y="2488637"/>
            <a:ext cx="68981" cy="73189"/>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831629" y="2413766"/>
            <a:ext cx="68981" cy="7487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900610" y="2337213"/>
            <a:ext cx="68981" cy="76553"/>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0969591" y="2258976"/>
            <a:ext cx="68981" cy="78237"/>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1038572" y="2179058"/>
            <a:ext cx="68981" cy="79918"/>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1107553" y="2097457"/>
            <a:ext cx="68981" cy="81601"/>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1176534" y="2014173"/>
            <a:ext cx="68981" cy="83284"/>
          </a:xfrm>
          <a:prstGeom prst="line">
            <a:avLst/>
          </a:prstGeom>
          <a:ln w="27940">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7796463" y="4117293"/>
            <a:ext cx="965734" cy="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0900610" y="1719737"/>
            <a:ext cx="586339" cy="71506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Acceleration is how velocity changes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Velocity tells how fast the position is changing, and in which direction. Acceleration tells how fast that velocity itself is changing. Its direction is the direction of the change in velocity.</a:t>
            </a:r>
          </a:p>
        </p:txBody>
      </p:sp>
      <p:sp>
        <p:nvSpPr>
          <p:cNvPr id="8" name="Rectangle 7"/>
          <p:cNvSpPr/>
          <p:nvPr/>
        </p:nvSpPr>
        <p:spPr>
          <a:xfrm>
            <a:off x="594360" y="2267712"/>
            <a:ext cx="11018520" cy="658368"/>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414016"/>
            <a:ext cx="10689336" cy="365759"/>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aₐᵥ</a:t>
            </a:r>
            <a:r>
              <a:rPr sz="1980" b="1">
                <a:solidFill>
                  <a:srgbClr val="081E3F"/>
                </a:solidFill>
                <a:latin typeface="Aptos"/>
                <a:baseline val="-25000"/>
              </a:rPr>
              <a:t>g</a:t>
            </a:r>
            <a:r>
              <a:rPr sz="1980" b="1">
                <a:solidFill>
                  <a:srgbClr val="081E3F"/>
                </a:solidFill>
                <a:latin typeface="Aptos"/>
              </a:rPr>
              <a:t> = (v</a:t>
            </a:r>
            <a:r>
              <a:rPr sz="1980" b="1">
                <a:solidFill>
                  <a:srgbClr val="081E3F"/>
                </a:solidFill>
                <a:latin typeface="Aptos"/>
                <a:baseline val="-25000"/>
              </a:rPr>
              <a:t>f</a:t>
            </a:r>
            <a:r>
              <a:rPr sz="1980" b="1">
                <a:solidFill>
                  <a:srgbClr val="081E3F"/>
                </a:solidFill>
                <a:latin typeface="Aptos"/>
              </a:rPr>
              <a:t> − vᵢ) / Δt</a:t>
            </a:r>
          </a:p>
        </p:txBody>
      </p:sp>
      <p:sp>
        <p:nvSpPr>
          <p:cNvPr id="10" name="TextBox 9"/>
          <p:cNvSpPr txBox="1"/>
          <p:nvPr/>
        </p:nvSpPr>
        <p:spPr>
          <a:xfrm>
            <a:off x="594360" y="30906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a = dv/dt = d²x/dt²</a:t>
            </a:r>
          </a:p>
        </p:txBody>
      </p:sp>
      <p:sp>
        <p:nvSpPr>
          <p:cNvPr id="11" name="TextBox 10"/>
          <p:cNvSpPr txBox="1"/>
          <p:nvPr/>
        </p:nvSpPr>
        <p:spPr>
          <a:xfrm>
            <a:off x="594360" y="36393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a = v dv/dx</a:t>
            </a:r>
          </a:p>
        </p:txBody>
      </p:sp>
      <p:sp>
        <p:nvSpPr>
          <p:cNvPr id="12" name="TextBox 11"/>
          <p:cNvSpPr txBox="1"/>
          <p:nvPr/>
        </p:nvSpPr>
        <p:spPr>
          <a:xfrm>
            <a:off x="594360" y="432511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Constant velocity means a = 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TABLE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Same clock, five different accelerations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Each row gives the velocity at t = 0, 1, 2 and 3 s. The acceleration column is the change from one second to the next.</a:t>
            </a:r>
          </a:p>
        </p:txBody>
      </p:sp>
      <p:sp>
        <p:nvSpPr>
          <p:cNvPr id="8" name="Rectangle 7"/>
          <p:cNvSpPr/>
          <p:nvPr/>
        </p:nvSpPr>
        <p:spPr>
          <a:xfrm>
            <a:off x="594360" y="1947672"/>
            <a:ext cx="3017520" cy="43891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947672"/>
            <a:ext cx="29443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Story</a:t>
            </a:r>
          </a:p>
        </p:txBody>
      </p:sp>
      <p:sp>
        <p:nvSpPr>
          <p:cNvPr id="10" name="Rectangle 9"/>
          <p:cNvSpPr/>
          <p:nvPr/>
        </p:nvSpPr>
        <p:spPr>
          <a:xfrm>
            <a:off x="3611879" y="1947672"/>
            <a:ext cx="3931920" cy="43891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48456" y="1947672"/>
            <a:ext cx="38587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Velocities (m/s)</a:t>
            </a:r>
          </a:p>
        </p:txBody>
      </p:sp>
      <p:sp>
        <p:nvSpPr>
          <p:cNvPr id="12" name="Rectangle 11"/>
          <p:cNvSpPr/>
          <p:nvPr/>
        </p:nvSpPr>
        <p:spPr>
          <a:xfrm>
            <a:off x="7543800" y="1947672"/>
            <a:ext cx="4069080" cy="43891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0375" y="1947672"/>
            <a:ext cx="3995928" cy="43891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Accelerations (m/s²)</a:t>
            </a:r>
          </a:p>
        </p:txBody>
      </p:sp>
      <p:sp>
        <p:nvSpPr>
          <p:cNvPr id="14" name="Rectangle 13"/>
          <p:cNvSpPr/>
          <p:nvPr/>
        </p:nvSpPr>
        <p:spPr>
          <a:xfrm>
            <a:off x="594360" y="2386584"/>
            <a:ext cx="301752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2386584"/>
            <a:ext cx="29443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Steady</a:t>
            </a:r>
          </a:p>
        </p:txBody>
      </p:sp>
      <p:sp>
        <p:nvSpPr>
          <p:cNvPr id="16" name="Rectangle 15"/>
          <p:cNvSpPr/>
          <p:nvPr/>
        </p:nvSpPr>
        <p:spPr>
          <a:xfrm>
            <a:off x="3611879" y="2386584"/>
            <a:ext cx="393192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48456" y="2386584"/>
            <a:ext cx="38587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10, 10, 10, 10</a:t>
            </a:r>
          </a:p>
        </p:txBody>
      </p:sp>
      <p:sp>
        <p:nvSpPr>
          <p:cNvPr id="18" name="Rectangle 17"/>
          <p:cNvSpPr/>
          <p:nvPr/>
        </p:nvSpPr>
        <p:spPr>
          <a:xfrm>
            <a:off x="7543800" y="2386584"/>
            <a:ext cx="406908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0375" y="2386584"/>
            <a:ext cx="399592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0, 0, 0</a:t>
            </a:r>
          </a:p>
        </p:txBody>
      </p:sp>
      <p:sp>
        <p:nvSpPr>
          <p:cNvPr id="20" name="Rectangle 19"/>
          <p:cNvSpPr/>
          <p:nvPr/>
        </p:nvSpPr>
        <p:spPr>
          <a:xfrm>
            <a:off x="594360" y="2825496"/>
            <a:ext cx="3017520" cy="43891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2825496"/>
            <a:ext cx="29443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Even speed-up</a:t>
            </a:r>
          </a:p>
        </p:txBody>
      </p:sp>
      <p:sp>
        <p:nvSpPr>
          <p:cNvPr id="22" name="Rectangle 21"/>
          <p:cNvSpPr/>
          <p:nvPr/>
        </p:nvSpPr>
        <p:spPr>
          <a:xfrm>
            <a:off x="3611879" y="2825496"/>
            <a:ext cx="3931920" cy="43891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48456" y="2825496"/>
            <a:ext cx="38587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10, 20, 30, 40</a:t>
            </a:r>
          </a:p>
        </p:txBody>
      </p:sp>
      <p:sp>
        <p:nvSpPr>
          <p:cNvPr id="24" name="Rectangle 23"/>
          <p:cNvSpPr/>
          <p:nvPr/>
        </p:nvSpPr>
        <p:spPr>
          <a:xfrm>
            <a:off x="7543800" y="2825496"/>
            <a:ext cx="4069080" cy="43891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0375" y="2825496"/>
            <a:ext cx="399592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10, 10, 10</a:t>
            </a:r>
          </a:p>
        </p:txBody>
      </p:sp>
      <p:sp>
        <p:nvSpPr>
          <p:cNvPr id="26" name="Rectangle 25"/>
          <p:cNvSpPr/>
          <p:nvPr/>
        </p:nvSpPr>
        <p:spPr>
          <a:xfrm>
            <a:off x="594360" y="3264408"/>
            <a:ext cx="301752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 y="3264408"/>
            <a:ext cx="29443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Gentler speed-up</a:t>
            </a:r>
          </a:p>
        </p:txBody>
      </p:sp>
      <p:sp>
        <p:nvSpPr>
          <p:cNvPr id="28" name="Rectangle 27"/>
          <p:cNvSpPr/>
          <p:nvPr/>
        </p:nvSpPr>
        <p:spPr>
          <a:xfrm>
            <a:off x="3611879" y="3264408"/>
            <a:ext cx="393192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48456" y="3264408"/>
            <a:ext cx="38587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10, 20, 28, 34</a:t>
            </a:r>
          </a:p>
        </p:txBody>
      </p:sp>
      <p:sp>
        <p:nvSpPr>
          <p:cNvPr id="30" name="Rectangle 29"/>
          <p:cNvSpPr/>
          <p:nvPr/>
        </p:nvSpPr>
        <p:spPr>
          <a:xfrm>
            <a:off x="7543800" y="3264408"/>
            <a:ext cx="406908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0375" y="3264408"/>
            <a:ext cx="399592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10, 8, 6</a:t>
            </a:r>
          </a:p>
        </p:txBody>
      </p:sp>
      <p:sp>
        <p:nvSpPr>
          <p:cNvPr id="32" name="Rectangle 31"/>
          <p:cNvSpPr/>
          <p:nvPr/>
        </p:nvSpPr>
        <p:spPr>
          <a:xfrm>
            <a:off x="594360" y="3703320"/>
            <a:ext cx="3017520" cy="43891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 y="3703320"/>
            <a:ext cx="29443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Harder speed-up</a:t>
            </a:r>
          </a:p>
        </p:txBody>
      </p:sp>
      <p:sp>
        <p:nvSpPr>
          <p:cNvPr id="34" name="Rectangle 33"/>
          <p:cNvSpPr/>
          <p:nvPr/>
        </p:nvSpPr>
        <p:spPr>
          <a:xfrm>
            <a:off x="3611879" y="3703320"/>
            <a:ext cx="3931920" cy="43891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703320"/>
            <a:ext cx="38587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10, 20, 35, 55</a:t>
            </a:r>
          </a:p>
        </p:txBody>
      </p:sp>
      <p:sp>
        <p:nvSpPr>
          <p:cNvPr id="36" name="Rectangle 35"/>
          <p:cNvSpPr/>
          <p:nvPr/>
        </p:nvSpPr>
        <p:spPr>
          <a:xfrm>
            <a:off x="7543800" y="3703320"/>
            <a:ext cx="4069080" cy="43891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0375" y="3703320"/>
            <a:ext cx="399592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10, 15, 20</a:t>
            </a:r>
          </a:p>
        </p:txBody>
      </p:sp>
      <p:sp>
        <p:nvSpPr>
          <p:cNvPr id="38" name="Rectangle 37"/>
          <p:cNvSpPr/>
          <p:nvPr/>
        </p:nvSpPr>
        <p:spPr>
          <a:xfrm>
            <a:off x="594360" y="4142231"/>
            <a:ext cx="301752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 y="4142231"/>
            <a:ext cx="29443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Slowing down</a:t>
            </a:r>
          </a:p>
        </p:txBody>
      </p:sp>
      <p:sp>
        <p:nvSpPr>
          <p:cNvPr id="40" name="Rectangle 39"/>
          <p:cNvSpPr/>
          <p:nvPr/>
        </p:nvSpPr>
        <p:spPr>
          <a:xfrm>
            <a:off x="3611879" y="4142231"/>
            <a:ext cx="393192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48456" y="4142231"/>
            <a:ext cx="385876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20, 10, 6, 4</a:t>
            </a:r>
          </a:p>
        </p:txBody>
      </p:sp>
      <p:sp>
        <p:nvSpPr>
          <p:cNvPr id="42" name="Rectangle 41"/>
          <p:cNvSpPr/>
          <p:nvPr/>
        </p:nvSpPr>
        <p:spPr>
          <a:xfrm>
            <a:off x="7543800" y="4142231"/>
            <a:ext cx="4069080" cy="43891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0375" y="4142231"/>
            <a:ext cx="3995928" cy="43891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−10, −4, −2</a:t>
            </a:r>
          </a:p>
        </p:txBody>
      </p:sp>
      <p:sp>
        <p:nvSpPr>
          <p:cNvPr id="44" name="TextBox 43"/>
          <p:cNvSpPr txBox="1"/>
          <p:nvPr/>
        </p:nvSpPr>
        <p:spPr>
          <a:xfrm>
            <a:off x="594360" y="4736592"/>
            <a:ext cx="11018520" cy="7772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On the gentler row the velocity keeps rising while the acceleration falls from 10 to 6. Rising velocity and falling acceleration can happen together.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Slowing down, with a growing acceleration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Velocity readings: 20, 18, 14, 8 m/s at t = 0, 1, 2, 3 s. The object is still moving forward, and it is moving more slowly each second.</a:t>
            </a:r>
          </a:p>
        </p:txBody>
      </p:sp>
      <p:sp>
        <p:nvSpPr>
          <p:cNvPr id="8" name="TextBox 7"/>
          <p:cNvSpPr txBox="1"/>
          <p:nvPr/>
        </p:nvSpPr>
        <p:spPr>
          <a:xfrm>
            <a:off x="594360" y="2130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(18 − 20) / 1 = −2 m/s²</a:t>
            </a:r>
          </a:p>
        </p:txBody>
      </p:sp>
      <p:sp>
        <p:nvSpPr>
          <p:cNvPr id="9" name="TextBox 8"/>
          <p:cNvSpPr txBox="1"/>
          <p:nvPr/>
        </p:nvSpPr>
        <p:spPr>
          <a:xfrm>
            <a:off x="594360" y="26791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(14 − 18) / 1 = −4 m/s²</a:t>
            </a:r>
          </a:p>
        </p:txBody>
      </p:sp>
      <p:sp>
        <p:nvSpPr>
          <p:cNvPr id="10" name="TextBox 9"/>
          <p:cNvSpPr txBox="1"/>
          <p:nvPr/>
        </p:nvSpPr>
        <p:spPr>
          <a:xfrm>
            <a:off x="594360" y="32278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(8 − 14) / 1 = −6 m/s²</a:t>
            </a:r>
          </a:p>
        </p:txBody>
      </p:sp>
      <p:sp>
        <p:nvSpPr>
          <p:cNvPr id="11" name="TextBox 10"/>
          <p:cNvSpPr txBox="1"/>
          <p:nvPr/>
        </p:nvSpPr>
        <p:spPr>
          <a:xfrm>
            <a:off x="594360" y="39593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Velocity falls. The size of a grows from 2 to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 = 0 while acceleration is still there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5943600" cy="21031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At the top of a vertical throw the velocity is zero for one instant. The acceleration is still g, downward. That acceleration carries the velocity from upward, through zero, and on to downward, so the object turns around.</a:t>
            </a:r>
          </a:p>
        </p:txBody>
      </p:sp>
      <p:sp>
        <p:nvSpPr>
          <p:cNvPr id="8" name="TextBox 7"/>
          <p:cNvSpPr txBox="1"/>
          <p:nvPr/>
        </p:nvSpPr>
        <p:spPr>
          <a:xfrm>
            <a:off x="594360" y="3364991"/>
            <a:ext cx="5852160" cy="6400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v = 0 and a = g downward, together</a:t>
            </a:r>
          </a:p>
        </p:txBody>
      </p:sp>
      <p:cxnSp>
        <p:nvCxnSpPr>
          <p:cNvPr id="9" name="Connector 8"/>
          <p:cNvCxnSpPr/>
          <p:nvPr/>
        </p:nvCxnSpPr>
        <p:spPr>
          <a:xfrm>
            <a:off x="6949440" y="5254283"/>
            <a:ext cx="457200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30439" y="1371600"/>
            <a:ext cx="0" cy="438912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356848" y="5300003"/>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2" name="TextBox 11"/>
          <p:cNvSpPr txBox="1"/>
          <p:nvPr/>
        </p:nvSpPr>
        <p:spPr>
          <a:xfrm>
            <a:off x="7394447" y="137160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x</a:t>
            </a:r>
          </a:p>
        </p:txBody>
      </p:sp>
      <p:cxnSp>
        <p:nvCxnSpPr>
          <p:cNvPr id="13" name="Connector 12"/>
          <p:cNvCxnSpPr/>
          <p:nvPr/>
        </p:nvCxnSpPr>
        <p:spPr>
          <a:xfrm flipV="1">
            <a:off x="7330439" y="5087580"/>
            <a:ext cx="47626" cy="16670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378065" y="4925099"/>
            <a:ext cx="47625" cy="16248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425690" y="4766837"/>
            <a:ext cx="47624" cy="15826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73314" y="4612796"/>
            <a:ext cx="47626" cy="15404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520940" y="4462975"/>
            <a:ext cx="47625" cy="14982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568565" y="4317374"/>
            <a:ext cx="47624" cy="14560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616189" y="4175994"/>
            <a:ext cx="47626" cy="14138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663815" y="4038834"/>
            <a:ext cx="47625" cy="13716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711440" y="3905894"/>
            <a:ext cx="47624" cy="13294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759064" y="3777175"/>
            <a:ext cx="47626" cy="1287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806690" y="3652676"/>
            <a:ext cx="47625" cy="12449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854315" y="3532397"/>
            <a:ext cx="47624" cy="12027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901939" y="3416339"/>
            <a:ext cx="47626" cy="11605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949565" y="3304500"/>
            <a:ext cx="47625" cy="11183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997190" y="3196883"/>
            <a:ext cx="47624" cy="10761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044814" y="3093485"/>
            <a:ext cx="47626" cy="10339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092440" y="2994308"/>
            <a:ext cx="47625" cy="9917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140065" y="2899351"/>
            <a:ext cx="47624" cy="9495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187689" y="2808614"/>
            <a:ext cx="47626" cy="9073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235315" y="2722098"/>
            <a:ext cx="47625" cy="86516"/>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282940" y="2639802"/>
            <a:ext cx="47624" cy="82296"/>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30564" y="2561726"/>
            <a:ext cx="47626" cy="78076"/>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378190" y="2487871"/>
            <a:ext cx="47624" cy="7385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425814" y="2418236"/>
            <a:ext cx="47626" cy="6963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473440" y="2352821"/>
            <a:ext cx="47625" cy="6541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521065" y="2291627"/>
            <a:ext cx="47625" cy="61194"/>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568690" y="2234652"/>
            <a:ext cx="47625" cy="5697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8616315" y="2181899"/>
            <a:ext cx="47625" cy="5275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8663940" y="2133365"/>
            <a:ext cx="47625" cy="48534"/>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711565" y="2089052"/>
            <a:ext cx="47625" cy="4431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8759190" y="2048959"/>
            <a:ext cx="47625" cy="4009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806815" y="2013086"/>
            <a:ext cx="47625" cy="3587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854440" y="1981434"/>
            <a:ext cx="47625" cy="3165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902065" y="1954002"/>
            <a:ext cx="47625" cy="2743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949690" y="1930790"/>
            <a:ext cx="47625" cy="2321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997315" y="1911799"/>
            <a:ext cx="47625" cy="1899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044940" y="1897028"/>
            <a:ext cx="47625" cy="1477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092565" y="1886477"/>
            <a:ext cx="47625" cy="1055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9140190" y="1880147"/>
            <a:ext cx="47625" cy="633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9187815" y="1878036"/>
            <a:ext cx="47625" cy="211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35440" y="1878036"/>
            <a:ext cx="47624" cy="211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83064" y="1880147"/>
            <a:ext cx="47626" cy="633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330690" y="1886477"/>
            <a:ext cx="47625" cy="1055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378315" y="1897028"/>
            <a:ext cx="47625" cy="1477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425940" y="1911799"/>
            <a:ext cx="47625" cy="1899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473565" y="1930790"/>
            <a:ext cx="47624" cy="2321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521189" y="1954002"/>
            <a:ext cx="47626" cy="2743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568815" y="1981434"/>
            <a:ext cx="47625" cy="3165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616440" y="2013086"/>
            <a:ext cx="47625" cy="3587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664065" y="2048959"/>
            <a:ext cx="47625" cy="4009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711690" y="2089052"/>
            <a:ext cx="47625" cy="4431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59315" y="2133365"/>
            <a:ext cx="47625" cy="48534"/>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806940" y="2181899"/>
            <a:ext cx="47625" cy="5275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54565" y="2234652"/>
            <a:ext cx="47625" cy="5697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902190" y="2291627"/>
            <a:ext cx="47625" cy="61194"/>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949815" y="2352821"/>
            <a:ext cx="47624" cy="6541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997439" y="2418236"/>
            <a:ext cx="47626" cy="6963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045065" y="2487871"/>
            <a:ext cx="47625" cy="73855"/>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092690" y="2561726"/>
            <a:ext cx="47625" cy="78076"/>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140315" y="2639802"/>
            <a:ext cx="47625" cy="82296"/>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187940" y="2722098"/>
            <a:ext cx="47625" cy="86516"/>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235565" y="2808614"/>
            <a:ext cx="47624" cy="9073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283189" y="2899351"/>
            <a:ext cx="47626" cy="9495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330815" y="2994308"/>
            <a:ext cx="47625" cy="9917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378440" y="3093485"/>
            <a:ext cx="47624" cy="10339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426064" y="3196883"/>
            <a:ext cx="47626" cy="107617"/>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473690" y="3304500"/>
            <a:ext cx="47625" cy="11183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21315" y="3416339"/>
            <a:ext cx="47624" cy="116058"/>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568939" y="3532397"/>
            <a:ext cx="47626" cy="12027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616565" y="3652676"/>
            <a:ext cx="47624" cy="12449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664189" y="3777175"/>
            <a:ext cx="47626" cy="12871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711815" y="3905894"/>
            <a:ext cx="47625" cy="13294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759440" y="4038834"/>
            <a:ext cx="47624" cy="13716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807064" y="4175994"/>
            <a:ext cx="47626" cy="141380"/>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854690" y="4317374"/>
            <a:ext cx="47625" cy="14560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902315" y="4462975"/>
            <a:ext cx="47624" cy="14982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949939" y="4612796"/>
            <a:ext cx="47626" cy="15404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997565" y="4766837"/>
            <a:ext cx="47625" cy="158262"/>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1045190" y="4925099"/>
            <a:ext cx="47625" cy="16248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1092815" y="5087580"/>
            <a:ext cx="47625" cy="166703"/>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235440" y="2257864"/>
            <a:ext cx="0" cy="2025748"/>
          </a:xfrm>
          <a:prstGeom prst="line">
            <a:avLst/>
          </a:prstGeom>
          <a:ln w="30480">
            <a:solidFill>
              <a:srgbClr val="FF6060"/>
            </a:solidFill>
            <a:tailEnd type="triangle"/>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9363456" y="3312941"/>
            <a:ext cx="365760" cy="256032"/>
          </a:xfrm>
          <a:prstGeom prst="rect">
            <a:avLst/>
          </a:prstGeom>
          <a:noFill/>
        </p:spPr>
        <p:txBody>
          <a:bodyPr wrap="square" lIns="0" rIns="0" tIns="0" bIns="0" anchor="t">
            <a:spAutoFit/>
          </a:bodyPr>
          <a:lstStyle/>
          <a:p>
            <a:pPr algn="l">
              <a:lnSpc>
                <a:spcPct val="110000"/>
              </a:lnSpc>
              <a:spcBef>
                <a:spcPts val="0"/>
              </a:spcBef>
              <a:spcAft>
                <a:spcPts val="0"/>
              </a:spcAft>
            </a:pPr>
            <a:r>
              <a:rPr sz="1600" b="1">
                <a:solidFill>
                  <a:srgbClr val="FF6060"/>
                </a:solidFill>
                <a:latin typeface="Aptos"/>
              </a:rPr>
              <a:t>a</a:t>
            </a:r>
          </a:p>
        </p:txBody>
      </p:sp>
      <p:sp>
        <p:nvSpPr>
          <p:cNvPr id="95" name="TextBox 94"/>
          <p:cNvSpPr txBox="1"/>
          <p:nvPr/>
        </p:nvSpPr>
        <p:spPr>
          <a:xfrm>
            <a:off x="8458200" y="1548852"/>
            <a:ext cx="731520" cy="256032"/>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FFFFFF"/>
                </a:solidFill>
                <a:latin typeface="Aptos"/>
              </a:rPr>
              <a:t>v =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statements can be true?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Which option is correct?</a:t>
            </a:r>
          </a:p>
        </p:txBody>
      </p:sp>
      <p:sp>
        <p:nvSpPr>
          <p:cNvPr id="8" name="Oval 7"/>
          <p:cNvSpPr/>
          <p:nvPr/>
        </p:nvSpPr>
        <p:spPr>
          <a:xfrm>
            <a:off x="594360" y="17739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922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755648"/>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Velocity may increase while acceleration decreases</a:t>
            </a:r>
          </a:p>
        </p:txBody>
      </p:sp>
      <p:sp>
        <p:nvSpPr>
          <p:cNvPr id="11" name="Oval 10"/>
          <p:cNvSpPr/>
          <p:nvPr/>
        </p:nvSpPr>
        <p:spPr>
          <a:xfrm>
            <a:off x="594360" y="22494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677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231136"/>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Velocity may decrease while the size of the acceleration increases</a:t>
            </a:r>
          </a:p>
        </p:txBody>
      </p:sp>
      <p:sp>
        <p:nvSpPr>
          <p:cNvPr id="14" name="Oval 13"/>
          <p:cNvSpPr/>
          <p:nvPr/>
        </p:nvSpPr>
        <p:spPr>
          <a:xfrm>
            <a:off x="594360" y="27249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432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06624"/>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Acceleration may be non-zero at the instant velocity is zero</a:t>
            </a:r>
          </a:p>
        </p:txBody>
      </p:sp>
      <p:sp>
        <p:nvSpPr>
          <p:cNvPr id="17" name="Oval 16"/>
          <p:cNvSpPr/>
          <p:nvPr/>
        </p:nvSpPr>
        <p:spPr>
          <a:xfrm>
            <a:off x="594360" y="32004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186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182112"/>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All of these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statements can be true?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Gentler speed-up: 10, 20, 28, 34 m/s with a = 10, 8, 6 m/s².</a:t>
            </a:r>
          </a:p>
        </p:txBody>
      </p:sp>
      <p:sp>
        <p:nvSpPr>
          <p:cNvPr id="8" name="TextBox 7"/>
          <p:cNvSpPr txBox="1"/>
          <p:nvPr/>
        </p:nvSpPr>
        <p:spPr>
          <a:xfrm>
            <a:off x="594360" y="181051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Harder slowing: 20, 18, 14, 8 m/s with a = −2, −4, −6 m/s².</a:t>
            </a:r>
          </a:p>
        </p:txBody>
      </p:sp>
      <p:sp>
        <p:nvSpPr>
          <p:cNvPr id="9" name="TextBox 8"/>
          <p:cNvSpPr txBox="1"/>
          <p:nvPr/>
        </p:nvSpPr>
        <p:spPr>
          <a:xfrm>
            <a:off x="594360" y="254203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Top of a throw: v = 0 while a = g downward.</a:t>
            </a:r>
          </a:p>
        </p:txBody>
      </p:sp>
      <p:sp>
        <p:nvSpPr>
          <p:cNvPr id="10" name="TextBox 9"/>
          <p:cNvSpPr txBox="1"/>
          <p:nvPr/>
        </p:nvSpPr>
        <p:spPr>
          <a:xfrm>
            <a:off x="594360" y="33649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D680"/>
                </a:solidFill>
                <a:latin typeface="Aptos"/>
              </a:rPr>
              <a:t>Answer: all of these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Velocity and acceleration in opposite directions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14173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Opposite directions mean the acceleration points against the velocity. That part of the acceleration reduces the speed. A perpendicular acceleration, as in uniform circular motion, leaves the speed unchanged. The opposite case is the one in which the speed falls.</a:t>
            </a:r>
          </a:p>
        </p:txBody>
      </p:sp>
      <p:cxnSp>
        <p:nvCxnSpPr>
          <p:cNvPr id="8" name="Connector 7"/>
          <p:cNvCxnSpPr/>
          <p:nvPr/>
        </p:nvCxnSpPr>
        <p:spPr>
          <a:xfrm flipH="1">
            <a:off x="1645920" y="3063240"/>
            <a:ext cx="2377440" cy="0"/>
          </a:xfrm>
          <a:prstGeom prst="line">
            <a:avLst/>
          </a:prstGeom>
          <a:ln w="38100">
            <a:solidFill>
              <a:srgbClr val="FFD646"/>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907792" y="2807208"/>
            <a:ext cx="1097280" cy="274320"/>
          </a:xfrm>
          <a:prstGeom prst="rect">
            <a:avLst/>
          </a:prstGeom>
          <a:noFill/>
        </p:spPr>
        <p:txBody>
          <a:bodyPr wrap="square" lIns="0" rIns="0" tIns="0" bIns="0" anchor="t">
            <a:spAutoFit/>
          </a:bodyPr>
          <a:lstStyle/>
          <a:p>
            <a:pPr algn="l">
              <a:lnSpc>
                <a:spcPct val="110000"/>
              </a:lnSpc>
              <a:spcBef>
                <a:spcPts val="0"/>
              </a:spcBef>
              <a:spcAft>
                <a:spcPts val="0"/>
              </a:spcAft>
            </a:pPr>
          </a:p>
        </p:txBody>
      </p:sp>
      <p:sp>
        <p:nvSpPr>
          <p:cNvPr id="10" name="TextBox 9"/>
          <p:cNvSpPr txBox="1"/>
          <p:nvPr/>
        </p:nvSpPr>
        <p:spPr>
          <a:xfrm>
            <a:off x="4160520" y="2788920"/>
            <a:ext cx="365760" cy="274320"/>
          </a:xfrm>
          <a:prstGeom prst="rect">
            <a:avLst/>
          </a:prstGeom>
          <a:noFill/>
        </p:spPr>
        <p:txBody>
          <a:bodyPr wrap="square" lIns="0" rIns="0" tIns="0" bIns="0" anchor="t">
            <a:spAutoFit/>
          </a:bodyPr>
          <a:lstStyle/>
          <a:p>
            <a:pPr algn="l">
              <a:lnSpc>
                <a:spcPct val="110000"/>
              </a:lnSpc>
              <a:spcBef>
                <a:spcPts val="0"/>
              </a:spcBef>
              <a:spcAft>
                <a:spcPts val="0"/>
              </a:spcAft>
            </a:pPr>
            <a:r>
              <a:rPr sz="1600" b="1">
                <a:solidFill>
                  <a:srgbClr val="FFD646"/>
                </a:solidFill>
                <a:latin typeface="Aptos"/>
              </a:rPr>
              <a:t>v</a:t>
            </a:r>
          </a:p>
        </p:txBody>
      </p:sp>
      <p:cxnSp>
        <p:nvCxnSpPr>
          <p:cNvPr id="11" name="Connector 10"/>
          <p:cNvCxnSpPr/>
          <p:nvPr/>
        </p:nvCxnSpPr>
        <p:spPr>
          <a:xfrm>
            <a:off x="1645920" y="3840480"/>
            <a:ext cx="2377440" cy="0"/>
          </a:xfrm>
          <a:prstGeom prst="line">
            <a:avLst/>
          </a:prstGeom>
          <a:ln w="38100">
            <a:solidFill>
              <a:srgbClr val="FF606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07792" y="3584448"/>
            <a:ext cx="1097280" cy="274320"/>
          </a:xfrm>
          <a:prstGeom prst="rect">
            <a:avLst/>
          </a:prstGeom>
          <a:noFill/>
        </p:spPr>
        <p:txBody>
          <a:bodyPr wrap="square" lIns="0" rIns="0" tIns="0" bIns="0" anchor="t">
            <a:spAutoFit/>
          </a:bodyPr>
          <a:lstStyle/>
          <a:p>
            <a:pPr algn="l">
              <a:lnSpc>
                <a:spcPct val="110000"/>
              </a:lnSpc>
              <a:spcBef>
                <a:spcPts val="0"/>
              </a:spcBef>
              <a:spcAft>
                <a:spcPts val="0"/>
              </a:spcAft>
            </a:pPr>
          </a:p>
        </p:txBody>
      </p:sp>
      <p:sp>
        <p:nvSpPr>
          <p:cNvPr id="13" name="TextBox 12"/>
          <p:cNvSpPr txBox="1"/>
          <p:nvPr/>
        </p:nvSpPr>
        <p:spPr>
          <a:xfrm>
            <a:off x="1143000" y="3611880"/>
            <a:ext cx="365760" cy="274320"/>
          </a:xfrm>
          <a:prstGeom prst="rect">
            <a:avLst/>
          </a:prstGeom>
          <a:noFill/>
        </p:spPr>
        <p:txBody>
          <a:bodyPr wrap="square" lIns="0" rIns="0" tIns="0" bIns="0" anchor="t">
            <a:spAutoFit/>
          </a:bodyPr>
          <a:lstStyle/>
          <a:p>
            <a:pPr algn="l">
              <a:lnSpc>
                <a:spcPct val="110000"/>
              </a:lnSpc>
              <a:spcBef>
                <a:spcPts val="0"/>
              </a:spcBef>
              <a:spcAft>
                <a:spcPts val="0"/>
              </a:spcAft>
            </a:pPr>
            <a:r>
              <a:rPr sz="1600" b="1">
                <a:solidFill>
                  <a:srgbClr val="FF6060"/>
                </a:solidFill>
                <a:latin typeface="Aptos"/>
              </a:rPr>
              <a:t>a</a:t>
            </a:r>
          </a:p>
        </p:txBody>
      </p:sp>
      <p:sp>
        <p:nvSpPr>
          <p:cNvPr id="14" name="TextBox 13"/>
          <p:cNvSpPr txBox="1"/>
          <p:nvPr/>
        </p:nvSpPr>
        <p:spPr>
          <a:xfrm>
            <a:off x="594360" y="446227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D680"/>
                </a:solidFill>
                <a:latin typeface="Aptos"/>
              </a:rPr>
              <a:t>Speed must be decreasing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Two readings with constant acceleration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6858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Acceleration is 2 m/s² and the velocity at t = 0 is 10 m/s. Find the velocity at t = 4 s.</a:t>
            </a:r>
          </a:p>
        </p:txBody>
      </p:sp>
      <p:sp>
        <p:nvSpPr>
          <p:cNvPr id="8" name="TextBox 7"/>
          <p:cNvSpPr txBox="1"/>
          <p:nvPr/>
        </p:nvSpPr>
        <p:spPr>
          <a:xfrm>
            <a:off x="594360" y="18562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v = 10 + 2 × 4 = 18 m/s</a:t>
            </a:r>
          </a:p>
        </p:txBody>
      </p:sp>
      <p:sp>
        <p:nvSpPr>
          <p:cNvPr id="9" name="TextBox 8"/>
          <p:cNvSpPr txBox="1"/>
          <p:nvPr/>
        </p:nvSpPr>
        <p:spPr>
          <a:xfrm>
            <a:off x="594360" y="2496312"/>
            <a:ext cx="11018520" cy="8229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 second object goes from 10 m/s to 40 m/s in 6 s. The acceleration over that interval is the change in velocity divided by the time.</a:t>
            </a:r>
          </a:p>
        </p:txBody>
      </p:sp>
      <p:sp>
        <p:nvSpPr>
          <p:cNvPr id="10" name="TextBox 9"/>
          <p:cNvSpPr txBox="1"/>
          <p:nvPr/>
        </p:nvSpPr>
        <p:spPr>
          <a:xfrm>
            <a:off x="594360" y="34107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aₐᵥ</a:t>
            </a:r>
            <a:r>
              <a:rPr sz="1800" b="1">
                <a:solidFill>
                  <a:srgbClr val="5AC8FF"/>
                </a:solidFill>
                <a:latin typeface="Aptos"/>
                <a:baseline val="-25000"/>
              </a:rPr>
              <a:t>g</a:t>
            </a:r>
            <a:r>
              <a:rPr sz="1800" b="1">
                <a:solidFill>
                  <a:srgbClr val="5AC8FF"/>
                </a:solidFill>
                <a:latin typeface="Aptos"/>
              </a:rPr>
              <a:t> = (40 − 10) / 6 = 5 m/s²</a:t>
            </a:r>
          </a:p>
        </p:txBody>
      </p:sp>
      <p:sp>
        <p:nvSpPr>
          <p:cNvPr id="11" name="TextBox 10"/>
          <p:cNvSpPr txBox="1"/>
          <p:nvPr/>
        </p:nvSpPr>
        <p:spPr>
          <a:xfrm>
            <a:off x="594360" y="41879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18 m/s    and    5 m/s²</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 later velocity, once a is constant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Velocity is 20 m/s at t = 2 s and 32 m/s at t = 5 s. These two readings determine the velocity at t = 7 s when the acceleration is constant.</a:t>
            </a:r>
          </a:p>
        </p:txBody>
      </p:sp>
      <p:sp>
        <p:nvSpPr>
          <p:cNvPr id="8" name="TextBox 7"/>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(32 − 20) / (5 − 2) = 12 / 3 = 4 m/s²</a:t>
            </a:r>
          </a:p>
        </p:txBody>
      </p:sp>
      <p:sp>
        <p:nvSpPr>
          <p:cNvPr id="9" name="TextBox 8"/>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From t = 5 s to t = 7 s is another 2 s</a:t>
            </a:r>
          </a:p>
        </p:txBody>
      </p:sp>
      <p:sp>
        <p:nvSpPr>
          <p:cNvPr id="10" name="TextBox 9"/>
          <p:cNvSpPr txBox="1"/>
          <p:nvPr/>
        </p:nvSpPr>
        <p:spPr>
          <a:xfrm>
            <a:off x="594360" y="3273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v(7) = 32 + 4 × 2 = 40 m/s</a:t>
            </a:r>
          </a:p>
        </p:txBody>
      </p:sp>
      <p:sp>
        <p:nvSpPr>
          <p:cNvPr id="11" name="TextBox 10"/>
          <p:cNvSpPr txBox="1"/>
          <p:nvPr/>
        </p:nvSpPr>
        <p:spPr>
          <a:xfrm>
            <a:off x="594360" y="40965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D680"/>
                </a:solidFill>
                <a:latin typeface="Aptos"/>
              </a:rPr>
              <a:t>40 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METHOD</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Acceleration from x(t)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Differentiate once for v, and once more for a.</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 = 4t² + 6   →   v = 8t   →   a = 8 m/s²</a:t>
            </a:r>
          </a:p>
        </p:txBody>
      </p:sp>
      <p:sp>
        <p:nvSpPr>
          <p:cNvPr id="9" name="TextBox 8"/>
          <p:cNvSpPr txBox="1"/>
          <p:nvPr/>
        </p:nvSpPr>
        <p:spPr>
          <a:xfrm>
            <a:off x="594360" y="2221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 = 3t² + 4t + 6   →   v = 6t + 4   →   a = 6 m/s²</a:t>
            </a:r>
          </a:p>
        </p:txBody>
      </p:sp>
      <p:sp>
        <p:nvSpPr>
          <p:cNvPr id="10" name="TextBox 9"/>
          <p:cNvSpPr txBox="1"/>
          <p:nvPr/>
        </p:nvSpPr>
        <p:spPr>
          <a:xfrm>
            <a:off x="594360" y="2770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 = 2t³ + 5t   →   v = 6t² + 5   →   a = 12t m/s²</a:t>
            </a:r>
          </a:p>
        </p:txBody>
      </p:sp>
      <p:sp>
        <p:nvSpPr>
          <p:cNvPr id="11" name="TextBox 10"/>
          <p:cNvSpPr txBox="1"/>
          <p:nvPr/>
        </p:nvSpPr>
        <p:spPr>
          <a:xfrm>
            <a:off x="594360" y="3319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 = t⁴ + 4t   →   v = 4t³ + 4   →   a = 12t² m/s²</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METHOD</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Acceleration from v, including v(x)</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 = 3t² + 4   →   a = 6t m/s²</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 = t³ + 4   →   a = 3t² m/s²</a:t>
            </a:r>
          </a:p>
        </p:txBody>
      </p:sp>
      <p:sp>
        <p:nvSpPr>
          <p:cNvPr id="9" name="TextBox 8"/>
          <p:cNvSpPr txBox="1"/>
          <p:nvPr/>
        </p:nvSpPr>
        <p:spPr>
          <a:xfrm>
            <a:off x="594360" y="2496312"/>
            <a:ext cx="11018520" cy="7315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When velocity is given against position, differentiate with respect to x and multiply by v.</a:t>
            </a:r>
          </a:p>
        </p:txBody>
      </p:sp>
      <p:sp>
        <p:nvSpPr>
          <p:cNvPr id="10" name="TextBox 9"/>
          <p:cNvSpPr txBox="1"/>
          <p:nvPr/>
        </p:nvSpPr>
        <p:spPr>
          <a:xfrm>
            <a:off x="594360" y="3319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 = 2x + 4    dv/dx = 2</a:t>
            </a:r>
          </a:p>
        </p:txBody>
      </p:sp>
      <p:sp>
        <p:nvSpPr>
          <p:cNvPr id="11" name="TextBox 10"/>
          <p:cNvSpPr txBox="1"/>
          <p:nvPr/>
        </p:nvSpPr>
        <p:spPr>
          <a:xfrm>
            <a:off x="594360" y="38679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v dv/dx = (2x + 4) × 2 = 4x + 8 m/s²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One instant: position, velocity, acceleration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TextBox 6"/>
          <p:cNvSpPr txBox="1"/>
          <p:nvPr/>
        </p:nvSpPr>
        <p:spPr>
          <a:xfrm>
            <a:off x="594360" y="1078992"/>
            <a:ext cx="11018520" cy="5486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x = 2t³ − 4t² + 4. Read all three at t = 2 s.</a:t>
            </a:r>
          </a:p>
        </p:txBody>
      </p:sp>
      <p:sp>
        <p:nvSpPr>
          <p:cNvPr id="8" name="TextBox 7"/>
          <p:cNvSpPr txBox="1"/>
          <p:nvPr/>
        </p:nvSpPr>
        <p:spPr>
          <a:xfrm>
            <a:off x="594360" y="17647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x(2) = 2(8) − 4(4) + 4 = 4 m</a:t>
            </a:r>
          </a:p>
        </p:txBody>
      </p:sp>
      <p:sp>
        <p:nvSpPr>
          <p:cNvPr id="9" name="TextBox 8"/>
          <p:cNvSpPr txBox="1"/>
          <p:nvPr/>
        </p:nvSpPr>
        <p:spPr>
          <a:xfrm>
            <a:off x="594360" y="23134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 = 6t² − 8t    →    v(2) = 24 − 16 = 8 m/s</a:t>
            </a:r>
          </a:p>
        </p:txBody>
      </p:sp>
      <p:sp>
        <p:nvSpPr>
          <p:cNvPr id="10" name="TextBox 9"/>
          <p:cNvSpPr txBox="1"/>
          <p:nvPr/>
        </p:nvSpPr>
        <p:spPr>
          <a:xfrm>
            <a:off x="594360" y="2862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12t − 8    →    a(2) = 24 − 8 = 16 m/s²</a:t>
            </a:r>
          </a:p>
        </p:txBody>
      </p:sp>
      <p:sp>
        <p:nvSpPr>
          <p:cNvPr id="11" name="TextBox 10"/>
          <p:cNvSpPr txBox="1"/>
          <p:nvPr/>
        </p:nvSpPr>
        <p:spPr>
          <a:xfrm>
            <a:off x="594360" y="382219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D680"/>
                </a:solidFill>
                <a:latin typeface="Aptos"/>
              </a:rPr>
              <a:t>4 m , 8 m/s , 16 m/s²</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The instant when acceleration is zero</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For x = t³ − 6t² + 10, set a = 0 and then read the velocity there.</a:t>
            </a:r>
          </a:p>
        </p:txBody>
      </p:sp>
      <p:sp>
        <p:nvSpPr>
          <p:cNvPr id="8" name="TextBox 7"/>
          <p:cNvSpPr txBox="1"/>
          <p:nvPr/>
        </p:nvSpPr>
        <p:spPr>
          <a:xfrm>
            <a:off x="594360" y="18562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 = 3t² − 12t</a:t>
            </a:r>
          </a:p>
        </p:txBody>
      </p:sp>
      <p:sp>
        <p:nvSpPr>
          <p:cNvPr id="9" name="TextBox 8"/>
          <p:cNvSpPr txBox="1"/>
          <p:nvPr/>
        </p:nvSpPr>
        <p:spPr>
          <a:xfrm>
            <a:off x="594360" y="24048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6t − 12 = 0    →    t = 2 s</a:t>
            </a:r>
          </a:p>
        </p:txBody>
      </p:sp>
      <p:sp>
        <p:nvSpPr>
          <p:cNvPr id="10" name="TextBox 9"/>
          <p:cNvSpPr txBox="1"/>
          <p:nvPr/>
        </p:nvSpPr>
        <p:spPr>
          <a:xfrm>
            <a:off x="594360" y="29535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v(2) = 3(4) − 12(2) = −12 m/s</a:t>
            </a:r>
          </a:p>
        </p:txBody>
      </p:sp>
      <p:sp>
        <p:nvSpPr>
          <p:cNvPr id="11" name="TextBox 10"/>
          <p:cNvSpPr txBox="1"/>
          <p:nvPr/>
        </p:nvSpPr>
        <p:spPr>
          <a:xfrm>
            <a:off x="594360" y="368503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 second position, x = t³ − 9t² + 4, has a = 6t − 18. That is zero at t = 3 s, and v(3) = 3(9) − 18(3) = −27 m/s.</a:t>
            </a:r>
          </a:p>
        </p:txBody>
      </p:sp>
      <p:sp>
        <p:nvSpPr>
          <p:cNvPr id="12" name="TextBox 11"/>
          <p:cNvSpPr txBox="1"/>
          <p:nvPr/>
        </p:nvSpPr>
        <p:spPr>
          <a:xfrm>
            <a:off x="594360" y="47823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t = 2 s, v = −12 m/s     and     t = 3 s, v = −27 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Acceleration at the instant velocity is zero</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TextBox 6"/>
          <p:cNvSpPr txBox="1"/>
          <p:nvPr/>
        </p:nvSpPr>
        <p:spPr>
          <a:xfrm>
            <a:off x="594360" y="1078992"/>
            <a:ext cx="11018520" cy="5943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x = 2t³ − 24t + 4. Find a at every time where v = 0.</a:t>
            </a:r>
          </a:p>
        </p:txBody>
      </p:sp>
      <p:sp>
        <p:nvSpPr>
          <p:cNvPr id="8" name="TextBox 7"/>
          <p:cNvSpPr txBox="1"/>
          <p:nvPr/>
        </p:nvSpPr>
        <p:spPr>
          <a:xfrm>
            <a:off x="594360" y="18105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v = 6t² − 24 = 6(t² − 4) = 0</a:t>
            </a:r>
          </a:p>
        </p:txBody>
      </p:sp>
      <p:sp>
        <p:nvSpPr>
          <p:cNvPr id="9" name="TextBox 8"/>
          <p:cNvSpPr txBox="1"/>
          <p:nvPr/>
        </p:nvSpPr>
        <p:spPr>
          <a:xfrm>
            <a:off x="594360" y="23591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t = 2 s    and    t = −2 s</a:t>
            </a:r>
          </a:p>
        </p:txBody>
      </p:sp>
      <p:sp>
        <p:nvSpPr>
          <p:cNvPr id="10" name="TextBox 9"/>
          <p:cNvSpPr txBox="1"/>
          <p:nvPr/>
        </p:nvSpPr>
        <p:spPr>
          <a:xfrm>
            <a:off x="594360" y="29077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12t</a:t>
            </a:r>
          </a:p>
        </p:txBody>
      </p:sp>
      <p:sp>
        <p:nvSpPr>
          <p:cNvPr id="11" name="TextBox 10"/>
          <p:cNvSpPr txBox="1"/>
          <p:nvPr/>
        </p:nvSpPr>
        <p:spPr>
          <a:xfrm>
            <a:off x="594360" y="34564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a(2) = 24 m/s²      a(−2) = −24 m/s²</a:t>
            </a:r>
          </a:p>
        </p:txBody>
      </p:sp>
      <p:sp>
        <p:nvSpPr>
          <p:cNvPr id="12" name="TextBox 11"/>
          <p:cNvSpPr txBox="1"/>
          <p:nvPr/>
        </p:nvSpPr>
        <p:spPr>
          <a:xfrm>
            <a:off x="594360" y="43251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24 m/s² at t = 2 s, and   −24 m/s² at t = −2 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TEST</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Six formulas whose acceleration is a pure number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In this list y is a constant. Differentiate until a appears. These six come out as numbers.</a:t>
            </a:r>
          </a:p>
        </p:txBody>
      </p:sp>
      <p:sp>
        <p:nvSpPr>
          <p:cNvPr id="8" name="TextBox 7"/>
          <p:cNvSpPr txBox="1"/>
          <p:nvPr/>
        </p:nvSpPr>
        <p:spPr>
          <a:xfrm>
            <a:off x="594360" y="194767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√x = t − 3    →    x = (t − 3)²    →    a = 2 m/s²</a:t>
            </a:r>
          </a:p>
        </p:txBody>
      </p:sp>
      <p:sp>
        <p:nvSpPr>
          <p:cNvPr id="9" name="TextBox 8"/>
          <p:cNvSpPr txBox="1"/>
          <p:nvPr/>
        </p:nvSpPr>
        <p:spPr>
          <a:xfrm>
            <a:off x="594360" y="24505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x = t² + y    →    a = 2 m/s²</a:t>
            </a:r>
          </a:p>
        </p:txBody>
      </p:sp>
      <p:sp>
        <p:nvSpPr>
          <p:cNvPr id="10" name="TextBox 9"/>
          <p:cNvSpPr txBox="1"/>
          <p:nvPr/>
        </p:nvSpPr>
        <p:spPr>
          <a:xfrm>
            <a:off x="594360" y="29077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x = 4t² + 6    →    a = 8 m/s²</a:t>
            </a:r>
          </a:p>
        </p:txBody>
      </p:sp>
      <p:sp>
        <p:nvSpPr>
          <p:cNvPr id="11" name="TextBox 10"/>
          <p:cNvSpPr txBox="1"/>
          <p:nvPr/>
        </p:nvSpPr>
        <p:spPr>
          <a:xfrm>
            <a:off x="594360" y="33649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v = 6t − y    →    a = 6 m/s²</a:t>
            </a:r>
          </a:p>
        </p:txBody>
      </p:sp>
      <p:sp>
        <p:nvSpPr>
          <p:cNvPr id="12" name="TextBox 11"/>
          <p:cNvSpPr txBox="1"/>
          <p:nvPr/>
        </p:nvSpPr>
        <p:spPr>
          <a:xfrm>
            <a:off x="594360" y="382219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v = √x    →    a = 1/2 m/s²</a:t>
            </a:r>
          </a:p>
        </p:txBody>
      </p:sp>
      <p:sp>
        <p:nvSpPr>
          <p:cNvPr id="13" name="TextBox 12"/>
          <p:cNvSpPr txBox="1"/>
          <p:nvPr/>
        </p:nvSpPr>
        <p:spPr>
          <a:xfrm>
            <a:off x="594360" y="42793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 = 5 m/s² is already constant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WHY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 = √x really is constant acceleration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v = √x</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dv/dx = 1 / (2√x)</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a = v dv/dx = √x × 1/(2√x) = 1/2 m/s²</a:t>
            </a:r>
          </a:p>
        </p:txBody>
      </p:sp>
      <p:sp>
        <p:nvSpPr>
          <p:cNvPr id="10" name="TextBox 9"/>
          <p:cNvSpPr txBox="1"/>
          <p:nvPr/>
        </p:nvSpPr>
        <p:spPr>
          <a:xfrm>
            <a:off x="594360" y="3182111"/>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Three neighbours still depend on t or on x, so their acceleration keeps changing: v = 3t² + 4 gives a = 6t; v = 2x + 3 gives a = 4x + 6; x = A sin(ωt) gives a = −Aω² sin(ωt).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graph can have average velocity zero?</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Average velocity from t = 0 to some later time can be zero for only one of these graphs. Which one?</a:t>
            </a:r>
          </a:p>
        </p:txBody>
      </p:sp>
      <p:cxnSp>
        <p:nvCxnSpPr>
          <p:cNvPr id="8" name="Connector 7"/>
          <p:cNvCxnSpPr/>
          <p:nvPr/>
        </p:nvCxnSpPr>
        <p:spPr>
          <a:xfrm>
            <a:off x="850392" y="4133088"/>
            <a:ext cx="2285999"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850392" y="2258568"/>
            <a:ext cx="0" cy="187452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90087" y="4151376"/>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t</a:t>
            </a:r>
          </a:p>
        </p:txBody>
      </p:sp>
      <p:sp>
        <p:nvSpPr>
          <p:cNvPr id="11" name="TextBox 10"/>
          <p:cNvSpPr txBox="1"/>
          <p:nvPr/>
        </p:nvSpPr>
        <p:spPr>
          <a:xfrm>
            <a:off x="905256" y="2167128"/>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x</a:t>
            </a:r>
          </a:p>
        </p:txBody>
      </p:sp>
      <p:cxnSp>
        <p:nvCxnSpPr>
          <p:cNvPr id="12" name="Connector 11"/>
          <p:cNvCxnSpPr/>
          <p:nvPr/>
        </p:nvCxnSpPr>
        <p:spPr>
          <a:xfrm flipV="1">
            <a:off x="850392" y="2578608"/>
            <a:ext cx="784098" cy="731520"/>
          </a:xfrm>
          <a:prstGeom prst="line">
            <a:avLst/>
          </a:prstGeom>
          <a:ln w="29209">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4490" y="2304288"/>
            <a:ext cx="784098" cy="274320"/>
          </a:xfrm>
          <a:prstGeom prst="line">
            <a:avLst/>
          </a:prstGeom>
          <a:ln w="29209">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418588" y="2267712"/>
            <a:ext cx="672084" cy="36576"/>
          </a:xfrm>
          <a:prstGeom prst="line">
            <a:avLst/>
          </a:prstGeom>
          <a:ln w="29209">
            <a:solidFill>
              <a:srgbClr val="FFD64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21208" y="2167128"/>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185416"/>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FFFFFF"/>
                </a:solidFill>
                <a:latin typeface="Aptos"/>
              </a:rPr>
              <a:t>1</a:t>
            </a:r>
          </a:p>
        </p:txBody>
      </p:sp>
      <p:cxnSp>
        <p:nvCxnSpPr>
          <p:cNvPr id="17" name="Connector 16"/>
          <p:cNvCxnSpPr/>
          <p:nvPr/>
        </p:nvCxnSpPr>
        <p:spPr>
          <a:xfrm>
            <a:off x="3685032" y="4133088"/>
            <a:ext cx="2286000"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685032" y="2258568"/>
            <a:ext cx="0" cy="187452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824728" y="4151376"/>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t</a:t>
            </a:r>
          </a:p>
        </p:txBody>
      </p:sp>
      <p:sp>
        <p:nvSpPr>
          <p:cNvPr id="20" name="TextBox 19"/>
          <p:cNvSpPr txBox="1"/>
          <p:nvPr/>
        </p:nvSpPr>
        <p:spPr>
          <a:xfrm>
            <a:off x="3739896" y="2167128"/>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x</a:t>
            </a:r>
          </a:p>
        </p:txBody>
      </p:sp>
      <p:cxnSp>
        <p:nvCxnSpPr>
          <p:cNvPr id="21" name="Connector 20"/>
          <p:cNvCxnSpPr/>
          <p:nvPr/>
        </p:nvCxnSpPr>
        <p:spPr>
          <a:xfrm flipV="1">
            <a:off x="3685032" y="2395728"/>
            <a:ext cx="672084" cy="731520"/>
          </a:xfrm>
          <a:prstGeom prst="line">
            <a:avLst/>
          </a:prstGeom>
          <a:ln w="29209">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57116" y="2395728"/>
            <a:ext cx="560070" cy="457200"/>
          </a:xfrm>
          <a:prstGeom prst="line">
            <a:avLst/>
          </a:prstGeom>
          <a:ln w="29209">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917186" y="2852928"/>
            <a:ext cx="448056" cy="274320"/>
          </a:xfrm>
          <a:prstGeom prst="line">
            <a:avLst/>
          </a:prstGeom>
          <a:ln w="29209">
            <a:solidFill>
              <a:srgbClr val="28B4B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365242" y="3127248"/>
            <a:ext cx="560070" cy="676656"/>
          </a:xfrm>
          <a:prstGeom prst="line">
            <a:avLst/>
          </a:prstGeom>
          <a:ln w="29209">
            <a:solidFill>
              <a:srgbClr val="28B4BE"/>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355848" y="2167128"/>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5848" y="2185416"/>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FFFFFF"/>
                </a:solidFill>
                <a:latin typeface="Aptos"/>
              </a:rPr>
              <a:t>2</a:t>
            </a:r>
          </a:p>
        </p:txBody>
      </p:sp>
      <p:cxnSp>
        <p:nvCxnSpPr>
          <p:cNvPr id="27" name="Connector 26"/>
          <p:cNvCxnSpPr/>
          <p:nvPr/>
        </p:nvCxnSpPr>
        <p:spPr>
          <a:xfrm>
            <a:off x="6519672" y="4133088"/>
            <a:ext cx="2286000"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519672" y="2258568"/>
            <a:ext cx="0" cy="187452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659368" y="4151376"/>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t</a:t>
            </a:r>
          </a:p>
        </p:txBody>
      </p:sp>
      <p:sp>
        <p:nvSpPr>
          <p:cNvPr id="30" name="TextBox 29"/>
          <p:cNvSpPr txBox="1"/>
          <p:nvPr/>
        </p:nvSpPr>
        <p:spPr>
          <a:xfrm>
            <a:off x="6574536" y="2167128"/>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x</a:t>
            </a:r>
          </a:p>
        </p:txBody>
      </p:sp>
      <p:cxnSp>
        <p:nvCxnSpPr>
          <p:cNvPr id="31" name="Connector 30"/>
          <p:cNvCxnSpPr/>
          <p:nvPr/>
        </p:nvCxnSpPr>
        <p:spPr>
          <a:xfrm>
            <a:off x="6519672" y="2487168"/>
            <a:ext cx="896111" cy="822960"/>
          </a:xfrm>
          <a:prstGeom prst="line">
            <a:avLst/>
          </a:prstGeom>
          <a:ln w="29209">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15783" y="3310128"/>
            <a:ext cx="1344169" cy="548640"/>
          </a:xfrm>
          <a:prstGeom prst="line">
            <a:avLst/>
          </a:prstGeom>
          <a:ln w="29209">
            <a:solidFill>
              <a:srgbClr val="FF9E40"/>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190488" y="2167128"/>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0488" y="2185416"/>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FFFFFF"/>
                </a:solidFill>
                <a:latin typeface="Aptos"/>
              </a:rPr>
              <a:t>3</a:t>
            </a:r>
          </a:p>
        </p:txBody>
      </p:sp>
      <p:cxnSp>
        <p:nvCxnSpPr>
          <p:cNvPr id="35" name="Connector 34"/>
          <p:cNvCxnSpPr/>
          <p:nvPr/>
        </p:nvCxnSpPr>
        <p:spPr>
          <a:xfrm>
            <a:off x="9354312" y="4133088"/>
            <a:ext cx="2286000"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354312" y="2258568"/>
            <a:ext cx="0" cy="187452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1494008" y="4151376"/>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t</a:t>
            </a:r>
          </a:p>
        </p:txBody>
      </p:sp>
      <p:sp>
        <p:nvSpPr>
          <p:cNvPr id="38" name="TextBox 37"/>
          <p:cNvSpPr txBox="1"/>
          <p:nvPr/>
        </p:nvSpPr>
        <p:spPr>
          <a:xfrm>
            <a:off x="9409176" y="2167128"/>
            <a:ext cx="219456" cy="18288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B0B6C0"/>
                </a:solidFill>
                <a:latin typeface="Aptos"/>
              </a:rPr>
              <a:t>x</a:t>
            </a:r>
          </a:p>
        </p:txBody>
      </p:sp>
      <p:cxnSp>
        <p:nvCxnSpPr>
          <p:cNvPr id="39" name="Connector 38"/>
          <p:cNvCxnSpPr/>
          <p:nvPr/>
        </p:nvCxnSpPr>
        <p:spPr>
          <a:xfrm flipV="1">
            <a:off x="9354312" y="3310128"/>
            <a:ext cx="896112" cy="822960"/>
          </a:xfrm>
          <a:prstGeom prst="line">
            <a:avLst/>
          </a:prstGeom>
          <a:ln w="29209">
            <a:solidFill>
              <a:srgbClr val="409C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250424" y="2395728"/>
            <a:ext cx="1344168" cy="914400"/>
          </a:xfrm>
          <a:prstGeom prst="line">
            <a:avLst/>
          </a:prstGeom>
          <a:ln w="29209">
            <a:solidFill>
              <a:srgbClr val="409CFF"/>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9025128" y="2167128"/>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25128" y="2185416"/>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FFFFFF"/>
                </a:solidFill>
                <a:latin typeface="Aptos"/>
              </a:rPr>
              <a:t>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graph can have average velocity zero?</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28</a:t>
            </a:r>
          </a:p>
        </p:txBody>
      </p:sp>
      <p:sp>
        <p:nvSpPr>
          <p:cNvPr id="7" name="TextBox 6"/>
          <p:cNvSpPr txBox="1"/>
          <p:nvPr/>
        </p:nvSpPr>
        <p:spPr>
          <a:xfrm>
            <a:off x="594360" y="1078992"/>
            <a:ext cx="11018520" cy="15544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Average velocity from t = 0 to a later time is zero when the position has returned to its starting value. Graph 2 climbs and then crosses that same height again, so there is a later time with x equal to the start. Graphs 1, 3 and 4 leave their starting height and remain on one side of it.</a:t>
            </a:r>
          </a:p>
        </p:txBody>
      </p:sp>
      <p:sp>
        <p:nvSpPr>
          <p:cNvPr id="8" name="TextBox 7"/>
          <p:cNvSpPr txBox="1"/>
          <p:nvPr/>
        </p:nvSpPr>
        <p:spPr>
          <a:xfrm>
            <a:off x="594360" y="28163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D680"/>
                </a:solidFill>
                <a:latin typeface="Aptos"/>
              </a:rPr>
              <a:t>Answer: graph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LOCK LINES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Only today’s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29</a:t>
            </a:r>
          </a:p>
        </p:txBody>
      </p:sp>
      <p:sp>
        <p:nvSpPr>
          <p:cNvPr id="7" name="TextBox 6"/>
          <p:cNvSpPr txBox="1"/>
          <p:nvPr/>
        </p:nvSpPr>
        <p:spPr>
          <a:xfrm>
            <a:off x="594360" y="1078992"/>
            <a:ext cx="11018520" cy="56692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Between two times, average velocity is the change in position divided by the change in time.</a:t>
            </a:r>
          </a:p>
        </p:txBody>
      </p:sp>
      <p:sp>
        <p:nvSpPr>
          <p:cNvPr id="8" name="TextBox 7"/>
          <p:cNvSpPr txBox="1"/>
          <p:nvPr/>
        </p:nvSpPr>
        <p:spPr>
          <a:xfrm>
            <a:off x="594360" y="17190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 = dv/dt = d²x/dt², and a = v dv/dx.</a:t>
            </a:r>
          </a:p>
        </p:txBody>
      </p:sp>
      <p:sp>
        <p:nvSpPr>
          <p:cNvPr id="9" name="TextBox 8"/>
          <p:cNvSpPr txBox="1"/>
          <p:nvPr/>
        </p:nvSpPr>
        <p:spPr>
          <a:xfrm>
            <a:off x="594360" y="2267712"/>
            <a:ext cx="11018520" cy="56692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Constant velocity means a = 0. At the top of a throw, v = 0 while a is still g downward.</a:t>
            </a:r>
          </a:p>
        </p:txBody>
      </p:sp>
      <p:sp>
        <p:nvSpPr>
          <p:cNvPr id="10" name="TextBox 9"/>
          <p:cNvSpPr txBox="1"/>
          <p:nvPr/>
        </p:nvSpPr>
        <p:spPr>
          <a:xfrm>
            <a:off x="594360" y="290779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When a points with v the speed rises. When a points against v the speed falls.</a:t>
            </a:r>
          </a:p>
        </p:txBody>
      </p:sp>
      <p:sp>
        <p:nvSpPr>
          <p:cNvPr id="11" name="TextBox 10"/>
          <p:cNvSpPr txBox="1"/>
          <p:nvPr/>
        </p:nvSpPr>
        <p:spPr>
          <a:xfrm>
            <a:off x="594360" y="35021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Two velocity readings fix a later velocity once a is constant: v = u + at.</a:t>
            </a:r>
          </a:p>
        </p:txBody>
      </p:sp>
      <p:sp>
        <p:nvSpPr>
          <p:cNvPr id="12" name="TextBox 11"/>
          <p:cNvSpPr txBox="1"/>
          <p:nvPr/>
        </p:nvSpPr>
        <p:spPr>
          <a:xfrm>
            <a:off x="594360" y="40965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 is constant when it comes out as a pure number. For v = √x, that number is 1/2.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END</a:t>
            </a:r>
          </a:p>
        </p:txBody>
      </p:sp>
      <p:sp>
        <p:nvSpPr>
          <p:cNvPr id="4" name="TextBox 3"/>
          <p:cNvSpPr txBox="1"/>
          <p:nvPr/>
        </p:nvSpPr>
        <p:spPr>
          <a:xfrm>
            <a:off x="635508" y="2235708"/>
            <a:ext cx="11018520" cy="914400"/>
          </a:xfrm>
          <a:prstGeom prst="rect">
            <a:avLst/>
          </a:prstGeom>
          <a:noFill/>
        </p:spPr>
        <p:txBody>
          <a:bodyPr wrap="square" lIns="0" rIns="0" tIns="0" bIns="0" anchor="t">
            <a:spAutoFit/>
          </a:bodyPr>
          <a:lstStyle/>
          <a:p>
            <a:pPr algn="ctr">
              <a:lnSpc>
                <a:spcPct val="110000"/>
              </a:lnSpc>
              <a:spcBef>
                <a:spcPts val="0"/>
              </a:spcBef>
              <a:spcAft>
                <a:spcPts val="0"/>
              </a:spcAft>
            </a:pPr>
            <a:r>
              <a:rPr sz="4800" b="1">
                <a:solidFill>
                  <a:srgbClr val="787882"/>
                </a:solidFill>
                <a:latin typeface="Arial Black"/>
              </a:rPr>
              <a:t>Thank you</a:t>
            </a:r>
          </a:p>
        </p:txBody>
      </p:sp>
      <p:sp>
        <p:nvSpPr>
          <p:cNvPr id="5" name="TextBox 4"/>
          <p:cNvSpPr txBox="1"/>
          <p:nvPr/>
        </p:nvSpPr>
        <p:spPr>
          <a:xfrm>
            <a:off x="594360" y="2194560"/>
            <a:ext cx="11018520" cy="914400"/>
          </a:xfrm>
          <a:prstGeom prst="rect">
            <a:avLst/>
          </a:prstGeom>
          <a:noFill/>
        </p:spPr>
        <p:txBody>
          <a:bodyPr wrap="square" lIns="0" rIns="0" tIns="0" bIns="0" anchor="t">
            <a:spAutoFit/>
          </a:bodyPr>
          <a:lstStyle/>
          <a:p>
            <a:pPr algn="ctr">
              <a:lnSpc>
                <a:spcPct val="110000"/>
              </a:lnSpc>
              <a:spcBef>
                <a:spcPts val="0"/>
              </a:spcBef>
              <a:spcAft>
                <a:spcPts val="0"/>
              </a:spcAft>
            </a:pPr>
            <a:r>
              <a:rPr sz="4800" b="1">
                <a:solidFill>
                  <a:srgbClr val="FFD646"/>
                </a:solidFill>
                <a:latin typeface="Arial Black"/>
              </a:rPr>
              <a:t>Thank you</a:t>
            </a:r>
          </a:p>
        </p:txBody>
      </p:sp>
      <p:sp>
        <p:nvSpPr>
          <p:cNvPr id="6" name="TextBox 5"/>
          <p:cNvSpPr txBox="1"/>
          <p:nvPr/>
        </p:nvSpPr>
        <p:spPr>
          <a:xfrm>
            <a:off x="594360" y="3383280"/>
            <a:ext cx="11018520" cy="411480"/>
          </a:xfrm>
          <a:prstGeom prst="rect">
            <a:avLst/>
          </a:prstGeom>
          <a:noFill/>
        </p:spPr>
        <p:txBody>
          <a:bodyPr wrap="square" lIns="0" rIns="0" tIns="0" bIns="0" anchor="t">
            <a:spAutoFit/>
          </a:bodyPr>
          <a:lstStyle/>
          <a:p>
            <a:pPr algn="ctr">
              <a:lnSpc>
                <a:spcPct val="110000"/>
              </a:lnSpc>
              <a:spcBef>
                <a:spcPts val="0"/>
              </a:spcBef>
              <a:spcAft>
                <a:spcPts val="0"/>
              </a:spcAft>
            </a:pPr>
            <a:r>
              <a:rPr sz="1500" b="1">
                <a:solidFill>
                  <a:srgbClr val="B0B6C0"/>
                </a:solidFill>
                <a:latin typeface="Aptos"/>
              </a:rPr>
              <a:t>Excellence  ·  Motion 05  ·  Acceleration</a:t>
            </a:r>
          </a:p>
        </p:txBody>
      </p:sp>
      <p:sp>
        <p:nvSpPr>
          <p:cNvPr id="7" name="TextBox 6"/>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