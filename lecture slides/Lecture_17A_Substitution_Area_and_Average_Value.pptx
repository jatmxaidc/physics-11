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calculus block with area between curves and average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formulas short; sketch every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 panose="020B0A04020102020204"/>
              </a:rPr>
              <a:t>EXCELLENCE</a:t>
            </a:r>
            <a:endParaRPr sz="6200" b="1">
              <a:solidFill>
                <a:srgbClr val="D2D2DC"/>
              </a:solidFill>
              <a:latin typeface="Arial Black" panose="020B0A040201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 panose="020B0A04020102020204"/>
              </a:rPr>
              <a:t>EXCELLENCE</a:t>
            </a:r>
            <a:endParaRPr sz="6200" b="1">
              <a:solidFill>
                <a:srgbClr val="FFD646"/>
              </a:solidFill>
              <a:latin typeface="Arial Black" panose="020B0A040201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11 - 2026-27</a:t>
            </a:r>
            <a:endParaRPr sz="3000" b="1">
              <a:solidFill>
                <a:srgbClr val="5A5A6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11 - 2026-27</a:t>
            </a:r>
            <a:endParaRPr sz="3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  <a:endParaRPr sz="2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- 17A</a:t>
            </a:r>
            <a:endParaRPr sz="2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 panose="02040502050405020303"/>
              </a:rPr>
              <a:t>Basic Maths and Calculus</a:t>
            </a:r>
            <a:endParaRPr sz="32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Substitution Limits, Area and Average Value</a:t>
            </a:r>
            <a:endParaRPr sz="15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25 September 2026</a:t>
            </a:r>
            <a:endParaRPr sz="18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  <a:endParaRPr sz="32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320" y="1042415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Definite integrals with substitution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Changing limits with u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2432304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Physics examples with substitution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Area between two curves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1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Average value of a function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Average velocity from v(t)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Mixed calculus revision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integrals with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Two clean options: change the limits to u, or substitute back to x then use F(b) − F(a).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Preferred: change limits with u → no need to return to x</a:t>
            </a:r>
            <a:endParaRPr sz="171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you change variable, you must also change both limits.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Changing limits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When x = a, compute u(a)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When x = b, compute u(b)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Then evaluate ∫u₍ₐ₎ᵘ⁽ᵇ⁾ f(u) du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 not put x-limits on a u-integral.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with linear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∫₀¹ (2x + 1)³ · 2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with linear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u = 2x + 1 → du = 2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x = 0 → u = 1; x = 1 → u = 3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∫₁³ u³ du = [u⁴/4]₁³ = 81/4 − 1/4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20.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sine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∫₀⁽π/⁶⁾ cos(3x) · 3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sine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u = 3x → du = 3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x = 0 → u = 0; x = π/6 → u = π/2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∫₀⁽π/²⁾ cos u du = [sin u]₀⁽π/²⁾ = 1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without the factor ready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∫₀¹ e²ˣ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without the factor ready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u = 2x → dx = du/2; x = 0 → u = 0; x = 1 → u = 2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∫₀² eᵘ (du/2) = (1/2)[eᵘ]₀² = (1/2)(e² − 1)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(e² − 1)/2.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reciprocal form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∫₀¹ 2x/(x² + 1)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reciprocal form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u = x² + 1 → du = 2x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x = 0 → u = 1; x = 1 → u = 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∫₁² (du/u) = [ln|u|]₁² = ln 2 − ln 1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ln 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 with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acceleration or velocity is a composite function of time, substitute the inside.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Same four steps — then put the physical limits of t</a:t>
            </a:r>
            <a:endParaRPr sz="171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 units on the final number.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Velocity from a = 2t + 1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a = 2t + 1 and v = 0 at t = 0, find v at t = 2.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Velocity from a = 2t + 1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v = ∫₀² (2t + 1) dt = [t² + t]₀²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(4 + 2) − 0 = 6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 = 6 m s⁻¹.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Displacement with v = 3t²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3t² and x = 0 at t = 0, find x at t = 2.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Displacement with v = 3t²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x = ∫₀² 3t² dt = [t³]₀² = 8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8 m.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Composite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v = 2t cos(t²) and x = 0 at t = 0, find x at t = √(π/2).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Composite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u = t² → du = 2t dt; t = 0 → u = 0; t = √(π/2) → u = π/2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x = ∫₀⁽π/²⁾ cos u du = [sin u]₀⁽π/²⁾ = 1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1 m.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Mixed: identify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∫ 6x² (x³ + 4)⁵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Mixed: identify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u = x³ + 4 → du = 3x² dx → 6x² dx = 2 du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∫ 2 u⁵ du = 2 · u⁶/6 + C = u⁶/3 + C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(x³ + 4)⁶/3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Mixed: definite power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∫₀¹ 4x (x² + 1)³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Mixed: definite power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u = x² + 1 → du = 2x dx → 4x dx = 2 du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x = 0 → u = 1; x = 1 → u = 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∫₁² 2 u³ du = 2[u⁴/4]₁² = (1/2)(16 − 1)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15/2.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sin(2x)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sin(2x) dx.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sin(2x)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u = 2x → dx = du/2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−(1/2) cos(2x)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definite e³ˣ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∫₀¹ e³ˣ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definite e³ˣ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u = 3x → dx = du/3; limits 0 → 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(1/3)[eᵘ]₀³ = (e³ − 1)/3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(e³ − 1)/3.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check by differentiate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Differentiate y = (1/5) sin(5x) and confirm it matches cos(5x).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check by differentiate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dy/dx = (1/5) · cos(5x) · 5 = cos(5x)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Check successful — so ∫ cos(5x) dx = (1/5) sin(5x)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Substitution lock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Substitution = chain rule written backwards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Choose u, write du, rewrite the whole integral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For definite integrals, change both limits with u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Always check by differentiating the answer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every substitution question without looking.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For each indefinite answer, differentiate and recover the integrand.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Practise changing limits on three definite examples.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 one physics ∫ with a composite function of 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Leaving a mix of u and x in the same integral is the classic trap.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Substitution recap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Choose u, write du, rewrite the whole integral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Definite: change both limits with u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∫ₐᵇ f = F(b) − F(a) (no +C)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Check by differentiating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check: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2x cos(x²)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Quick check: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u = x² → du = 2x dx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sin(x²)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two curves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one curve lies above another from x = a to x = b, the area between them is the difference of integrals.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Area = ∫ₐᵇ [y_upper − y_lower] dx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18211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upper minus lower. Do not subtract in the wrong order.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board steps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1. Sketch both curves and mark a and b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2. Decide which is upper on [a, b]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3. Integrate (upper − lower) from a to b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they cross, split the integral at the intersection.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Region between y = x and y = x²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 [0, 1], the line y = x is above the parabola y = x².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493776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02536"/>
            <a:ext cx="460857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Area = ∫₀¹ (x − x²) dx</a:t>
            </a:r>
            <a:endParaRPr sz="1620" b="1">
              <a:solidFill>
                <a:srgbClr val="081E3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446520" y="4931664"/>
            <a:ext cx="47548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0504" y="1325880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036808" y="4977384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4512" y="132588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665464" y="4876800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0872" y="50048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0.5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0250424" y="4876800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85832" y="50048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43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025640" y="3544824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59880" y="344424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0.5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025640" y="2157984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59880" y="205740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87896" y="5004816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7080504" y="486232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59752" y="4792980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38999" y="4723638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18248" y="465429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97496" y="4584954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76743" y="4515612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555992" y="444627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635240" y="437692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4488" y="430758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793736" y="4238244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72983" y="4168902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952232" y="409956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31480" y="403021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10728" y="396087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189976" y="389153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69224" y="3822191"/>
            <a:ext cx="79248" cy="6934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48472" y="3752850"/>
            <a:ext cx="79248" cy="693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427720" y="368350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506968" y="361416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86216" y="354482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5464" y="347548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744712" y="340614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23960" y="333679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03208" y="326745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2456" y="319811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61704" y="312877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140952" y="3059430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220199" y="2990088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299448" y="2920745"/>
            <a:ext cx="79248" cy="6934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378696" y="2851404"/>
            <a:ext cx="79248" cy="693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457944" y="278206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537192" y="271272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616440" y="264337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695688" y="257403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774936" y="250469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854184" y="243535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933432" y="236601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012680" y="2296668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091927" y="2227325"/>
            <a:ext cx="79249" cy="6934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171176" y="2157984"/>
            <a:ext cx="79248" cy="693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080504" y="4931230"/>
            <a:ext cx="39624" cy="4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120128" y="4929930"/>
            <a:ext cx="39624" cy="130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159752" y="4927763"/>
            <a:ext cx="39624" cy="216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99376" y="4924729"/>
            <a:ext cx="39623" cy="30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238999" y="4920829"/>
            <a:ext cx="39625" cy="390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278624" y="4916062"/>
            <a:ext cx="39624" cy="476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318248" y="4910428"/>
            <a:ext cx="39624" cy="56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357872" y="4903927"/>
            <a:ext cx="39624" cy="65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397496" y="4896559"/>
            <a:ext cx="39624" cy="736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437120" y="4888325"/>
            <a:ext cx="39623" cy="82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476743" y="4879224"/>
            <a:ext cx="39625" cy="91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516368" y="4869256"/>
            <a:ext cx="39624" cy="996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555992" y="4858421"/>
            <a:ext cx="39624" cy="1083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595616" y="4846720"/>
            <a:ext cx="39624" cy="117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635240" y="4834151"/>
            <a:ext cx="39623" cy="1256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674863" y="4820716"/>
            <a:ext cx="39625" cy="1343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714488" y="4806415"/>
            <a:ext cx="39624" cy="143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754112" y="4791246"/>
            <a:ext cx="39624" cy="1516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93736" y="4775211"/>
            <a:ext cx="39624" cy="1603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33360" y="4758309"/>
            <a:ext cx="39623" cy="1690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872983" y="4740540"/>
            <a:ext cx="39624" cy="1776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912607" y="4721904"/>
            <a:ext cx="39625" cy="1863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952232" y="4702402"/>
            <a:ext cx="39624" cy="1950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991856" y="4682032"/>
            <a:ext cx="39624" cy="203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031480" y="4660796"/>
            <a:ext cx="39624" cy="2123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71104" y="4638694"/>
            <a:ext cx="39624" cy="2210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110728" y="4615724"/>
            <a:ext cx="39624" cy="229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50352" y="4591888"/>
            <a:ext cx="39624" cy="2383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189976" y="4567185"/>
            <a:ext cx="39624" cy="2470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229600" y="4541615"/>
            <a:ext cx="39624" cy="255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269224" y="4515178"/>
            <a:ext cx="39623" cy="264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308847" y="4487875"/>
            <a:ext cx="39625" cy="2730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348472" y="4459705"/>
            <a:ext cx="39624" cy="281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388096" y="4430668"/>
            <a:ext cx="39624" cy="290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427720" y="4400764"/>
            <a:ext cx="39624" cy="2990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467344" y="4369993"/>
            <a:ext cx="39624" cy="307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506968" y="4338356"/>
            <a:ext cx="39624" cy="316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546592" y="4305852"/>
            <a:ext cx="39624" cy="3250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586216" y="4272481"/>
            <a:ext cx="39624" cy="333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625840" y="4238244"/>
            <a:ext cx="39624" cy="342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665464" y="4203139"/>
            <a:ext cx="39624" cy="351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705088" y="4167168"/>
            <a:ext cx="39624" cy="359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744712" y="4130330"/>
            <a:ext cx="39624" cy="3683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784336" y="4092625"/>
            <a:ext cx="39624" cy="377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823960" y="4054054"/>
            <a:ext cx="39624" cy="385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863584" y="4014616"/>
            <a:ext cx="39624" cy="3943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903208" y="3974311"/>
            <a:ext cx="39624" cy="403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942832" y="3933139"/>
            <a:ext cx="39624" cy="411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982456" y="3891100"/>
            <a:ext cx="39624" cy="4203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022080" y="3848195"/>
            <a:ext cx="39624" cy="429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061704" y="3804423"/>
            <a:ext cx="39624" cy="437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101328" y="3759784"/>
            <a:ext cx="39624" cy="4463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140952" y="3714278"/>
            <a:ext cx="39624" cy="4550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180576" y="3667906"/>
            <a:ext cx="39623" cy="463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20199" y="3620666"/>
            <a:ext cx="39625" cy="4724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259824" y="3572560"/>
            <a:ext cx="39624" cy="4810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299448" y="3523588"/>
            <a:ext cx="39624" cy="489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339072" y="3473748"/>
            <a:ext cx="39624" cy="4984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378696" y="3423042"/>
            <a:ext cx="39624" cy="5070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418320" y="3371469"/>
            <a:ext cx="39624" cy="5157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457944" y="3319029"/>
            <a:ext cx="39624" cy="5244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497568" y="3265722"/>
            <a:ext cx="39624" cy="5330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537192" y="3211549"/>
            <a:ext cx="39624" cy="5417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576816" y="3156508"/>
            <a:ext cx="39624" cy="550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616440" y="3100601"/>
            <a:ext cx="39623" cy="5590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656063" y="3043828"/>
            <a:ext cx="39625" cy="5677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695688" y="2986187"/>
            <a:ext cx="39624" cy="576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735312" y="2927680"/>
            <a:ext cx="39624" cy="5850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774936" y="2868306"/>
            <a:ext cx="39624" cy="5937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814560" y="2808065"/>
            <a:ext cx="39624" cy="602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54184" y="2746957"/>
            <a:ext cx="39624" cy="611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893808" y="2684983"/>
            <a:ext cx="39624" cy="6197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933432" y="2622142"/>
            <a:ext cx="39624" cy="628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973056" y="2558434"/>
            <a:ext cx="39624" cy="637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012680" y="2493859"/>
            <a:ext cx="39623" cy="6457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052303" y="2428417"/>
            <a:ext cx="39624" cy="6544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091927" y="2362109"/>
            <a:ext cx="39625" cy="663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131552" y="2294934"/>
            <a:ext cx="39624" cy="6717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171176" y="2226892"/>
            <a:ext cx="39624" cy="6804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210800" y="2157984"/>
            <a:ext cx="39624" cy="689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7030212" y="4881372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153656" y="502310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0</a:t>
            </a:r>
            <a:endParaRPr sz="120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10200132" y="2107691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323576" y="190195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(1, 1)</a:t>
            </a:r>
            <a:endParaRPr sz="120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line and parabola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between y = x and y = x² from x = 0 to x = 1.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between line and parabola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Upper = x, lower = x²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Area = ∫₀¹ (x − x²) dx = [x²/2 − x³/3]₀¹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= 1/2 − 1/3 = 1/6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1/6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line and axis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area between y = 2x and the x-axis from x = 1 to x = 3.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between line and axis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This is still ∫₁³ 2x dx (upper = 2x, lower = 0)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[x²]₁³ = 9 − 1 = 8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two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between y = 4 and y = x from x = 1 to x = 3.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between two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On [1, 3], y = 4 is above y = 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Area = ∫₁³ (4 − x) dx = [4x − x²/2]₁³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= (12 − 9/2) − (4 − 1/2) = 15/2 − 7/2 = 4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4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intersection first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between y = x² and y = 4x − x².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intersection first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Intersection: x² = 4x − x² → 2x² − 4x = 0 → 2x(x − 2) = 0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x = 0 or x = 2. On [0, 2], upper = 4x − x²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Area = ∫₀² [(4x − x²) − x²] dx = ∫₀² (4x − 2x²) dx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4: = [2x² − (2/3)x³]₀² = 8 − 16/3 = 8/3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8/3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value of a function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average height of y = f(x) on [a, b] is the area under the curve divided by the width.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f_avg = (1/(b − a)) ∫ₐᵇ f(x) dx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This is the mean value of f on that interval.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forget to divide by (b − a).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Why this formula?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Area under f equals the area of a rectangle of width (b − a) and height f_avg.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∫ₐᵇ f(x) dx = f_avg · (b − a)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Solve for f_avg to get the formula.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a line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average value of f(x) = 2x on [0, 4].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a line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f_avg = (1/4) ∫₀⁴ 2x dx = (1/4)[x²]₀⁴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(1/4)(16) = 4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4.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a parabola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average value of f(x) = x² on [0, 3].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a parabola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f_avg = (1/3) ∫₀³ x² dx = (1/3)[x³/3]₀³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(1/3)(9) = 3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3.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cosine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average value of f(x) = cos x on [0, π/2].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cosine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Width = π/2 − 0 = π/2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f_avg = (2/π) ∫₀⁽π/²⁾ cos x dx = (2/π)[sin x]₀⁽π/²⁾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= (2/π)(1) = 2/π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2/π.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Physics: average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v(t) is given, the average velocity over [t₁, t₂] is the mean value of v.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v_avg = (1/(t₂ − t₁)) ∫ₜ₁ᵗ² v(t) dt = Δx / Δt</a:t>
            </a:r>
            <a:endParaRPr sz="162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Same formula as average value — now with time as the variable.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velocity from v(t)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If v = 2t (m s⁻¹) from t = 0 to t = 4 s, find average velocity.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velocity from v(t)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v_avg = (1/4) ∫₀⁴ 2t dt = (1/4)[t²]₀⁴ = 4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Check: Δx = 16 m, Δt = 4 s → v_avg = 4 m s⁻¹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v_avg = 4 m s⁻¹.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constant acceleration speed-up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3 + 2t from t = 0 to t = 3, find v_avg.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constant acceleration speed-up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v_avg = (1/3) ∫₀³ (3 + 2t) dt = (1/3)[3t + t²]₀³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(1/3)(9 + 9) = 6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v_avg = 6 m s⁻¹.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Mean of a linear 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a = 4t from t = 1 to t = 3, find average acceleration.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Mean of a linear 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a_avg = (1/2) ∫₁³ 4t dt = (1/2)[2t²]₁³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(1/2)(18 − 2) = 8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a_avg = 8 m s⁻².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REVISION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Indefinite integral lock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∫ x to the n dx = x to the power (n+1)/(n+1) + C (n ≠ −1)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∫ sin x dx = −cos x + C · ∫ cos x dx = sin x + C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∫ eˣ dx = eˣ + C · ∫ dx/x = ln|x| + C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Substitution undoes the chain rule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indefinite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∫ (4x³ − 1/x) dx for x &gt; 0.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indefinite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∫ 4x³ dx = x⁴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∫ −1/x dx = −ln 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x⁴ − ln x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∫₀⁽π/⁴⁾ cos(2x) · 2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u = 2x → du = 2 dx; limits 0 → π/2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∫₀⁽π/²⁾ cos u du = 1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area between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area between y = √x and y = x from x = 0 to x = 1.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area between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On [0, 1], √x ≥ 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Area = ∫₀¹ (√x − x) dx = [ (2/3)x³ᐟ² − x²/2 ]₀¹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= 2/3 − 1/2 = 1/6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1/6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average value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average value of f(x) = 3x² on [1, 2].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average value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f_avg = (1/1) ∫₁² 3x² dx = [x³]₁² = 8 − 1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7.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between curves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area between y = 6 − x and y = x from x = 1 to x = 2.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between curves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Upper = 6 − x on this interval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Area = ∫₁² (6 − x − x) dx = ∫₁² (6 − 2x) dx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= [6x − x²]₁² = (12 − 4) − (6 − 1) = 3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3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average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t² from t = 0 to t = 3, find v_avg.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average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v_avg = (1/3) ∫₀³ t² dt = (1/3)[t³/3]₀³ = 3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v_avg = 3 m s⁻¹.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Calculus block lock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Area between curves: ∫ (upper − lower) dx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Average value: f_avg = (1/(b−a)) ∫ₐᵇ f dx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v_avg = (1/Δt) ∫ v dt = Δx/Δt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Differentiation ↔ Integration are reverse operations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/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Sketch every area-between-curves question before integrating.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Memorise the average-value formula with (b − a) in the denominator.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Redo one substitution + one definite + one average question.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 a one-page summary of the whole calculus block.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Next chapter after this block: Vectors.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10858</Words>
  <Application>WPS Presentation</Application>
  <PresentationFormat>On-screen Show (4:3)</PresentationFormat>
  <Paragraphs>946</Paragraphs>
  <Slides>89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9" baseType="lpstr">
      <vt:lpstr>Arial</vt:lpstr>
      <vt:lpstr>SimSun</vt:lpstr>
      <vt:lpstr>Wingdings</vt:lpstr>
      <vt:lpstr>Arial</vt:lpstr>
      <vt:lpstr>Arial Black</vt:lpstr>
      <vt:lpstr>Aptos</vt:lpstr>
      <vt:lpstr>Segoe UI</vt:lpstr>
      <vt:lpstr>Georgia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manish jat</cp:lastModifiedBy>
  <cp:revision>2</cp:revision>
  <dcterms:created xsi:type="dcterms:W3CDTF">2013-01-27T09:14:00Z</dcterms:created>
  <dcterms:modified xsi:type="dcterms:W3CDTF">2026-09-25T12:31:55Z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6759D4072ABD4C60B49F1CB1058255FC_12</vt:lpwstr>
  </property>
  <property fmtid="{D5CDD505-2E9C-101B-9397-08002B2CF9AE}" pid="3" name="KSOProductBuildVer">
    <vt:lpwstr>1033-12.1.0.28485</vt:lpwstr>
  </property>
</Properties>
</file>