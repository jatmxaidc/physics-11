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PW Motion in a Straight Line Lecture 02.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508" y="516636"/>
            <a:ext cx="11018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200" b="1">
                <a:solidFill>
                  <a:srgbClr val="D2D2DC"/>
                </a:solidFill>
                <a:latin typeface="Arial Black"/>
              </a:rPr>
              <a:t>EXCELLENCE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75488"/>
            <a:ext cx="11018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200" b="1">
                <a:solidFill>
                  <a:srgbClr val="FFD646"/>
                </a:solidFill>
                <a:latin typeface="Arial Black"/>
              </a:rPr>
              <a:t>EXCELLENCE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508" y="1540763"/>
            <a:ext cx="110185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5A5A64"/>
                </a:solidFill>
                <a:latin typeface="Aptos"/>
              </a:rPr>
              <a:t>CLASS 11   -   2026-27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99616"/>
            <a:ext cx="110185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Aptos"/>
              </a:rPr>
              <a:t>CLASS 11   -   2026-27</a:t>
            </a:r>
          </a:p>
        </p:txBody>
      </p:sp>
      <p:sp>
        <p:nvSpPr>
          <p:cNvPr id="6" name="Rectangle 5"/>
          <p:cNvSpPr/>
          <p:nvPr/>
        </p:nvSpPr>
        <p:spPr>
          <a:xfrm>
            <a:off x="3794760" y="2084831"/>
            <a:ext cx="4572000" cy="25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874519" y="2468880"/>
            <a:ext cx="84124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74519" y="3127248"/>
            <a:ext cx="8412480" cy="1490472"/>
          </a:xfrm>
          <a:prstGeom prst="roundRect">
            <a:avLst/>
          </a:prstGeom>
          <a:solidFill>
            <a:srgbClr val="000000"/>
          </a:solidFill>
          <a:ln w="1587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80759" y="2615184"/>
            <a:ext cx="16459" cy="38404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4519" y="2596896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00000"/>
                </a:solidFill>
                <a:latin typeface="Aptos"/>
              </a:rPr>
              <a:t>Physics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59" y="2596896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00000"/>
                </a:solidFill>
                <a:latin typeface="Aptos"/>
              </a:rPr>
              <a:t>Motion 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401568"/>
            <a:ext cx="8412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Georgia"/>
              </a:rPr>
              <a:t>Motion in a Straight 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3950208"/>
            <a:ext cx="8412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D646"/>
                </a:solidFill>
                <a:latin typeface="Aptos"/>
              </a:rPr>
              <a:t>Distance &amp; Displacement Deep Dive · Arcs · x–t Graphs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82803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By - Excellence Programme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30352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0B6C0"/>
                </a:solidFill>
                <a:latin typeface="Aptos"/>
              </a:rPr>
              <a:t>20 October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101852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D646"/>
                </a:solidFill>
                <a:latin typeface="Aptos"/>
              </a:rPr>
              <a:t>What we learn today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3108960" cy="32004"/>
          </a:xfrm>
          <a:prstGeom prst="rect">
            <a:avLst/>
          </a:prstGeom>
          <a:solidFill>
            <a:srgbClr val="FFD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94360" y="1097280"/>
            <a:ext cx="384048" cy="38404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38404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43000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FFFFFF"/>
                </a:solidFill>
                <a:latin typeface="Aptos"/>
              </a:rPr>
              <a:t>Lock the may / must logic for distance &amp; displacement</a:t>
            </a:r>
          </a:p>
        </p:txBody>
      </p:sp>
      <p:sp>
        <p:nvSpPr>
          <p:cNvPr id="7" name="Oval 6"/>
          <p:cNvSpPr/>
          <p:nvPr/>
        </p:nvSpPr>
        <p:spPr>
          <a:xfrm>
            <a:off x="594360" y="1755648"/>
            <a:ext cx="384048" cy="38404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01368"/>
            <a:ext cx="38404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80136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FFFFFF"/>
                </a:solidFill>
                <a:latin typeface="Aptos"/>
              </a:rPr>
              <a:t>More 1-D, 2-D and 3-D path calculations</a:t>
            </a:r>
          </a:p>
        </p:txBody>
      </p:sp>
      <p:sp>
        <p:nvSpPr>
          <p:cNvPr id="10" name="Oval 9"/>
          <p:cNvSpPr/>
          <p:nvPr/>
        </p:nvSpPr>
        <p:spPr>
          <a:xfrm>
            <a:off x="594360" y="2414015"/>
            <a:ext cx="384048" cy="38404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459735"/>
            <a:ext cx="38404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459735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FFFFFF"/>
                </a:solidFill>
                <a:latin typeface="Aptos"/>
              </a:rPr>
              <a:t>Square, hexagon and triangle geometry shortcuts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" y="3072384"/>
            <a:ext cx="384048" cy="38404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118104"/>
            <a:ext cx="38404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118104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FFFFFF"/>
                </a:solidFill>
                <a:latin typeface="Aptos"/>
              </a:rPr>
              <a:t>Motion on a circular arc — distance and chord</a:t>
            </a:r>
          </a:p>
        </p:txBody>
      </p:sp>
      <p:sp>
        <p:nvSpPr>
          <p:cNvPr id="16" name="Oval 15"/>
          <p:cNvSpPr/>
          <p:nvPr/>
        </p:nvSpPr>
        <p:spPr>
          <a:xfrm>
            <a:off x="594360" y="3730752"/>
            <a:ext cx="384048" cy="38404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776472"/>
            <a:ext cx="38404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776472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FFFFFF"/>
                </a:solidFill>
                <a:latin typeface="Aptos"/>
              </a:rPr>
              <a:t>Reading x–t graphs (graph is not the path)</a:t>
            </a:r>
          </a:p>
        </p:txBody>
      </p:sp>
      <p:sp>
        <p:nvSpPr>
          <p:cNvPr id="19" name="Oval 18"/>
          <p:cNvSpPr/>
          <p:nvPr/>
        </p:nvSpPr>
        <p:spPr>
          <a:xfrm>
            <a:off x="594360" y="4389120"/>
            <a:ext cx="384048" cy="38404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434840"/>
            <a:ext cx="38404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434840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FFFFFF"/>
                </a:solidFill>
                <a:latin typeface="Aptos"/>
              </a:rPr>
              <a:t>Board MCQs from today’s ideas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CLASS NOTE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Link from Motion 01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Last class we met frame, rest–motion, and the basic meaning of distance and displacement. Today we go deeper: harder paths, polygon shortcuts, circular arcs, and graphs.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542032"/>
            <a:ext cx="11018520" cy="96012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688336"/>
            <a:ext cx="10689336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81E3F"/>
                </a:solidFill>
                <a:latin typeface="Aptos"/>
              </a:rPr>
              <a:t>Δr = r</a:t>
            </a:r>
            <a:r>
              <a:rPr sz="1350" b="1">
                <a:solidFill>
                  <a:srgbClr val="081E3F"/>
                </a:solidFill>
                <a:latin typeface="Aptos"/>
                <a:baseline val="-25000"/>
              </a:rPr>
              <a:t>f</a:t>
            </a:r>
            <a:r>
              <a:rPr sz="1350" b="1">
                <a:solidFill>
                  <a:srgbClr val="081E3F"/>
                </a:solidFill>
                <a:latin typeface="Aptos"/>
              </a:rPr>
              <a:t> − rᵢ    |    distance = length of the actual path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776472"/>
            <a:ext cx="11018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Same unit (metre) does not mean same quantity. Distance is scalar. Displacement is vector.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May / must logic — lock this 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6217920" cy="47548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1078992"/>
            <a:ext cx="614476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Statement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6812280" y="1078992"/>
            <a:ext cx="4572000" cy="47548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48856" y="1078992"/>
            <a:ext cx="449884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Truth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1554480"/>
            <a:ext cx="6217920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" y="1554480"/>
            <a:ext cx="614476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AC8FF"/>
                </a:solidFill>
                <a:latin typeface="Aptos"/>
              </a:rPr>
              <a:t>Distance = 0  ⇒  displacement = 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12280" y="1554480"/>
            <a:ext cx="4572000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48856" y="1554480"/>
            <a:ext cx="449884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Aptos"/>
              </a:rPr>
              <a:t>MUST (object did not move)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029967"/>
            <a:ext cx="6217920" cy="47548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" y="2029967"/>
            <a:ext cx="614476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AC8FF"/>
                </a:solidFill>
                <a:latin typeface="Aptos"/>
              </a:rPr>
              <a:t>Displacement = 0  ⇒  distance = 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12280" y="2029967"/>
            <a:ext cx="4572000" cy="47548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48856" y="2029967"/>
            <a:ext cx="449884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Aptos"/>
              </a:rPr>
              <a:t>MAY / MAY NOT (round trip)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2505456"/>
            <a:ext cx="6217920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" y="2505456"/>
            <a:ext cx="614476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AC8FF"/>
                </a:solidFill>
                <a:latin typeface="Aptos"/>
              </a:rPr>
              <a:t>Displacement ≠ 0  ⇒  distance = 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12280" y="2505456"/>
            <a:ext cx="4572000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48856" y="2505456"/>
            <a:ext cx="449884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Aptos"/>
              </a:rPr>
              <a:t>MUST NOT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2980944"/>
            <a:ext cx="6217920" cy="47548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" y="2980944"/>
            <a:ext cx="614476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AC8FF"/>
                </a:solidFill>
                <a:latin typeface="Aptos"/>
              </a:rPr>
              <a:t>Distance ≠ 0  ⇒  displacement = 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12280" y="2980944"/>
            <a:ext cx="4572000" cy="47548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48856" y="2980944"/>
            <a:ext cx="449884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Aptos"/>
              </a:rPr>
              <a:t>MAY / MAY NOT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3456432"/>
            <a:ext cx="6217920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" y="3456432"/>
            <a:ext cx="614476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AC8FF"/>
                </a:solidFill>
                <a:latin typeface="Aptos"/>
              </a:rPr>
              <a:t>In every 1-D motion, distance = |disp|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12280" y="3456432"/>
            <a:ext cx="4572000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48856" y="3456432"/>
            <a:ext cx="449884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Aptos"/>
              </a:rPr>
              <a:t>FALSE (turns break equality)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0" y="4160520"/>
            <a:ext cx="3200400" cy="1691640"/>
          </a:xfrm>
          <a:prstGeom prst="roundRect">
            <a:avLst/>
          </a:prstGeom>
          <a:solidFill>
            <a:srgbClr val="0E1016"/>
          </a:solidFill>
          <a:ln w="15240">
            <a:solidFill>
              <a:srgbClr val="28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651492" y="5079492"/>
            <a:ext cx="82296" cy="82296"/>
          </a:xfrm>
          <a:prstGeom prst="ellipse">
            <a:avLst/>
          </a:prstGeom>
          <a:solidFill>
            <a:srgbClr val="FFD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 flipV="1">
            <a:off x="9692640" y="4572000"/>
            <a:ext cx="914400" cy="548640"/>
          </a:xfrm>
          <a:prstGeom prst="line">
            <a:avLst/>
          </a:prstGeom>
          <a:ln w="25400">
            <a:solidFill>
              <a:srgbClr val="FF9E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 flipV="1">
            <a:off x="9692640" y="4480560"/>
            <a:ext cx="914400" cy="91440"/>
          </a:xfrm>
          <a:prstGeom prst="line">
            <a:avLst/>
          </a:prstGeom>
          <a:ln w="25400">
            <a:solidFill>
              <a:srgbClr val="FF9E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8778240" y="4480560"/>
            <a:ext cx="914400" cy="91440"/>
          </a:xfrm>
          <a:prstGeom prst="line">
            <a:avLst/>
          </a:prstGeom>
          <a:ln w="25400">
            <a:solidFill>
              <a:srgbClr val="FF9E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778240" y="4572000"/>
            <a:ext cx="914400" cy="548640"/>
          </a:xfrm>
          <a:prstGeom prst="line">
            <a:avLst/>
          </a:prstGeom>
          <a:ln w="25400">
            <a:solidFill>
              <a:srgbClr val="FF9E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412480" y="5440680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9E40"/>
                </a:solidFill>
                <a:latin typeface="Aptos"/>
              </a:rPr>
              <a:t>disp = 0, dist &gt; 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MCQ — two statements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Stmt-1: Distance and displacement are different quantities.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8191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Stmt-2: They have the same unit and same dimension.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2231136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249424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" y="2212848"/>
            <a:ext cx="105978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Only Stmt-1 is correct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2706624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724912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4" y="2688336"/>
            <a:ext cx="105978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Both are correct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3182112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200400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984" y="3163824"/>
            <a:ext cx="105978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Only Stmt-2 is correct</a:t>
            </a:r>
          </a:p>
        </p:txBody>
      </p:sp>
      <p:sp>
        <p:nvSpPr>
          <p:cNvPr id="18" name="Oval 17"/>
          <p:cNvSpPr/>
          <p:nvPr/>
        </p:nvSpPr>
        <p:spPr>
          <a:xfrm>
            <a:off x="594360" y="3657600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675887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4" y="3639312"/>
            <a:ext cx="105978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Both are incorrect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MCQ — two statements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Idea: different nature (scalar vs vector), but both measured in metre with [L].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1051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Answer: both are correct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1-D: out and past the origin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On the x-axis: start at origin, go to +20 m, then reverse and stop at −20 m.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97280" y="2468880"/>
            <a:ext cx="10058400" cy="0"/>
          </a:xfrm>
          <a:prstGeom prst="line">
            <a:avLst/>
          </a:prstGeom>
          <a:ln w="2540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1018519" y="2468880"/>
            <a:ext cx="182881" cy="0"/>
          </a:xfrm>
          <a:prstGeom prst="line">
            <a:avLst/>
          </a:prstGeom>
          <a:ln w="20320">
            <a:solidFill>
              <a:srgbClr val="B0B6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103120" y="2395728"/>
            <a:ext cx="0" cy="146304"/>
          </a:xfrm>
          <a:prstGeom prst="line">
            <a:avLst/>
          </a:prstGeom>
          <a:ln w="1524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938527" y="2560320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0B6C0"/>
                </a:solidFill>
                <a:latin typeface="Aptos"/>
              </a:rPr>
              <a:t>-20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0" y="2395728"/>
            <a:ext cx="0" cy="146304"/>
          </a:xfrm>
          <a:prstGeom prst="line">
            <a:avLst/>
          </a:prstGeom>
          <a:ln w="1524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61888" y="2560320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0B6C0"/>
                </a:solidFill>
                <a:latin typeface="Aptos"/>
              </a:rPr>
              <a:t>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149840" y="2395728"/>
            <a:ext cx="0" cy="146304"/>
          </a:xfrm>
          <a:prstGeom prst="line">
            <a:avLst/>
          </a:prstGeom>
          <a:ln w="1524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985248" y="2560320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0B6C0"/>
                </a:solidFill>
                <a:latin typeface="Aptos"/>
              </a:rPr>
              <a:t>20</a:t>
            </a:r>
          </a:p>
        </p:txBody>
      </p:sp>
      <p:sp>
        <p:nvSpPr>
          <p:cNvPr id="16" name="Oval 15"/>
          <p:cNvSpPr/>
          <p:nvPr/>
        </p:nvSpPr>
        <p:spPr>
          <a:xfrm>
            <a:off x="6085332" y="2427732"/>
            <a:ext cx="82296" cy="8229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06440" y="2176272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O</a:t>
            </a:r>
          </a:p>
        </p:txBody>
      </p:sp>
      <p:sp>
        <p:nvSpPr>
          <p:cNvPr id="18" name="Oval 17"/>
          <p:cNvSpPr/>
          <p:nvPr/>
        </p:nvSpPr>
        <p:spPr>
          <a:xfrm>
            <a:off x="10108692" y="2427732"/>
            <a:ext cx="82296" cy="82296"/>
          </a:xfrm>
          <a:prstGeom prst="ellipse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29800" y="2633472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9E40"/>
                </a:solidFill>
                <a:latin typeface="Aptos"/>
              </a:rPr>
              <a:t>+20</a:t>
            </a:r>
          </a:p>
        </p:txBody>
      </p:sp>
      <p:sp>
        <p:nvSpPr>
          <p:cNvPr id="20" name="Oval 19"/>
          <p:cNvSpPr/>
          <p:nvPr/>
        </p:nvSpPr>
        <p:spPr>
          <a:xfrm>
            <a:off x="2061972" y="2427732"/>
            <a:ext cx="82296" cy="82296"/>
          </a:xfrm>
          <a:prstGeom prst="ellipse">
            <a:avLst/>
          </a:prstGeom>
          <a:solidFill>
            <a:srgbClr val="FFD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83079" y="2176272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D646"/>
                </a:solidFill>
                <a:latin typeface="Aptos"/>
              </a:rPr>
              <a:t>end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126480" y="2148840"/>
            <a:ext cx="4023360" cy="0"/>
          </a:xfrm>
          <a:prstGeom prst="line">
            <a:avLst/>
          </a:prstGeom>
          <a:ln w="27940">
            <a:solidFill>
              <a:srgbClr val="FF9E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2103120" y="1920240"/>
            <a:ext cx="8046720" cy="0"/>
          </a:xfrm>
          <a:prstGeom prst="line">
            <a:avLst/>
          </a:prstGeom>
          <a:ln w="27940">
            <a:solidFill>
              <a:srgbClr val="FF9E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2103120" y="2880360"/>
            <a:ext cx="4023360" cy="0"/>
          </a:xfrm>
          <a:prstGeom prst="line">
            <a:avLst/>
          </a:prstGeom>
          <a:ln w="33020">
            <a:solidFill>
              <a:srgbClr val="5AD6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200400" y="2971800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AD680"/>
                </a:solidFill>
                <a:latin typeface="Aptos"/>
              </a:rPr>
              <a:t>displacement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18795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distance = 20 + 40 = 60 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47365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displacement = (−20)î − 0 = −20 î 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FIGURE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L-path: 4 m + 6 m + 4 m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A → B = 4 m right, B → C = 6 m up, C → D = 4 m right.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28800" y="5029200"/>
            <a:ext cx="1536191" cy="0"/>
          </a:xfrm>
          <a:prstGeom prst="line">
            <a:avLst/>
          </a:prstGeom>
          <a:ln w="33020">
            <a:solidFill>
              <a:srgbClr val="FF9E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3364991" y="2724912"/>
            <a:ext cx="0" cy="2304288"/>
          </a:xfrm>
          <a:prstGeom prst="line">
            <a:avLst/>
          </a:prstGeom>
          <a:ln w="33020">
            <a:solidFill>
              <a:srgbClr val="FF9E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364991" y="2724912"/>
            <a:ext cx="1536192" cy="0"/>
          </a:xfrm>
          <a:prstGeom prst="line">
            <a:avLst/>
          </a:prstGeom>
          <a:ln w="33020">
            <a:solidFill>
              <a:srgbClr val="FF9E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1787652" y="4988052"/>
            <a:ext cx="82296" cy="8229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91640" y="5138928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13" name="Oval 12"/>
          <p:cNvSpPr/>
          <p:nvPr/>
        </p:nvSpPr>
        <p:spPr>
          <a:xfrm>
            <a:off x="3323844" y="4988052"/>
            <a:ext cx="82296" cy="8229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27832" y="5138928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15" name="Oval 14"/>
          <p:cNvSpPr/>
          <p:nvPr/>
        </p:nvSpPr>
        <p:spPr>
          <a:xfrm>
            <a:off x="3323844" y="2683764"/>
            <a:ext cx="82296" cy="8229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27832" y="283464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7" name="Oval 16"/>
          <p:cNvSpPr/>
          <p:nvPr/>
        </p:nvSpPr>
        <p:spPr>
          <a:xfrm>
            <a:off x="4860036" y="2683764"/>
            <a:ext cx="82296" cy="8229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64023" y="283464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1828800" y="2724912"/>
            <a:ext cx="3072383" cy="2304288"/>
          </a:xfrm>
          <a:prstGeom prst="line">
            <a:avLst/>
          </a:prstGeom>
          <a:ln w="33020">
            <a:solidFill>
              <a:srgbClr val="5AD6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828800" y="5029200"/>
            <a:ext cx="3072383" cy="0"/>
          </a:xfrm>
          <a:prstGeom prst="line">
            <a:avLst/>
          </a:prstGeom>
          <a:ln w="1524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4901183" y="2724912"/>
            <a:ext cx="0" cy="2304288"/>
          </a:xfrm>
          <a:prstGeom prst="line">
            <a:avLst/>
          </a:prstGeom>
          <a:ln w="1524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172968" y="516636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8 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38344" y="3877056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6 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2194560"/>
            <a:ext cx="4114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distance = 14 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2743200"/>
            <a:ext cx="4114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AC8FF"/>
                </a:solidFill>
                <a:latin typeface="Aptos"/>
              </a:rPr>
              <a:t>|Δr| = √(8² + 6²) = 10 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365760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14 m , 10 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MCQ — L-path numbers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For the path above, distance and |displacement| are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1865376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83664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" y="1847088"/>
            <a:ext cx="105978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14 m, 8 m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2340864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359152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2322576"/>
            <a:ext cx="105978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14 m, 6 m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2816352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834640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" y="2798064"/>
            <a:ext cx="105978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14 m, 10 m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3291840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310128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" y="3273552"/>
            <a:ext cx="105978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None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MCQ — L-path numbers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Step 1:  distance = 14 m , |Δr| = 10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0195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Answer: option 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Endpoints only — distance may be unknown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Object goes from (0, 0) to (2, −4) on a curved path. Without the path, distance cannot be found. Displacement still can.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371600" y="4206240"/>
            <a:ext cx="3383280" cy="0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787652" y="4165091"/>
            <a:ext cx="82296" cy="82296"/>
          </a:xfrm>
          <a:prstGeom prst="ellipse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0" y="43891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AD680"/>
                </a:solidFill>
                <a:latin typeface="Aptos"/>
              </a:rPr>
              <a:t>A</a:t>
            </a:r>
          </a:p>
        </p:txBody>
      </p:sp>
      <p:sp>
        <p:nvSpPr>
          <p:cNvPr id="11" name="Oval 10"/>
          <p:cNvSpPr/>
          <p:nvPr/>
        </p:nvSpPr>
        <p:spPr>
          <a:xfrm>
            <a:off x="3982212" y="2884932"/>
            <a:ext cx="82296" cy="82296"/>
          </a:xfrm>
          <a:prstGeom prst="ellipse">
            <a:avLst/>
          </a:prstGeom>
          <a:solidFill>
            <a:srgbClr val="FFD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0" y="26060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D646"/>
                </a:solidFill>
                <a:latin typeface="Aptos"/>
              </a:rPr>
              <a:t>B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1828800" y="3383280"/>
            <a:ext cx="640080" cy="822960"/>
          </a:xfrm>
          <a:prstGeom prst="line">
            <a:avLst/>
          </a:prstGeom>
          <a:ln w="2794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2468880" y="2926080"/>
            <a:ext cx="731520" cy="457200"/>
          </a:xfrm>
          <a:prstGeom prst="line">
            <a:avLst/>
          </a:prstGeom>
          <a:ln w="2794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200400" y="2926080"/>
            <a:ext cx="822960" cy="0"/>
          </a:xfrm>
          <a:prstGeom prst="line">
            <a:avLst/>
          </a:prstGeom>
          <a:ln w="2794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828800" y="2926080"/>
            <a:ext cx="2194560" cy="1280160"/>
          </a:xfrm>
          <a:prstGeom prst="line">
            <a:avLst/>
          </a:prstGeom>
          <a:ln w="30480">
            <a:solidFill>
              <a:srgbClr val="5AD6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943600" y="2286000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AC8FF"/>
                </a:solidFill>
                <a:latin typeface="Aptos"/>
              </a:rPr>
              <a:t>Δr = 2î − 4ĵ , |Δr| = 2√5 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20040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Endpoints alone → displacement yes, distance maybe no.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40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Projectile landing &amp; 3–4–5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Ends at (8, 6) after a curved flight from the origin. Path length unknown; net shift is a 3–4–5 style triangle ×2.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97280" y="5349240"/>
            <a:ext cx="4754880" cy="0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97280" y="2148840"/>
            <a:ext cx="0" cy="3200400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87568" y="5394959"/>
            <a:ext cx="320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B6C0"/>
                </a:solidFill>
                <a:latin typeface="Aptos"/>
              </a:rPr>
              <a:t>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1288" y="2148840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B6C0"/>
                </a:solidFill>
                <a:latin typeface="Aptos"/>
              </a:rPr>
              <a:t>y</a:t>
            </a:r>
          </a:p>
        </p:txBody>
      </p:sp>
      <p:sp>
        <p:nvSpPr>
          <p:cNvPr id="12" name="Oval 11"/>
          <p:cNvSpPr/>
          <p:nvPr/>
        </p:nvSpPr>
        <p:spPr>
          <a:xfrm>
            <a:off x="1056132" y="5308092"/>
            <a:ext cx="82296" cy="82296"/>
          </a:xfrm>
          <a:prstGeom prst="ellipse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60036" y="2907791"/>
            <a:ext cx="82296" cy="82296"/>
          </a:xfrm>
          <a:prstGeom prst="ellipse">
            <a:avLst/>
          </a:prstGeom>
          <a:solidFill>
            <a:srgbClr val="FFD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 flipV="1">
            <a:off x="1097280" y="3348989"/>
            <a:ext cx="1426464" cy="2000251"/>
          </a:xfrm>
          <a:prstGeom prst="line">
            <a:avLst/>
          </a:prstGeom>
          <a:ln w="2794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2523744" y="2748914"/>
            <a:ext cx="1426464" cy="600075"/>
          </a:xfrm>
          <a:prstGeom prst="line">
            <a:avLst/>
          </a:prstGeom>
          <a:ln w="2794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950208" y="2748914"/>
            <a:ext cx="950976" cy="200025"/>
          </a:xfrm>
          <a:prstGeom prst="line">
            <a:avLst/>
          </a:prstGeom>
          <a:ln w="2794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097280" y="2948939"/>
            <a:ext cx="3803904" cy="2400301"/>
          </a:xfrm>
          <a:prstGeom prst="line">
            <a:avLst/>
          </a:prstGeom>
          <a:ln w="30480">
            <a:solidFill>
              <a:srgbClr val="5AD6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583680" y="2286000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Δr = 8î + 6ĵ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834640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|Δr| = √(64+36) = 10 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3-D walk: North, East, Up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Walk 10 m North, 10 m East, 10 m vertically up.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0195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distance = 10 + 10 + 10 = 30 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505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Δr = 10î + 10ĵ + 10k̂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9923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|Δr| = 10√3 m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86800" y="4754880"/>
            <a:ext cx="1463040" cy="0"/>
          </a:xfrm>
          <a:prstGeom prst="line">
            <a:avLst/>
          </a:prstGeom>
          <a:ln w="27940">
            <a:solidFill>
              <a:srgbClr val="FF9E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241280" y="46177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9E40"/>
                </a:solidFill>
                <a:latin typeface="Aptos"/>
              </a:rPr>
              <a:t>E î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8686800" y="3474720"/>
            <a:ext cx="0" cy="1280160"/>
          </a:xfrm>
          <a:prstGeom prst="line">
            <a:avLst/>
          </a:prstGeom>
          <a:ln w="27940">
            <a:solidFill>
              <a:srgbClr val="5AD6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78240" y="32918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AD680"/>
                </a:solidFill>
                <a:latin typeface="Aptos"/>
              </a:rPr>
              <a:t>N ĵ</a:t>
            </a:r>
          </a:p>
        </p:txBody>
      </p:sp>
      <p:cxnSp>
        <p:nvCxnSpPr>
          <p:cNvPr id="15" name="Connector 14"/>
          <p:cNvCxnSpPr/>
          <p:nvPr/>
        </p:nvCxnSpPr>
        <p:spPr>
          <a:xfrm flipH="1" flipV="1">
            <a:off x="7863840" y="3931920"/>
            <a:ext cx="822960" cy="822960"/>
          </a:xfrm>
          <a:prstGeom prst="line">
            <a:avLst/>
          </a:prstGeom>
          <a:ln w="27940">
            <a:solidFill>
              <a:srgbClr val="FFD64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223760" y="3749039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D646"/>
                </a:solidFill>
                <a:latin typeface="Aptos"/>
              </a:rPr>
              <a:t>up k̂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MCQ — P(2, 3, 5) → Q(3, 4, 5)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Displacement vector is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1819656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37943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" y="1801368"/>
            <a:ext cx="105978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î + ĵ + 10 k̂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2295144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313432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2276856"/>
            <a:ext cx="105978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î + ĵ + 5 k̂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2770632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788920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" y="2752344"/>
            <a:ext cx="105978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î + ĵ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3246120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264408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" y="3227832"/>
            <a:ext cx="105978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2î + 4ĵ + 6k̂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MCQ — P(2, 3, 5) → Q(3, 4, 5)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1:  Δr = (3−2)î + (4−3)ĵ + (5−5)k̂ = î + 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4767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Answer: î + ĵ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IIT-style walk: N, E, then SW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30 m North, 20 m East, then 30√2 m South-West. Find displacement.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560320" y="3383280"/>
            <a:ext cx="0" cy="1371600"/>
          </a:xfrm>
          <a:prstGeom prst="line">
            <a:avLst/>
          </a:prstGeom>
          <a:ln w="30480">
            <a:solidFill>
              <a:srgbClr val="5AD6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697479" y="39319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AD680"/>
                </a:solidFill>
                <a:latin typeface="Aptos"/>
              </a:rPr>
              <a:t>30 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60320" y="3383280"/>
            <a:ext cx="1097280" cy="0"/>
          </a:xfrm>
          <a:prstGeom prst="line">
            <a:avLst/>
          </a:prstGeom>
          <a:ln w="30480">
            <a:solidFill>
              <a:srgbClr val="FF9E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834639" y="306324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9E40"/>
                </a:solidFill>
                <a:latin typeface="Aptos"/>
              </a:rPr>
              <a:t>20 E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286000" y="3383280"/>
            <a:ext cx="1371600" cy="1371600"/>
          </a:xfrm>
          <a:prstGeom prst="line">
            <a:avLst/>
          </a:prstGeom>
          <a:ln w="30480">
            <a:solidFill>
              <a:srgbClr val="FFD64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194560" y="429768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D646"/>
                </a:solidFill>
                <a:latin typeface="Aptos"/>
              </a:rPr>
              <a:t>30√2 SW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1737360" y="4754880"/>
            <a:ext cx="822960" cy="0"/>
          </a:xfrm>
          <a:prstGeom prst="line">
            <a:avLst/>
          </a:prstGeom>
          <a:ln w="33020">
            <a:solidFill>
              <a:srgbClr val="28B4B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188719" y="443484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8B4BE"/>
                </a:solidFill>
                <a:latin typeface="Aptos"/>
              </a:rPr>
              <a:t>10 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103120"/>
            <a:ext cx="5029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1">
                <a:solidFill>
                  <a:srgbClr val="5AC8FF"/>
                </a:solidFill>
                <a:latin typeface="Aptos"/>
              </a:rPr>
              <a:t>SW = 30√2 × (−î − ĵ)/√2 = −30î − 30ĵ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651760"/>
            <a:ext cx="5029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5AC8FF"/>
                </a:solidFill>
                <a:latin typeface="Aptos"/>
              </a:rPr>
              <a:t>Net = 20î + 30ĵ − 30î − 30ĵ = −10î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6576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Displacement = 10 m West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MCQ — IIT walk answer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Net displacement in the walk above is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1865376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83664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" y="1847088"/>
            <a:ext cx="105978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10 m East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2340864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359152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2322576"/>
            <a:ext cx="105978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10 m North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2816352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834640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" y="2798064"/>
            <a:ext cx="105978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10 m West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3291840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310128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" y="3273552"/>
            <a:ext cx="105978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10√2 m South-West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MCQ — IIT walk answer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Answer: 10 m West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Spiral segments 1…8 m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Alternate right, up, left, down with lengths 1, 2, 3, 4, 5, 6, 7, 8 m.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00400" y="4389120"/>
            <a:ext cx="182880" cy="0"/>
          </a:xfrm>
          <a:prstGeom prst="line">
            <a:avLst/>
          </a:prstGeom>
          <a:ln w="25400">
            <a:solidFill>
              <a:srgbClr val="FF9E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3383280" y="4023359"/>
            <a:ext cx="0" cy="365761"/>
          </a:xfrm>
          <a:prstGeom prst="line">
            <a:avLst/>
          </a:prstGeom>
          <a:ln w="25400">
            <a:solidFill>
              <a:srgbClr val="FF9E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2834640" y="4023359"/>
            <a:ext cx="548640" cy="0"/>
          </a:xfrm>
          <a:prstGeom prst="line">
            <a:avLst/>
          </a:prstGeom>
          <a:ln w="25400">
            <a:solidFill>
              <a:srgbClr val="FF9E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834640" y="4023359"/>
            <a:ext cx="0" cy="731520"/>
          </a:xfrm>
          <a:prstGeom prst="line">
            <a:avLst/>
          </a:prstGeom>
          <a:ln w="25400">
            <a:solidFill>
              <a:srgbClr val="FF9E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834640" y="4754879"/>
            <a:ext cx="914399" cy="0"/>
          </a:xfrm>
          <a:prstGeom prst="line">
            <a:avLst/>
          </a:prstGeom>
          <a:ln w="25400">
            <a:solidFill>
              <a:srgbClr val="FF9E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3749039" y="3657599"/>
            <a:ext cx="0" cy="1097280"/>
          </a:xfrm>
          <a:prstGeom prst="line">
            <a:avLst/>
          </a:prstGeom>
          <a:ln w="25400">
            <a:solidFill>
              <a:srgbClr val="FF9E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2468879" y="3657599"/>
            <a:ext cx="1280160" cy="0"/>
          </a:xfrm>
          <a:prstGeom prst="line">
            <a:avLst/>
          </a:prstGeom>
          <a:ln w="25400">
            <a:solidFill>
              <a:srgbClr val="FF9E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468879" y="3657599"/>
            <a:ext cx="0" cy="1463041"/>
          </a:xfrm>
          <a:prstGeom prst="line">
            <a:avLst/>
          </a:prstGeom>
          <a:ln w="25400">
            <a:solidFill>
              <a:srgbClr val="FF9E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3159252" y="4347972"/>
            <a:ext cx="82296" cy="82296"/>
          </a:xfrm>
          <a:prstGeom prst="ellipse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427731" y="5079492"/>
            <a:ext cx="82296" cy="82296"/>
          </a:xfrm>
          <a:prstGeom prst="ellipse">
            <a:avLst/>
          </a:prstGeom>
          <a:solidFill>
            <a:srgbClr val="FFD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 flipH="1">
            <a:off x="2468879" y="4389120"/>
            <a:ext cx="731521" cy="731520"/>
          </a:xfrm>
          <a:prstGeom prst="line">
            <a:avLst/>
          </a:prstGeom>
          <a:ln w="30480">
            <a:solidFill>
              <a:srgbClr val="5AD6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315200" y="2194560"/>
            <a:ext cx="4114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AC8FF"/>
                </a:solidFill>
                <a:latin typeface="Aptos"/>
              </a:rPr>
              <a:t>distance = 36 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2743200"/>
            <a:ext cx="4114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AC8FF"/>
                </a:solidFill>
                <a:latin typeface="Aptos"/>
              </a:rPr>
              <a:t>Δr = −4î − 4ĵ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3291839"/>
            <a:ext cx="4114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AC8FF"/>
                </a:solidFill>
                <a:latin typeface="Aptos"/>
              </a:rPr>
              <a:t>|Δr| = 4√2 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40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Staircase path → 7–24–25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Horizontal pieces add to 24 m. Vertical pieces add to 7 m. Net is a right triangle.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3055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|Δr| = √(24² + 7²) = √(576+49) = √625 = 25 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0" y="5029200"/>
            <a:ext cx="5029200" cy="0"/>
          </a:xfrm>
          <a:prstGeom prst="line">
            <a:avLst/>
          </a:prstGeom>
          <a:ln w="2794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7772400" y="2926080"/>
            <a:ext cx="0" cy="2103120"/>
          </a:xfrm>
          <a:prstGeom prst="line">
            <a:avLst/>
          </a:prstGeom>
          <a:ln w="2794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743200" y="2926080"/>
            <a:ext cx="5029200" cy="2103120"/>
          </a:xfrm>
          <a:prstGeom prst="line">
            <a:avLst/>
          </a:prstGeom>
          <a:ln w="33020">
            <a:solidFill>
              <a:srgbClr val="5AD6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54880" y="516636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9E40"/>
                </a:solidFill>
                <a:latin typeface="Aptos"/>
              </a:rPr>
              <a:t>24 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384048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9E40"/>
                </a:solidFill>
                <a:latin typeface="Aptos"/>
              </a:rPr>
              <a:t>7 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65760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AD680"/>
                </a:solidFill>
                <a:latin typeface="Aptos"/>
              </a:rPr>
              <a:t>25 m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Square park shortcuts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Square ABCD of side ℓ. Start at A. Walk on the boundary.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645920" y="4937760"/>
            <a:ext cx="219456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3840480" y="2743200"/>
            <a:ext cx="0" cy="219456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1645920" y="2743200"/>
            <a:ext cx="219456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645920" y="2743200"/>
            <a:ext cx="0" cy="219456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645920" y="2743200"/>
            <a:ext cx="2194560" cy="2194560"/>
          </a:xfrm>
          <a:prstGeom prst="line">
            <a:avLst/>
          </a:prstGeom>
          <a:ln w="30480">
            <a:solidFill>
              <a:srgbClr val="FFD64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325880" y="4983480"/>
            <a:ext cx="320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AD680"/>
                </a:solidFill>
                <a:latin typeface="Aptos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13632" y="2468880"/>
            <a:ext cx="320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D646"/>
                </a:solidFill>
                <a:latin typeface="Aptos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374904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D646"/>
                </a:solidFill>
                <a:latin typeface="Aptos"/>
              </a:rPr>
              <a:t>√2 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0" y="1810512"/>
            <a:ext cx="2926080" cy="438912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40096" y="1810512"/>
            <a:ext cx="285292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Path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810512"/>
            <a:ext cx="2194560" cy="438912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66175" y="1810512"/>
            <a:ext cx="212140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distance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424160" y="1810512"/>
            <a:ext cx="2194560" cy="438912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60736" y="1810512"/>
            <a:ext cx="212140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|disp|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03520" y="2249424"/>
            <a:ext cx="2926080" cy="43891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40096" y="2249424"/>
            <a:ext cx="285292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AC8FF"/>
                </a:solidFill>
                <a:latin typeface="Aptos"/>
              </a:rPr>
              <a:t>A → 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2249424"/>
            <a:ext cx="2194560" cy="43891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66175" y="2249424"/>
            <a:ext cx="212140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424160" y="2249424"/>
            <a:ext cx="2194560" cy="43891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60736" y="2249424"/>
            <a:ext cx="212140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03520" y="2688336"/>
            <a:ext cx="2926080" cy="438912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40096" y="2688336"/>
            <a:ext cx="285292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AC8FF"/>
                </a:solidFill>
                <a:latin typeface="Aptos"/>
              </a:rPr>
              <a:t>A → C via B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2688336"/>
            <a:ext cx="2194560" cy="438912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66175" y="2688336"/>
            <a:ext cx="212140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2ℓ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424160" y="2688336"/>
            <a:ext cx="2194560" cy="438912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60736" y="2688336"/>
            <a:ext cx="212140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ℓ√2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03520" y="3127248"/>
            <a:ext cx="2926080" cy="43891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40096" y="3127248"/>
            <a:ext cx="285292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AC8FF"/>
                </a:solidFill>
                <a:latin typeface="Aptos"/>
              </a:rPr>
              <a:t>A → D via B, 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0" y="3127248"/>
            <a:ext cx="2194560" cy="43891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66175" y="3127248"/>
            <a:ext cx="212140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3ℓ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424160" y="3127248"/>
            <a:ext cx="2194560" cy="43891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460736" y="3127248"/>
            <a:ext cx="212140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ℓ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303520" y="3566160"/>
            <a:ext cx="2926080" cy="438912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40096" y="3566160"/>
            <a:ext cx="285292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AC8FF"/>
                </a:solidFill>
                <a:latin typeface="Aptos"/>
              </a:rPr>
              <a:t>A → A lap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29600" y="3566160"/>
            <a:ext cx="2194560" cy="438912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66175" y="3566160"/>
            <a:ext cx="212140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4ℓ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424160" y="3566160"/>
            <a:ext cx="2194560" cy="438912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460736" y="3566160"/>
            <a:ext cx="212140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Regular hexagon — distance vs chord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Regular hexagon side ℓ. From vertex A, walking around the boundary.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26080" y="2468880"/>
            <a:ext cx="1187840" cy="685800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113920" y="3154680"/>
            <a:ext cx="0" cy="1371600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2926080" y="4526280"/>
            <a:ext cx="1187840" cy="685800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 flipV="1">
            <a:off x="1738239" y="4526280"/>
            <a:ext cx="1187841" cy="685800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738239" y="3154680"/>
            <a:ext cx="0" cy="1371600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738239" y="2468880"/>
            <a:ext cx="1187841" cy="685800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926080" y="2468880"/>
            <a:ext cx="1187840" cy="2057400"/>
          </a:xfrm>
          <a:prstGeom prst="line">
            <a:avLst/>
          </a:prstGeom>
          <a:ln w="27940">
            <a:solidFill>
              <a:srgbClr val="FFD64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606040" y="2331720"/>
            <a:ext cx="320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AD680"/>
                </a:solidFill>
                <a:latin typeface="Aptos"/>
              </a:rPr>
              <a:t>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0" y="1901952"/>
            <a:ext cx="2743200" cy="438912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22976" y="1901952"/>
            <a:ext cx="267004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Sides walked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901952"/>
            <a:ext cx="2194560" cy="438912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66175" y="1901952"/>
            <a:ext cx="212140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distance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424160" y="1901952"/>
            <a:ext cx="2194560" cy="438912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60736" y="1901952"/>
            <a:ext cx="212140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|disp|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0" y="2340864"/>
            <a:ext cx="2743200" cy="43891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22976" y="2340864"/>
            <a:ext cx="267004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AC8FF"/>
                </a:solidFill>
                <a:latin typeface="Aptos"/>
              </a:rPr>
              <a:t>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2340864"/>
            <a:ext cx="2194560" cy="43891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66175" y="2340864"/>
            <a:ext cx="212140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424160" y="2340864"/>
            <a:ext cx="2194560" cy="43891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60736" y="2340864"/>
            <a:ext cx="212140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0" y="2779776"/>
            <a:ext cx="2743200" cy="438912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22976" y="2779776"/>
            <a:ext cx="267004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AC8FF"/>
                </a:solidFill>
                <a:latin typeface="Aptos"/>
              </a:rPr>
              <a:t>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2779776"/>
            <a:ext cx="2194560" cy="438912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66175" y="2779776"/>
            <a:ext cx="212140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2ℓ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424160" y="2779776"/>
            <a:ext cx="2194560" cy="438912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60736" y="2779776"/>
            <a:ext cx="212140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ℓ√3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0" y="3218688"/>
            <a:ext cx="2743200" cy="43891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22976" y="3218688"/>
            <a:ext cx="267004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AC8FF"/>
                </a:solidFill>
                <a:latin typeface="Aptos"/>
              </a:rPr>
              <a:t>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0" y="3218688"/>
            <a:ext cx="2194560" cy="43891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66175" y="3218688"/>
            <a:ext cx="212140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3ℓ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424160" y="3218688"/>
            <a:ext cx="2194560" cy="43891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460736" y="3218688"/>
            <a:ext cx="212140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2ℓ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0" y="3657600"/>
            <a:ext cx="2743200" cy="438912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22976" y="3657600"/>
            <a:ext cx="267004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AC8FF"/>
                </a:solidFill>
                <a:latin typeface="Aptos"/>
              </a:rPr>
              <a:t>6 (full)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29600" y="3657600"/>
            <a:ext cx="2194560" cy="438912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66175" y="3657600"/>
            <a:ext cx="212140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6ℓ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424160" y="3657600"/>
            <a:ext cx="2194560" cy="438912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460736" y="3657600"/>
            <a:ext cx="212140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40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Equilateral triangle + centroid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Equilateral triangle side ℓ. Centroid O. Useful lengths: vertex→centroid = ℓ/√3 ; centroid→side midpoint = ℓ/(2√3).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00400" y="4937760"/>
            <a:ext cx="2103120" cy="0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 flipV="1">
            <a:off x="4251960" y="2926080"/>
            <a:ext cx="1051560" cy="2011680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3200400" y="2926080"/>
            <a:ext cx="1051560" cy="2011680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4210812" y="4226052"/>
            <a:ext cx="82296" cy="82296"/>
          </a:xfrm>
          <a:prstGeom prst="ellipse">
            <a:avLst/>
          </a:prstGeom>
          <a:solidFill>
            <a:srgbClr val="FFD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1688" y="422148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D646"/>
                </a:solidFill>
                <a:latin typeface="Aptos"/>
              </a:rPr>
              <a:t>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4983480"/>
            <a:ext cx="320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AD680"/>
                </a:solidFill>
                <a:latin typeface="Aptos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76672" y="4983480"/>
            <a:ext cx="320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AD680"/>
                </a:solidFill>
                <a:latin typeface="Aptos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286000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1">
                <a:solidFill>
                  <a:srgbClr val="5AC8FF"/>
                </a:solidFill>
                <a:latin typeface="Aptos"/>
              </a:rPr>
              <a:t>Example A → B → O:  distance = ℓ + ℓ/√3 , |disp| = ℓ/√3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834640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1">
                <a:solidFill>
                  <a:srgbClr val="5AC8FF"/>
                </a:solidFill>
                <a:latin typeface="Aptos"/>
              </a:rPr>
              <a:t>Example O → midpoint → B: use ℓ/(2√3) + ℓ/2 for distance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Circular arc — the two lengths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Object moves on a circle of radius R through angle θ (in radian). Distance follows the arc. Displacement is the chord.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3200400" y="3551862"/>
            <a:ext cx="1546658" cy="562938"/>
          </a:xfrm>
          <a:prstGeom prst="line">
            <a:avLst/>
          </a:prstGeom>
          <a:ln w="1905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 flipV="1">
            <a:off x="2637462" y="2568141"/>
            <a:ext cx="562938" cy="1546659"/>
          </a:xfrm>
          <a:prstGeom prst="line">
            <a:avLst/>
          </a:prstGeom>
          <a:ln w="1905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 flipV="1">
            <a:off x="4679743" y="3393276"/>
            <a:ext cx="67315" cy="158586"/>
          </a:xfrm>
          <a:prstGeom prst="line">
            <a:avLst/>
          </a:prstGeom>
          <a:ln w="3302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 flipV="1">
            <a:off x="4596219" y="3242595"/>
            <a:ext cx="83524" cy="150681"/>
          </a:xfrm>
          <a:prstGeom prst="line">
            <a:avLst/>
          </a:prstGeom>
          <a:ln w="3302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 flipV="1">
            <a:off x="4497402" y="3101470"/>
            <a:ext cx="98817" cy="141125"/>
          </a:xfrm>
          <a:prstGeom prst="line">
            <a:avLst/>
          </a:prstGeom>
          <a:ln w="3302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 flipV="1">
            <a:off x="4384375" y="2971447"/>
            <a:ext cx="113027" cy="130023"/>
          </a:xfrm>
          <a:prstGeom prst="line">
            <a:avLst/>
          </a:prstGeom>
          <a:ln w="3302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 flipV="1">
            <a:off x="4258376" y="2853952"/>
            <a:ext cx="125999" cy="117495"/>
          </a:xfrm>
          <a:prstGeom prst="line">
            <a:avLst/>
          </a:prstGeom>
          <a:ln w="3302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4120786" y="2750270"/>
            <a:ext cx="137590" cy="103682"/>
          </a:xfrm>
          <a:prstGeom prst="line">
            <a:avLst/>
          </a:prstGeom>
          <a:ln w="3302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3973112" y="2661538"/>
            <a:ext cx="147674" cy="88732"/>
          </a:xfrm>
          <a:prstGeom prst="line">
            <a:avLst/>
          </a:prstGeom>
          <a:ln w="3302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 flipV="1">
            <a:off x="3816972" y="2588729"/>
            <a:ext cx="156140" cy="72809"/>
          </a:xfrm>
          <a:prstGeom prst="line">
            <a:avLst/>
          </a:prstGeom>
          <a:ln w="3302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3654077" y="2532640"/>
            <a:ext cx="162895" cy="56089"/>
          </a:xfrm>
          <a:prstGeom prst="line">
            <a:avLst/>
          </a:prstGeom>
          <a:ln w="3302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 flipV="1">
            <a:off x="3486211" y="2493885"/>
            <a:ext cx="167866" cy="38755"/>
          </a:xfrm>
          <a:prstGeom prst="line">
            <a:avLst/>
          </a:prstGeom>
          <a:ln w="3302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3315213" y="2472889"/>
            <a:ext cx="170998" cy="20996"/>
          </a:xfrm>
          <a:prstGeom prst="line">
            <a:avLst/>
          </a:prstGeom>
          <a:ln w="3302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 flipV="1">
            <a:off x="3142958" y="2469882"/>
            <a:ext cx="172255" cy="3007"/>
          </a:xfrm>
          <a:prstGeom prst="line">
            <a:avLst/>
          </a:prstGeom>
          <a:ln w="3302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2971332" y="2469882"/>
            <a:ext cx="171626" cy="15015"/>
          </a:xfrm>
          <a:prstGeom prst="line">
            <a:avLst/>
          </a:prstGeom>
          <a:ln w="3302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2802215" y="2484897"/>
            <a:ext cx="169117" cy="32873"/>
          </a:xfrm>
          <a:prstGeom prst="line">
            <a:avLst/>
          </a:prstGeom>
          <a:ln w="3302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2637462" y="2517770"/>
            <a:ext cx="164753" cy="50371"/>
          </a:xfrm>
          <a:prstGeom prst="line">
            <a:avLst/>
          </a:prstGeom>
          <a:ln w="3302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2637462" y="2568141"/>
            <a:ext cx="2109596" cy="983721"/>
          </a:xfrm>
          <a:prstGeom prst="line">
            <a:avLst/>
          </a:prstGeom>
          <a:ln w="33020">
            <a:solidFill>
              <a:srgbClr val="5AD6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3159252" y="4073652"/>
            <a:ext cx="82296" cy="8229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80360" y="4023360"/>
            <a:ext cx="320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0440" y="361188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D646"/>
                </a:solidFill>
                <a:latin typeface="Aptos"/>
              </a:rPr>
              <a:t>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274320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9E40"/>
                </a:solidFill>
                <a:latin typeface="Aptos"/>
              </a:rPr>
              <a:t>arc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502920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AD680"/>
                </a:solidFill>
                <a:latin typeface="Aptos"/>
              </a:rPr>
              <a:t>chord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2194560"/>
            <a:ext cx="5212080" cy="109728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82512" y="2340864"/>
            <a:ext cx="4882896" cy="8046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081E3F"/>
                </a:solidFill>
                <a:latin typeface="Aptos"/>
              </a:rPr>
              <a:t>distance = R θ     |     |displacement| = 2 R sin(θ/2)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Why the chord formula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Join O to the ends A and B. Triangle OAB is isosceles with OA = OB = R and angle AOB = θ. Drop a perpendicular from O to chord AB — it bisects θ and the chord.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4048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Half chord = R sin(θ/2)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95351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Full chord = |Δr| = 2 R sin(θ/2)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730752"/>
            <a:ext cx="110185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Put θ in radian for distance = Rθ. For 60° use θ = π/3, not 60.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Arc angles you must own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31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2926080" cy="47548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1078992"/>
            <a:ext cx="285292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θ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40" y="1078992"/>
            <a:ext cx="3474720" cy="47548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57016" y="1078992"/>
            <a:ext cx="340156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distance Rθ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95160" y="1078992"/>
            <a:ext cx="4389120" cy="47548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31736" y="1078992"/>
            <a:ext cx="431596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|disp| = 2R sin(θ/2)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1554480"/>
            <a:ext cx="2926080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" y="1554480"/>
            <a:ext cx="285292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AC8FF"/>
                </a:solidFill>
                <a:latin typeface="Aptos"/>
              </a:rPr>
              <a:t>60° = π/3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20440" y="1554480"/>
            <a:ext cx="3474720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57016" y="1554480"/>
            <a:ext cx="340156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R π/3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95160" y="1554480"/>
            <a:ext cx="4389120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31736" y="1554480"/>
            <a:ext cx="431596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2029967"/>
            <a:ext cx="2926080" cy="47548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" y="2029967"/>
            <a:ext cx="285292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AC8FF"/>
                </a:solidFill>
                <a:latin typeface="Aptos"/>
              </a:rPr>
              <a:t>90° = π/2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20440" y="2029967"/>
            <a:ext cx="3474720" cy="47548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57016" y="2029967"/>
            <a:ext cx="340156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R π/2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95160" y="2029967"/>
            <a:ext cx="4389120" cy="47548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31736" y="2029967"/>
            <a:ext cx="431596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R√2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2505456"/>
            <a:ext cx="2926080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" y="2505456"/>
            <a:ext cx="285292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AC8FF"/>
                </a:solidFill>
                <a:latin typeface="Aptos"/>
              </a:rPr>
              <a:t>120° = 2π/3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20440" y="2505456"/>
            <a:ext cx="3474720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57016" y="2505456"/>
            <a:ext cx="340156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2πR/3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95160" y="2505456"/>
            <a:ext cx="4389120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31736" y="2505456"/>
            <a:ext cx="431596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R√3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2980944"/>
            <a:ext cx="2926080" cy="47548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" y="2980944"/>
            <a:ext cx="285292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AC8FF"/>
                </a:solidFill>
                <a:latin typeface="Aptos"/>
              </a:rPr>
              <a:t>180° = π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20440" y="2980944"/>
            <a:ext cx="3474720" cy="47548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57016" y="2980944"/>
            <a:ext cx="340156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π 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995160" y="2980944"/>
            <a:ext cx="4389120" cy="47548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31736" y="2980944"/>
            <a:ext cx="431596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2R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3456432"/>
            <a:ext cx="2926080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" y="3456432"/>
            <a:ext cx="285292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AC8FF"/>
                </a:solidFill>
                <a:latin typeface="Aptos"/>
              </a:rPr>
              <a:t>270° = 3π/2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20440" y="3456432"/>
            <a:ext cx="3474720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57016" y="3456432"/>
            <a:ext cx="340156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3πR/2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995160" y="3456432"/>
            <a:ext cx="4389120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31736" y="3456432"/>
            <a:ext cx="431596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R√2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" y="4187952"/>
            <a:ext cx="11018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Small θ: sin(θ/2) ≈ θ/2 ⇒ |disp| ≈ Rθ = distance (almost equal).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40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Radial then semicircle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From centre O go out along a radius to A, then along the upper semicircle to B (opposite end of diameter).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645920" y="4206240"/>
            <a:ext cx="3108960" cy="0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 flipV="1">
            <a:off x="4731263" y="3936307"/>
            <a:ext cx="23617" cy="269933"/>
          </a:xfrm>
          <a:prstGeom prst="line">
            <a:avLst/>
          </a:prstGeom>
          <a:ln w="304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 flipV="1">
            <a:off x="4661133" y="3674576"/>
            <a:ext cx="70130" cy="261731"/>
          </a:xfrm>
          <a:prstGeom prst="line">
            <a:avLst/>
          </a:prstGeom>
          <a:ln w="304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 flipV="1">
            <a:off x="4546619" y="3429000"/>
            <a:ext cx="114514" cy="245576"/>
          </a:xfrm>
          <a:prstGeom prst="line">
            <a:avLst/>
          </a:prstGeom>
          <a:ln w="304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 flipV="1">
            <a:off x="4391200" y="3207039"/>
            <a:ext cx="155419" cy="221961"/>
          </a:xfrm>
          <a:prstGeom prst="line">
            <a:avLst/>
          </a:prstGeom>
          <a:ln w="304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 flipV="1">
            <a:off x="4199600" y="3015439"/>
            <a:ext cx="191600" cy="191600"/>
          </a:xfrm>
          <a:prstGeom prst="line">
            <a:avLst/>
          </a:prstGeom>
          <a:ln w="304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 flipV="1">
            <a:off x="3977640" y="2860020"/>
            <a:ext cx="221960" cy="155419"/>
          </a:xfrm>
          <a:prstGeom prst="line">
            <a:avLst/>
          </a:prstGeom>
          <a:ln w="304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3732063" y="2745506"/>
            <a:ext cx="245577" cy="114514"/>
          </a:xfrm>
          <a:prstGeom prst="line">
            <a:avLst/>
          </a:prstGeom>
          <a:ln w="304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3470332" y="2675376"/>
            <a:ext cx="261731" cy="70130"/>
          </a:xfrm>
          <a:prstGeom prst="line">
            <a:avLst/>
          </a:prstGeom>
          <a:ln w="304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 flipV="1">
            <a:off x="3200400" y="2651759"/>
            <a:ext cx="269932" cy="23617"/>
          </a:xfrm>
          <a:prstGeom prst="line">
            <a:avLst/>
          </a:prstGeom>
          <a:ln w="304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2930467" y="2651759"/>
            <a:ext cx="269933" cy="23617"/>
          </a:xfrm>
          <a:prstGeom prst="line">
            <a:avLst/>
          </a:prstGeom>
          <a:ln w="304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2668736" y="2675376"/>
            <a:ext cx="261731" cy="70130"/>
          </a:xfrm>
          <a:prstGeom prst="line">
            <a:avLst/>
          </a:prstGeom>
          <a:ln w="304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2423160" y="2745506"/>
            <a:ext cx="245576" cy="114514"/>
          </a:xfrm>
          <a:prstGeom prst="line">
            <a:avLst/>
          </a:prstGeom>
          <a:ln w="304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2201199" y="2860020"/>
            <a:ext cx="221961" cy="155419"/>
          </a:xfrm>
          <a:prstGeom prst="line">
            <a:avLst/>
          </a:prstGeom>
          <a:ln w="304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2009599" y="3015439"/>
            <a:ext cx="191600" cy="191600"/>
          </a:xfrm>
          <a:prstGeom prst="line">
            <a:avLst/>
          </a:prstGeom>
          <a:ln w="304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1854180" y="3207039"/>
            <a:ext cx="155419" cy="221961"/>
          </a:xfrm>
          <a:prstGeom prst="line">
            <a:avLst/>
          </a:prstGeom>
          <a:ln w="304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1739666" y="3429000"/>
            <a:ext cx="114514" cy="245576"/>
          </a:xfrm>
          <a:prstGeom prst="line">
            <a:avLst/>
          </a:prstGeom>
          <a:ln w="304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1669536" y="3674576"/>
            <a:ext cx="70130" cy="261731"/>
          </a:xfrm>
          <a:prstGeom prst="line">
            <a:avLst/>
          </a:prstGeom>
          <a:ln w="304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1645920" y="3936307"/>
            <a:ext cx="23616" cy="269933"/>
          </a:xfrm>
          <a:prstGeom prst="line">
            <a:avLst/>
          </a:prstGeom>
          <a:ln w="304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1645920" y="4206240"/>
            <a:ext cx="1554480" cy="0"/>
          </a:xfrm>
          <a:prstGeom prst="line">
            <a:avLst/>
          </a:prstGeom>
          <a:ln w="27940">
            <a:solidFill>
              <a:srgbClr val="FFD64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3159252" y="4165091"/>
            <a:ext cx="82296" cy="8229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63240" y="434340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4069079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AD680"/>
                </a:solidFill>
                <a:latin typeface="Aptos"/>
              </a:rPr>
              <a:t>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4069079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D646"/>
                </a:solidFill>
                <a:latin typeface="Aptos"/>
              </a:rPr>
              <a:t>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286000"/>
            <a:ext cx="5029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distance = R + π 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2834640"/>
            <a:ext cx="5029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5AC8FF"/>
                </a:solidFill>
                <a:latin typeface="Aptos"/>
              </a:rPr>
              <a:t>displacement = R (from O to B along diameter)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8404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dist = R(1+π) , |disp| = R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3.5 revolutions on a circle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Period for one lap = 40 s. Radius R. After 140 s the object has completed 140/40 = 3.5 revolutions.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distance = 3.5 × 2πR = 7π 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72491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5AC8FF"/>
                </a:solidFill>
                <a:latin typeface="Aptos"/>
              </a:rPr>
              <a:t>After half-integer turns, ends at the opposite point on diameter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27355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|displacement| = 2R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82219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ratio distance / |disp| = 7π / 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MCQ — circle (x−5)² + y² = 25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Particle goes along the upper semicircle from (0, 0) to (10, 0). Distance is</a:t>
            </a:r>
          </a:p>
        </p:txBody>
      </p:sp>
      <p:cxnSp>
        <p:nvCxnSpPr>
          <p:cNvPr id="8" name="Connector 7"/>
          <p:cNvCxnSpPr/>
          <p:nvPr/>
        </p:nvCxnSpPr>
        <p:spPr>
          <a:xfrm flipH="1" flipV="1">
            <a:off x="9849543" y="3410451"/>
            <a:ext cx="25977" cy="247149"/>
          </a:xfrm>
          <a:prstGeom prst="line">
            <a:avLst/>
          </a:prstGeom>
          <a:ln w="2794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 flipV="1">
            <a:off x="9772749" y="3174104"/>
            <a:ext cx="76794" cy="236347"/>
          </a:xfrm>
          <a:prstGeom prst="line">
            <a:avLst/>
          </a:prstGeom>
          <a:ln w="2794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 flipV="1">
            <a:off x="9648494" y="2958887"/>
            <a:ext cx="124255" cy="215217"/>
          </a:xfrm>
          <a:prstGeom prst="line">
            <a:avLst/>
          </a:prstGeom>
          <a:ln w="2794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 flipV="1">
            <a:off x="9482208" y="2774208"/>
            <a:ext cx="166286" cy="184679"/>
          </a:xfrm>
          <a:prstGeom prst="line">
            <a:avLst/>
          </a:prstGeom>
          <a:ln w="2794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 flipV="1">
            <a:off x="9281160" y="2628138"/>
            <a:ext cx="201048" cy="146070"/>
          </a:xfrm>
          <a:prstGeom prst="line">
            <a:avLst/>
          </a:prstGeom>
          <a:ln w="2794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 flipV="1">
            <a:off x="9054134" y="2527060"/>
            <a:ext cx="227026" cy="101078"/>
          </a:xfrm>
          <a:prstGeom prst="line">
            <a:avLst/>
          </a:prstGeom>
          <a:ln w="2794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 flipV="1">
            <a:off x="8811055" y="2475391"/>
            <a:ext cx="243079" cy="51669"/>
          </a:xfrm>
          <a:prstGeom prst="line">
            <a:avLst/>
          </a:prstGeom>
          <a:ln w="2794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8562544" y="2475391"/>
            <a:ext cx="248511" cy="0"/>
          </a:xfrm>
          <a:prstGeom prst="line">
            <a:avLst/>
          </a:prstGeom>
          <a:ln w="2794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8319465" y="2475391"/>
            <a:ext cx="243079" cy="51669"/>
          </a:xfrm>
          <a:prstGeom prst="line">
            <a:avLst/>
          </a:prstGeom>
          <a:ln w="2794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8092440" y="2527060"/>
            <a:ext cx="227025" cy="101078"/>
          </a:xfrm>
          <a:prstGeom prst="line">
            <a:avLst/>
          </a:prstGeom>
          <a:ln w="2794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7891391" y="2628138"/>
            <a:ext cx="201049" cy="146070"/>
          </a:xfrm>
          <a:prstGeom prst="line">
            <a:avLst/>
          </a:prstGeom>
          <a:ln w="2794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7725105" y="2774208"/>
            <a:ext cx="166286" cy="184679"/>
          </a:xfrm>
          <a:prstGeom prst="line">
            <a:avLst/>
          </a:prstGeom>
          <a:ln w="2794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7600850" y="2958887"/>
            <a:ext cx="124255" cy="215217"/>
          </a:xfrm>
          <a:prstGeom prst="line">
            <a:avLst/>
          </a:prstGeom>
          <a:ln w="2794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7524056" y="3174104"/>
            <a:ext cx="76794" cy="236347"/>
          </a:xfrm>
          <a:prstGeom prst="line">
            <a:avLst/>
          </a:prstGeom>
          <a:ln w="2794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7498079" y="3410451"/>
            <a:ext cx="25977" cy="247149"/>
          </a:xfrm>
          <a:prstGeom prst="line">
            <a:avLst/>
          </a:prstGeom>
          <a:ln w="2794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498079" y="3657600"/>
            <a:ext cx="2377441" cy="0"/>
          </a:xfrm>
          <a:prstGeom prst="line">
            <a:avLst/>
          </a:prstGeom>
          <a:ln w="1651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7456931" y="3616452"/>
            <a:ext cx="82296" cy="82296"/>
          </a:xfrm>
          <a:prstGeom prst="ellipse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34372" y="3616452"/>
            <a:ext cx="82296" cy="82296"/>
          </a:xfrm>
          <a:prstGeom prst="ellipse">
            <a:avLst/>
          </a:prstGeom>
          <a:solidFill>
            <a:srgbClr val="FFD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94360" y="2002536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2020824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984" y="1984248"/>
            <a:ext cx="552297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29" name="Oval 28"/>
          <p:cNvSpPr/>
          <p:nvPr/>
        </p:nvSpPr>
        <p:spPr>
          <a:xfrm>
            <a:off x="594360" y="2478024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2496312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4984" y="2459736"/>
            <a:ext cx="552297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5π / 2</a:t>
            </a:r>
          </a:p>
        </p:txBody>
      </p:sp>
      <p:sp>
        <p:nvSpPr>
          <p:cNvPr id="32" name="Oval 31"/>
          <p:cNvSpPr/>
          <p:nvPr/>
        </p:nvSpPr>
        <p:spPr>
          <a:xfrm>
            <a:off x="594360" y="2953512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2971800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4984" y="2935224"/>
            <a:ext cx="552297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5π</a:t>
            </a:r>
          </a:p>
        </p:txBody>
      </p:sp>
      <p:sp>
        <p:nvSpPr>
          <p:cNvPr id="35" name="Oval 34"/>
          <p:cNvSpPr/>
          <p:nvPr/>
        </p:nvSpPr>
        <p:spPr>
          <a:xfrm>
            <a:off x="594360" y="3429000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3447288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4984" y="3410712"/>
            <a:ext cx="552297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10π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MCQ — circle (x−5)² + y² = 25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Idea: centre (5, 0), R = 5. Upper semicircle arc = πR = 5π.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1051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Answer: 5π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x–t graph is not the path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A position–time graph plots x against t. The curve on paper is not the road the object walked. Read change in x for displacement. Add |Δx| of each piece for distance when it turns.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542032"/>
            <a:ext cx="11018520" cy="105156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688336"/>
            <a:ext cx="10689336" cy="7589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081E3F"/>
                </a:solidFill>
                <a:latin typeface="Aptos"/>
              </a:rPr>
              <a:t>displacement = x</a:t>
            </a:r>
            <a:r>
              <a:rPr sz="1260" b="1">
                <a:solidFill>
                  <a:srgbClr val="081E3F"/>
                </a:solidFill>
                <a:latin typeface="Aptos"/>
                <a:baseline val="-25000"/>
              </a:rPr>
              <a:t>f</a:t>
            </a:r>
            <a:r>
              <a:rPr sz="1260" b="1">
                <a:solidFill>
                  <a:srgbClr val="081E3F"/>
                </a:solidFill>
                <a:latin typeface="Aptos"/>
              </a:rPr>
              <a:t> − xᵢ     |     distance = sum of |Δx| on each leg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13632"/>
            <a:ext cx="110185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A sloping line on x–t means uniform velocity — not a sloping road.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FIGURE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Two travellers, same Δx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A reaches x₀ at time t₁. B reaches the same x₀ at later time t₂. Both start from x = 0.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371600" y="5486400"/>
            <a:ext cx="9144000" cy="0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371600" y="2011680"/>
            <a:ext cx="0" cy="3474720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351008" y="5532120"/>
            <a:ext cx="320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B6C0"/>
                </a:solidFill>
                <a:latin typeface="Aptos"/>
              </a:rPr>
              <a:t>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8" y="2011680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B6C0"/>
                </a:solidFill>
                <a:latin typeface="Aptos"/>
              </a:rPr>
              <a:t>x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1371600" y="2880360"/>
            <a:ext cx="3657600" cy="2606040"/>
          </a:xfrm>
          <a:prstGeom prst="line">
            <a:avLst/>
          </a:prstGeom>
          <a:ln w="304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371600" y="2880360"/>
            <a:ext cx="7315200" cy="2606040"/>
          </a:xfrm>
          <a:prstGeom prst="line">
            <a:avLst/>
          </a:prstGeom>
          <a:ln w="3048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120640" y="25603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9E40"/>
                </a:solidFill>
                <a:latin typeface="Aptos"/>
              </a:rP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25603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AD680"/>
                </a:solidFill>
                <a:latin typeface="Aptos"/>
              </a:rPr>
              <a:t>B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371600" y="2880360"/>
            <a:ext cx="8229600" cy="0"/>
          </a:xfrm>
          <a:prstGeom prst="line">
            <a:avLst/>
          </a:prstGeom>
          <a:ln w="1270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68680" y="277063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x₀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MCQ — same final x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For A and B above, which is correct?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1865376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83664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" y="1847088"/>
            <a:ext cx="105978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displacement of A = displacement of B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2340864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359152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2322576"/>
            <a:ext cx="105978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distance of A = distance of B always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2816352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834640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" y="2798064"/>
            <a:ext cx="105978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A and B have equal average speeds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3291840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310128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" y="3273552"/>
            <a:ext cx="105978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A’s distance is always greater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MCQ — same final x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Idea: both go 0 → x₀ with no turn, so Δx is the same. Speeds differ because × differ.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4767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Answer: displacement of A = displacement of B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40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x–t with rest and return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Read carefully: go forward, rest (horizontal), then return.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97280" y="5257800"/>
            <a:ext cx="5486400" cy="0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97280" y="1965960"/>
            <a:ext cx="0" cy="3291840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19088" y="5303520"/>
            <a:ext cx="320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B6C0"/>
                </a:solidFill>
                <a:latin typeface="Aptos"/>
              </a:rPr>
              <a:t>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1288" y="1965960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B6C0"/>
                </a:solidFill>
                <a:latin typeface="Aptos"/>
              </a:rPr>
              <a:t>x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1097280" y="2514600"/>
            <a:ext cx="1175657" cy="2743200"/>
          </a:xfrm>
          <a:prstGeom prst="line">
            <a:avLst/>
          </a:prstGeom>
          <a:ln w="304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272937" y="2514600"/>
            <a:ext cx="1567543" cy="0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840480" y="2514600"/>
            <a:ext cx="1959428" cy="2743200"/>
          </a:xfrm>
          <a:prstGeom prst="line">
            <a:avLst/>
          </a:prstGeom>
          <a:ln w="304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132320" y="2194560"/>
            <a:ext cx="4389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AC8FF"/>
                </a:solidFill>
                <a:latin typeface="Aptos"/>
              </a:rPr>
              <a:t>displacement = 0 − 0 = 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2743200"/>
            <a:ext cx="4389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AC8FF"/>
                </a:solidFill>
                <a:latin typeface="Aptos"/>
              </a:rPr>
              <a:t>distance = 10 + 0 + 10 = 20 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3840480"/>
            <a:ext cx="4389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Back to start → disp 0, distance 20 m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x–t: 10 → 20 → −20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43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97280" y="3657600"/>
            <a:ext cx="5669280" cy="0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97280" y="1828800"/>
            <a:ext cx="0" cy="3657600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601968" y="3703320"/>
            <a:ext cx="320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B6C0"/>
                </a:solidFill>
                <a:latin typeface="Aptos"/>
              </a:rPr>
              <a:t>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1828800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B6C0"/>
                </a:solidFill>
                <a:latin typeface="Aptos"/>
              </a:rPr>
              <a:t>x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1097280" y="2194560"/>
            <a:ext cx="1700784" cy="731520"/>
          </a:xfrm>
          <a:prstGeom prst="line">
            <a:avLst/>
          </a:prstGeom>
          <a:ln w="3048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798064" y="2194560"/>
            <a:ext cx="3401568" cy="2926080"/>
          </a:xfrm>
          <a:prstGeom prst="line">
            <a:avLst/>
          </a:prstGeom>
          <a:ln w="304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223760" y="2103120"/>
            <a:ext cx="4297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5AC8FF"/>
                </a:solidFill>
                <a:latin typeface="Aptos"/>
              </a:rPr>
              <a:t>displacement = (−20) − 10 = −30 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2651760"/>
            <a:ext cx="4297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AC8FF"/>
                </a:solidFill>
                <a:latin typeface="Aptos"/>
              </a:rPr>
              <a:t>distance = 10 + 40 = 50 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3657600"/>
            <a:ext cx="4297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Distance adds the absolute climbs. Displacement only cares about start and end x.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Valid distance–time graph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Distance never decreases with time for a real moving clock. A distance–time graph cannot go down, cannot be negative, and cannot show two distances at one 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450591"/>
            <a:ext cx="2560320" cy="1371600"/>
          </a:xfrm>
          <a:prstGeom prst="roundRect">
            <a:avLst/>
          </a:prstGeom>
          <a:solidFill>
            <a:srgbClr val="0C0E12"/>
          </a:solidFill>
          <a:ln w="12700">
            <a:solidFill>
              <a:srgbClr val="FF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6060"/>
                </a:solidFill>
                <a:latin typeface="Aptos"/>
              </a:rPr>
              <a:t>Reject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89503"/>
            <a:ext cx="2286000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Decreasing d–t
(distance fell)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2450591"/>
            <a:ext cx="2560320" cy="1371600"/>
          </a:xfrm>
          <a:prstGeom prst="roundRect">
            <a:avLst/>
          </a:prstGeom>
          <a:solidFill>
            <a:srgbClr val="0C0E12"/>
          </a:solidFill>
          <a:ln w="12700">
            <a:solidFill>
              <a:srgbClr val="FF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25603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6060"/>
                </a:solidFill>
                <a:latin typeface="Aptos"/>
              </a:rPr>
              <a:t>Reject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889503"/>
            <a:ext cx="2286000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Negative distance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450591"/>
            <a:ext cx="2560320" cy="1371600"/>
          </a:xfrm>
          <a:prstGeom prst="roundRect">
            <a:avLst/>
          </a:prstGeom>
          <a:solidFill>
            <a:srgbClr val="0C0E12"/>
          </a:solidFill>
          <a:ln w="12700">
            <a:solidFill>
              <a:srgbClr val="FF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5603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6060"/>
                </a:solidFill>
                <a:latin typeface="Aptos"/>
              </a:rPr>
              <a:t>Reject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889503"/>
            <a:ext cx="2286000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Two values at
one time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2450591"/>
            <a:ext cx="2560320" cy="1371600"/>
          </a:xfrm>
          <a:prstGeom prst="roundRect">
            <a:avLst/>
          </a:prstGeom>
          <a:solidFill>
            <a:srgbClr val="0C0E12"/>
          </a:solidFill>
          <a:ln w="12700">
            <a:solidFill>
              <a:srgbClr val="5AD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25603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D680"/>
                </a:solidFill>
                <a:latin typeface="Aptos"/>
              </a:rPr>
              <a:t>Accept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889503"/>
            <a:ext cx="2286000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Non-decreasing
d ≥ 0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MCQ — which d–t is valid?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Which distance–time graph can be correct?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1865376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83664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" y="1847088"/>
            <a:ext cx="105978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A graph that decreases after some time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2340864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359152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2322576"/>
            <a:ext cx="105978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A graph that goes below d = 0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2816352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834640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" y="2798064"/>
            <a:ext cx="105978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A vertical line (two d at one t)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3291840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310128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" y="3273552"/>
            <a:ext cx="105978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A non-decreasing graph with d ≥ 0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MCQ — which d–t is valid?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Answer: non-decreasing graph with d ≥ 0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Displacement–time can go down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Displacement (or position) can increase or decrease. An s–t or x–t graph may slope up or down. That is allowed — the object can reverse.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40487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•  Distance–time: never decreases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953511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•  Displacement–time: may decrease (sign / direction change)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685032"/>
            <a:ext cx="11018520" cy="82296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3831336"/>
            <a:ext cx="10689336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081E3F"/>
                </a:solidFill>
                <a:latin typeface="Aptos"/>
              </a:rPr>
              <a:t>Do not mix the two graph rules.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40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Square from centre O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From centre O of a square side ℓ, go to a corner, then walk three sides to the opposite corner B.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distance = ℓ/√2 + 3ℓ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72491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5AC8FF"/>
                </a:solidFill>
                <a:latin typeface="Aptos"/>
              </a:rPr>
              <a:t>|displacement| = ℓ/√2   (O to opposite corner is also half-diagonal)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98079" y="5120640"/>
            <a:ext cx="2377440" cy="0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9875519" y="2743199"/>
            <a:ext cx="0" cy="2377441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7498079" y="2743199"/>
            <a:ext cx="2377440" cy="0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498079" y="2743199"/>
            <a:ext cx="0" cy="2377441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8645652" y="3890772"/>
            <a:ext cx="82296" cy="82296"/>
          </a:xfrm>
          <a:prstGeom prst="ellipse">
            <a:avLst/>
          </a:prstGeom>
          <a:solidFill>
            <a:srgbClr val="FFD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0" y="3886200"/>
            <a:ext cx="320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D646"/>
                </a:solidFill>
                <a:latin typeface="Aptos"/>
              </a:rPr>
              <a:t>O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7498079" y="3931920"/>
            <a:ext cx="1188721" cy="1188720"/>
          </a:xfrm>
          <a:prstGeom prst="line">
            <a:avLst/>
          </a:prstGeom>
          <a:ln w="25400">
            <a:solidFill>
              <a:srgbClr val="FF9E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Pendulum release to lowest point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Bob released from angle θ with vertical length ℓ. Ends at the bottom (ℓ, 0) if we set coordinates from the support carefully — use start (ℓ cosθ, ℓ sinθ) → (ℓ, 0) in the usual school sketch.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5915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AC8FF"/>
                </a:solidFill>
                <a:latin typeface="Aptos"/>
              </a:rPr>
              <a:t>Δr = ℓ(1 − cosθ) î − ℓ sinθ ĵ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686800" y="2377440"/>
            <a:ext cx="0" cy="2011680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86800" y="2377440"/>
            <a:ext cx="1371600" cy="1645920"/>
          </a:xfrm>
          <a:prstGeom prst="line">
            <a:avLst/>
          </a:prstGeom>
          <a:ln w="2794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10017252" y="3982212"/>
            <a:ext cx="82296" cy="82296"/>
          </a:xfrm>
          <a:prstGeom prst="ellipse">
            <a:avLst/>
          </a:prstGeom>
          <a:solidFill>
            <a:srgbClr val="FFD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45652" y="4347972"/>
            <a:ext cx="82296" cy="82296"/>
          </a:xfrm>
          <a:prstGeom prst="ellipse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15400" y="288036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D646"/>
                </a:solidFill>
                <a:latin typeface="Aptos"/>
              </a:rPr>
              <a:t>θ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LOCK 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Say these aloud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•  Distance = path sum. Displacement = r</a:t>
            </a:r>
            <a:r>
              <a:rPr sz="1600" b="0">
                <a:solidFill>
                  <a:srgbClr val="FFFFFF"/>
                </a:solidFill>
                <a:latin typeface="Aptos"/>
                <a:baseline val="-25000"/>
              </a:rPr>
              <a:t>f</a:t>
            </a:r>
            <a:r>
              <a:rPr sz="1600" b="0">
                <a:solidFill>
                  <a:srgbClr val="FFFFFF"/>
                </a:solidFill>
                <a:latin typeface="Aptos"/>
              </a:rPr>
              <a:t> − rᵢ.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54480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•  Same unit ≠ same quantity (scalar vs vector).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29967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•  Circle: distance = Rθ , |disp| = 2R sin(θ/2).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50545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•  Hexagon / square chords beat long perimeter walks.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80944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•  x–t is not the road — read Δx carefully.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456432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•  d–t never falls; s–t / x–t may fall.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4142232"/>
            <a:ext cx="11018520" cy="82296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4288536"/>
            <a:ext cx="10689336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081E3F"/>
                </a:solidFill>
                <a:latin typeface="Aptos"/>
              </a:rPr>
              <a:t>Next: speed and velocity (PW 03 / 04).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D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508" y="2235708"/>
            <a:ext cx="11018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787882"/>
                </a:solidFill>
                <a:latin typeface="Arial Black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194560"/>
            <a:ext cx="11018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FFD646"/>
                </a:solidFill>
                <a:latin typeface="Arial Black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383280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B0B6C0"/>
                </a:solidFill>
                <a:latin typeface="Aptos"/>
              </a:rPr>
              <a:t>Excellence  ·  Motion 02  ·  Distance · Displacement · Arcs · Graphs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