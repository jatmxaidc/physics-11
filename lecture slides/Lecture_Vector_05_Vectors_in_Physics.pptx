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Vector 05 class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Vectors used as physics quantities.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508" y="516636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D2D2DC"/>
                </a:solidFill>
                <a:latin typeface="Arial Black"/>
              </a:rPr>
              <a:t>EXCELLENCE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FFD646"/>
                </a:solidFill>
                <a:latin typeface="Arial Black"/>
              </a:rPr>
              <a:t>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" y="1540763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A5A64"/>
                </a:solidFill>
                <a:latin typeface="Aptos"/>
              </a:rPr>
              <a:t>CLASS 11   -   2026-27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99616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CLASS 11   -   2026-27</a:t>
            </a:r>
          </a:p>
        </p:txBody>
      </p:sp>
      <p:sp>
        <p:nvSpPr>
          <p:cNvPr id="6" name="Rectangle 5"/>
          <p:cNvSpPr/>
          <p:nvPr/>
        </p:nvSpPr>
        <p:spPr>
          <a:xfrm>
            <a:off x="3794760" y="2084831"/>
            <a:ext cx="4572000" cy="25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74519" y="2468880"/>
            <a:ext cx="84124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74519" y="3127248"/>
            <a:ext cx="8412480" cy="1490472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59" y="2615184"/>
            <a:ext cx="16459" cy="38404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2596896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Physics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2596896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Vector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401568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Georgia"/>
              </a:rPr>
              <a:t>Vectors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950208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D646"/>
                </a:solidFill>
                <a:latin typeface="Aptos"/>
              </a:rPr>
              <a:t>Vectors in Physics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2803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By - Excellence Programme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30352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0B6C0"/>
                </a:solidFill>
                <a:latin typeface="Aptos"/>
              </a:rPr>
              <a:t>3 October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185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D646"/>
                </a:solidFill>
                <a:latin typeface="Aptos"/>
              </a:rPr>
              <a:t>Topics to be covered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3108960" cy="32004"/>
          </a:xfrm>
          <a:prstGeom prst="rect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6400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05840"/>
            <a:ext cx="10195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Unit vector and direction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6400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20"/>
            <a:ext cx="10195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Forces and resultants in plane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86000"/>
            <a:ext cx="6400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286000"/>
            <a:ext cx="10195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Equal vectors at 60°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26079"/>
            <a:ext cx="6400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926079"/>
            <a:ext cx="10195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Coulomb and gravity force vectors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66160"/>
            <a:ext cx="6400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566160"/>
            <a:ext cx="10195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True / false on zero resultant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206240"/>
            <a:ext cx="6400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06240"/>
            <a:ext cx="10195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Change in velocity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846319"/>
            <a:ext cx="6400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846319"/>
            <a:ext cx="10195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Position vector and displacement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486400"/>
            <a:ext cx="6400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486400"/>
            <a:ext cx="10195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Dot product quick practice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What we will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Use unit vectors to fix magnitude and direction separately.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907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Add force vectors from diagrams and from components.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5915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Treat Delta v and displacement as vector subtraction problems.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9923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Keep distance (scalar path) separate from displacement (vector).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3075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Speed can stay the same while velocity changes a lot.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Same magnitude, chosen direction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1E3F"/>
                </a:solidFill>
                <a:latin typeface="Aptos"/>
              </a:rPr>
              <a:t>Vector = magnitude × unit vector in the required direction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21991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If C has magnitude of A and direction of B: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770632"/>
            <a:ext cx="1101852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916936"/>
            <a:ext cx="1068933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081E3F"/>
                </a:solidFill>
                <a:latin typeface="Aptos"/>
              </a:rPr>
              <a:t>C = |A| (B / |B|)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822191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Do not write C = A. Magnitudes match, but the arrow of C follows 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Find β for a unit vector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= 0.4 î + 0.3 ĵ + β k̂ is a unit vector. Find 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Find β for a unit vector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1:  |A| = 1, so √(0.16 + 0.09 + β²) =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0.25 + β² = 1, so β² = 0.75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β = ± √(3)/2.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Same |A|, direction of B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= 2 î + ĵ + 2 k̂ and B = î + ĵ + 2 k̂. Find C with |C| = |A| and direction along 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Same |A|, direction of B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|A| = √(4 + 1 + 4) =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|B| = √(1 + 1 + 4) = √(6)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C = 3 (B / |B|)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C = 3 (î + ĵ + 2 k̂) / √(6).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Force parallel to a given vector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force of magnitude 20 N acts along A = 2 î + 3 ĵ - √3 k̂. Mass is 5 kg. Find F and 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Force parallel to a given vector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|A| = √(4 + 9 + 3) =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2:  F = 20 (A / 4) = 5 (2 î + 3 ĵ - √3 k̂)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3:  a = F / m = 2 î + 3 ĵ - √3 k̂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 = 5(2 î + 3 ĵ - √3 k̂), a = 2 î + 3 ĵ - √3 k̂.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Net force decides the direction of motion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For a point mass at rest, acceleration is along F_net.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719072"/>
            <a:ext cx="1101852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865376"/>
            <a:ext cx="1068933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081E3F"/>
                </a:solidFill>
                <a:latin typeface="Aptos"/>
              </a:rPr>
              <a:t>F_net = F₁ + F₂ + F3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7063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Cancel like components first. Then read the leftover direction.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410711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If F_net = 0, the object stays at rest. Do not invent a direction.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Three forces on a point object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Forces 2 î + 2 ĵ, -2 î - 2 ĵ and -4 î act on a point object at rest. The object moves along: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25856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27685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27685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x-axis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624327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642615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642615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y-axis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990087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08375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3008375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z-axis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35584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37413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337413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Object does not move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Three forces on a point object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1:  F_net = (2 - 2 - 4) î + (2 - 2) ĵ = -4 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Option 1: along the negative x-axis.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Extra force so that R is only along 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Forces: 1 N at 60° above +x, and 2 N at 30° left of +y. Minimum additional force so that F_net is only along y?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3500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3682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36829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√3 N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71576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73405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73405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√3/2 N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308152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9981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309981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1.5 N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44728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46557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346557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1/2 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Extra force so that R is only along 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1:  x from 1 N: + cos 60° = +1/2 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2:  x from 2 N: - 2 sin 30 = -1 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3:  Net x so far = -1/2 N. Add +1/2 N along +x to make F_x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Option 4: 1/2 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VISUAL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Cancel the leftover x-component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Keep y free. Kill only the net x by the smallest force.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63040" y="6664147"/>
            <a:ext cx="3840480" cy="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999232" y="4754880"/>
            <a:ext cx="0" cy="329184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257800" y="6719011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72384" y="475488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+y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383280" y="2331720"/>
            <a:ext cx="1371600" cy="77724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42232" y="2464307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1 N</a:t>
            </a:r>
          </a:p>
        </p:txBody>
      </p:sp>
      <p:cxnSp>
        <p:nvCxnSpPr>
          <p:cNvPr id="14" name="Connector 13"/>
          <p:cNvCxnSpPr/>
          <p:nvPr/>
        </p:nvCxnSpPr>
        <p:spPr>
          <a:xfrm flipH="1" flipV="1">
            <a:off x="2468880" y="1554480"/>
            <a:ext cx="914400" cy="155448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999232" y="2075687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2 N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4022277" y="3071742"/>
            <a:ext cx="1083" cy="37218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4019032" y="3034651"/>
            <a:ext cx="3245" cy="37091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4013635" y="2997811"/>
            <a:ext cx="5397" cy="36840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4006106" y="2961347"/>
            <a:ext cx="7529" cy="3646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3996469" y="2925382"/>
            <a:ext cx="9637" cy="35965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3984758" y="2890039"/>
            <a:ext cx="11711" cy="35343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3971011" y="2855437"/>
            <a:ext cx="13747" cy="34602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3955276" y="2821692"/>
            <a:ext cx="15735" cy="33745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3937605" y="2788920"/>
            <a:ext cx="17671" cy="32772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3918059" y="2757230"/>
            <a:ext cx="19546" cy="31690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3896703" y="2726730"/>
            <a:ext cx="21356" cy="30500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3873609" y="2697524"/>
            <a:ext cx="23094" cy="29206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3848857" y="2669710"/>
            <a:ext cx="24752" cy="2781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3822529" y="2643382"/>
            <a:ext cx="26328" cy="26328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3794715" y="2618630"/>
            <a:ext cx="27814" cy="24752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3765509" y="2595536"/>
            <a:ext cx="29206" cy="2309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3735009" y="2574180"/>
            <a:ext cx="30500" cy="21356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3703320" y="2554634"/>
            <a:ext cx="31689" cy="19546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000957" y="2752344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9E40"/>
                </a:solidFill>
                <a:latin typeface="Aptos"/>
              </a:rPr>
              <a:t>60°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20116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Need F_x = 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2606040"/>
            <a:ext cx="4572000" cy="77724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48272" y="2752344"/>
            <a:ext cx="424281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Extra force = 1/2 N along +x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5074920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Minimum extra force equals |net x|.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Direction of A + B from 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= 6 î and B = 8 ĵ. Find A + B and its angle from 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Direction of A + B from 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A + B = 6 î + 8 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2:  tan θ = 8/6 = 4/3, so θ = 53°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3:  Dot check: cos θ = (A · C) / (A C) = 36 / (6 × 10) = 3/5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θ = 53° from 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Three equal vectors at 60°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Place them in one plane with 60° between consecutive arrows.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719072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865376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Add any two first: R12 = 2 A cos(30°) = √3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620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That R12 is perpendicular to the third vector. Then |R| = 2A.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478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Do not treat all three as mutually at 120°. Consecutive angle is 60°.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Three vectors of magnitude A at 60°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Three vectors each of magnitude A meet at a point. Angle between consecutive vectors is 60°. |R| is: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21284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23113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23113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2A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5786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9689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59689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√2 A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94436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6265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96265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√3 A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31012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32841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3328416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√(6) 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Three vectors of magnitude A at 60°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1:  First pair: R12 = √3 A, and it is 90° from the third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|R| = √(3 A² + A²) = 2A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Option 1: 2A.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Force vectors from Coulomb's law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F = k q1 q2 / r² , along the line joining the charges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21991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Same sign: repulsion. Opposite sign: attraction.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1635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For equal magnitudes at 60°, R = √3 F. At 120°, R = 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0215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Draw arrows on the charge of interest first. Then add those arrows only.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Equilateral triangle, three +q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Three charges +q at the vertices of an equilateral triangle of side a. Find net force on any one charge.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Equilateral triangle, three +q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1:  Each pair force has magnitude F = k q² / a²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2:  Angle between the two forces on one charge is 60°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3:  F_net = 2 F cos(30°) = √3 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F_net = √3 k q² / a².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Equilateral triangle with one -q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Charges +q, -q, +q at equilateral triangle side a. Find net force on the right-hand +q.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Equilateral triangle with one -q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1:  Both forces still have magnitude F = k q² / a²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Step 2:  One pulls left (attraction). One pushes out (repulsion). Angle between them is 120°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3:  For equal magnitudes at 120°, R = 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F_net = k q² / a².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Net force on a corner charge of a square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Square side l. Charges: -q, +q, +q, and target +q. Find F_net on the target corner.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Net force on a corner charge of a square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Step 1:  Side forces: F₁ = F₂ = k q² / l². Their resultant F' = √2 k q² / l² outward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2:  Diagonal attraction: F3 = k q² / (2 l²) inward along the diagonal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3:  F_net = F' - F3 = (k q² / l²) (√2 - 1/2)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F_net = (k q² / l²) [(2 √2 - 1)/2].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Net force on a block (ignore gravity)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Resolve to Fₓ and Fᵧ. Then R = √(Fₓ² + Fᵧ²).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719072"/>
            <a:ext cx="1101852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865376"/>
            <a:ext cx="1068933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081E3F"/>
                </a:solidFill>
                <a:latin typeface="Aptos"/>
              </a:rPr>
              <a:t>tan α = |Fᵧ| / |Fₓ|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7063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α is measured from the x-axis toward F_net.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F₁ = 40 N, F₂ = 10 N, F3 = 30 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On a block: F₁ = 40 N to +x, F₂ = 10 N to -x, F3 = 30 N to +y. Ignore gravity. Find F_net and its direction from x-axis.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F₁ = 40 N, F₂ = 10 N, F3 = 30 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Fₓ = 40 - 10 = 30 N, Fᵧ = 30 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2:  F_net = √(30² + 30²) = 30 √2 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α = 45° above +x.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F₁ = 60 N, F₂ = 20 N, F3 = 30 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F₁ = 60 N (+x), F₂ = 20 N (-x), F3 = 30 N (+y). Ignore gravity and normal. Find F_net and α.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F₁ = 60 N, F₂ = 20 N, F3 = 30 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Fₓ = 40 N, Fᵧ = 30 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F_net = √(40² + 30²) = 50 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tan α = 30/40 = 3/4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α = 37° from +x.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Symmetry can force F_net = 0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Equal forces at equal spacing around a centre cancel in pairs.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719072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865376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Regular hexagon of equal masses: F_net on centre mass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6207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Three equal forces at 120° also cancel. Resultant of any two equals the third, opposite to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8503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Equal distance is not enough if magnitudes are unequal.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Mass at centre of a regular hexagon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Equal masses m at the six vertices of a regular hexagon. Mass M is at the centre. Find gravitational F_net on M.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Mass at centre of a regular hexagon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Opposite forces are equal and opposite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F_net on M = 0.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Mass at centre of equilateral triangle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Equal masses m at the three vertices. Mass M at the centre. Find gravitational F_net on M.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Mass at centre of equilateral triangle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Three equal forces, 120° apart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2:  Resultant of any two equals the third and cancels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F_net on M = 0.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BOARD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True or false: zero resultant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A. Resultant of two vectors lies in their plane.  → 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7335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B. Minimum number of unequal vectors for zero R is 2.  → False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67712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C. Minimum number of vectors for zero R is 2.  → True (equal magnitude, opposite)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53511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D. Minimum number of unequal vectors for zero R is 3.  → True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47872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E. Minimum number of non-coplanar vectors for zero R is 4.  → True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2336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Two unequal arrows cannot cancel. Three can close a triangle.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KEY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How scalars and vectors change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47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A scalar changes only when its magnitude changes.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130552"/>
            <a:ext cx="11018520" cy="9601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276856"/>
            <a:ext cx="10689336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A vector changes if magnitude changes, or direction changes, or both.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192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So Delta speed = 0 does not mean Delta v = 0.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Change in velocity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49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081E3F"/>
                </a:solidFill>
                <a:latin typeface="Aptos"/>
              </a:rPr>
              <a:t>Delta v = v_f - v_i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3055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Always subtract vectors. Do not subtract speeds blindly.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|Delta v| can be large even when |v| stays the same.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64991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Change in speed = |v_f| - |v_i|. Change in velocity = v_f - v_i.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Rebound from a wall with same speed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ball hits a wall with speed u along -î and rebounds with the same speed along +î. Find Delta v.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Rebound from a wall with same speed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v_i = -u î, v_f = +u 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2:  Delta v = u î - (-u î) = 2u 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|Delta v| = 2u. Change in speed = 0.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Hits the wall and stops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Same ball approaches with v_i = -u î and stops. Find Delta v.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Hits the wall and stops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Delta v = 0 - (-u î) = u 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Delta v = u î.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Deflected perpendicular, same speed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particle with v_i = u î is deflected so that v_f = u ĵ. Find |Delta v| and Delta p.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Deflected perpendicular, same speed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Delta v = u ĵ - u 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|Delta v| = √2 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Delta p = m u ĵ - m u î.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After collision, moves along the incline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v_i = u î. After collision, speed stays u and the path is along an incline of angle θ. Find Delta v.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After collision, moves along the incline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1:  v_f = u cos θ î + u sin θ 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2:  Delta v = u (cos θ - 1) î + u sin θ 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Write components of the incline direction first.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Elastic bounce from a floor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Incident: u sin θ î - u cos θ ĵ. Rebound: u sin θ î + u cos θ ĵ. Find Delta v.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Elastic bounce from a floor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Horizontal parts cancel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Delta v = 2 u cos θ 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Only the normal component reverses.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Circular path, diametrically opposite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Speed is constant V on a circle. At a diametric opposite point, find change in speed and change in velocity.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Circular path, diametrically opposite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Change in speed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2:  If v_i = V ĵ and v_f = -V ĵ, then Delta v = -2 V 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|Delta v| = 2V.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East then North, same speed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Initial velocity is 10 m/s east. Later it is 10 m/s north. Find Delta v.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East then North, same speed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v_i = 10 î, v_f = 10 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Delta v = -10 î + 10 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|Delta v| = 10 √2 m/s.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Relative velocity of two boys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Boy A moves at 6 m/s east. Boy B moves at 6 m/s at 30° east of north. Find velocity of B relative to A.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Relative velocity of two boys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v_A = 6 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Step 2:  v_B = 6 sin 30 î + 6 cos 30 ĵ = 3 î + 3 √3 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3:  v_BA = v_B - v_A = -3 î + 3 √3 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|v_BA| = 6 m/s.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North then east: three things to find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particle goes from 5 m/s north to 5 m/s east. Find (i) Delta v (ii) |Delta v| (iii) change in magnitude of velocity.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North then east: three things to find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Delta v = 5 î - 5 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|Delta v| = 5 √2 m/s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3:  Change in magnitude of velocity = 5 - 5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Same speed, different direction: speed change is zero.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Position vector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71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081E3F"/>
                </a:solidFill>
                <a:latin typeface="Aptos"/>
              </a:rPr>
              <a:t>r_PQ = r_P - r_Q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This is the position of P with respect to Q.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7063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From origin: r = x î + y ĵ + z k̂.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410711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Order matters. r_PQ = - r_QP.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VISUAL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Relative position arrow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Start at the reference point. End at the object.</a:t>
            </a:r>
          </a:p>
        </p:txBody>
      </p:sp>
      <p:sp>
        <p:nvSpPr>
          <p:cNvPr id="8" name="Oval 7"/>
          <p:cNvSpPr/>
          <p:nvPr/>
        </p:nvSpPr>
        <p:spPr>
          <a:xfrm>
            <a:off x="1970532" y="3616452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3977639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origin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11680" y="3657600"/>
            <a:ext cx="256032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364992" y="34015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r_A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11680" y="3657600"/>
            <a:ext cx="5486399" cy="0"/>
          </a:xfrm>
          <a:prstGeom prst="line">
            <a:avLst/>
          </a:prstGeom>
          <a:ln w="3556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828031" y="34015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r_B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3657600"/>
            <a:ext cx="2926079" cy="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108192" y="34015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r_BA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0" y="4572000"/>
            <a:ext cx="7772400" cy="7315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76272" y="4718304"/>
            <a:ext cx="744321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1E3F"/>
                </a:solidFill>
                <a:latin typeface="Aptos"/>
              </a:rPr>
              <a:t>r_BA = r_B - r_A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Position from a reference 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An object is at (4, 3, 9). Find its position vector from the point (1, 7, 4).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Position from a reference 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1:  r = (4 î + 3 ĵ + 9 k̂) - (1 î + 7 ĵ + 4 k̂)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r = 3 î - 4 ĵ + 5 k̂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|r| = √50 = 5 √2.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Find r_BA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is at (2, 3, 0) and B is at (3, 0, 4). Find r_BA.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Find r_BA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1:  r_BA = r_B - r_A = (3 î + 4 k̂) - (2 î + 3 ĵ)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r_BA = î - 3 ĵ + 4 k̂.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Find r_AB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B is at (1, 1, 1) and A is at (3, 0, 4). Find r_AB.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Find r_AB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1:  r_AB = r_A - r_B = (3 î + 4 k̂) - (î + ĵ + k̂)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r_AB = 2 î - ĵ + 3 k̂.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Displacement versus distance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81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1E3F"/>
                </a:solidFill>
                <a:latin typeface="Aptos"/>
              </a:rPr>
              <a:t>Displacement d = r_final - r_initial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21991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If the object moves d1 then d2 then d3: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770632"/>
            <a:ext cx="11018520" cy="100584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916936"/>
            <a:ext cx="10689336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displacement = d1 + d2 + d3 , distance = |d1| + |d2| + |d3|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5935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Distance is never negative. Displacement can cancel.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Position of A with respect to B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Find the position vector of A(1, 2, 1) with respect to B(-1, 2, 0).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Position of A with respect to B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Step 1:  r_AB = r_A - r_B = (1 î + 2 ĵ + k̂) - (-î + 2 ĵ)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r_AB = 2 î + k̂.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Three-step displacement (JEE Main style)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student moves 50 m east, then 20 m north, then 40 √2 m south-east. Find net displacement.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Three-step displacement (JEE Main style)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1:  d1 = 50 î, d2 = 20 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Step 2:  d3 = 40 √2 (cos 45° î - sin 45° ĵ) = 40 î - 40 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d = 90 î - 20 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Net displacement = 90 î - 20 ĵ.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Displacement from A to B in 3D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Initial position A(0, 4, 0). Final position B(3, 2, 4). Find displacement.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Displacement from A to B in 3D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1:  d = r_f - r_i = (3 î + 2 ĵ + 4 k̂) - 4 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 = 3 î - 2 ĵ + 4 k̂.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East, north, then south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boy moves 30 m east, then 50 m north, then 10 m south. Find displacement and distance.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East, north, then south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displacement = 30 î + 40 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|displacement| = 50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distance = 30 + 50 + 10 = 90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Displacement 50 m; distance 90 m.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Dot product quick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081E3F"/>
                </a:solidFill>
                <a:latin typeface="Aptos"/>
              </a:rPr>
              <a:t>A · B = Ax Bx + Ay By + Az Bz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21991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No diagram needed when components are given.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1635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Result is a scalar. It can be negative.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Find the dot 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= 2 î + 3 ĵ - 4 k̂ and B = 3 î - 2 ĵ + 5 k̂. Find A · B.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Find the dot 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A · B = (2)(3) + (3)(-2) + (-4)(5)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= 6 - 6 - 20 = -20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 · B = -20.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CLASS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Vector 05 lock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Vector = magnitude × chosen unit direction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Delta v = v_f - v_i ; change in speed is not the same 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r_PQ = r_P - r_Q ; displacement = r_f - r_i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Distance adds path lengths. Displacement adds vectors.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7355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Same speed does not mean zero Delta v.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AFTER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1. Redo the force-along-A problem without looking.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907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2. Redo three equal vectors at 60° and get |R| = 2A.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5915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3. For east→north at equal speed, write Delta v and |Delta v|.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9923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4. Separate displacement and distance for the 30 m, 50 m, 10 m walk.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3075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Never subtract speeds when the question asks for change in velocity.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