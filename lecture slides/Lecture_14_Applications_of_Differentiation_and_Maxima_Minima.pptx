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familiar Class 11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Applications of Differentiation and Maxima-Minima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18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42415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differentiation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Position, velocity and acceleration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32304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Exact velocity–time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Related rates: circle, square and sphere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1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Stationary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Second derivative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Maxima and minima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Rates of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position x(t) → velocity v = dx/dt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velocity v(t) → acceleration a = dv/dt = d²x/dt²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stationary point: dy/dx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related rates: differentiate both sides with respect to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From position to a velocity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the position function to obtain velocity.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Then plot v against t using its exact equation.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505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968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x(t) → v(t) = dx/dt → v–t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21024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Where v = 0, the object is instantaneously at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Motion: increasing velocity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x = t²-4t+8, find velocity and draw the exact v–t 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Motion: increasing velocity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v = dx/dt = 2t-4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v(0) = -4 and v = 0 at t =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0" y="3973068"/>
            <a:ext cx="43434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1298448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71048" y="4018787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29844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40040" y="3918204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5448" y="404622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7840" y="3918204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23248" y="404622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35640" y="3918204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671048" y="404622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37376" y="5161788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71616" y="5061203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37376" y="2784348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71616" y="268376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37376" y="1595628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71616" y="149504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4046220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492240" y="511721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546532" y="5072633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00825" y="5028056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655117" y="4983479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709409" y="4938903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763702" y="4894326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817995" y="4849749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872287" y="4805172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26579" y="476059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80872" y="471601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035165" y="467144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089457" y="4626864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43750" y="4582287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198042" y="4537709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252334" y="4493133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06627" y="4448556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360919" y="4403979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415212" y="4359402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469504" y="431482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23797" y="427024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578090" y="422567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632382" y="4181094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686675" y="4136516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740967" y="4091939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95260" y="4047362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49552" y="400278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903844" y="395820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58137" y="391363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012429" y="3869055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066722" y="382447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121015" y="377990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175307" y="3735324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229600" y="3690747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283892" y="3646170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338184" y="3601593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392477" y="3557015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446770" y="3512439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501062" y="3467862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555355" y="342328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609647" y="337870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663940" y="333413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718232" y="3289554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772525" y="3244976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826817" y="3200400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881109" y="3155823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935402" y="3111246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989694" y="3066668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043987" y="3022092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098280" y="2977514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152572" y="2932938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206865" y="2888360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261157" y="2843784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315450" y="2799207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369742" y="2754630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424035" y="2710052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478327" y="266547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532619" y="262089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586912" y="2576322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641205" y="253174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695497" y="248716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749790" y="244259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804082" y="2398013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858375" y="2353437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912667" y="2308860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966960" y="2264283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021252" y="2219706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075544" y="2175128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129837" y="2130552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184130" y="208597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238422" y="204139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292715" y="1996820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347007" y="1952243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401300" y="1907667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455592" y="1863089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509884" y="1818513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564177" y="1773935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618470" y="172935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672762" y="1684782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727055" y="164020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781347" y="159562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7889748" y="3922776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31480" y="371703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Motion: decreasing velocity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x = -t²+4t+8, find velocity and draw the exact v–t 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Motion: decreasing velocity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v = dx/dt = -2t+4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v(0) = 4 and v = 0 at t =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0" y="2784348"/>
            <a:ext cx="43434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1298448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71048" y="2830068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29844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40040" y="2729484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5448" y="28575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7840" y="2729484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23248" y="28575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35640" y="2729484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671048" y="28575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37376" y="5161788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71616" y="5061203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37376" y="3973068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71616" y="3872483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37376" y="1595628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71616" y="149504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2857500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92240" y="159562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46532" y="164020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00825" y="1684782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55117" y="172935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09409" y="1773935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63702" y="1818513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17995" y="1863089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72287" y="1907667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26579" y="1952243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80872" y="1996820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35165" y="204139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89457" y="208597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43750" y="2130552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98042" y="2175128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52334" y="2219706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06627" y="2264283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60919" y="2308860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15212" y="2353437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69504" y="2398013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523797" y="2442591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78090" y="248716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32382" y="253174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86675" y="2576322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40967" y="262089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795260" y="266547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49552" y="2710052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03844" y="2754630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958137" y="2799207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012429" y="2843784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066722" y="2888360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21015" y="2932938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175307" y="2977514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29600" y="3022092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83892" y="3066668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338184" y="3111246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392477" y="3155823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46770" y="3200400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501062" y="3244976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555355" y="3289554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9647" y="3334131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663940" y="337870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18232" y="342328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772525" y="3467862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826817" y="3512439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881109" y="3557015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935402" y="3601593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989694" y="3646170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043987" y="3690747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098280" y="3735324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152572" y="3779901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206865" y="382447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261157" y="3869055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315450" y="3913631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369742" y="3958208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424035" y="4002785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478327" y="4047362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532619" y="4091939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586912" y="4136516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641205" y="4181094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695497" y="4225671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749790" y="427024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04082" y="431482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858375" y="4359402"/>
            <a:ext cx="54292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912667" y="4403978"/>
            <a:ext cx="54293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966960" y="4448556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021252" y="4493133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075544" y="4537710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129837" y="4582287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184130" y="4626864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238422" y="4671441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292715" y="4716018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347007" y="4760595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401300" y="4805172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455592" y="4849749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509884" y="4894326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564177" y="4938903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618470" y="4983480"/>
            <a:ext cx="54292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672762" y="5028057"/>
            <a:ext cx="54293" cy="445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727055" y="5072633"/>
            <a:ext cx="54292" cy="44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0781347" y="5117211"/>
            <a:ext cx="54293" cy="445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7889748" y="2734056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31480" y="252831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Acceleration from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v = t³/3-3t²+8t, find acceleration and draw the exact a–t graph.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Acceleration from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a = dv/dt = t²-6t+8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a = (t-2)(t-4)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0" y="4702509"/>
            <a:ext cx="43434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1298448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71048" y="474822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29844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40040" y="464764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5448" y="477566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63940" y="464764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99348" y="477566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87840" y="464764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223248" y="477566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35640" y="464764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671048" y="477566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37376" y="5080738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71616" y="498015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37376" y="3189593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71616" y="3089009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37376" y="1676677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71616" y="1576093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1" y="4775661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92240" y="1676677"/>
            <a:ext cx="31024" cy="9656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23264" y="1773241"/>
            <a:ext cx="31024" cy="951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54288" y="1868416"/>
            <a:ext cx="31024" cy="9378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5312" y="1962201"/>
            <a:ext cx="31025" cy="923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16337" y="2054597"/>
            <a:ext cx="31024" cy="910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47361" y="2145603"/>
            <a:ext cx="31024" cy="8961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78385" y="2235221"/>
            <a:ext cx="31024" cy="8822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09409" y="2323448"/>
            <a:ext cx="31025" cy="868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40434" y="2410287"/>
            <a:ext cx="31024" cy="854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71458" y="2495736"/>
            <a:ext cx="31024" cy="8405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02482" y="2579795"/>
            <a:ext cx="31025" cy="8267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33507" y="2662465"/>
            <a:ext cx="31024" cy="8128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864531" y="2743746"/>
            <a:ext cx="31024" cy="7989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895555" y="2823637"/>
            <a:ext cx="31024" cy="7850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26579" y="2902139"/>
            <a:ext cx="31025" cy="7711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957604" y="2979251"/>
            <a:ext cx="31024" cy="7572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88628" y="3054974"/>
            <a:ext cx="31024" cy="7433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19652" y="3129308"/>
            <a:ext cx="31025" cy="7294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50677" y="3202252"/>
            <a:ext cx="31024" cy="7155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81701" y="3273807"/>
            <a:ext cx="31024" cy="701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12725" y="3343972"/>
            <a:ext cx="31025" cy="687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43750" y="3412748"/>
            <a:ext cx="31024" cy="6738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74774" y="3480135"/>
            <a:ext cx="31024" cy="6599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205798" y="3546132"/>
            <a:ext cx="31024" cy="6460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236822" y="3610739"/>
            <a:ext cx="31025" cy="6321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67847" y="3673958"/>
            <a:ext cx="31024" cy="6182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98871" y="3735787"/>
            <a:ext cx="31024" cy="604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329895" y="3796226"/>
            <a:ext cx="31024" cy="5905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60919" y="3855276"/>
            <a:ext cx="31025" cy="5766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1944" y="3912937"/>
            <a:ext cx="31024" cy="5627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22968" y="3969208"/>
            <a:ext cx="31024" cy="5488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453992" y="4024090"/>
            <a:ext cx="31025" cy="5349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485017" y="4077582"/>
            <a:ext cx="31024" cy="5210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16041" y="4129685"/>
            <a:ext cx="31024" cy="507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547065" y="4180399"/>
            <a:ext cx="31025" cy="4932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578090" y="4229723"/>
            <a:ext cx="31024" cy="479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609114" y="4277658"/>
            <a:ext cx="31024" cy="465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640138" y="4324203"/>
            <a:ext cx="31024" cy="451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671162" y="4369359"/>
            <a:ext cx="31025" cy="4376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702187" y="4413125"/>
            <a:ext cx="31024" cy="423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733211" y="4455503"/>
            <a:ext cx="31024" cy="4098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764235" y="4496490"/>
            <a:ext cx="31025" cy="395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795260" y="4536089"/>
            <a:ext cx="31024" cy="3820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826284" y="4574297"/>
            <a:ext cx="31024" cy="3682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857308" y="4611117"/>
            <a:ext cx="31024" cy="3543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88332" y="4646547"/>
            <a:ext cx="31025" cy="3404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919357" y="4680587"/>
            <a:ext cx="31024" cy="326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950381" y="4713239"/>
            <a:ext cx="31024" cy="3126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981405" y="4744500"/>
            <a:ext cx="31024" cy="2987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012429" y="4774373"/>
            <a:ext cx="31025" cy="2848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043454" y="4802856"/>
            <a:ext cx="31024" cy="270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074478" y="4829949"/>
            <a:ext cx="31024" cy="2570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105502" y="4855654"/>
            <a:ext cx="31025" cy="243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136527" y="4879968"/>
            <a:ext cx="31024" cy="2292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67551" y="4902894"/>
            <a:ext cx="31024" cy="215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198575" y="4924429"/>
            <a:ext cx="31025" cy="2014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229600" y="4944576"/>
            <a:ext cx="31024" cy="1875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260624" y="4963333"/>
            <a:ext cx="31024" cy="1736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91648" y="4980701"/>
            <a:ext cx="31024" cy="159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22672" y="4996679"/>
            <a:ext cx="31025" cy="145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53697" y="5011268"/>
            <a:ext cx="31024" cy="131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84721" y="5024467"/>
            <a:ext cx="31024" cy="1181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5745" y="5036277"/>
            <a:ext cx="31025" cy="104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446770" y="5046698"/>
            <a:ext cx="31024" cy="90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77794" y="5055729"/>
            <a:ext cx="31024" cy="764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508818" y="5063371"/>
            <a:ext cx="31024" cy="62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39842" y="5069623"/>
            <a:ext cx="31025" cy="486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570867" y="5074486"/>
            <a:ext cx="31024" cy="34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01891" y="5077960"/>
            <a:ext cx="31024" cy="208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632915" y="5080044"/>
            <a:ext cx="31025" cy="69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663940" y="5080044"/>
            <a:ext cx="31024" cy="69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694964" y="5077960"/>
            <a:ext cx="31024" cy="208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725988" y="5074486"/>
            <a:ext cx="31024" cy="34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757012" y="5069623"/>
            <a:ext cx="31025" cy="486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788037" y="5063371"/>
            <a:ext cx="31024" cy="62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819061" y="5055729"/>
            <a:ext cx="31024" cy="764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850085" y="5046698"/>
            <a:ext cx="31024" cy="90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881109" y="5036277"/>
            <a:ext cx="31025" cy="104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912134" y="5024467"/>
            <a:ext cx="31024" cy="1181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943158" y="5011268"/>
            <a:ext cx="31024" cy="131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974182" y="4996679"/>
            <a:ext cx="31025" cy="145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005207" y="4980701"/>
            <a:ext cx="31024" cy="159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036231" y="4963333"/>
            <a:ext cx="31024" cy="1736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067255" y="4944576"/>
            <a:ext cx="31025" cy="1875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098280" y="4924429"/>
            <a:ext cx="31024" cy="2014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129304" y="4902894"/>
            <a:ext cx="31024" cy="215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160328" y="4879968"/>
            <a:ext cx="31024" cy="2292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191352" y="4855654"/>
            <a:ext cx="31025" cy="243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222377" y="4829949"/>
            <a:ext cx="31024" cy="2570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53401" y="4802856"/>
            <a:ext cx="31024" cy="270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284425" y="4774373"/>
            <a:ext cx="31025" cy="2848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315450" y="4744500"/>
            <a:ext cx="31024" cy="2987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346474" y="4713239"/>
            <a:ext cx="31024" cy="3126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377498" y="4680587"/>
            <a:ext cx="31024" cy="326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408522" y="4646547"/>
            <a:ext cx="31025" cy="3404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439547" y="4611117"/>
            <a:ext cx="31024" cy="3543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470571" y="4574297"/>
            <a:ext cx="31024" cy="3682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501595" y="4536089"/>
            <a:ext cx="31024" cy="3820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532619" y="4496490"/>
            <a:ext cx="31025" cy="395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563644" y="4455503"/>
            <a:ext cx="31024" cy="4098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594668" y="4413125"/>
            <a:ext cx="31024" cy="423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625692" y="4369359"/>
            <a:ext cx="31025" cy="4376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656717" y="4324203"/>
            <a:ext cx="31024" cy="451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687741" y="4277658"/>
            <a:ext cx="31024" cy="465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718765" y="4229723"/>
            <a:ext cx="31025" cy="479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749790" y="4180399"/>
            <a:ext cx="31024" cy="4932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780814" y="4129685"/>
            <a:ext cx="31024" cy="507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811838" y="4077582"/>
            <a:ext cx="31024" cy="5210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842862" y="4024090"/>
            <a:ext cx="31025" cy="5349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873887" y="3969208"/>
            <a:ext cx="31024" cy="5488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904911" y="3912937"/>
            <a:ext cx="31024" cy="5627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935935" y="3855276"/>
            <a:ext cx="31025" cy="5766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966960" y="3796226"/>
            <a:ext cx="31024" cy="5905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997984" y="3735787"/>
            <a:ext cx="31024" cy="604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29008" y="3673958"/>
            <a:ext cx="31024" cy="6182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060032" y="3610739"/>
            <a:ext cx="31025" cy="6321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091057" y="3546132"/>
            <a:ext cx="31024" cy="6460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122081" y="3480135"/>
            <a:ext cx="31024" cy="6599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153105" y="3412748"/>
            <a:ext cx="31025" cy="6738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184130" y="3343972"/>
            <a:ext cx="31024" cy="687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215154" y="3273807"/>
            <a:ext cx="31024" cy="701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246178" y="3202252"/>
            <a:ext cx="31024" cy="7155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277202" y="3129308"/>
            <a:ext cx="31025" cy="7294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308227" y="3054974"/>
            <a:ext cx="31024" cy="7433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339251" y="2979251"/>
            <a:ext cx="31024" cy="7572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370275" y="2902139"/>
            <a:ext cx="31025" cy="7711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401300" y="2823637"/>
            <a:ext cx="31024" cy="7850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432324" y="2743746"/>
            <a:ext cx="31024" cy="7989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463348" y="2662465"/>
            <a:ext cx="31024" cy="8128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494372" y="2579795"/>
            <a:ext cx="31025" cy="8267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525397" y="2495736"/>
            <a:ext cx="31024" cy="8405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556421" y="2410287"/>
            <a:ext cx="31024" cy="854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587445" y="2323448"/>
            <a:ext cx="31025" cy="868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618470" y="2235221"/>
            <a:ext cx="31024" cy="8822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649494" y="2145603"/>
            <a:ext cx="31024" cy="8961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680518" y="2054597"/>
            <a:ext cx="31024" cy="910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711542" y="1962201"/>
            <a:ext cx="31025" cy="923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742567" y="1868416"/>
            <a:ext cx="31024" cy="9378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773591" y="1773241"/>
            <a:ext cx="31024" cy="951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804615" y="1676677"/>
            <a:ext cx="31025" cy="9656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7889748" y="4652217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994904" y="446476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2</a:t>
            </a:r>
          </a:p>
        </p:txBody>
      </p:sp>
      <p:sp>
        <p:nvSpPr>
          <p:cNvPr id="170" name="Oval 169"/>
          <p:cNvSpPr/>
          <p:nvPr/>
        </p:nvSpPr>
        <p:spPr>
          <a:xfrm>
            <a:off x="9337548" y="4652217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442704" y="446476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Changing x with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y = x² and x changes with time, express dy/dt in terms of x and dx/dt.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Changing x with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Step 1:  dy/dx = 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dy/dt = (dy/dx)(dx/dt)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dy/dt = 2x(dx/dt).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Changing angle with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y = sin θ and θ changes with time, express dy/dt.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Changing angle with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Step 1:  dy/dθ = cos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dy/dt = (dy/dθ)(dθ/dt)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dy/dt = cos θ(dθ/dt).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Nested time 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y = sin(t²+2t), find dy/dt.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Nested time 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Outer derivative: cos(t²+2t)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Inner derivative: 2t+2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dy/dt = (2t+2)cos(t²+2t).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Related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dimensions change with time, geometrical quantities also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Write the geometry formula first, then differentiate with respect to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334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797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formula → differentiate with respect to t → substitute values with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85615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Substitute numerical values only after differentiating.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Circle, square and sphere formulae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circle: A = πr² → dA/dt = 2πr(dr/dt)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square: P = 4l → dP/dt = 4(dl/dt)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sphere: V = (4/3)πr³ → dV/dt = 4πr²(dr/dt)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sphere: S = 4πr² → dS/dt = 8πr(dr/dt)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Sphere volume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V = (4/3)πr³, express dV/dt in terms of r and dr/dt.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Sphere volume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Differentiate with respect to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dV/dt = 4πr²(dr/dt).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Sphere surface-area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S = 4πr², express dS/dt in terms of r and dr/dt.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Sphere surface-area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d(r²)/dt = 2r(dr/dt)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dS/dt = 8πr(dr/dt).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Expanding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A circle's radius increases at 1/π m s⁻¹. Find dA/dt when r = 4 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Expanding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dA/dt = 2πr(dr/dt)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2π(4)(1/π)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dA/dt = 8 m² s⁻¹.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Growing square perimeter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The side of a square increases at 0.2 cm s⁻¹. Find the rate of increase of its perimeter.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Growing square perimeter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Step 1:  P = 4l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dP/dt = 4(dl/dt) = 4(0.2)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dP/dt = 0.8 cm s⁻¹.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change with radius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For a circle A = πr², find dA/dr.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change with radius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dA/dr = 2πr.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Inflating balloon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A spherical balloon's volume increases at 10 cm³ s⁻¹. Find dr/dt when r = 5 cm.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Inflating balloon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dV/dt = 4πr²(dr/dt)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10 = 4π(25)(dr/dt)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dr/dt = 1/(10π) cm s⁻¹.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Growing square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A square's side increases at 2 cm s⁻¹. Find dA/dt when the side is 10 cm.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Growing square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A = l² → dA/dt = 2l(dl/dt)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2(10)(2)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dA/dt = 40 cm² s⁻¹.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When is the particle at rest?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v(t) = t²-3t, when is the particle at rest?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When is the particle at rest?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At rest: v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t(t-3)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 = 0 s or 3 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Acceleration from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s(t) = 3t²-4t+2, find acceleration at t = 1 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Acceleration from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v = ds/dt = 6t-4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a = dv/dt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Acceleration = 6 m s⁻².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Velocity from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x(t) = 4t³+3t²-6t+1, find velocity at t = 2 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Velocity from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v = dx/dt = 12t²+6t-6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v(2) = 48+12-6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Velocity = 54 m s⁻¹.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x(t) = e²ᵗ+5, find velocity.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 = dx/dt = 2e²ᵗ.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Maxima and minima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At a smooth local maximum or minimum, the tangent is horizontal.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Step 1: solve dy/dx = 0 to find stationary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stationary point may be a maximum, minimum or neither. Test it using the second derivative.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Second derivative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d²y/dx² &gt; 0 at a stationary point → local minimum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31136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77440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d²y/dx² &lt; 0 at a stationary point → local maximum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9856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d²y/dx² = 0, this test is inconclusive; another test is needed.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Maximum and minimum shapes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826725"/>
            <a:ext cx="48006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68980" y="1417320"/>
            <a:ext cx="0" cy="397763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04688" y="4872445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2988" y="14173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68780" y="4771861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04188" y="4899877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9180" y="4771861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04588" y="4899877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4116" y="3690257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48356" y="3589673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14116" y="2553788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48356" y="245320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6372" y="4899877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348740" y="5171884"/>
            <a:ext cx="25603" cy="866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74343" y="5086349"/>
            <a:ext cx="25603" cy="855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99946" y="5001978"/>
            <a:ext cx="25603" cy="8437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425549" y="4918770"/>
            <a:ext cx="25603" cy="8320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451152" y="4836726"/>
            <a:ext cx="25604" cy="8204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476756" y="4755846"/>
            <a:ext cx="25603" cy="8088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02359" y="4676129"/>
            <a:ext cx="25603" cy="7971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27962" y="4597577"/>
            <a:ext cx="25603" cy="785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53565" y="4520188"/>
            <a:ext cx="25603" cy="773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579168" y="4443963"/>
            <a:ext cx="25604" cy="7622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04772" y="4368901"/>
            <a:ext cx="25603" cy="7506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30375" y="4295003"/>
            <a:ext cx="25603" cy="7389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655978" y="4222269"/>
            <a:ext cx="25603" cy="7273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681581" y="4150699"/>
            <a:ext cx="25603" cy="7157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707184" y="4080293"/>
            <a:ext cx="25604" cy="704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732788" y="4011050"/>
            <a:ext cx="25603" cy="6924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58391" y="3942971"/>
            <a:ext cx="25603" cy="6807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783994" y="3876056"/>
            <a:ext cx="25603" cy="6691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09597" y="3810304"/>
            <a:ext cx="25603" cy="657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35200" y="3745716"/>
            <a:ext cx="25604" cy="6458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60804" y="3682292"/>
            <a:ext cx="25603" cy="6342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886407" y="3620032"/>
            <a:ext cx="25603" cy="6226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912010" y="3558935"/>
            <a:ext cx="25603" cy="6109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937613" y="3499003"/>
            <a:ext cx="25603" cy="5993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63216" y="3440234"/>
            <a:ext cx="25603" cy="5876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88819" y="3382628"/>
            <a:ext cx="25604" cy="576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014423" y="3326187"/>
            <a:ext cx="25603" cy="5644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040026" y="3270909"/>
            <a:ext cx="25603" cy="552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065629" y="3216795"/>
            <a:ext cx="25603" cy="541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091232" y="3163844"/>
            <a:ext cx="25604" cy="5295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116836" y="3112058"/>
            <a:ext cx="25603" cy="517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142439" y="3061435"/>
            <a:ext cx="25603" cy="5062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168042" y="3011976"/>
            <a:ext cx="25603" cy="4945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193645" y="2963680"/>
            <a:ext cx="25603" cy="482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19248" y="2916549"/>
            <a:ext cx="25604" cy="471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244852" y="2870581"/>
            <a:ext cx="25603" cy="4596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270455" y="2825777"/>
            <a:ext cx="25603" cy="4480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296058" y="2782136"/>
            <a:ext cx="25603" cy="4364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21661" y="2739660"/>
            <a:ext cx="25603" cy="424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347264" y="2698347"/>
            <a:ext cx="25604" cy="4131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372868" y="2658198"/>
            <a:ext cx="25603" cy="401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398471" y="2619212"/>
            <a:ext cx="25603" cy="389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424074" y="2581391"/>
            <a:ext cx="25603" cy="378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449677" y="2544733"/>
            <a:ext cx="25603" cy="3665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475280" y="2509239"/>
            <a:ext cx="25604" cy="3549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500884" y="2474908"/>
            <a:ext cx="25603" cy="343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526487" y="2441741"/>
            <a:ext cx="25603" cy="3316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552090" y="2409738"/>
            <a:ext cx="25603" cy="3200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577693" y="2378899"/>
            <a:ext cx="25603" cy="308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603296" y="2349224"/>
            <a:ext cx="25604" cy="296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628900" y="2320712"/>
            <a:ext cx="25603" cy="2851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654503" y="2293364"/>
            <a:ext cx="25603" cy="2734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680106" y="2267180"/>
            <a:ext cx="25603" cy="2618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705709" y="2242159"/>
            <a:ext cx="25603" cy="250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731312" y="2218303"/>
            <a:ext cx="25604" cy="238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756916" y="2195610"/>
            <a:ext cx="25603" cy="226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782519" y="2174080"/>
            <a:ext cx="25603" cy="2153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808122" y="2153715"/>
            <a:ext cx="25603" cy="203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833725" y="2134513"/>
            <a:ext cx="25603" cy="1920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859328" y="2116475"/>
            <a:ext cx="25604" cy="1803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884932" y="2099601"/>
            <a:ext cx="25603" cy="168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910535" y="2083890"/>
            <a:ext cx="25603" cy="1571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936138" y="2069343"/>
            <a:ext cx="25603" cy="1454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961741" y="2055960"/>
            <a:ext cx="25603" cy="1338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987344" y="2043741"/>
            <a:ext cx="25604" cy="1221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012948" y="2032685"/>
            <a:ext cx="25603" cy="110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038551" y="2022794"/>
            <a:ext cx="25603" cy="989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064154" y="2014066"/>
            <a:ext cx="25603" cy="872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089757" y="2006501"/>
            <a:ext cx="25603" cy="75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115360" y="2000101"/>
            <a:ext cx="25604" cy="640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140964" y="1994864"/>
            <a:ext cx="25603" cy="523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166567" y="1990791"/>
            <a:ext cx="25603" cy="407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192170" y="1987881"/>
            <a:ext cx="25603" cy="291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217773" y="1986136"/>
            <a:ext cx="25603" cy="17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243376" y="1985554"/>
            <a:ext cx="25604" cy="58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268980" y="1985554"/>
            <a:ext cx="25603" cy="58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294583" y="1986136"/>
            <a:ext cx="25603" cy="17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320186" y="1987881"/>
            <a:ext cx="25603" cy="291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345789" y="1990791"/>
            <a:ext cx="25603" cy="407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371392" y="1994864"/>
            <a:ext cx="25604" cy="523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396996" y="2000101"/>
            <a:ext cx="25603" cy="640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422599" y="2006501"/>
            <a:ext cx="25603" cy="75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448202" y="2014066"/>
            <a:ext cx="25603" cy="872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473805" y="2022794"/>
            <a:ext cx="25603" cy="989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499408" y="2032685"/>
            <a:ext cx="25603" cy="110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525011" y="2043741"/>
            <a:ext cx="25604" cy="1221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550615" y="2055960"/>
            <a:ext cx="25603" cy="1338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576218" y="2069343"/>
            <a:ext cx="25603" cy="1454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601821" y="2083890"/>
            <a:ext cx="25603" cy="1571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27424" y="2099601"/>
            <a:ext cx="25604" cy="168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53028" y="2116475"/>
            <a:ext cx="25603" cy="1803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78631" y="2134513"/>
            <a:ext cx="25603" cy="1920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704234" y="2153715"/>
            <a:ext cx="25603" cy="203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729837" y="2174080"/>
            <a:ext cx="25603" cy="2153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55440" y="2195610"/>
            <a:ext cx="25604" cy="226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81044" y="2218303"/>
            <a:ext cx="25603" cy="238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806647" y="2242159"/>
            <a:ext cx="25603" cy="250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832250" y="2267180"/>
            <a:ext cx="25603" cy="2618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857853" y="2293364"/>
            <a:ext cx="25603" cy="2734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83456" y="2320712"/>
            <a:ext cx="25604" cy="2851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909060" y="2349224"/>
            <a:ext cx="25603" cy="296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934663" y="2378899"/>
            <a:ext cx="25603" cy="308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960266" y="2409738"/>
            <a:ext cx="25603" cy="3200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85869" y="2441741"/>
            <a:ext cx="25603" cy="3316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011472" y="2474908"/>
            <a:ext cx="25604" cy="343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037076" y="2509239"/>
            <a:ext cx="25603" cy="3549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062679" y="2544733"/>
            <a:ext cx="25603" cy="3665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088282" y="2581391"/>
            <a:ext cx="25603" cy="378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113885" y="2619212"/>
            <a:ext cx="25603" cy="389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139488" y="2658198"/>
            <a:ext cx="25603" cy="401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165091" y="2698347"/>
            <a:ext cx="25604" cy="4131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190695" y="2739660"/>
            <a:ext cx="25603" cy="4247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216298" y="2782136"/>
            <a:ext cx="25603" cy="4364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241901" y="2825777"/>
            <a:ext cx="25603" cy="4480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267504" y="2870581"/>
            <a:ext cx="25604" cy="4596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293108" y="2916549"/>
            <a:ext cx="25603" cy="471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318711" y="2963680"/>
            <a:ext cx="25603" cy="482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344314" y="3011976"/>
            <a:ext cx="25603" cy="4945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369917" y="3061435"/>
            <a:ext cx="25603" cy="5062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395520" y="3112058"/>
            <a:ext cx="25604" cy="517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421124" y="3163844"/>
            <a:ext cx="25603" cy="5295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446727" y="3216795"/>
            <a:ext cx="25603" cy="541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472330" y="3270909"/>
            <a:ext cx="25603" cy="552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497933" y="3326187"/>
            <a:ext cx="25603" cy="5644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523536" y="3382628"/>
            <a:ext cx="25604" cy="576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549140" y="3440234"/>
            <a:ext cx="25603" cy="5876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574743" y="3499003"/>
            <a:ext cx="25603" cy="5993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600346" y="3558935"/>
            <a:ext cx="25603" cy="6109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625949" y="3620032"/>
            <a:ext cx="25603" cy="6226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651552" y="3682292"/>
            <a:ext cx="25604" cy="6342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677156" y="3745716"/>
            <a:ext cx="25603" cy="6458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702759" y="3810304"/>
            <a:ext cx="25603" cy="657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728362" y="3876056"/>
            <a:ext cx="25603" cy="6691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753965" y="3942971"/>
            <a:ext cx="25603" cy="6807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779568" y="4011050"/>
            <a:ext cx="25604" cy="6924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805172" y="4080293"/>
            <a:ext cx="25603" cy="704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830775" y="4150699"/>
            <a:ext cx="25603" cy="7157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22269"/>
            <a:ext cx="25603" cy="7273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881981" y="4295003"/>
            <a:ext cx="25603" cy="7389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907584" y="4368901"/>
            <a:ext cx="25604" cy="7506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933188" y="4443963"/>
            <a:ext cx="25603" cy="7622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958791" y="4520188"/>
            <a:ext cx="25603" cy="773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984394" y="4597577"/>
            <a:ext cx="25603" cy="785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009997" y="4676129"/>
            <a:ext cx="25603" cy="7971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035600" y="4755846"/>
            <a:ext cx="25604" cy="8088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061204" y="4836726"/>
            <a:ext cx="25603" cy="8204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086807" y="4918770"/>
            <a:ext cx="25603" cy="8320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5112410" y="5001978"/>
            <a:ext cx="25603" cy="8437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138013" y="5086349"/>
            <a:ext cx="25603" cy="855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5163616" y="5171884"/>
            <a:ext cx="25604" cy="866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/>
          <p:cNvSpPr/>
          <p:nvPr/>
        </p:nvSpPr>
        <p:spPr>
          <a:xfrm>
            <a:off x="3218688" y="1935262"/>
            <a:ext cx="100584" cy="100584"/>
          </a:xfrm>
          <a:prstGeom prst="ellipse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360420" y="171123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060"/>
                </a:solidFill>
                <a:latin typeface="Aptos"/>
              </a:rPr>
              <a:t>maximum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6446520" y="4826725"/>
            <a:ext cx="48006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846820" y="1417320"/>
            <a:ext cx="0" cy="397763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1082528" y="4872445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910828" y="14173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7246620" y="4771861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7082028" y="4899877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10447020" y="4771861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10282428" y="4899877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8791956" y="3690257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8426196" y="3589673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8791956" y="2553788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8426196" y="245320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554212" y="4899877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7086600" y="1508237"/>
            <a:ext cx="23469" cy="7285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110069" y="1581088"/>
            <a:ext cx="23470" cy="7187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133539" y="1652961"/>
            <a:ext cx="23469" cy="7089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157008" y="1723857"/>
            <a:ext cx="23470" cy="6991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180478" y="1793774"/>
            <a:ext cx="23470" cy="6894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203948" y="1862714"/>
            <a:ext cx="23469" cy="6796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227417" y="1930676"/>
            <a:ext cx="23470" cy="6698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250887" y="1997660"/>
            <a:ext cx="23469" cy="6600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274356" y="2063666"/>
            <a:ext cx="23470" cy="6502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297826" y="2128694"/>
            <a:ext cx="23469" cy="6405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321295" y="2192745"/>
            <a:ext cx="23470" cy="6307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344765" y="2255817"/>
            <a:ext cx="23470" cy="6209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368235" y="2317912"/>
            <a:ext cx="23469" cy="6111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391704" y="2379029"/>
            <a:ext cx="23470" cy="6013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415174" y="2439167"/>
            <a:ext cx="23470" cy="5916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438644" y="2498328"/>
            <a:ext cx="23469" cy="5818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462113" y="2556512"/>
            <a:ext cx="23470" cy="5720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485583" y="2613717"/>
            <a:ext cx="23469" cy="5622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509052" y="2669944"/>
            <a:ext cx="23470" cy="5525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532522" y="2725194"/>
            <a:ext cx="23470" cy="5427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555992" y="2779465"/>
            <a:ext cx="23469" cy="5329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579461" y="2832759"/>
            <a:ext cx="23470" cy="5231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602931" y="2885075"/>
            <a:ext cx="23469" cy="5133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7626400" y="2936413"/>
            <a:ext cx="23470" cy="5036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649870" y="2986774"/>
            <a:ext cx="23469" cy="4938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673339" y="3036156"/>
            <a:ext cx="23470" cy="4840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7696809" y="3084560"/>
            <a:ext cx="23470" cy="4742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7720279" y="3131987"/>
            <a:ext cx="23469" cy="4644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7743748" y="3178436"/>
            <a:ext cx="23470" cy="4547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7767218" y="3223907"/>
            <a:ext cx="23470" cy="4449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7790688" y="3268400"/>
            <a:ext cx="23469" cy="4351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7814157" y="3311915"/>
            <a:ext cx="23470" cy="4253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7837627" y="3354452"/>
            <a:ext cx="23469" cy="4155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7861096" y="3396011"/>
            <a:ext cx="23470" cy="4058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7884566" y="3436593"/>
            <a:ext cx="23470" cy="3960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7908036" y="3476196"/>
            <a:ext cx="23469" cy="3862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7931505" y="3514822"/>
            <a:ext cx="23470" cy="3764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7954975" y="3552470"/>
            <a:ext cx="23469" cy="3667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7978444" y="3589140"/>
            <a:ext cx="23470" cy="3569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8001914" y="3624832"/>
            <a:ext cx="23470" cy="3471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8025384" y="3659547"/>
            <a:ext cx="23469" cy="3373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8048853" y="3693283"/>
            <a:ext cx="23470" cy="3275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8072323" y="3726042"/>
            <a:ext cx="23469" cy="3178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8095792" y="3757822"/>
            <a:ext cx="23470" cy="3080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8119262" y="3788625"/>
            <a:ext cx="23469" cy="2982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8142731" y="3818450"/>
            <a:ext cx="23470" cy="2884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8166201" y="3847297"/>
            <a:ext cx="23470" cy="2787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8189671" y="3875167"/>
            <a:ext cx="23469" cy="2689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8213140" y="3902058"/>
            <a:ext cx="23470" cy="2591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8236610" y="3927972"/>
            <a:ext cx="23470" cy="2493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260080" y="3952907"/>
            <a:ext cx="23469" cy="2395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8283549" y="3976865"/>
            <a:ext cx="23470" cy="2298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8307019" y="3999845"/>
            <a:ext cx="23469" cy="2200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330488" y="4021847"/>
            <a:ext cx="23470" cy="2102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353958" y="4042871"/>
            <a:ext cx="23469" cy="2004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8377427" y="4062917"/>
            <a:ext cx="23470" cy="1906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8400897" y="4081986"/>
            <a:ext cx="23470" cy="1809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8424367" y="4100076"/>
            <a:ext cx="23469" cy="1711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447836" y="4117189"/>
            <a:ext cx="23470" cy="1613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471306" y="4133324"/>
            <a:ext cx="23470" cy="1515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494776" y="4148481"/>
            <a:ext cx="23469" cy="1417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518245" y="4162660"/>
            <a:ext cx="23470" cy="1320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541715" y="4175861"/>
            <a:ext cx="23469" cy="1222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565184" y="4188084"/>
            <a:ext cx="23470" cy="1124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588654" y="4199330"/>
            <a:ext cx="23470" cy="1026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612124" y="4209598"/>
            <a:ext cx="23469" cy="928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8635593" y="4218887"/>
            <a:ext cx="23470" cy="831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8659063" y="4227199"/>
            <a:ext cx="23469" cy="733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8682532" y="4234533"/>
            <a:ext cx="23470" cy="635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8706002" y="4240889"/>
            <a:ext cx="23470" cy="537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8729472" y="4246268"/>
            <a:ext cx="23469" cy="440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752941" y="4250668"/>
            <a:ext cx="23470" cy="342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8776411" y="4254091"/>
            <a:ext cx="23469" cy="244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799880" y="4256535"/>
            <a:ext cx="23470" cy="146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8823350" y="4258002"/>
            <a:ext cx="23470" cy="48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8846820" y="4258002"/>
            <a:ext cx="23469" cy="48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8870289" y="4256535"/>
            <a:ext cx="23470" cy="146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8893759" y="4254091"/>
            <a:ext cx="23469" cy="244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8917228" y="4250668"/>
            <a:ext cx="23470" cy="342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8940698" y="4246268"/>
            <a:ext cx="23470" cy="440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8964168" y="4240889"/>
            <a:ext cx="23469" cy="537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8987637" y="4234533"/>
            <a:ext cx="23470" cy="635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9011107" y="4227199"/>
            <a:ext cx="23469" cy="733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9034576" y="4218887"/>
            <a:ext cx="23470" cy="831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9058046" y="4209598"/>
            <a:ext cx="23470" cy="928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9081516" y="4199330"/>
            <a:ext cx="23469" cy="1026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9104985" y="4188084"/>
            <a:ext cx="23470" cy="1124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9128455" y="4175861"/>
            <a:ext cx="23469" cy="1222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9151924" y="4162660"/>
            <a:ext cx="23470" cy="1320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9175394" y="4148481"/>
            <a:ext cx="23470" cy="1417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9198864" y="4133324"/>
            <a:ext cx="23469" cy="1515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9222333" y="4117189"/>
            <a:ext cx="23470" cy="1613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9245803" y="4100076"/>
            <a:ext cx="23469" cy="1711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9269272" y="4081986"/>
            <a:ext cx="23470" cy="1809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9292742" y="4062917"/>
            <a:ext cx="23470" cy="1906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9316212" y="4042871"/>
            <a:ext cx="23469" cy="2004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9339681" y="4021847"/>
            <a:ext cx="23470" cy="2102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9363151" y="3999845"/>
            <a:ext cx="23469" cy="2200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9386620" y="3976865"/>
            <a:ext cx="23470" cy="2298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9410090" y="3952907"/>
            <a:ext cx="23470" cy="2395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9433560" y="3927972"/>
            <a:ext cx="23469" cy="2493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9457029" y="3902058"/>
            <a:ext cx="23470" cy="2591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480499" y="3875167"/>
            <a:ext cx="23469" cy="2689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9503968" y="3847297"/>
            <a:ext cx="23470" cy="2787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527438" y="3818450"/>
            <a:ext cx="23470" cy="2884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9550908" y="3788625"/>
            <a:ext cx="23469" cy="2982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9574377" y="3757822"/>
            <a:ext cx="23470" cy="3080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9597847" y="3726042"/>
            <a:ext cx="23469" cy="3178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9621316" y="3693283"/>
            <a:ext cx="23470" cy="3275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9644786" y="3659547"/>
            <a:ext cx="23470" cy="3373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9668256" y="3624832"/>
            <a:ext cx="23469" cy="3471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9691725" y="3589140"/>
            <a:ext cx="23470" cy="3569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9715195" y="3552470"/>
            <a:ext cx="23469" cy="3667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9738664" y="3514822"/>
            <a:ext cx="23470" cy="3764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9762134" y="3476196"/>
            <a:ext cx="23470" cy="3862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9785604" y="3436593"/>
            <a:ext cx="23469" cy="3960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9809073" y="3396011"/>
            <a:ext cx="23470" cy="4058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9832543" y="3354452"/>
            <a:ext cx="23469" cy="4155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9856012" y="3311915"/>
            <a:ext cx="23470" cy="4253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879482" y="3268400"/>
            <a:ext cx="23470" cy="4351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902952" y="3223907"/>
            <a:ext cx="23469" cy="4449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926421" y="3178436"/>
            <a:ext cx="23470" cy="4547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949891" y="3131987"/>
            <a:ext cx="23469" cy="46449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973360" y="3084560"/>
            <a:ext cx="23470" cy="4742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996830" y="3036156"/>
            <a:ext cx="23469" cy="4840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0020299" y="2986774"/>
            <a:ext cx="23470" cy="4938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10043769" y="2936413"/>
            <a:ext cx="23470" cy="5036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10067239" y="2885075"/>
            <a:ext cx="23469" cy="5133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10090708" y="2832759"/>
            <a:ext cx="23470" cy="5231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10114178" y="2779465"/>
            <a:ext cx="23470" cy="5329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10137648" y="2725194"/>
            <a:ext cx="23469" cy="5427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10161117" y="2669944"/>
            <a:ext cx="23470" cy="5525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0184587" y="2613717"/>
            <a:ext cx="23469" cy="5622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10208056" y="2556512"/>
            <a:ext cx="23470" cy="5720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0231526" y="2498328"/>
            <a:ext cx="23470" cy="5818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10254996" y="2439167"/>
            <a:ext cx="23469" cy="5916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0278465" y="2379029"/>
            <a:ext cx="23470" cy="6013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10301935" y="2317912"/>
            <a:ext cx="23469" cy="6111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10325404" y="2255817"/>
            <a:ext cx="23470" cy="62095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348874" y="2192745"/>
            <a:ext cx="23470" cy="6307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372344" y="2128694"/>
            <a:ext cx="23469" cy="6405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395813" y="2063666"/>
            <a:ext cx="23470" cy="65028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10419283" y="1997660"/>
            <a:ext cx="23469" cy="6600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10442752" y="1930676"/>
            <a:ext cx="23470" cy="66984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0466222" y="1862714"/>
            <a:ext cx="23470" cy="67962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10489692" y="1793774"/>
            <a:ext cx="23469" cy="68940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10513161" y="1723857"/>
            <a:ext cx="23470" cy="69917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10536631" y="1652961"/>
            <a:ext cx="23469" cy="70896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0560100" y="1581088"/>
            <a:ext cx="23470" cy="71873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10583570" y="1508237"/>
            <a:ext cx="23470" cy="72851"/>
          </a:xfrm>
          <a:prstGeom prst="line">
            <a:avLst/>
          </a:prstGeom>
          <a:ln w="330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Oval 334"/>
          <p:cNvSpPr/>
          <p:nvPr/>
        </p:nvSpPr>
        <p:spPr>
          <a:xfrm>
            <a:off x="8796528" y="4208199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8938260" y="3984171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minimum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Minimum of a quadratic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the maxima and minima of y = x²+5.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Minimum of a quadratic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dy/dx = 2x = 0 → x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d²y/dx² = 2 &gt; 0 → minimum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Minimum value y = 5 at x = 0; no maximum.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Maximum of a quadratic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the maxima and minima of y = 4x-x².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Maximum of a quadratic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dy/dx = 4-2x = 0 → x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d²y/dx² = -2 &lt; 0 → maximum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Maximum value y = 4 at x = 2; no minimum.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stationary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y = x³-3x²+4, find its local maximum and minimum values.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Two stationary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dy/dx = 3x(x-2) = 0 → x = 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d²y/dx² = 6x-6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x = 0 gives maximum; x = 2 gives minimum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Local maximum = 4; local minimum = 0.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Maximum and minimum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v = t³-6t²+12, find its local maximum and minimum values.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Maximum and minimum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dv/dt = 3t(t-4) = 0 → t = 0,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d²v/dt² = 6t-12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Local maximum v = 12 at t = 0; local minimum v = -20 at t = 4.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Minimum by completing the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the maxima and minima of y = x²-4x+5.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Minimum by completing the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dy/dx = 2x-4 = 0 → x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d²y/dx² = 2 &gt;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Minimum value y = 1 at x = 2; no maximum.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Cubic maxima and minima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y = x³-12x²+36x, find the local maximum and minimum values.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Cubic maxima and minima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dy/dx = 3(x-2)(x-6) = 0 → x = 2,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d²y/dx² = 6x-24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Local maximum = 32 at x = 2; local minimum = 0 at x = 6.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Applications of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v = dx/dt, a = dv/dt = d²x/dt²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related rates: differentiate the geometry formula with respect to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stationary point: dy/dx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d²y/dx² &gt; 0 minimum; d²y/dx² &lt; 0 maximum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Redraw all three motion graphs using their exact equations.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Memorise the related-rate formulae for a circle, square and sphere.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Redo all maxima–minima questions without seeing the answers.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Include units in every rate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86784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call dy/dx = 0 alone proof of a maximum or minimum.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