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PW Motion 03. Only ideas not already taught in Motion 01 and 02.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35508" y="516636"/>
            <a:ext cx="11018520" cy="1005840"/>
          </a:xfrm>
          <a:prstGeom prst="rect">
            <a:avLst/>
          </a:prstGeom>
          <a:noFill/>
        </p:spPr>
        <p:txBody>
          <a:bodyPr wrap="square" lIns="0" rIns="0" tIns="0" bIns="0" anchor="t">
            <a:spAutoFit/>
          </a:bodyPr>
          <a:lstStyle/>
          <a:p>
            <a:pPr algn="ctr">
              <a:lnSpc>
                <a:spcPct val="110000"/>
              </a:lnSpc>
              <a:spcBef>
                <a:spcPts val="0"/>
              </a:spcBef>
              <a:spcAft>
                <a:spcPts val="0"/>
              </a:spcAft>
            </a:pPr>
            <a:r>
              <a:rPr sz="6200" b="1">
                <a:solidFill>
                  <a:srgbClr val="D2D2DC"/>
                </a:solidFill>
                <a:latin typeface="Arial Black"/>
              </a:rPr>
              <a:t>EXCELLENCE</a:t>
            </a:r>
          </a:p>
        </p:txBody>
      </p:sp>
      <p:sp>
        <p:nvSpPr>
          <p:cNvPr id="3" name="TextBox 2"/>
          <p:cNvSpPr txBox="1"/>
          <p:nvPr/>
        </p:nvSpPr>
        <p:spPr>
          <a:xfrm>
            <a:off x="594360" y="475488"/>
            <a:ext cx="11018520" cy="1005840"/>
          </a:xfrm>
          <a:prstGeom prst="rect">
            <a:avLst/>
          </a:prstGeom>
          <a:noFill/>
        </p:spPr>
        <p:txBody>
          <a:bodyPr wrap="square" lIns="0" rIns="0" tIns="0" bIns="0" anchor="t">
            <a:spAutoFit/>
          </a:bodyPr>
          <a:lstStyle/>
          <a:p>
            <a:pPr algn="ctr">
              <a:lnSpc>
                <a:spcPct val="110000"/>
              </a:lnSpc>
              <a:spcBef>
                <a:spcPts val="0"/>
              </a:spcBef>
              <a:spcAft>
                <a:spcPts val="0"/>
              </a:spcAft>
            </a:pPr>
            <a:r>
              <a:rPr sz="6200" b="1">
                <a:solidFill>
                  <a:srgbClr val="FFD646"/>
                </a:solidFill>
                <a:latin typeface="Arial Black"/>
              </a:rPr>
              <a:t>EXCELLENCE</a:t>
            </a:r>
          </a:p>
        </p:txBody>
      </p:sp>
      <p:sp>
        <p:nvSpPr>
          <p:cNvPr id="4" name="TextBox 3"/>
          <p:cNvSpPr txBox="1"/>
          <p:nvPr/>
        </p:nvSpPr>
        <p:spPr>
          <a:xfrm>
            <a:off x="635508" y="1540763"/>
            <a:ext cx="11018520" cy="530352"/>
          </a:xfrm>
          <a:prstGeom prst="rect">
            <a:avLst/>
          </a:prstGeom>
          <a:noFill/>
        </p:spPr>
        <p:txBody>
          <a:bodyPr wrap="square" lIns="0" rIns="0" tIns="0" bIns="0" anchor="t">
            <a:spAutoFit/>
          </a:bodyPr>
          <a:lstStyle/>
          <a:p>
            <a:pPr algn="ctr">
              <a:lnSpc>
                <a:spcPct val="110000"/>
              </a:lnSpc>
              <a:spcBef>
                <a:spcPts val="0"/>
              </a:spcBef>
              <a:spcAft>
                <a:spcPts val="0"/>
              </a:spcAft>
            </a:pPr>
            <a:r>
              <a:rPr sz="3000" b="1">
                <a:solidFill>
                  <a:srgbClr val="5A5A64"/>
                </a:solidFill>
                <a:latin typeface="Aptos"/>
              </a:rPr>
              <a:t>CLASS 11   -   2026-27</a:t>
            </a:r>
          </a:p>
        </p:txBody>
      </p:sp>
      <p:sp>
        <p:nvSpPr>
          <p:cNvPr id="5" name="TextBox 4"/>
          <p:cNvSpPr txBox="1"/>
          <p:nvPr/>
        </p:nvSpPr>
        <p:spPr>
          <a:xfrm>
            <a:off x="594360" y="1499616"/>
            <a:ext cx="11018520" cy="530352"/>
          </a:xfrm>
          <a:prstGeom prst="rect">
            <a:avLst/>
          </a:prstGeom>
          <a:noFill/>
        </p:spPr>
        <p:txBody>
          <a:bodyPr wrap="square" lIns="0" rIns="0" tIns="0" bIns="0" anchor="t">
            <a:spAutoFit/>
          </a:bodyPr>
          <a:lstStyle/>
          <a:p>
            <a:pPr algn="ctr">
              <a:lnSpc>
                <a:spcPct val="110000"/>
              </a:lnSpc>
              <a:spcBef>
                <a:spcPts val="0"/>
              </a:spcBef>
              <a:spcAft>
                <a:spcPts val="0"/>
              </a:spcAft>
            </a:pPr>
            <a:r>
              <a:rPr sz="3000" b="1">
                <a:solidFill>
                  <a:srgbClr val="FFFFFF"/>
                </a:solidFill>
                <a:latin typeface="Aptos"/>
              </a:rPr>
              <a:t>CLASS 11   -   2026-27</a:t>
            </a:r>
          </a:p>
        </p:txBody>
      </p:sp>
      <p:sp>
        <p:nvSpPr>
          <p:cNvPr id="6" name="Rectangle 5"/>
          <p:cNvSpPr/>
          <p:nvPr/>
        </p:nvSpPr>
        <p:spPr>
          <a:xfrm>
            <a:off x="3794760" y="2084831"/>
            <a:ext cx="4572000" cy="2560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874519" y="2468880"/>
            <a:ext cx="8412480" cy="214884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74519" y="3127248"/>
            <a:ext cx="8412480" cy="1490472"/>
          </a:xfrm>
          <a:prstGeom prst="roundRect">
            <a:avLst/>
          </a:prstGeom>
          <a:solidFill>
            <a:srgbClr val="000000"/>
          </a:solidFill>
          <a:ln w="15875">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80759" y="2615184"/>
            <a:ext cx="16459" cy="384048"/>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74519" y="2596896"/>
            <a:ext cx="4114800" cy="457200"/>
          </a:xfrm>
          <a:prstGeom prst="rect">
            <a:avLst/>
          </a:prstGeom>
          <a:noFill/>
        </p:spPr>
        <p:txBody>
          <a:bodyPr wrap="square" lIns="0" rIns="0" tIns="0" bIns="0" anchor="t">
            <a:spAutoFit/>
          </a:bodyPr>
          <a:lstStyle/>
          <a:p>
            <a:pPr algn="ctr">
              <a:lnSpc>
                <a:spcPct val="110000"/>
              </a:lnSpc>
              <a:spcBef>
                <a:spcPts val="0"/>
              </a:spcBef>
              <a:spcAft>
                <a:spcPts val="0"/>
              </a:spcAft>
            </a:pPr>
            <a:r>
              <a:rPr sz="2500" b="1">
                <a:solidFill>
                  <a:srgbClr val="000000"/>
                </a:solidFill>
                <a:latin typeface="Aptos"/>
              </a:rPr>
              <a:t>Physics</a:t>
            </a:r>
          </a:p>
        </p:txBody>
      </p:sp>
      <p:sp>
        <p:nvSpPr>
          <p:cNvPr id="11" name="TextBox 10"/>
          <p:cNvSpPr txBox="1"/>
          <p:nvPr/>
        </p:nvSpPr>
        <p:spPr>
          <a:xfrm>
            <a:off x="6080759" y="2596896"/>
            <a:ext cx="4206240" cy="457200"/>
          </a:xfrm>
          <a:prstGeom prst="rect">
            <a:avLst/>
          </a:prstGeom>
          <a:noFill/>
        </p:spPr>
        <p:txBody>
          <a:bodyPr wrap="square" lIns="0" rIns="0" tIns="0" bIns="0" anchor="t">
            <a:spAutoFit/>
          </a:bodyPr>
          <a:lstStyle/>
          <a:p>
            <a:pPr algn="ctr">
              <a:lnSpc>
                <a:spcPct val="110000"/>
              </a:lnSpc>
              <a:spcBef>
                <a:spcPts val="0"/>
              </a:spcBef>
              <a:spcAft>
                <a:spcPts val="0"/>
              </a:spcAft>
            </a:pPr>
            <a:r>
              <a:rPr sz="2500" b="1">
                <a:solidFill>
                  <a:srgbClr val="000000"/>
                </a:solidFill>
                <a:latin typeface="Aptos"/>
              </a:rPr>
              <a:t>Motion 03</a:t>
            </a:r>
          </a:p>
        </p:txBody>
      </p:sp>
      <p:sp>
        <p:nvSpPr>
          <p:cNvPr id="12" name="TextBox 11"/>
          <p:cNvSpPr txBox="1"/>
          <p:nvPr/>
        </p:nvSpPr>
        <p:spPr>
          <a:xfrm>
            <a:off x="1874519" y="3401568"/>
            <a:ext cx="8412480" cy="502920"/>
          </a:xfrm>
          <a:prstGeom prst="rect">
            <a:avLst/>
          </a:prstGeom>
          <a:noFill/>
        </p:spPr>
        <p:txBody>
          <a:bodyPr wrap="square" lIns="0" rIns="0" tIns="0" bIns="0" anchor="t">
            <a:spAutoFit/>
          </a:bodyPr>
          <a:lstStyle/>
          <a:p>
            <a:pPr algn="ctr">
              <a:lnSpc>
                <a:spcPct val="110000"/>
              </a:lnSpc>
              <a:spcBef>
                <a:spcPts val="0"/>
              </a:spcBef>
              <a:spcAft>
                <a:spcPts val="0"/>
              </a:spcAft>
            </a:pPr>
            <a:r>
              <a:rPr sz="2800" b="1">
                <a:solidFill>
                  <a:srgbClr val="FFFFFF"/>
                </a:solidFill>
                <a:latin typeface="Georgia"/>
              </a:rPr>
              <a:t>Motion in a Straight Line</a:t>
            </a:r>
          </a:p>
        </p:txBody>
      </p:sp>
      <p:sp>
        <p:nvSpPr>
          <p:cNvPr id="13" name="TextBox 12"/>
          <p:cNvSpPr txBox="1"/>
          <p:nvPr/>
        </p:nvSpPr>
        <p:spPr>
          <a:xfrm>
            <a:off x="1874519" y="3950208"/>
            <a:ext cx="8412480" cy="365760"/>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D646"/>
                </a:solidFill>
                <a:latin typeface="Aptos"/>
              </a:rPr>
              <a:t>New problems · Cube &amp; paths · Speed and average velocity</a:t>
            </a:r>
          </a:p>
        </p:txBody>
      </p:sp>
      <p:sp>
        <p:nvSpPr>
          <p:cNvPr id="14" name="TextBox 13"/>
          <p:cNvSpPr txBox="1"/>
          <p:nvPr/>
        </p:nvSpPr>
        <p:spPr>
          <a:xfrm>
            <a:off x="594360" y="4828032"/>
            <a:ext cx="11018520" cy="457200"/>
          </a:xfrm>
          <a:prstGeom prst="rect">
            <a:avLst/>
          </a:prstGeom>
          <a:noFill/>
        </p:spPr>
        <p:txBody>
          <a:bodyPr wrap="square" lIns="0" rIns="0" tIns="0" bIns="0" anchor="t">
            <a:spAutoFit/>
          </a:bodyPr>
          <a:lstStyle/>
          <a:p>
            <a:pPr algn="ctr">
              <a:lnSpc>
                <a:spcPct val="110000"/>
              </a:lnSpc>
              <a:spcBef>
                <a:spcPts val="0"/>
              </a:spcBef>
              <a:spcAft>
                <a:spcPts val="0"/>
              </a:spcAft>
            </a:pPr>
            <a:r>
              <a:rPr sz="2500" b="1">
                <a:solidFill>
                  <a:srgbClr val="FFFFFF"/>
                </a:solidFill>
                <a:latin typeface="Aptos"/>
              </a:rPr>
              <a:t>By - Excellence Programme</a:t>
            </a:r>
          </a:p>
        </p:txBody>
      </p:sp>
      <p:sp>
        <p:nvSpPr>
          <p:cNvPr id="15" name="TextBox 14"/>
          <p:cNvSpPr txBox="1"/>
          <p:nvPr/>
        </p:nvSpPr>
        <p:spPr>
          <a:xfrm>
            <a:off x="594360" y="5303520"/>
            <a:ext cx="11018520" cy="292608"/>
          </a:xfrm>
          <a:prstGeom prst="rect">
            <a:avLst/>
          </a:prstGeom>
          <a:noFill/>
        </p:spPr>
        <p:txBody>
          <a:bodyPr wrap="square" lIns="0" rIns="0" tIns="0" bIns="0" anchor="t">
            <a:spAutoFit/>
          </a:bodyPr>
          <a:lstStyle/>
          <a:p>
            <a:pPr algn="ctr">
              <a:lnSpc>
                <a:spcPct val="110000"/>
              </a:lnSpc>
              <a:spcBef>
                <a:spcPts val="0"/>
              </a:spcBef>
              <a:spcAft>
                <a:spcPts val="0"/>
              </a:spcAft>
            </a:pPr>
            <a:r>
              <a:rPr sz="1800" b="1">
                <a:solidFill>
                  <a:srgbClr val="B0B6C0"/>
                </a:solidFill>
                <a:latin typeface="Aptos"/>
              </a:rPr>
              <a:t>22 October 2026</a:t>
            </a:r>
          </a:p>
        </p:txBody>
      </p:sp>
      <p:sp>
        <p:nvSpPr>
          <p:cNvPr id="16" name="TextBox 1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94360" y="320040"/>
            <a:ext cx="11018520" cy="585216"/>
          </a:xfrm>
          <a:prstGeom prst="rect">
            <a:avLst/>
          </a:prstGeom>
          <a:noFill/>
        </p:spPr>
        <p:txBody>
          <a:bodyPr wrap="square" lIns="0" rIns="0" tIns="0" bIns="0" anchor="t">
            <a:spAutoFit/>
          </a:bodyPr>
          <a:lstStyle/>
          <a:p>
            <a:pPr algn="l">
              <a:lnSpc>
                <a:spcPct val="110000"/>
              </a:lnSpc>
              <a:spcBef>
                <a:spcPts val="0"/>
              </a:spcBef>
              <a:spcAft>
                <a:spcPts val="0"/>
              </a:spcAft>
            </a:pPr>
            <a:r>
              <a:rPr sz="3200" b="1">
                <a:solidFill>
                  <a:srgbClr val="FFD646"/>
                </a:solidFill>
                <a:latin typeface="Aptos"/>
              </a:rPr>
              <a:t>What is new today</a:t>
            </a:r>
          </a:p>
        </p:txBody>
      </p:sp>
      <p:sp>
        <p:nvSpPr>
          <p:cNvPr id="3" name="Rectangle 2"/>
          <p:cNvSpPr/>
          <p:nvPr/>
        </p:nvSpPr>
        <p:spPr>
          <a:xfrm>
            <a:off x="594360" y="914400"/>
            <a:ext cx="3108960" cy="32004"/>
          </a:xfrm>
          <a:prstGeom prst="rect">
            <a:avLst/>
          </a:prstGeom>
          <a:solidFill>
            <a:srgbClr val="FFD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1097280"/>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143000"/>
            <a:ext cx="384048" cy="292608"/>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01</a:t>
            </a:r>
          </a:p>
        </p:txBody>
      </p:sp>
      <p:sp>
        <p:nvSpPr>
          <p:cNvPr id="6" name="TextBox 5"/>
          <p:cNvSpPr txBox="1"/>
          <p:nvPr/>
        </p:nvSpPr>
        <p:spPr>
          <a:xfrm>
            <a:off x="1143000" y="1143000"/>
            <a:ext cx="9601200" cy="320040"/>
          </a:xfrm>
          <a:prstGeom prst="rect">
            <a:avLst/>
          </a:prstGeom>
          <a:noFill/>
        </p:spPr>
        <p:txBody>
          <a:bodyPr wrap="square" lIns="0" rIns="0" tIns="0" bIns="0" anchor="t">
            <a:spAutoFit/>
          </a:bodyPr>
          <a:lstStyle/>
          <a:p>
            <a:pPr algn="l">
              <a:lnSpc>
                <a:spcPct val="110000"/>
              </a:lnSpc>
              <a:spcBef>
                <a:spcPts val="0"/>
              </a:spcBef>
              <a:spcAft>
                <a:spcPts val="0"/>
              </a:spcAft>
            </a:pPr>
            <a:r>
              <a:rPr sz="1900" b="0">
                <a:solidFill>
                  <a:srgbClr val="FFFFFF"/>
                </a:solidFill>
                <a:latin typeface="Aptos"/>
              </a:rPr>
              <a:t>Cube: fly through air vs crawl on faces</a:t>
            </a:r>
          </a:p>
        </p:txBody>
      </p:sp>
      <p:sp>
        <p:nvSpPr>
          <p:cNvPr id="7" name="Oval 6"/>
          <p:cNvSpPr/>
          <p:nvPr/>
        </p:nvSpPr>
        <p:spPr>
          <a:xfrm>
            <a:off x="594360" y="1755648"/>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801368"/>
            <a:ext cx="384048" cy="292608"/>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02</a:t>
            </a:r>
          </a:p>
        </p:txBody>
      </p:sp>
      <p:sp>
        <p:nvSpPr>
          <p:cNvPr id="9" name="TextBox 8"/>
          <p:cNvSpPr txBox="1"/>
          <p:nvPr/>
        </p:nvSpPr>
        <p:spPr>
          <a:xfrm>
            <a:off x="1143000" y="1801368"/>
            <a:ext cx="9601200" cy="320040"/>
          </a:xfrm>
          <a:prstGeom prst="rect">
            <a:avLst/>
          </a:prstGeom>
          <a:noFill/>
        </p:spPr>
        <p:txBody>
          <a:bodyPr wrap="square" lIns="0" rIns="0" tIns="0" bIns="0" anchor="t">
            <a:spAutoFit/>
          </a:bodyPr>
          <a:lstStyle/>
          <a:p>
            <a:pPr algn="l">
              <a:lnSpc>
                <a:spcPct val="110000"/>
              </a:lnSpc>
              <a:spcBef>
                <a:spcPts val="0"/>
              </a:spcBef>
              <a:spcAft>
                <a:spcPts val="0"/>
              </a:spcAft>
            </a:pPr>
            <a:r>
              <a:rPr sz="1900" b="0">
                <a:solidFill>
                  <a:srgbClr val="FFFFFF"/>
                </a:solidFill>
                <a:latin typeface="Aptos"/>
              </a:rPr>
              <a:t>Carrom path by the mirror method</a:t>
            </a:r>
          </a:p>
        </p:txBody>
      </p:sp>
      <p:sp>
        <p:nvSpPr>
          <p:cNvPr id="10" name="Oval 9"/>
          <p:cNvSpPr/>
          <p:nvPr/>
        </p:nvSpPr>
        <p:spPr>
          <a:xfrm>
            <a:off x="594360" y="2414015"/>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459735"/>
            <a:ext cx="384048" cy="292608"/>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03</a:t>
            </a:r>
          </a:p>
        </p:txBody>
      </p:sp>
      <p:sp>
        <p:nvSpPr>
          <p:cNvPr id="12" name="TextBox 11"/>
          <p:cNvSpPr txBox="1"/>
          <p:nvPr/>
        </p:nvSpPr>
        <p:spPr>
          <a:xfrm>
            <a:off x="1143000" y="2459735"/>
            <a:ext cx="9601200" cy="320040"/>
          </a:xfrm>
          <a:prstGeom prst="rect">
            <a:avLst/>
          </a:prstGeom>
          <a:noFill/>
        </p:spPr>
        <p:txBody>
          <a:bodyPr wrap="square" lIns="0" rIns="0" tIns="0" bIns="0" anchor="t">
            <a:spAutoFit/>
          </a:bodyPr>
          <a:lstStyle/>
          <a:p>
            <a:pPr algn="l">
              <a:lnSpc>
                <a:spcPct val="110000"/>
              </a:lnSpc>
              <a:spcBef>
                <a:spcPts val="0"/>
              </a:spcBef>
              <a:spcAft>
                <a:spcPts val="0"/>
              </a:spcAft>
            </a:pPr>
            <a:r>
              <a:rPr sz="1900" b="0">
                <a:solidFill>
                  <a:srgbClr val="FFFFFF"/>
                </a:solidFill>
                <a:latin typeface="Aptos"/>
              </a:rPr>
              <a:t>Drunkard steps and a rolling wheel</a:t>
            </a:r>
          </a:p>
        </p:txBody>
      </p:sp>
      <p:sp>
        <p:nvSpPr>
          <p:cNvPr id="13" name="Oval 12"/>
          <p:cNvSpPr/>
          <p:nvPr/>
        </p:nvSpPr>
        <p:spPr>
          <a:xfrm>
            <a:off x="594360" y="3072384"/>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118104"/>
            <a:ext cx="384048" cy="292608"/>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04</a:t>
            </a:r>
          </a:p>
        </p:txBody>
      </p:sp>
      <p:sp>
        <p:nvSpPr>
          <p:cNvPr id="15" name="TextBox 14"/>
          <p:cNvSpPr txBox="1"/>
          <p:nvPr/>
        </p:nvSpPr>
        <p:spPr>
          <a:xfrm>
            <a:off x="1143000" y="3118104"/>
            <a:ext cx="9601200" cy="320040"/>
          </a:xfrm>
          <a:prstGeom prst="rect">
            <a:avLst/>
          </a:prstGeom>
          <a:noFill/>
        </p:spPr>
        <p:txBody>
          <a:bodyPr wrap="square" lIns="0" rIns="0" tIns="0" bIns="0" anchor="t">
            <a:spAutoFit/>
          </a:bodyPr>
          <a:lstStyle/>
          <a:p>
            <a:pPr algn="l">
              <a:lnSpc>
                <a:spcPct val="110000"/>
              </a:lnSpc>
              <a:spcBef>
                <a:spcPts val="0"/>
              </a:spcBef>
              <a:spcAft>
                <a:spcPts val="0"/>
              </a:spcAft>
            </a:pPr>
            <a:r>
              <a:rPr sz="1900" b="0">
                <a:solidFill>
                  <a:srgbClr val="FFFFFF"/>
                </a:solidFill>
                <a:latin typeface="Aptos"/>
              </a:rPr>
              <a:t>x(t): catch the turning point inside the time</a:t>
            </a:r>
          </a:p>
        </p:txBody>
      </p:sp>
      <p:sp>
        <p:nvSpPr>
          <p:cNvPr id="16" name="Oval 15"/>
          <p:cNvSpPr/>
          <p:nvPr/>
        </p:nvSpPr>
        <p:spPr>
          <a:xfrm>
            <a:off x="594360" y="3730752"/>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776472"/>
            <a:ext cx="384048" cy="292608"/>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05</a:t>
            </a:r>
          </a:p>
        </p:txBody>
      </p:sp>
      <p:sp>
        <p:nvSpPr>
          <p:cNvPr id="18" name="TextBox 17"/>
          <p:cNvSpPr txBox="1"/>
          <p:nvPr/>
        </p:nvSpPr>
        <p:spPr>
          <a:xfrm>
            <a:off x="1143000" y="3776472"/>
            <a:ext cx="9601200" cy="320040"/>
          </a:xfrm>
          <a:prstGeom prst="rect">
            <a:avLst/>
          </a:prstGeom>
          <a:noFill/>
        </p:spPr>
        <p:txBody>
          <a:bodyPr wrap="square" lIns="0" rIns="0" tIns="0" bIns="0" anchor="t">
            <a:spAutoFit/>
          </a:bodyPr>
          <a:lstStyle/>
          <a:p>
            <a:pPr algn="l">
              <a:lnSpc>
                <a:spcPct val="110000"/>
              </a:lnSpc>
              <a:spcBef>
                <a:spcPts val="0"/>
              </a:spcBef>
              <a:spcAft>
                <a:spcPts val="0"/>
              </a:spcAft>
            </a:pPr>
            <a:r>
              <a:rPr sz="1900" b="0">
                <a:solidFill>
                  <a:srgbClr val="FFFFFF"/>
                </a:solidFill>
                <a:latin typeface="Aptos"/>
              </a:rPr>
              <a:t>Speed, average speed, average velocity</a:t>
            </a:r>
          </a:p>
        </p:txBody>
      </p:sp>
      <p:sp>
        <p:nvSpPr>
          <p:cNvPr id="19" name="Oval 18"/>
          <p:cNvSpPr/>
          <p:nvPr/>
        </p:nvSpPr>
        <p:spPr>
          <a:xfrm>
            <a:off x="594360" y="4389120"/>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434840"/>
            <a:ext cx="384048" cy="292608"/>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06</a:t>
            </a:r>
          </a:p>
        </p:txBody>
      </p:sp>
      <p:sp>
        <p:nvSpPr>
          <p:cNvPr id="21" name="TextBox 20"/>
          <p:cNvSpPr txBox="1"/>
          <p:nvPr/>
        </p:nvSpPr>
        <p:spPr>
          <a:xfrm>
            <a:off x="1143000" y="4434840"/>
            <a:ext cx="9601200" cy="320040"/>
          </a:xfrm>
          <a:prstGeom prst="rect">
            <a:avLst/>
          </a:prstGeom>
          <a:noFill/>
        </p:spPr>
        <p:txBody>
          <a:bodyPr wrap="square" lIns="0" rIns="0" tIns="0" bIns="0" anchor="t">
            <a:spAutoFit/>
          </a:bodyPr>
          <a:lstStyle/>
          <a:p>
            <a:pPr algn="l">
              <a:lnSpc>
                <a:spcPct val="110000"/>
              </a:lnSpc>
              <a:spcBef>
                <a:spcPts val="0"/>
              </a:spcBef>
              <a:spcAft>
                <a:spcPts val="0"/>
              </a:spcAft>
            </a:pPr>
            <a:r>
              <a:rPr sz="1900" b="0">
                <a:solidFill>
                  <a:srgbClr val="FFFFFF"/>
                </a:solidFill>
                <a:latin typeface="Aptos"/>
              </a:rPr>
              <a:t>Two average-speed recipes and their uses</a:t>
            </a:r>
          </a:p>
        </p:txBody>
      </p:sp>
      <p:sp>
        <p:nvSpPr>
          <p:cNvPr id="22" name="TextBox 21"/>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CLASS NOTE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What we will not redo</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a:t>
            </a:r>
          </a:p>
        </p:txBody>
      </p:sp>
      <p:sp>
        <p:nvSpPr>
          <p:cNvPr id="7" name="TextBox 6"/>
          <p:cNvSpPr txBox="1"/>
          <p:nvPr/>
        </p:nvSpPr>
        <p:spPr>
          <a:xfrm>
            <a:off x="594360" y="1078992"/>
            <a:ext cx="11018520" cy="114300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Motion 01 and 02 already fixed frames, distance versus displacement, polygons, circular arcs, and how to read an x–t graph. Those pages stay closed today.</a:t>
            </a:r>
          </a:p>
        </p:txBody>
      </p:sp>
      <p:sp>
        <p:nvSpPr>
          <p:cNvPr id="8" name="TextBox 7"/>
          <p:cNvSpPr txBox="1"/>
          <p:nvPr/>
        </p:nvSpPr>
        <p:spPr>
          <a:xfrm>
            <a:off x="594360" y="2404872"/>
            <a:ext cx="11018520" cy="118872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Today starts where those lectures stop: shortest path on a surface, a reflected carrom shot, a point on a rolling wheel, motion given by x(t), and the first speed–velocity formulas.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FIGURE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Butterfly through a cube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a:t>
            </a:r>
          </a:p>
        </p:txBody>
      </p:sp>
      <p:sp>
        <p:nvSpPr>
          <p:cNvPr id="7" name="TextBox 6"/>
          <p:cNvSpPr txBox="1"/>
          <p:nvPr/>
        </p:nvSpPr>
        <p:spPr>
          <a:xfrm>
            <a:off x="594360" y="1078992"/>
            <a:ext cx="6400800" cy="1325880"/>
          </a:xfrm>
          <a:prstGeom prst="rect">
            <a:avLst/>
          </a:prstGeom>
          <a:noFill/>
        </p:spPr>
        <p:txBody>
          <a:bodyPr wrap="square" lIns="0" rIns="0" tIns="0" bIns="0" anchor="t">
            <a:spAutoFit/>
          </a:bodyPr>
          <a:lstStyle/>
          <a:p>
            <a:pPr algn="l">
              <a:lnSpc>
                <a:spcPct val="128000"/>
              </a:lnSpc>
              <a:spcBef>
                <a:spcPts val="0"/>
              </a:spcBef>
              <a:spcAft>
                <a:spcPts val="0"/>
              </a:spcAft>
            </a:pPr>
            <a:r>
              <a:rPr sz="1500" b="0">
                <a:solidFill>
                  <a:srgbClr val="FFFFFF"/>
                </a:solidFill>
                <a:latin typeface="Aptos"/>
              </a:rPr>
              <a:t>A butterfly can fly. It starts at one corner of a cubical room of side ℓ and reaches the opposite corner. The flight path is unknown, so distance cannot be found. Displacement is the body diagonal.</a:t>
            </a:r>
          </a:p>
        </p:txBody>
      </p:sp>
      <p:cxnSp>
        <p:nvCxnSpPr>
          <p:cNvPr id="8" name="Connector 7"/>
          <p:cNvCxnSpPr/>
          <p:nvPr/>
        </p:nvCxnSpPr>
        <p:spPr>
          <a:xfrm>
            <a:off x="8503920" y="4389120"/>
            <a:ext cx="2011680" cy="0"/>
          </a:xfrm>
          <a:prstGeom prst="line">
            <a:avLst/>
          </a:prstGeom>
          <a:ln w="2032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0515600" y="2377439"/>
            <a:ext cx="0" cy="2011681"/>
          </a:xfrm>
          <a:prstGeom prst="line">
            <a:avLst/>
          </a:prstGeom>
          <a:ln w="2032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8503920" y="2377439"/>
            <a:ext cx="2011680" cy="0"/>
          </a:xfrm>
          <a:prstGeom prst="line">
            <a:avLst/>
          </a:prstGeom>
          <a:ln w="2032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503920" y="2377439"/>
            <a:ext cx="0" cy="2011681"/>
          </a:xfrm>
          <a:prstGeom prst="line">
            <a:avLst/>
          </a:prstGeom>
          <a:ln w="2032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3886200"/>
            <a:ext cx="2011680" cy="0"/>
          </a:xfrm>
          <a:prstGeom prst="line">
            <a:avLst/>
          </a:prstGeom>
          <a:ln w="16510">
            <a:solidFill>
              <a:srgbClr val="B0B6C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155680" y="1874519"/>
            <a:ext cx="0" cy="2011681"/>
          </a:xfrm>
          <a:prstGeom prst="line">
            <a:avLst/>
          </a:prstGeom>
          <a:ln w="16510">
            <a:solidFill>
              <a:srgbClr val="B0B6C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9144000" y="1874519"/>
            <a:ext cx="2011680" cy="0"/>
          </a:xfrm>
          <a:prstGeom prst="line">
            <a:avLst/>
          </a:prstGeom>
          <a:ln w="16510">
            <a:solidFill>
              <a:srgbClr val="B0B6C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144000" y="1874519"/>
            <a:ext cx="0" cy="2011681"/>
          </a:xfrm>
          <a:prstGeom prst="line">
            <a:avLst/>
          </a:prstGeom>
          <a:ln w="16510">
            <a:solidFill>
              <a:srgbClr val="B0B6C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8503920" y="3886200"/>
            <a:ext cx="640080" cy="502920"/>
          </a:xfrm>
          <a:prstGeom prst="line">
            <a:avLst/>
          </a:prstGeom>
          <a:ln w="15240">
            <a:solidFill>
              <a:srgbClr val="B0B6C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0515600" y="3886200"/>
            <a:ext cx="640080" cy="502920"/>
          </a:xfrm>
          <a:prstGeom prst="line">
            <a:avLst/>
          </a:prstGeom>
          <a:ln w="15240">
            <a:solidFill>
              <a:srgbClr val="B0B6C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0515600" y="1874519"/>
            <a:ext cx="640080" cy="502920"/>
          </a:xfrm>
          <a:prstGeom prst="line">
            <a:avLst/>
          </a:prstGeom>
          <a:ln w="15240">
            <a:solidFill>
              <a:srgbClr val="B0B6C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8503920" y="1874519"/>
            <a:ext cx="640080" cy="502920"/>
          </a:xfrm>
          <a:prstGeom prst="line">
            <a:avLst/>
          </a:prstGeom>
          <a:ln w="15240">
            <a:solidFill>
              <a:srgbClr val="B0B6C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8503920" y="1874519"/>
            <a:ext cx="2651760" cy="2514601"/>
          </a:xfrm>
          <a:prstGeom prst="line">
            <a:avLst/>
          </a:prstGeom>
          <a:ln w="33020">
            <a:solidFill>
              <a:srgbClr val="5AD680"/>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498080" y="4343400"/>
            <a:ext cx="1005840" cy="228600"/>
          </a:xfrm>
          <a:prstGeom prst="rect">
            <a:avLst/>
          </a:prstGeom>
          <a:noFill/>
        </p:spPr>
        <p:txBody>
          <a:bodyPr wrap="square" lIns="0" rIns="0" tIns="0" bIns="0" anchor="t">
            <a:spAutoFit/>
          </a:bodyPr>
          <a:lstStyle/>
          <a:p>
            <a:pPr algn="l">
              <a:lnSpc>
                <a:spcPct val="110000"/>
              </a:lnSpc>
              <a:spcBef>
                <a:spcPts val="0"/>
              </a:spcBef>
              <a:spcAft>
                <a:spcPts val="0"/>
              </a:spcAft>
            </a:pPr>
            <a:r>
              <a:rPr sz="1100" b="1">
                <a:solidFill>
                  <a:srgbClr val="5AD680"/>
                </a:solidFill>
                <a:latin typeface="Aptos"/>
              </a:rPr>
              <a:t>(0, 0, 0)</a:t>
            </a:r>
          </a:p>
        </p:txBody>
      </p:sp>
      <p:sp>
        <p:nvSpPr>
          <p:cNvPr id="22" name="TextBox 21"/>
          <p:cNvSpPr txBox="1"/>
          <p:nvPr/>
        </p:nvSpPr>
        <p:spPr>
          <a:xfrm>
            <a:off x="11201400" y="1554479"/>
            <a:ext cx="1097280" cy="228600"/>
          </a:xfrm>
          <a:prstGeom prst="rect">
            <a:avLst/>
          </a:prstGeom>
          <a:noFill/>
        </p:spPr>
        <p:txBody>
          <a:bodyPr wrap="square" lIns="0" rIns="0" tIns="0" bIns="0" anchor="t">
            <a:spAutoFit/>
          </a:bodyPr>
          <a:lstStyle/>
          <a:p>
            <a:pPr algn="l">
              <a:lnSpc>
                <a:spcPct val="110000"/>
              </a:lnSpc>
              <a:spcBef>
                <a:spcPts val="0"/>
              </a:spcBef>
              <a:spcAft>
                <a:spcPts val="0"/>
              </a:spcAft>
            </a:pPr>
            <a:r>
              <a:rPr sz="1100" b="1">
                <a:solidFill>
                  <a:srgbClr val="FFD646"/>
                </a:solidFill>
                <a:latin typeface="Aptos"/>
              </a:rPr>
              <a:t>(ℓ, ℓ, ℓ)</a:t>
            </a:r>
          </a:p>
        </p:txBody>
      </p:sp>
      <p:sp>
        <p:nvSpPr>
          <p:cNvPr id="23" name="TextBox 22"/>
          <p:cNvSpPr txBox="1"/>
          <p:nvPr/>
        </p:nvSpPr>
        <p:spPr>
          <a:xfrm>
            <a:off x="594360" y="2633472"/>
            <a:ext cx="640080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|Δr| = √(ℓ² + ℓ² + ℓ²) = ℓ√3</a:t>
            </a:r>
          </a:p>
        </p:txBody>
      </p:sp>
      <p:sp>
        <p:nvSpPr>
          <p:cNvPr id="24" name="TextBox 23"/>
          <p:cNvSpPr txBox="1"/>
          <p:nvPr/>
        </p:nvSpPr>
        <p:spPr>
          <a:xfrm>
            <a:off x="594360" y="3410711"/>
            <a:ext cx="6400800" cy="45720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Displacement = ℓ√3    ·    distance unknown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FIGURE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Ant on the faces — shortest crawl</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a:t>
            </a:r>
          </a:p>
        </p:txBody>
      </p:sp>
      <p:sp>
        <p:nvSpPr>
          <p:cNvPr id="7" name="TextBox 6"/>
          <p:cNvSpPr txBox="1"/>
          <p:nvPr/>
        </p:nvSpPr>
        <p:spPr>
          <a:xfrm>
            <a:off x="594360" y="1078992"/>
            <a:ext cx="11018520" cy="1143000"/>
          </a:xfrm>
          <a:prstGeom prst="rect">
            <a:avLst/>
          </a:prstGeom>
          <a:noFill/>
        </p:spPr>
        <p:txBody>
          <a:bodyPr wrap="square" lIns="0" rIns="0" tIns="0" bIns="0" anchor="t">
            <a:spAutoFit/>
          </a:bodyPr>
          <a:lstStyle/>
          <a:p>
            <a:pPr algn="l">
              <a:lnSpc>
                <a:spcPct val="128000"/>
              </a:lnSpc>
              <a:spcBef>
                <a:spcPts val="0"/>
              </a:spcBef>
              <a:spcAft>
                <a:spcPts val="0"/>
              </a:spcAft>
            </a:pPr>
            <a:r>
              <a:rPr sz="1500" b="0">
                <a:solidFill>
                  <a:srgbClr val="FFFFFF"/>
                </a:solidFill>
                <a:latin typeface="Aptos"/>
              </a:rPr>
              <a:t>An ant cannot fly. It must stay on the walls. Displacement is still the body diagonal ℓ√3. The shortest distance is found by opening two faces into one flat rectangle and drawing a straight line.</a:t>
            </a:r>
          </a:p>
        </p:txBody>
      </p:sp>
      <p:cxnSp>
        <p:nvCxnSpPr>
          <p:cNvPr id="8" name="Connector 7"/>
          <p:cNvCxnSpPr/>
          <p:nvPr/>
        </p:nvCxnSpPr>
        <p:spPr>
          <a:xfrm>
            <a:off x="2011680" y="5120640"/>
            <a:ext cx="1051560" cy="0"/>
          </a:xfrm>
          <a:prstGeom prst="line">
            <a:avLst/>
          </a:prstGeom>
          <a:ln w="2286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3063240" y="3017520"/>
            <a:ext cx="0" cy="2103120"/>
          </a:xfrm>
          <a:prstGeom prst="line">
            <a:avLst/>
          </a:prstGeom>
          <a:ln w="2286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2011680" y="3017520"/>
            <a:ext cx="1051560" cy="0"/>
          </a:xfrm>
          <a:prstGeom prst="line">
            <a:avLst/>
          </a:prstGeom>
          <a:ln w="2286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11680" y="3017520"/>
            <a:ext cx="0" cy="2103120"/>
          </a:xfrm>
          <a:prstGeom prst="line">
            <a:avLst/>
          </a:prstGeom>
          <a:ln w="2286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11680" y="4069079"/>
            <a:ext cx="1051560" cy="0"/>
          </a:xfrm>
          <a:prstGeom prst="line">
            <a:avLst/>
          </a:prstGeom>
          <a:ln w="15240">
            <a:solidFill>
              <a:srgbClr val="B0B6C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011680" y="3017520"/>
            <a:ext cx="1051560" cy="2103120"/>
          </a:xfrm>
          <a:prstGeom prst="line">
            <a:avLst/>
          </a:prstGeom>
          <a:ln w="33020">
            <a:solidFill>
              <a:srgbClr val="FFD646"/>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371600" y="5029200"/>
            <a:ext cx="640080" cy="228600"/>
          </a:xfrm>
          <a:prstGeom prst="rect">
            <a:avLst/>
          </a:prstGeom>
          <a:noFill/>
        </p:spPr>
        <p:txBody>
          <a:bodyPr wrap="square" lIns="0" rIns="0" tIns="0" bIns="0" anchor="t">
            <a:spAutoFit/>
          </a:bodyPr>
          <a:lstStyle/>
          <a:p>
            <a:pPr algn="l">
              <a:lnSpc>
                <a:spcPct val="110000"/>
              </a:lnSpc>
              <a:spcBef>
                <a:spcPts val="0"/>
              </a:spcBef>
              <a:spcAft>
                <a:spcPts val="0"/>
              </a:spcAft>
            </a:pPr>
            <a:r>
              <a:rPr sz="1200" b="1">
                <a:solidFill>
                  <a:srgbClr val="5AD680"/>
                </a:solidFill>
                <a:latin typeface="Aptos"/>
              </a:rPr>
              <a:t>start</a:t>
            </a:r>
          </a:p>
        </p:txBody>
      </p:sp>
      <p:sp>
        <p:nvSpPr>
          <p:cNvPr id="15" name="TextBox 14"/>
          <p:cNvSpPr txBox="1"/>
          <p:nvPr/>
        </p:nvSpPr>
        <p:spPr>
          <a:xfrm>
            <a:off x="3136392" y="2971800"/>
            <a:ext cx="548640" cy="228600"/>
          </a:xfrm>
          <a:prstGeom prst="rect">
            <a:avLst/>
          </a:prstGeom>
          <a:noFill/>
        </p:spPr>
        <p:txBody>
          <a:bodyPr wrap="square" lIns="0" rIns="0" tIns="0" bIns="0" anchor="t">
            <a:spAutoFit/>
          </a:bodyPr>
          <a:lstStyle/>
          <a:p>
            <a:pPr algn="l">
              <a:lnSpc>
                <a:spcPct val="110000"/>
              </a:lnSpc>
              <a:spcBef>
                <a:spcPts val="0"/>
              </a:spcBef>
              <a:spcAft>
                <a:spcPts val="0"/>
              </a:spcAft>
            </a:pPr>
            <a:r>
              <a:rPr sz="1200" b="1">
                <a:solidFill>
                  <a:srgbClr val="FFD646"/>
                </a:solidFill>
                <a:latin typeface="Aptos"/>
              </a:rPr>
              <a:t>end</a:t>
            </a:r>
          </a:p>
        </p:txBody>
      </p:sp>
      <p:sp>
        <p:nvSpPr>
          <p:cNvPr id="16" name="TextBox 15"/>
          <p:cNvSpPr txBox="1"/>
          <p:nvPr/>
        </p:nvSpPr>
        <p:spPr>
          <a:xfrm>
            <a:off x="2331720" y="5193792"/>
            <a:ext cx="365760" cy="201168"/>
          </a:xfrm>
          <a:prstGeom prst="rect">
            <a:avLst/>
          </a:prstGeom>
          <a:noFill/>
        </p:spPr>
        <p:txBody>
          <a:bodyPr wrap="square" lIns="0" rIns="0" tIns="0" bIns="0" anchor="t">
            <a:spAutoFit/>
          </a:bodyPr>
          <a:lstStyle/>
          <a:p>
            <a:pPr algn="l">
              <a:lnSpc>
                <a:spcPct val="110000"/>
              </a:lnSpc>
              <a:spcBef>
                <a:spcPts val="0"/>
              </a:spcBef>
              <a:spcAft>
                <a:spcPts val="0"/>
              </a:spcAft>
            </a:pPr>
            <a:r>
              <a:rPr sz="1200" b="1">
                <a:solidFill>
                  <a:srgbClr val="B0B6C0"/>
                </a:solidFill>
                <a:latin typeface="Aptos"/>
              </a:rPr>
              <a:t>ℓ</a:t>
            </a:r>
          </a:p>
        </p:txBody>
      </p:sp>
      <p:sp>
        <p:nvSpPr>
          <p:cNvPr id="17" name="TextBox 16"/>
          <p:cNvSpPr txBox="1"/>
          <p:nvPr/>
        </p:nvSpPr>
        <p:spPr>
          <a:xfrm>
            <a:off x="1600200" y="4069079"/>
            <a:ext cx="411480" cy="201168"/>
          </a:xfrm>
          <a:prstGeom prst="rect">
            <a:avLst/>
          </a:prstGeom>
          <a:noFill/>
        </p:spPr>
        <p:txBody>
          <a:bodyPr wrap="square" lIns="0" rIns="0" tIns="0" bIns="0" anchor="t">
            <a:spAutoFit/>
          </a:bodyPr>
          <a:lstStyle/>
          <a:p>
            <a:pPr algn="l">
              <a:lnSpc>
                <a:spcPct val="110000"/>
              </a:lnSpc>
              <a:spcBef>
                <a:spcPts val="0"/>
              </a:spcBef>
              <a:spcAft>
                <a:spcPts val="0"/>
              </a:spcAft>
            </a:pPr>
            <a:r>
              <a:rPr sz="1200" b="1">
                <a:solidFill>
                  <a:srgbClr val="B0B6C0"/>
                </a:solidFill>
                <a:latin typeface="Aptos"/>
              </a:rPr>
              <a:t>2ℓ</a:t>
            </a:r>
          </a:p>
        </p:txBody>
      </p:sp>
      <p:sp>
        <p:nvSpPr>
          <p:cNvPr id="18" name="TextBox 17"/>
          <p:cNvSpPr txBox="1"/>
          <p:nvPr/>
        </p:nvSpPr>
        <p:spPr>
          <a:xfrm>
            <a:off x="6035040" y="2377440"/>
            <a:ext cx="5303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min distance = √((2ℓ)² + ℓ²) = ℓ√5</a:t>
            </a:r>
          </a:p>
        </p:txBody>
      </p:sp>
      <p:sp>
        <p:nvSpPr>
          <p:cNvPr id="19" name="TextBox 18"/>
          <p:cNvSpPr txBox="1"/>
          <p:nvPr/>
        </p:nvSpPr>
        <p:spPr>
          <a:xfrm>
            <a:off x="6035040" y="2926080"/>
            <a:ext cx="5303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displacement stays ℓ√3</a:t>
            </a:r>
          </a:p>
        </p:txBody>
      </p:sp>
      <p:sp>
        <p:nvSpPr>
          <p:cNvPr id="20" name="TextBox 19"/>
          <p:cNvSpPr txBox="1"/>
          <p:nvPr/>
        </p:nvSpPr>
        <p:spPr>
          <a:xfrm>
            <a:off x="6035040" y="3931920"/>
            <a:ext cx="5303520" cy="54864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3ℓ along three edges is a possible crawl, not the shortest.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FIGURE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Carrom — mirror the board</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7</a:t>
            </a:r>
          </a:p>
        </p:txBody>
      </p:sp>
      <p:sp>
        <p:nvSpPr>
          <p:cNvPr id="7" name="TextBox 6"/>
          <p:cNvSpPr txBox="1"/>
          <p:nvPr/>
        </p:nvSpPr>
        <p:spPr>
          <a:xfrm>
            <a:off x="594360" y="1078992"/>
            <a:ext cx="11018520" cy="1097280"/>
          </a:xfrm>
          <a:prstGeom prst="rect">
            <a:avLst/>
          </a:prstGeom>
          <a:noFill/>
        </p:spPr>
        <p:txBody>
          <a:bodyPr wrap="square" lIns="0" rIns="0" tIns="0" bIns="0" anchor="t">
            <a:spAutoFit/>
          </a:bodyPr>
          <a:lstStyle/>
          <a:p>
            <a:pPr algn="l">
              <a:lnSpc>
                <a:spcPct val="128000"/>
              </a:lnSpc>
              <a:spcBef>
                <a:spcPts val="0"/>
              </a:spcBef>
              <a:spcAft>
                <a:spcPts val="0"/>
              </a:spcAft>
            </a:pPr>
            <a:r>
              <a:rPr sz="1500" b="0">
                <a:solidFill>
                  <a:srgbClr val="FFFFFF"/>
                </a:solidFill>
                <a:latin typeface="Aptos"/>
              </a:rPr>
              <a:t>A 4 ft × 4 ft board. The queen starts at the centre, hits the front edge, and falls into the hole behind the striking line. Reflect the board across that edge. The straight line on the double board is the real path length.</a:t>
            </a:r>
          </a:p>
        </p:txBody>
      </p:sp>
      <p:cxnSp>
        <p:nvCxnSpPr>
          <p:cNvPr id="8" name="Connector 7"/>
          <p:cNvCxnSpPr/>
          <p:nvPr/>
        </p:nvCxnSpPr>
        <p:spPr>
          <a:xfrm>
            <a:off x="1828800" y="5029200"/>
            <a:ext cx="2011680" cy="0"/>
          </a:xfrm>
          <a:prstGeom prst="line">
            <a:avLst/>
          </a:prstGeom>
          <a:ln w="25400">
            <a:solidFill>
              <a:srgbClr val="FF9E4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828800" y="3017520"/>
            <a:ext cx="0" cy="2011680"/>
          </a:xfrm>
          <a:prstGeom prst="line">
            <a:avLst/>
          </a:prstGeom>
          <a:ln w="2032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3840480" y="3017520"/>
            <a:ext cx="0" cy="2011680"/>
          </a:xfrm>
          <a:prstGeom prst="line">
            <a:avLst/>
          </a:prstGeom>
          <a:ln w="2032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828800" y="3017520"/>
            <a:ext cx="2011680" cy="0"/>
          </a:xfrm>
          <a:prstGeom prst="line">
            <a:avLst/>
          </a:prstGeom>
          <a:ln w="2032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828800" y="5029200"/>
            <a:ext cx="0" cy="2011680"/>
          </a:xfrm>
          <a:prstGeom prst="line">
            <a:avLst/>
          </a:prstGeom>
          <a:ln w="16510">
            <a:solidFill>
              <a:srgbClr val="B0B6C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840480" y="5029200"/>
            <a:ext cx="0" cy="2011680"/>
          </a:xfrm>
          <a:prstGeom prst="line">
            <a:avLst/>
          </a:prstGeom>
          <a:ln w="16510">
            <a:solidFill>
              <a:srgbClr val="B0B6C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828800" y="7040880"/>
            <a:ext cx="2011680" cy="0"/>
          </a:xfrm>
          <a:prstGeom prst="line">
            <a:avLst/>
          </a:prstGeom>
          <a:ln w="16510">
            <a:solidFill>
              <a:srgbClr val="B0B6C0"/>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2793492" y="3982212"/>
            <a:ext cx="82296" cy="82296"/>
          </a:xfrm>
          <a:prstGeom prst="ellipse">
            <a:avLst/>
          </a:prstGeom>
          <a:solidFill>
            <a:srgbClr val="FFD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26080" y="3977640"/>
            <a:ext cx="274320" cy="201168"/>
          </a:xfrm>
          <a:prstGeom prst="rect">
            <a:avLst/>
          </a:prstGeom>
          <a:noFill/>
        </p:spPr>
        <p:txBody>
          <a:bodyPr wrap="square" lIns="0" rIns="0" tIns="0" bIns="0" anchor="t">
            <a:spAutoFit/>
          </a:bodyPr>
          <a:lstStyle/>
          <a:p>
            <a:pPr algn="l">
              <a:lnSpc>
                <a:spcPct val="110000"/>
              </a:lnSpc>
              <a:spcBef>
                <a:spcPts val="0"/>
              </a:spcBef>
              <a:spcAft>
                <a:spcPts val="0"/>
              </a:spcAft>
            </a:pPr>
            <a:r>
              <a:rPr sz="1200" b="1">
                <a:solidFill>
                  <a:srgbClr val="FFD646"/>
                </a:solidFill>
                <a:latin typeface="Aptos"/>
              </a:rPr>
              <a:t>O</a:t>
            </a:r>
          </a:p>
        </p:txBody>
      </p:sp>
      <p:cxnSp>
        <p:nvCxnSpPr>
          <p:cNvPr id="17" name="Connector 16"/>
          <p:cNvCxnSpPr/>
          <p:nvPr/>
        </p:nvCxnSpPr>
        <p:spPr>
          <a:xfrm>
            <a:off x="2834640" y="4023360"/>
            <a:ext cx="0" cy="2011680"/>
          </a:xfrm>
          <a:prstGeom prst="line">
            <a:avLst/>
          </a:prstGeom>
          <a:ln w="30480">
            <a:solidFill>
              <a:srgbClr val="5AD680"/>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926080" y="5943600"/>
            <a:ext cx="731520" cy="201168"/>
          </a:xfrm>
          <a:prstGeom prst="rect">
            <a:avLst/>
          </a:prstGeom>
          <a:noFill/>
        </p:spPr>
        <p:txBody>
          <a:bodyPr wrap="square" lIns="0" rIns="0" tIns="0" bIns="0" anchor="t">
            <a:spAutoFit/>
          </a:bodyPr>
          <a:lstStyle/>
          <a:p>
            <a:pPr algn="l">
              <a:lnSpc>
                <a:spcPct val="110000"/>
              </a:lnSpc>
              <a:spcBef>
                <a:spcPts val="0"/>
              </a:spcBef>
              <a:spcAft>
                <a:spcPts val="0"/>
              </a:spcAft>
            </a:pPr>
            <a:r>
              <a:rPr sz="1100" b="1">
                <a:solidFill>
                  <a:srgbClr val="5AD680"/>
                </a:solidFill>
                <a:latin typeface="Aptos"/>
              </a:rPr>
              <a:t>image</a:t>
            </a:r>
          </a:p>
        </p:txBody>
      </p:sp>
      <p:sp>
        <p:nvSpPr>
          <p:cNvPr id="19" name="TextBox 18"/>
          <p:cNvSpPr txBox="1"/>
          <p:nvPr/>
        </p:nvSpPr>
        <p:spPr>
          <a:xfrm>
            <a:off x="6766560" y="2286000"/>
            <a:ext cx="475488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path = √(6² + 2²) = √40 = 2√10 ft</a:t>
            </a:r>
          </a:p>
        </p:txBody>
      </p:sp>
      <p:sp>
        <p:nvSpPr>
          <p:cNvPr id="20" name="TextBox 19"/>
          <p:cNvSpPr txBox="1"/>
          <p:nvPr/>
        </p:nvSpPr>
        <p:spPr>
          <a:xfrm>
            <a:off x="6766560" y="2834640"/>
            <a:ext cx="4754880" cy="384048"/>
          </a:xfrm>
          <a:prstGeom prst="rect">
            <a:avLst/>
          </a:prstGeom>
          <a:noFill/>
        </p:spPr>
        <p:txBody>
          <a:bodyPr wrap="square" lIns="0" rIns="0" tIns="0" bIns="0" anchor="t">
            <a:spAutoFit/>
          </a:bodyPr>
          <a:lstStyle/>
          <a:p>
            <a:pPr algn="l">
              <a:lnSpc>
                <a:spcPct val="110000"/>
              </a:lnSpc>
              <a:spcBef>
                <a:spcPts val="0"/>
              </a:spcBef>
              <a:spcAft>
                <a:spcPts val="0"/>
              </a:spcAft>
            </a:pPr>
            <a:r>
              <a:rPr sz="1260" b="1">
                <a:solidFill>
                  <a:srgbClr val="5AC8FF"/>
                </a:solidFill>
                <a:latin typeface="Aptos"/>
              </a:rPr>
              <a:t>displacement = centre to corner = 2√2 ft</a:t>
            </a:r>
          </a:p>
        </p:txBody>
      </p:sp>
      <p:sp>
        <p:nvSpPr>
          <p:cNvPr id="21" name="TextBox 20"/>
          <p:cNvSpPr txBox="1"/>
          <p:nvPr/>
        </p:nvSpPr>
        <p:spPr>
          <a:xfrm>
            <a:off x="6766560" y="3931920"/>
            <a:ext cx="4754880" cy="50292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distance 2√10 ft   ·   |displacement| 2√2 ft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EXAMPLE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Drunkard and the pit</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8</a:t>
            </a:r>
          </a:p>
        </p:txBody>
      </p:sp>
      <p:sp>
        <p:nvSpPr>
          <p:cNvPr id="7" name="TextBox 6"/>
          <p:cNvSpPr txBox="1"/>
          <p:nvPr/>
        </p:nvSpPr>
        <p:spPr>
          <a:xfrm>
            <a:off x="594360" y="1078992"/>
            <a:ext cx="11018520" cy="91440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He takes 5 steps forward and 3 steps back, again and again. Each step is 1 m and takes 1 s. A pit is 11 m ahead.</a:t>
            </a:r>
          </a:p>
        </p:txBody>
      </p:sp>
      <p:sp>
        <p:nvSpPr>
          <p:cNvPr id="8" name="TextBox 7"/>
          <p:cNvSpPr txBox="1"/>
          <p:nvPr/>
        </p:nvSpPr>
        <p:spPr>
          <a:xfrm>
            <a:off x="594360" y="21762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One cycle: +5 then −3  →  net +2 m in 8 s</a:t>
            </a:r>
          </a:p>
        </p:txBody>
      </p:sp>
      <p:sp>
        <p:nvSpPr>
          <p:cNvPr id="9" name="TextBox 8"/>
          <p:cNvSpPr txBox="1"/>
          <p:nvPr/>
        </p:nvSpPr>
        <p:spPr>
          <a:xfrm>
            <a:off x="594360" y="272491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Three cycles: 6 m in 24 s. He is still short of the pit.</a:t>
            </a:r>
          </a:p>
        </p:txBody>
      </p:sp>
      <p:sp>
        <p:nvSpPr>
          <p:cNvPr id="10" name="TextBox 9"/>
          <p:cNvSpPr txBox="1"/>
          <p:nvPr/>
        </p:nvSpPr>
        <p:spPr>
          <a:xfrm>
            <a:off x="594360" y="327355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Next 5 forward steps: 6 + 5 = 11 m. He falls in. No return.</a:t>
            </a:r>
          </a:p>
        </p:txBody>
      </p:sp>
      <p:sp>
        <p:nvSpPr>
          <p:cNvPr id="11" name="TextBox 10"/>
          <p:cNvSpPr txBox="1"/>
          <p:nvPr/>
        </p:nvSpPr>
        <p:spPr>
          <a:xfrm>
            <a:off x="594360" y="400507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Time = 24 + 5 = 29 s</a:t>
            </a:r>
          </a:p>
        </p:txBody>
      </p:sp>
      <p:sp>
        <p:nvSpPr>
          <p:cNvPr id="12" name="TextBox 11"/>
          <p:cNvSpPr txBox="1"/>
          <p:nvPr/>
        </p:nvSpPr>
        <p:spPr>
          <a:xfrm>
            <a:off x="594360" y="464515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Do not add a backward 3 after he has already reached 11 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MCQ — time to the pit</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9</a:t>
            </a:r>
          </a:p>
        </p:txBody>
      </p:sp>
      <p:sp>
        <p:nvSpPr>
          <p:cNvPr id="7" name="TextBox 6"/>
          <p:cNvSpPr txBox="1"/>
          <p:nvPr/>
        </p:nvSpPr>
        <p:spPr>
          <a:xfrm>
            <a:off x="594360" y="107899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The drunkard falls into the pit after</a:t>
            </a:r>
          </a:p>
        </p:txBody>
      </p:sp>
      <p:sp>
        <p:nvSpPr>
          <p:cNvPr id="8" name="Oval 7"/>
          <p:cNvSpPr/>
          <p:nvPr/>
        </p:nvSpPr>
        <p:spPr>
          <a:xfrm>
            <a:off x="594360" y="1865376"/>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883664"/>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1014984" y="1847088"/>
            <a:ext cx="10597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21 s</a:t>
            </a:r>
          </a:p>
        </p:txBody>
      </p:sp>
      <p:sp>
        <p:nvSpPr>
          <p:cNvPr id="11" name="Oval 10"/>
          <p:cNvSpPr/>
          <p:nvPr/>
        </p:nvSpPr>
        <p:spPr>
          <a:xfrm>
            <a:off x="594360" y="2340864"/>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359152"/>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1014984" y="2322576"/>
            <a:ext cx="10597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29 s</a:t>
            </a:r>
          </a:p>
        </p:txBody>
      </p:sp>
      <p:sp>
        <p:nvSpPr>
          <p:cNvPr id="14" name="Oval 13"/>
          <p:cNvSpPr/>
          <p:nvPr/>
        </p:nvSpPr>
        <p:spPr>
          <a:xfrm>
            <a:off x="594360" y="2816352"/>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834640"/>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1014984" y="2798064"/>
            <a:ext cx="10597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31 s</a:t>
            </a:r>
          </a:p>
        </p:txBody>
      </p:sp>
      <p:sp>
        <p:nvSpPr>
          <p:cNvPr id="17" name="Oval 16"/>
          <p:cNvSpPr/>
          <p:nvPr/>
        </p:nvSpPr>
        <p:spPr>
          <a:xfrm>
            <a:off x="594360" y="3291840"/>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310128"/>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1014984" y="3273552"/>
            <a:ext cx="10597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37 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MCQ — time to the pit</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10</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Step 1:  8 + 8 + 8 + 5 = 29 s</a:t>
            </a:r>
          </a:p>
        </p:txBody>
      </p:sp>
      <p:sp>
        <p:nvSpPr>
          <p:cNvPr id="8" name="TextBox 7"/>
          <p:cNvSpPr txBox="1"/>
          <p:nvPr/>
        </p:nvSpPr>
        <p:spPr>
          <a:xfrm>
            <a:off x="594360" y="1901952"/>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Answer: 29 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409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FIGURE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Point on a pure-rolling wheel</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11</a:t>
            </a:r>
          </a:p>
        </p:txBody>
      </p:sp>
      <p:sp>
        <p:nvSpPr>
          <p:cNvPr id="7" name="TextBox 6"/>
          <p:cNvSpPr txBox="1"/>
          <p:nvPr/>
        </p:nvSpPr>
        <p:spPr>
          <a:xfrm>
            <a:off x="594360" y="1078992"/>
            <a:ext cx="11018520" cy="960120"/>
          </a:xfrm>
          <a:prstGeom prst="rect">
            <a:avLst/>
          </a:prstGeom>
          <a:noFill/>
        </p:spPr>
        <p:txBody>
          <a:bodyPr wrap="square" lIns="0" rIns="0" tIns="0" bIns="0" anchor="t">
            <a:spAutoFit/>
          </a:bodyPr>
          <a:lstStyle/>
          <a:p>
            <a:pPr algn="l">
              <a:lnSpc>
                <a:spcPct val="128000"/>
              </a:lnSpc>
              <a:spcBef>
                <a:spcPts val="0"/>
              </a:spcBef>
              <a:spcAft>
                <a:spcPts val="0"/>
              </a:spcAft>
            </a:pPr>
            <a:r>
              <a:rPr sz="1500" b="0">
                <a:solidFill>
                  <a:srgbClr val="FFFFFF"/>
                </a:solidFill>
                <a:latin typeface="Aptos"/>
              </a:rPr>
              <a:t>A wheel of radius R rolls without slipping. Point P starts at the bottom, touching the road. We want the displacement of P, not the path length of P.</a:t>
            </a:r>
          </a:p>
        </p:txBody>
      </p:sp>
      <p:sp>
        <p:nvSpPr>
          <p:cNvPr id="8" name="Oval 7"/>
          <p:cNvSpPr/>
          <p:nvPr/>
        </p:nvSpPr>
        <p:spPr>
          <a:xfrm>
            <a:off x="1371600" y="3566159"/>
            <a:ext cx="1280160" cy="1280160"/>
          </a:xfrm>
          <a:prstGeom prst="ellipse">
            <a:avLst/>
          </a:prstGeom>
          <a:solidFill>
            <a:srgbClr val="281212"/>
          </a:solidFill>
          <a:ln w="22860">
            <a:solidFill>
              <a:srgbClr val="FF9E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029200" y="3566159"/>
            <a:ext cx="1280160" cy="1280160"/>
          </a:xfrm>
          <a:prstGeom prst="ellipse">
            <a:avLst/>
          </a:prstGeom>
          <a:solidFill>
            <a:srgbClr val="281212"/>
          </a:solidFill>
          <a:ln w="22860">
            <a:solidFill>
              <a:srgbClr val="FF9E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1097280" y="4892040"/>
            <a:ext cx="6400799" cy="0"/>
          </a:xfrm>
          <a:prstGeom prst="line">
            <a:avLst/>
          </a:prstGeom>
          <a:ln w="17780">
            <a:solidFill>
              <a:srgbClr val="B0B6C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970532" y="4759452"/>
            <a:ext cx="82296" cy="82296"/>
          </a:xfrm>
          <a:prstGeom prst="ellipse">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28132" y="4759452"/>
            <a:ext cx="82296" cy="82296"/>
          </a:xfrm>
          <a:prstGeom prst="ellipse">
            <a:avLst/>
          </a:prstGeom>
          <a:solidFill>
            <a:srgbClr val="FFD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2194560" y="5212080"/>
            <a:ext cx="3291840" cy="0"/>
          </a:xfrm>
          <a:prstGeom prst="line">
            <a:avLst/>
          </a:prstGeom>
          <a:ln w="27940">
            <a:solidFill>
              <a:srgbClr val="5AD680"/>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371600" y="5349240"/>
            <a:ext cx="5029200" cy="274320"/>
          </a:xfrm>
          <a:prstGeom prst="rect">
            <a:avLst/>
          </a:prstGeom>
          <a:noFill/>
        </p:spPr>
        <p:txBody>
          <a:bodyPr wrap="square" lIns="0" rIns="0" tIns="0" bIns="0" anchor="t">
            <a:spAutoFit/>
          </a:bodyPr>
          <a:lstStyle/>
          <a:p>
            <a:pPr algn="l">
              <a:lnSpc>
                <a:spcPct val="110000"/>
              </a:lnSpc>
              <a:spcBef>
                <a:spcPts val="0"/>
              </a:spcBef>
              <a:spcAft>
                <a:spcPts val="0"/>
              </a:spcAft>
            </a:pPr>
            <a:r>
              <a:rPr sz="1400" b="1">
                <a:solidFill>
                  <a:srgbClr val="5AD680"/>
                </a:solidFill>
                <a:latin typeface="Aptos"/>
              </a:rPr>
              <a:t>full turn: |Δr| = 2πR</a:t>
            </a:r>
          </a:p>
        </p:txBody>
      </p:sp>
      <p:sp>
        <p:nvSpPr>
          <p:cNvPr id="15" name="TextBox 14"/>
          <p:cNvSpPr txBox="1"/>
          <p:nvPr/>
        </p:nvSpPr>
        <p:spPr>
          <a:xfrm>
            <a:off x="7863840" y="2103120"/>
            <a:ext cx="3657600" cy="320040"/>
          </a:xfrm>
          <a:prstGeom prst="rect">
            <a:avLst/>
          </a:prstGeom>
          <a:noFill/>
        </p:spPr>
        <p:txBody>
          <a:bodyPr wrap="square" lIns="0" rIns="0" tIns="0" bIns="0" anchor="t">
            <a:spAutoFit/>
          </a:bodyPr>
          <a:lstStyle/>
          <a:p>
            <a:pPr algn="l">
              <a:lnSpc>
                <a:spcPct val="110000"/>
              </a:lnSpc>
              <a:spcBef>
                <a:spcPts val="0"/>
              </a:spcBef>
              <a:spcAft>
                <a:spcPts val="0"/>
              </a:spcAft>
            </a:pPr>
            <a:r>
              <a:rPr sz="1600" b="1">
                <a:solidFill>
                  <a:srgbClr val="FFD646"/>
                </a:solidFill>
                <a:latin typeface="Aptos"/>
              </a:rPr>
              <a:t>Half turn</a:t>
            </a:r>
          </a:p>
        </p:txBody>
      </p:sp>
      <p:sp>
        <p:nvSpPr>
          <p:cNvPr id="16" name="TextBox 15"/>
          <p:cNvSpPr txBox="1"/>
          <p:nvPr/>
        </p:nvSpPr>
        <p:spPr>
          <a:xfrm>
            <a:off x="7680960" y="2560320"/>
            <a:ext cx="4023360" cy="384048"/>
          </a:xfrm>
          <a:prstGeom prst="rect">
            <a:avLst/>
          </a:prstGeom>
          <a:noFill/>
        </p:spPr>
        <p:txBody>
          <a:bodyPr wrap="square" lIns="0" rIns="0" tIns="0" bIns="0" anchor="t">
            <a:spAutoFit/>
          </a:bodyPr>
          <a:lstStyle/>
          <a:p>
            <a:pPr algn="l">
              <a:lnSpc>
                <a:spcPct val="110000"/>
              </a:lnSpc>
              <a:spcBef>
                <a:spcPts val="0"/>
              </a:spcBef>
              <a:spcAft>
                <a:spcPts val="0"/>
              </a:spcAft>
            </a:pPr>
            <a:r>
              <a:rPr sz="1260" b="1">
                <a:solidFill>
                  <a:srgbClr val="5AC8FF"/>
                </a:solidFill>
                <a:latin typeface="Aptos"/>
              </a:rPr>
              <a:t>|Δr| = √((πR)² + (2R)²)</a:t>
            </a:r>
          </a:p>
        </p:txBody>
      </p:sp>
      <p:sp>
        <p:nvSpPr>
          <p:cNvPr id="17" name="TextBox 16"/>
          <p:cNvSpPr txBox="1"/>
          <p:nvPr/>
        </p:nvSpPr>
        <p:spPr>
          <a:xfrm>
            <a:off x="7680960" y="3108960"/>
            <a:ext cx="402336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 = R √(π² + 4)</a:t>
            </a:r>
          </a:p>
        </p:txBody>
      </p:sp>
      <p:sp>
        <p:nvSpPr>
          <p:cNvPr id="18" name="TextBox 17"/>
          <p:cNvSpPr txBox="1"/>
          <p:nvPr/>
        </p:nvSpPr>
        <p:spPr>
          <a:xfrm>
            <a:off x="7680960" y="4114800"/>
            <a:ext cx="4023360" cy="77724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Full turn brings P back to the road, but the wheel has moved forward.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METHOD</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Position given by x(t)</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13</a:t>
            </a:r>
          </a:p>
        </p:txBody>
      </p:sp>
      <p:sp>
        <p:nvSpPr>
          <p:cNvPr id="7" name="TextBox 6"/>
          <p:cNvSpPr txBox="1"/>
          <p:nvPr/>
        </p:nvSpPr>
        <p:spPr>
          <a:xfrm>
            <a:off x="594360" y="1078992"/>
            <a:ext cx="11018520" cy="1143000"/>
          </a:xfrm>
          <a:prstGeom prst="rect">
            <a:avLst/>
          </a:prstGeom>
          <a:noFill/>
        </p:spPr>
        <p:txBody>
          <a:bodyPr wrap="square" lIns="0" rIns="0" tIns="0" bIns="0" anchor="t">
            <a:spAutoFit/>
          </a:bodyPr>
          <a:lstStyle/>
          <a:p>
            <a:pPr algn="l">
              <a:lnSpc>
                <a:spcPct val="128000"/>
              </a:lnSpc>
              <a:spcBef>
                <a:spcPts val="0"/>
              </a:spcBef>
              <a:spcAft>
                <a:spcPts val="0"/>
              </a:spcAft>
            </a:pPr>
            <a:r>
              <a:rPr sz="1500" b="0">
                <a:solidFill>
                  <a:srgbClr val="FFFFFF"/>
                </a:solidFill>
                <a:latin typeface="Aptos"/>
              </a:rPr>
              <a:t>When the question gives x as a formula in t, do not assume the object keeps one direction. Find the instant when velocity is zero. If that instant lies inside the asked time, the object turned there.</a:t>
            </a:r>
          </a:p>
        </p:txBody>
      </p:sp>
      <p:sp>
        <p:nvSpPr>
          <p:cNvPr id="8" name="TextBox 7"/>
          <p:cNvSpPr txBox="1"/>
          <p:nvPr/>
        </p:nvSpPr>
        <p:spPr>
          <a:xfrm>
            <a:off x="594360" y="24048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1.  v = dx/dt. Set v = 0 and solve for t.</a:t>
            </a:r>
          </a:p>
        </p:txBody>
      </p:sp>
      <p:sp>
        <p:nvSpPr>
          <p:cNvPr id="9" name="TextBox 8"/>
          <p:cNvSpPr txBox="1"/>
          <p:nvPr/>
        </p:nvSpPr>
        <p:spPr>
          <a:xfrm>
            <a:off x="594360" y="295351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2.  Keep a root only if it lies between the start and end times.</a:t>
            </a:r>
          </a:p>
        </p:txBody>
      </p:sp>
      <p:sp>
        <p:nvSpPr>
          <p:cNvPr id="10" name="TextBox 9"/>
          <p:cNvSpPr txBox="1"/>
          <p:nvPr/>
        </p:nvSpPr>
        <p:spPr>
          <a:xfrm>
            <a:off x="594360" y="350215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3.  Displacement = x(end) − x(start).</a:t>
            </a:r>
          </a:p>
        </p:txBody>
      </p:sp>
      <p:sp>
        <p:nvSpPr>
          <p:cNvPr id="11" name="TextBox 10"/>
          <p:cNvSpPr txBox="1"/>
          <p:nvPr/>
        </p:nvSpPr>
        <p:spPr>
          <a:xfrm>
            <a:off x="594360" y="405079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4.  Distance = sum of |Δx| on each piece split by the turn.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EXAMPLE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x = t² − 4t + 2, from 0 to 3 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14</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v = 2t − 4 = 0  →  t = 2 s  (inside 0 to 3)</a:t>
            </a:r>
          </a:p>
        </p:txBody>
      </p:sp>
      <p:sp>
        <p:nvSpPr>
          <p:cNvPr id="8" name="TextBox 7"/>
          <p:cNvSpPr txBox="1"/>
          <p:nvPr/>
        </p:nvSpPr>
        <p:spPr>
          <a:xfrm>
            <a:off x="594360" y="16276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x(0) = 2 , x(2) = −2 , x(3) = −1</a:t>
            </a:r>
          </a:p>
        </p:txBody>
      </p:sp>
      <p:sp>
        <p:nvSpPr>
          <p:cNvPr id="9" name="TextBox 8"/>
          <p:cNvSpPr txBox="1"/>
          <p:nvPr/>
        </p:nvSpPr>
        <p:spPr>
          <a:xfrm>
            <a:off x="594360" y="21762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displacement = −1 − 2 = −3 m</a:t>
            </a:r>
          </a:p>
        </p:txBody>
      </p:sp>
      <p:sp>
        <p:nvSpPr>
          <p:cNvPr id="10" name="TextBox 9"/>
          <p:cNvSpPr txBox="1"/>
          <p:nvPr/>
        </p:nvSpPr>
        <p:spPr>
          <a:xfrm>
            <a:off x="594360" y="272491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distance = |−2 − 2| + |−1 − (−2)| = 4 + 1 = 5 m</a:t>
            </a:r>
          </a:p>
        </p:txBody>
      </p:sp>
      <p:cxnSp>
        <p:nvCxnSpPr>
          <p:cNvPr id="11" name="Connector 10"/>
          <p:cNvCxnSpPr/>
          <p:nvPr/>
        </p:nvCxnSpPr>
        <p:spPr>
          <a:xfrm>
            <a:off x="1371600" y="4846320"/>
            <a:ext cx="9144000" cy="0"/>
          </a:xfrm>
          <a:prstGeom prst="line">
            <a:avLst/>
          </a:prstGeom>
          <a:ln w="25400">
            <a:solidFill>
              <a:srgbClr val="B0B6C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378440" y="4846320"/>
            <a:ext cx="182880" cy="0"/>
          </a:xfrm>
          <a:prstGeom prst="line">
            <a:avLst/>
          </a:prstGeom>
          <a:ln w="20320">
            <a:solidFill>
              <a:srgbClr val="B0B6C0"/>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895600" y="4773168"/>
            <a:ext cx="0" cy="146304"/>
          </a:xfrm>
          <a:prstGeom prst="line">
            <a:avLst/>
          </a:prstGeom>
          <a:ln w="15240">
            <a:solidFill>
              <a:srgbClr val="B0B6C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31008" y="4937759"/>
            <a:ext cx="329184" cy="201168"/>
          </a:xfrm>
          <a:prstGeom prst="rect">
            <a:avLst/>
          </a:prstGeom>
          <a:noFill/>
        </p:spPr>
        <p:txBody>
          <a:bodyPr wrap="square" lIns="0" rIns="0" tIns="0" bIns="0" anchor="t">
            <a:spAutoFit/>
          </a:bodyPr>
          <a:lstStyle/>
          <a:p>
            <a:pPr algn="ctr">
              <a:lnSpc>
                <a:spcPct val="110000"/>
              </a:lnSpc>
              <a:spcBef>
                <a:spcPts val="0"/>
              </a:spcBef>
              <a:spcAft>
                <a:spcPts val="0"/>
              </a:spcAft>
            </a:pPr>
            <a:r>
              <a:rPr sz="1100" b="1">
                <a:solidFill>
                  <a:srgbClr val="B0B6C0"/>
                </a:solidFill>
                <a:latin typeface="Aptos"/>
              </a:rPr>
              <a:t>-2</a:t>
            </a:r>
          </a:p>
        </p:txBody>
      </p:sp>
      <p:cxnSp>
        <p:nvCxnSpPr>
          <p:cNvPr id="15" name="Connector 14"/>
          <p:cNvCxnSpPr/>
          <p:nvPr/>
        </p:nvCxnSpPr>
        <p:spPr>
          <a:xfrm>
            <a:off x="4419600" y="4773168"/>
            <a:ext cx="0" cy="146304"/>
          </a:xfrm>
          <a:prstGeom prst="line">
            <a:avLst/>
          </a:prstGeom>
          <a:ln w="15240">
            <a:solidFill>
              <a:srgbClr val="B0B6C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255008" y="4937759"/>
            <a:ext cx="329184" cy="201168"/>
          </a:xfrm>
          <a:prstGeom prst="rect">
            <a:avLst/>
          </a:prstGeom>
          <a:noFill/>
        </p:spPr>
        <p:txBody>
          <a:bodyPr wrap="square" lIns="0" rIns="0" tIns="0" bIns="0" anchor="t">
            <a:spAutoFit/>
          </a:bodyPr>
          <a:lstStyle/>
          <a:p>
            <a:pPr algn="ctr">
              <a:lnSpc>
                <a:spcPct val="110000"/>
              </a:lnSpc>
              <a:spcBef>
                <a:spcPts val="0"/>
              </a:spcBef>
              <a:spcAft>
                <a:spcPts val="0"/>
              </a:spcAft>
            </a:pPr>
            <a:r>
              <a:rPr sz="1100" b="1">
                <a:solidFill>
                  <a:srgbClr val="B0B6C0"/>
                </a:solidFill>
                <a:latin typeface="Aptos"/>
              </a:rPr>
              <a:t>-1</a:t>
            </a:r>
          </a:p>
        </p:txBody>
      </p:sp>
      <p:cxnSp>
        <p:nvCxnSpPr>
          <p:cNvPr id="17" name="Connector 16"/>
          <p:cNvCxnSpPr/>
          <p:nvPr/>
        </p:nvCxnSpPr>
        <p:spPr>
          <a:xfrm>
            <a:off x="5943600" y="4773168"/>
            <a:ext cx="0" cy="146304"/>
          </a:xfrm>
          <a:prstGeom prst="line">
            <a:avLst/>
          </a:prstGeom>
          <a:ln w="15240">
            <a:solidFill>
              <a:srgbClr val="B0B6C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779008" y="4937759"/>
            <a:ext cx="329184" cy="201168"/>
          </a:xfrm>
          <a:prstGeom prst="rect">
            <a:avLst/>
          </a:prstGeom>
          <a:noFill/>
        </p:spPr>
        <p:txBody>
          <a:bodyPr wrap="square" lIns="0" rIns="0" tIns="0" bIns="0" anchor="t">
            <a:spAutoFit/>
          </a:bodyPr>
          <a:lstStyle/>
          <a:p>
            <a:pPr algn="ctr">
              <a:lnSpc>
                <a:spcPct val="110000"/>
              </a:lnSpc>
              <a:spcBef>
                <a:spcPts val="0"/>
              </a:spcBef>
              <a:spcAft>
                <a:spcPts val="0"/>
              </a:spcAft>
            </a:pPr>
            <a:r>
              <a:rPr sz="1100" b="1">
                <a:solidFill>
                  <a:srgbClr val="B0B6C0"/>
                </a:solidFill>
                <a:latin typeface="Aptos"/>
              </a:rPr>
              <a:t>0</a:t>
            </a:r>
          </a:p>
        </p:txBody>
      </p:sp>
      <p:cxnSp>
        <p:nvCxnSpPr>
          <p:cNvPr id="19" name="Connector 18"/>
          <p:cNvCxnSpPr/>
          <p:nvPr/>
        </p:nvCxnSpPr>
        <p:spPr>
          <a:xfrm>
            <a:off x="8991600" y="4773168"/>
            <a:ext cx="0" cy="146304"/>
          </a:xfrm>
          <a:prstGeom prst="line">
            <a:avLst/>
          </a:prstGeom>
          <a:ln w="15240">
            <a:solidFill>
              <a:srgbClr val="B0B6C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827008" y="4937759"/>
            <a:ext cx="329184" cy="201168"/>
          </a:xfrm>
          <a:prstGeom prst="rect">
            <a:avLst/>
          </a:prstGeom>
          <a:noFill/>
        </p:spPr>
        <p:txBody>
          <a:bodyPr wrap="square" lIns="0" rIns="0" tIns="0" bIns="0" anchor="t">
            <a:spAutoFit/>
          </a:bodyPr>
          <a:lstStyle/>
          <a:p>
            <a:pPr algn="ctr">
              <a:lnSpc>
                <a:spcPct val="110000"/>
              </a:lnSpc>
              <a:spcBef>
                <a:spcPts val="0"/>
              </a:spcBef>
              <a:spcAft>
                <a:spcPts val="0"/>
              </a:spcAft>
            </a:pPr>
            <a:r>
              <a:rPr sz="1100" b="1">
                <a:solidFill>
                  <a:srgbClr val="B0B6C0"/>
                </a:solidFill>
                <a:latin typeface="Aptos"/>
              </a:rPr>
              <a:t>2</a:t>
            </a:r>
          </a:p>
        </p:txBody>
      </p:sp>
      <p:sp>
        <p:nvSpPr>
          <p:cNvPr id="21" name="Oval 20"/>
          <p:cNvSpPr/>
          <p:nvPr/>
        </p:nvSpPr>
        <p:spPr>
          <a:xfrm>
            <a:off x="8950452" y="4805172"/>
            <a:ext cx="82296" cy="82296"/>
          </a:xfrm>
          <a:prstGeom prst="ellipse">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71560" y="4553712"/>
            <a:ext cx="640080" cy="256032"/>
          </a:xfrm>
          <a:prstGeom prst="rect">
            <a:avLst/>
          </a:prstGeom>
          <a:noFill/>
        </p:spPr>
        <p:txBody>
          <a:bodyPr wrap="square" lIns="0" rIns="0" tIns="0" bIns="0" anchor="t">
            <a:spAutoFit/>
          </a:bodyPr>
          <a:lstStyle/>
          <a:p>
            <a:pPr algn="ctr">
              <a:lnSpc>
                <a:spcPct val="110000"/>
              </a:lnSpc>
              <a:spcBef>
                <a:spcPts val="0"/>
              </a:spcBef>
              <a:spcAft>
                <a:spcPts val="0"/>
              </a:spcAft>
            </a:pPr>
            <a:r>
              <a:rPr sz="1300" b="1">
                <a:solidFill>
                  <a:srgbClr val="5AD680"/>
                </a:solidFill>
                <a:latin typeface="Aptos"/>
              </a:rPr>
              <a:t>t = 0</a:t>
            </a:r>
          </a:p>
        </p:txBody>
      </p:sp>
      <p:sp>
        <p:nvSpPr>
          <p:cNvPr id="23" name="Oval 22"/>
          <p:cNvSpPr/>
          <p:nvPr/>
        </p:nvSpPr>
        <p:spPr>
          <a:xfrm>
            <a:off x="2854452" y="4805172"/>
            <a:ext cx="82296" cy="82296"/>
          </a:xfrm>
          <a:prstGeom prst="ellipse">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75560" y="5010912"/>
            <a:ext cx="640080" cy="256032"/>
          </a:xfrm>
          <a:prstGeom prst="rect">
            <a:avLst/>
          </a:prstGeom>
          <a:noFill/>
        </p:spPr>
        <p:txBody>
          <a:bodyPr wrap="square" lIns="0" rIns="0" tIns="0" bIns="0" anchor="t">
            <a:spAutoFit/>
          </a:bodyPr>
          <a:lstStyle/>
          <a:p>
            <a:pPr algn="ctr">
              <a:lnSpc>
                <a:spcPct val="110000"/>
              </a:lnSpc>
              <a:spcBef>
                <a:spcPts val="0"/>
              </a:spcBef>
              <a:spcAft>
                <a:spcPts val="0"/>
              </a:spcAft>
            </a:pPr>
            <a:r>
              <a:rPr sz="1300" b="1">
                <a:solidFill>
                  <a:srgbClr val="FF9E40"/>
                </a:solidFill>
                <a:latin typeface="Aptos"/>
              </a:rPr>
              <a:t>t = 2</a:t>
            </a:r>
          </a:p>
        </p:txBody>
      </p:sp>
      <p:sp>
        <p:nvSpPr>
          <p:cNvPr id="25" name="Oval 24"/>
          <p:cNvSpPr/>
          <p:nvPr/>
        </p:nvSpPr>
        <p:spPr>
          <a:xfrm>
            <a:off x="4378452" y="4805172"/>
            <a:ext cx="82296" cy="82296"/>
          </a:xfrm>
          <a:prstGeom prst="ellipse">
            <a:avLst/>
          </a:prstGeom>
          <a:solidFill>
            <a:srgbClr val="FFD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99560" y="4553712"/>
            <a:ext cx="640080" cy="256032"/>
          </a:xfrm>
          <a:prstGeom prst="rect">
            <a:avLst/>
          </a:prstGeom>
          <a:noFill/>
        </p:spPr>
        <p:txBody>
          <a:bodyPr wrap="square" lIns="0" rIns="0" tIns="0" bIns="0" anchor="t">
            <a:spAutoFit/>
          </a:bodyPr>
          <a:lstStyle/>
          <a:p>
            <a:pPr algn="ctr">
              <a:lnSpc>
                <a:spcPct val="110000"/>
              </a:lnSpc>
              <a:spcBef>
                <a:spcPts val="0"/>
              </a:spcBef>
              <a:spcAft>
                <a:spcPts val="0"/>
              </a:spcAft>
            </a:pPr>
            <a:r>
              <a:rPr sz="1300" b="1">
                <a:solidFill>
                  <a:srgbClr val="FFD646"/>
                </a:solidFill>
                <a:latin typeface="Aptos"/>
              </a:rPr>
              <a:t>t = 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409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EXAMPLE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x = −t² + 6t + 4, from 0 to 4 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15</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v = −2t + 6 = 0  →  t = 3 s  (inside 0 to 4)</a:t>
            </a:r>
          </a:p>
        </p:txBody>
      </p:sp>
      <p:sp>
        <p:nvSpPr>
          <p:cNvPr id="8" name="TextBox 7"/>
          <p:cNvSpPr txBox="1"/>
          <p:nvPr/>
        </p:nvSpPr>
        <p:spPr>
          <a:xfrm>
            <a:off x="594360" y="16276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x(0) = 4 , x(3) = 13 , x(4) = 12</a:t>
            </a:r>
          </a:p>
        </p:txBody>
      </p:sp>
      <p:sp>
        <p:nvSpPr>
          <p:cNvPr id="9" name="TextBox 8"/>
          <p:cNvSpPr txBox="1"/>
          <p:nvPr/>
        </p:nvSpPr>
        <p:spPr>
          <a:xfrm>
            <a:off x="594360" y="21762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displacement = 12 − 4 = 8 m</a:t>
            </a:r>
          </a:p>
        </p:txBody>
      </p:sp>
      <p:sp>
        <p:nvSpPr>
          <p:cNvPr id="10" name="TextBox 9"/>
          <p:cNvSpPr txBox="1"/>
          <p:nvPr/>
        </p:nvSpPr>
        <p:spPr>
          <a:xfrm>
            <a:off x="594360" y="272491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distance = |13 − 4| + |12 − 13| = 9 + 1 = 10 m</a:t>
            </a:r>
          </a:p>
        </p:txBody>
      </p:sp>
      <p:sp>
        <p:nvSpPr>
          <p:cNvPr id="11" name="TextBox 10"/>
          <p:cNvSpPr txBox="1"/>
          <p:nvPr/>
        </p:nvSpPr>
        <p:spPr>
          <a:xfrm>
            <a:off x="594360" y="432511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Turn inside the interval → distance is larger than |displacement|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EXAMPLE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Arc plus two closing sides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16</a:t>
            </a:r>
          </a:p>
        </p:txBody>
      </p:sp>
      <p:sp>
        <p:nvSpPr>
          <p:cNvPr id="7" name="TextBox 6"/>
          <p:cNvSpPr txBox="1"/>
          <p:nvPr/>
        </p:nvSpPr>
        <p:spPr>
          <a:xfrm>
            <a:off x="594360" y="1078992"/>
            <a:ext cx="11018520" cy="914400"/>
          </a:xfrm>
          <a:prstGeom prst="rect">
            <a:avLst/>
          </a:prstGeom>
          <a:noFill/>
        </p:spPr>
        <p:txBody>
          <a:bodyPr wrap="square" lIns="0" rIns="0" tIns="0" bIns="0" anchor="t">
            <a:spAutoFit/>
          </a:bodyPr>
          <a:lstStyle/>
          <a:p>
            <a:pPr algn="l">
              <a:lnSpc>
                <a:spcPct val="128000"/>
              </a:lnSpc>
              <a:spcBef>
                <a:spcPts val="0"/>
              </a:spcBef>
              <a:spcAft>
                <a:spcPts val="0"/>
              </a:spcAft>
            </a:pPr>
            <a:r>
              <a:rPr sz="1500" b="0">
                <a:solidFill>
                  <a:srgbClr val="FFFFFF"/>
                </a:solidFill>
                <a:latin typeface="Aptos"/>
              </a:rPr>
              <a:t>Radius R = 21 cm. The object travels a 240° arc, then two straight pieces of length R each, and the loop closes.</a:t>
            </a:r>
          </a:p>
        </p:txBody>
      </p:sp>
      <p:sp>
        <p:nvSpPr>
          <p:cNvPr id="8" name="TextBox 7"/>
          <p:cNvSpPr txBox="1"/>
          <p:nvPr/>
        </p:nvSpPr>
        <p:spPr>
          <a:xfrm>
            <a:off x="594360" y="21762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arc = (240/360) × 2πR = (2/3) × 2π × 21</a:t>
            </a:r>
          </a:p>
        </p:txBody>
      </p:sp>
      <p:sp>
        <p:nvSpPr>
          <p:cNvPr id="9" name="TextBox 8"/>
          <p:cNvSpPr txBox="1"/>
          <p:nvPr/>
        </p:nvSpPr>
        <p:spPr>
          <a:xfrm>
            <a:off x="594360" y="272491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Use π = 22/7:  arc = 88 cm</a:t>
            </a:r>
          </a:p>
        </p:txBody>
      </p:sp>
      <p:sp>
        <p:nvSpPr>
          <p:cNvPr id="10" name="TextBox 9"/>
          <p:cNvSpPr txBox="1"/>
          <p:nvPr/>
        </p:nvSpPr>
        <p:spPr>
          <a:xfrm>
            <a:off x="594360" y="327355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two straight pieces = 21 + 21 = 42 cm</a:t>
            </a:r>
          </a:p>
        </p:txBody>
      </p:sp>
      <p:sp>
        <p:nvSpPr>
          <p:cNvPr id="11" name="TextBox 10"/>
          <p:cNvSpPr txBox="1"/>
          <p:nvPr/>
        </p:nvSpPr>
        <p:spPr>
          <a:xfrm>
            <a:off x="594360" y="395935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distance = 88 + 42 = 130 cm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EXAMPLE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Same ends, two different routes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17</a:t>
            </a:r>
          </a:p>
        </p:txBody>
      </p:sp>
      <p:sp>
        <p:nvSpPr>
          <p:cNvPr id="7" name="TextBox 6"/>
          <p:cNvSpPr txBox="1"/>
          <p:nvPr/>
        </p:nvSpPr>
        <p:spPr>
          <a:xfrm>
            <a:off x="594360" y="1078992"/>
            <a:ext cx="11018520" cy="1051560"/>
          </a:xfrm>
          <a:prstGeom prst="rect">
            <a:avLst/>
          </a:prstGeom>
          <a:noFill/>
        </p:spPr>
        <p:txBody>
          <a:bodyPr wrap="square" lIns="0" rIns="0" tIns="0" bIns="0" anchor="t">
            <a:spAutoFit/>
          </a:bodyPr>
          <a:lstStyle/>
          <a:p>
            <a:pPr algn="l">
              <a:lnSpc>
                <a:spcPct val="128000"/>
              </a:lnSpc>
              <a:spcBef>
                <a:spcPts val="0"/>
              </a:spcBef>
              <a:spcAft>
                <a:spcPts val="0"/>
              </a:spcAft>
            </a:pPr>
            <a:r>
              <a:rPr sz="1500" b="0">
                <a:solidFill>
                  <a:srgbClr val="FFFFFF"/>
                </a:solidFill>
                <a:latin typeface="Aptos"/>
              </a:rPr>
              <a:t>Both travellers start and finish at opposite ends of a diameter. A walks the semicircle. B walks three sides of the inscribed regular hexagon. Side of the hexagon equals R.</a:t>
            </a:r>
          </a:p>
        </p:txBody>
      </p:sp>
      <p:sp>
        <p:nvSpPr>
          <p:cNvPr id="8" name="TextBox 7"/>
          <p:cNvSpPr txBox="1"/>
          <p:nvPr/>
        </p:nvSpPr>
        <p:spPr>
          <a:xfrm>
            <a:off x="594360" y="231343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|displacement| is the same for both: the diameter 2R. Ratio = 1.</a:t>
            </a:r>
          </a:p>
        </p:txBody>
      </p:sp>
      <p:sp>
        <p:nvSpPr>
          <p:cNvPr id="9" name="TextBox 8"/>
          <p:cNvSpPr txBox="1"/>
          <p:nvPr/>
        </p:nvSpPr>
        <p:spPr>
          <a:xfrm>
            <a:off x="594360" y="28620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distance of A = πR , distance of B = 3R</a:t>
            </a:r>
          </a:p>
        </p:txBody>
      </p:sp>
      <p:sp>
        <p:nvSpPr>
          <p:cNvPr id="10" name="TextBox 9"/>
          <p:cNvSpPr txBox="1"/>
          <p:nvPr/>
        </p:nvSpPr>
        <p:spPr>
          <a:xfrm>
            <a:off x="594360" y="3639311"/>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distance ratio A : B = πR : 3R = π : 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IDEA</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Speed and velocity — first definitions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19</a:t>
            </a:r>
          </a:p>
        </p:txBody>
      </p:sp>
      <p:sp>
        <p:nvSpPr>
          <p:cNvPr id="7" name="TextBox 6"/>
          <p:cNvSpPr txBox="1"/>
          <p:nvPr/>
        </p:nvSpPr>
        <p:spPr>
          <a:xfrm>
            <a:off x="594360" y="1078992"/>
            <a:ext cx="11018520" cy="91440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Speed uses distance. Velocity uses displacement. That is the only split you need before the formulas.</a:t>
            </a:r>
          </a:p>
        </p:txBody>
      </p:sp>
      <p:sp>
        <p:nvSpPr>
          <p:cNvPr id="8" name="Rectangle 7"/>
          <p:cNvSpPr/>
          <p:nvPr/>
        </p:nvSpPr>
        <p:spPr>
          <a:xfrm>
            <a:off x="594360" y="2176272"/>
            <a:ext cx="11018520" cy="86868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2322576"/>
            <a:ext cx="10689336" cy="576071"/>
          </a:xfrm>
          <a:prstGeom prst="rect">
            <a:avLst/>
          </a:prstGeom>
          <a:noFill/>
        </p:spPr>
        <p:txBody>
          <a:bodyPr wrap="square" lIns="0" rIns="0" tIns="0" bIns="0" anchor="ctr">
            <a:spAutoFit/>
          </a:bodyPr>
          <a:lstStyle/>
          <a:p>
            <a:pPr algn="ctr">
              <a:lnSpc>
                <a:spcPct val="115000"/>
              </a:lnSpc>
              <a:spcBef>
                <a:spcPts val="0"/>
              </a:spcBef>
              <a:spcAft>
                <a:spcPts val="0"/>
              </a:spcAft>
            </a:pPr>
            <a:r>
              <a:rPr sz="1350" b="1">
                <a:solidFill>
                  <a:srgbClr val="081E3F"/>
                </a:solidFill>
                <a:latin typeface="Aptos"/>
              </a:rPr>
              <a:t>average speed = total distance / total time     (scalar)</a:t>
            </a:r>
          </a:p>
        </p:txBody>
      </p:sp>
      <p:sp>
        <p:nvSpPr>
          <p:cNvPr id="10" name="Rectangle 9"/>
          <p:cNvSpPr/>
          <p:nvPr/>
        </p:nvSpPr>
        <p:spPr>
          <a:xfrm>
            <a:off x="594360" y="3182111"/>
            <a:ext cx="11018520" cy="86868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3328415"/>
            <a:ext cx="10689336" cy="576071"/>
          </a:xfrm>
          <a:prstGeom prst="rect">
            <a:avLst/>
          </a:prstGeom>
          <a:noFill/>
        </p:spPr>
        <p:txBody>
          <a:bodyPr wrap="square" lIns="0" rIns="0" tIns="0" bIns="0" anchor="ctr">
            <a:spAutoFit/>
          </a:bodyPr>
          <a:lstStyle/>
          <a:p>
            <a:pPr algn="ctr">
              <a:lnSpc>
                <a:spcPct val="115000"/>
              </a:lnSpc>
              <a:spcBef>
                <a:spcPts val="0"/>
              </a:spcBef>
              <a:spcAft>
                <a:spcPts val="0"/>
              </a:spcAft>
            </a:pPr>
            <a:r>
              <a:rPr sz="1350" b="1">
                <a:solidFill>
                  <a:srgbClr val="081E3F"/>
                </a:solidFill>
                <a:latin typeface="Aptos"/>
              </a:rPr>
              <a:t>average velocity = total displacement / total time     (vector)</a:t>
            </a:r>
          </a:p>
        </p:txBody>
      </p:sp>
      <p:sp>
        <p:nvSpPr>
          <p:cNvPr id="12" name="TextBox 11"/>
          <p:cNvSpPr txBox="1"/>
          <p:nvPr/>
        </p:nvSpPr>
        <p:spPr>
          <a:xfrm>
            <a:off x="594360" y="42793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instantaneous speed = |dx/dt|     (size of the slope of x–t)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409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RULE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Two ways to mix speeds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20</a:t>
            </a:r>
          </a:p>
        </p:txBody>
      </p:sp>
      <p:sp>
        <p:nvSpPr>
          <p:cNvPr id="7" name="TextBox 6"/>
          <p:cNvSpPr txBox="1"/>
          <p:nvPr/>
        </p:nvSpPr>
        <p:spPr>
          <a:xfrm>
            <a:off x="594360" y="1078992"/>
            <a:ext cx="11018520" cy="1188720"/>
          </a:xfrm>
          <a:prstGeom prst="rect">
            <a:avLst/>
          </a:prstGeom>
          <a:noFill/>
        </p:spPr>
        <p:txBody>
          <a:bodyPr wrap="square" lIns="0" rIns="0" tIns="0" bIns="0" anchor="t">
            <a:spAutoFit/>
          </a:bodyPr>
          <a:lstStyle/>
          <a:p>
            <a:pPr algn="l">
              <a:lnSpc>
                <a:spcPct val="128000"/>
              </a:lnSpc>
              <a:spcBef>
                <a:spcPts val="0"/>
              </a:spcBef>
              <a:spcAft>
                <a:spcPts val="0"/>
              </a:spcAft>
            </a:pPr>
            <a:r>
              <a:rPr sz="1500" b="0">
                <a:solidFill>
                  <a:srgbClr val="FFFFFF"/>
                </a:solidFill>
                <a:latin typeface="Aptos"/>
              </a:rPr>
              <a:t>If each piece is given by a speed and a time, weight by time. If each piece is given by a speed and a distance, weight by distance. Do not average the two speeds by adding and dividing by 2 unless the × are equal.</a:t>
            </a:r>
          </a:p>
        </p:txBody>
      </p:sp>
      <p:sp>
        <p:nvSpPr>
          <p:cNvPr id="8" name="TextBox 7"/>
          <p:cNvSpPr txBox="1"/>
          <p:nvPr/>
        </p:nvSpPr>
        <p:spPr>
          <a:xfrm>
            <a:off x="594360" y="245059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speeds for times:   (s₁ t₁ + s₂ t₂) / (t₁ + t₂)</a:t>
            </a:r>
          </a:p>
        </p:txBody>
      </p:sp>
      <p:sp>
        <p:nvSpPr>
          <p:cNvPr id="9" name="TextBox 8"/>
          <p:cNvSpPr txBox="1"/>
          <p:nvPr/>
        </p:nvSpPr>
        <p:spPr>
          <a:xfrm>
            <a:off x="594360" y="299923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speeds for distances:   (x₁ + x₂) / (x₁/s₁ + x₂/s₂)</a:t>
            </a:r>
          </a:p>
        </p:txBody>
      </p:sp>
      <p:sp>
        <p:nvSpPr>
          <p:cNvPr id="10" name="TextBox 9"/>
          <p:cNvSpPr txBox="1"/>
          <p:nvPr/>
        </p:nvSpPr>
        <p:spPr>
          <a:xfrm>
            <a:off x="594360" y="391363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Equal × → ordinary mean. Equal distances → the distance formula, not (s₁+s₂)/2.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EXAMPLE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Four straight trips — one table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21</a:t>
            </a:r>
          </a:p>
        </p:txBody>
      </p:sp>
      <p:sp>
        <p:nvSpPr>
          <p:cNvPr id="7" name="Rectangle 6"/>
          <p:cNvSpPr/>
          <p:nvPr/>
        </p:nvSpPr>
        <p:spPr>
          <a:xfrm>
            <a:off x="594360" y="1078992"/>
            <a:ext cx="4754880" cy="566928"/>
          </a:xfrm>
          <a:prstGeom prst="rect">
            <a:avLst/>
          </a:prstGeom>
          <a:solidFill>
            <a:srgbClr val="1C2434"/>
          </a:solidFill>
          <a:ln>
            <a:solidFill>
              <a:srgbClr val="1C2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 y="1078992"/>
            <a:ext cx="4681728" cy="566928"/>
          </a:xfrm>
          <a:prstGeom prst="rect">
            <a:avLst/>
          </a:prstGeom>
          <a:noFill/>
        </p:spPr>
        <p:txBody>
          <a:bodyPr wrap="square" lIns="0" rIns="0" tIns="0" bIns="0" anchor="ctr">
            <a:spAutoFit/>
          </a:bodyPr>
          <a:lstStyle/>
          <a:p>
            <a:pPr algn="ctr">
              <a:lnSpc>
                <a:spcPct val="110000"/>
              </a:lnSpc>
              <a:spcBef>
                <a:spcPts val="0"/>
              </a:spcBef>
              <a:spcAft>
                <a:spcPts val="0"/>
              </a:spcAft>
            </a:pPr>
            <a:r>
              <a:rPr sz="1300" b="1">
                <a:solidFill>
                  <a:srgbClr val="FFFFFF"/>
                </a:solidFill>
                <a:latin typeface="Aptos"/>
              </a:rPr>
              <a:t>Trip</a:t>
            </a:r>
          </a:p>
        </p:txBody>
      </p:sp>
      <p:sp>
        <p:nvSpPr>
          <p:cNvPr id="9" name="Rectangle 8"/>
          <p:cNvSpPr/>
          <p:nvPr/>
        </p:nvSpPr>
        <p:spPr>
          <a:xfrm>
            <a:off x="5349240" y="1078992"/>
            <a:ext cx="2926080" cy="566928"/>
          </a:xfrm>
          <a:prstGeom prst="rect">
            <a:avLst/>
          </a:prstGeom>
          <a:solidFill>
            <a:srgbClr val="1C2434"/>
          </a:solidFill>
          <a:ln>
            <a:solidFill>
              <a:srgbClr val="1C2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85816" y="1078992"/>
            <a:ext cx="2852928" cy="566928"/>
          </a:xfrm>
          <a:prstGeom prst="rect">
            <a:avLst/>
          </a:prstGeom>
          <a:noFill/>
        </p:spPr>
        <p:txBody>
          <a:bodyPr wrap="square" lIns="0" rIns="0" tIns="0" bIns="0" anchor="ctr">
            <a:spAutoFit/>
          </a:bodyPr>
          <a:lstStyle/>
          <a:p>
            <a:pPr algn="ctr">
              <a:lnSpc>
                <a:spcPct val="110000"/>
              </a:lnSpc>
              <a:spcBef>
                <a:spcPts val="0"/>
              </a:spcBef>
              <a:spcAft>
                <a:spcPts val="0"/>
              </a:spcAft>
            </a:pPr>
            <a:r>
              <a:rPr sz="1300" b="1">
                <a:solidFill>
                  <a:srgbClr val="FFFFFF"/>
                </a:solidFill>
                <a:latin typeface="Aptos"/>
              </a:rPr>
              <a:t>avg speed</a:t>
            </a:r>
          </a:p>
        </p:txBody>
      </p:sp>
      <p:sp>
        <p:nvSpPr>
          <p:cNvPr id="11" name="Rectangle 10"/>
          <p:cNvSpPr/>
          <p:nvPr/>
        </p:nvSpPr>
        <p:spPr>
          <a:xfrm>
            <a:off x="8275320" y="1078992"/>
            <a:ext cx="3108960" cy="566928"/>
          </a:xfrm>
          <a:prstGeom prst="rect">
            <a:avLst/>
          </a:prstGeom>
          <a:solidFill>
            <a:srgbClr val="1C2434"/>
          </a:solidFill>
          <a:ln>
            <a:solidFill>
              <a:srgbClr val="1C2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11896" y="1078992"/>
            <a:ext cx="3035808" cy="566928"/>
          </a:xfrm>
          <a:prstGeom prst="rect">
            <a:avLst/>
          </a:prstGeom>
          <a:noFill/>
        </p:spPr>
        <p:txBody>
          <a:bodyPr wrap="square" lIns="0" rIns="0" tIns="0" bIns="0" anchor="ctr">
            <a:spAutoFit/>
          </a:bodyPr>
          <a:lstStyle/>
          <a:p>
            <a:pPr algn="ctr">
              <a:lnSpc>
                <a:spcPct val="110000"/>
              </a:lnSpc>
              <a:spcBef>
                <a:spcPts val="0"/>
              </a:spcBef>
              <a:spcAft>
                <a:spcPts val="0"/>
              </a:spcAft>
            </a:pPr>
            <a:r>
              <a:rPr sz="1300" b="1">
                <a:solidFill>
                  <a:srgbClr val="FFFFFF"/>
                </a:solidFill>
                <a:latin typeface="Aptos"/>
              </a:rPr>
              <a:t>|avg velocity|</a:t>
            </a:r>
          </a:p>
        </p:txBody>
      </p:sp>
      <p:sp>
        <p:nvSpPr>
          <p:cNvPr id="13" name="Rectangle 12"/>
          <p:cNvSpPr/>
          <p:nvPr/>
        </p:nvSpPr>
        <p:spPr>
          <a:xfrm>
            <a:off x="594360" y="1645919"/>
            <a:ext cx="4754880" cy="566928"/>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 y="1645919"/>
            <a:ext cx="4681728" cy="566928"/>
          </a:xfrm>
          <a:prstGeom prst="rect">
            <a:avLst/>
          </a:prstGeom>
          <a:noFill/>
        </p:spPr>
        <p:txBody>
          <a:bodyPr wrap="square" lIns="0" rIns="0" tIns="0" bIns="0" anchor="ctr">
            <a:spAutoFit/>
          </a:bodyPr>
          <a:lstStyle/>
          <a:p>
            <a:pPr algn="ctr">
              <a:lnSpc>
                <a:spcPct val="110000"/>
              </a:lnSpc>
              <a:spcBef>
                <a:spcPts val="0"/>
              </a:spcBef>
              <a:spcAft>
                <a:spcPts val="0"/>
              </a:spcAft>
            </a:pPr>
            <a:r>
              <a:rPr sz="1400" b="1">
                <a:solidFill>
                  <a:srgbClr val="5AC8FF"/>
                </a:solidFill>
                <a:latin typeface="Aptos"/>
              </a:rPr>
              <a:t>0 → 20 m in 4 s</a:t>
            </a:r>
          </a:p>
        </p:txBody>
      </p:sp>
      <p:sp>
        <p:nvSpPr>
          <p:cNvPr id="15" name="Rectangle 14"/>
          <p:cNvSpPr/>
          <p:nvPr/>
        </p:nvSpPr>
        <p:spPr>
          <a:xfrm>
            <a:off x="5349240" y="1645919"/>
            <a:ext cx="2926080" cy="566928"/>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85816" y="1645919"/>
            <a:ext cx="2852928" cy="566928"/>
          </a:xfrm>
          <a:prstGeom prst="rect">
            <a:avLst/>
          </a:prstGeom>
          <a:noFill/>
        </p:spPr>
        <p:txBody>
          <a:bodyPr wrap="square" lIns="0" rIns="0" tIns="0" bIns="0" anchor="ctr">
            <a:spAutoFit/>
          </a:bodyPr>
          <a:lstStyle/>
          <a:p>
            <a:pPr algn="ctr">
              <a:lnSpc>
                <a:spcPct val="110000"/>
              </a:lnSpc>
              <a:spcBef>
                <a:spcPts val="0"/>
              </a:spcBef>
              <a:spcAft>
                <a:spcPts val="0"/>
              </a:spcAft>
            </a:pPr>
            <a:r>
              <a:rPr sz="1400" b="0">
                <a:solidFill>
                  <a:srgbClr val="FFFFFF"/>
                </a:solidFill>
                <a:latin typeface="Aptos"/>
              </a:rPr>
              <a:t>5 m/s</a:t>
            </a:r>
          </a:p>
        </p:txBody>
      </p:sp>
      <p:sp>
        <p:nvSpPr>
          <p:cNvPr id="17" name="Rectangle 16"/>
          <p:cNvSpPr/>
          <p:nvPr/>
        </p:nvSpPr>
        <p:spPr>
          <a:xfrm>
            <a:off x="8275320" y="1645919"/>
            <a:ext cx="3108960" cy="566928"/>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11896" y="1645919"/>
            <a:ext cx="3035808" cy="566928"/>
          </a:xfrm>
          <a:prstGeom prst="rect">
            <a:avLst/>
          </a:prstGeom>
          <a:noFill/>
        </p:spPr>
        <p:txBody>
          <a:bodyPr wrap="square" lIns="0" rIns="0" tIns="0" bIns="0" anchor="ctr">
            <a:spAutoFit/>
          </a:bodyPr>
          <a:lstStyle/>
          <a:p>
            <a:pPr algn="ctr">
              <a:lnSpc>
                <a:spcPct val="110000"/>
              </a:lnSpc>
              <a:spcBef>
                <a:spcPts val="0"/>
              </a:spcBef>
              <a:spcAft>
                <a:spcPts val="0"/>
              </a:spcAft>
            </a:pPr>
            <a:r>
              <a:rPr sz="1400" b="0">
                <a:solidFill>
                  <a:srgbClr val="FFFFFF"/>
                </a:solidFill>
                <a:latin typeface="Aptos"/>
              </a:rPr>
              <a:t>5 m/s</a:t>
            </a:r>
          </a:p>
        </p:txBody>
      </p:sp>
      <p:sp>
        <p:nvSpPr>
          <p:cNvPr id="19" name="Rectangle 18"/>
          <p:cNvSpPr/>
          <p:nvPr/>
        </p:nvSpPr>
        <p:spPr>
          <a:xfrm>
            <a:off x="594360" y="2212848"/>
            <a:ext cx="4754880" cy="566928"/>
          </a:xfrm>
          <a:prstGeom prst="rect">
            <a:avLst/>
          </a:prstGeom>
          <a:solidFill>
            <a:srgbClr val="16181C"/>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 y="2212848"/>
            <a:ext cx="4681728" cy="566928"/>
          </a:xfrm>
          <a:prstGeom prst="rect">
            <a:avLst/>
          </a:prstGeom>
          <a:noFill/>
        </p:spPr>
        <p:txBody>
          <a:bodyPr wrap="square" lIns="0" rIns="0" tIns="0" bIns="0" anchor="ctr">
            <a:spAutoFit/>
          </a:bodyPr>
          <a:lstStyle/>
          <a:p>
            <a:pPr algn="ctr">
              <a:lnSpc>
                <a:spcPct val="110000"/>
              </a:lnSpc>
              <a:spcBef>
                <a:spcPts val="0"/>
              </a:spcBef>
              <a:spcAft>
                <a:spcPts val="0"/>
              </a:spcAft>
            </a:pPr>
            <a:r>
              <a:rPr sz="1400" b="1">
                <a:solidFill>
                  <a:srgbClr val="5AC8FF"/>
                </a:solidFill>
                <a:latin typeface="Aptos"/>
              </a:rPr>
              <a:t>0 → 20 → 5 m in 10 s</a:t>
            </a:r>
          </a:p>
        </p:txBody>
      </p:sp>
      <p:sp>
        <p:nvSpPr>
          <p:cNvPr id="21" name="Rectangle 20"/>
          <p:cNvSpPr/>
          <p:nvPr/>
        </p:nvSpPr>
        <p:spPr>
          <a:xfrm>
            <a:off x="5349240" y="2212848"/>
            <a:ext cx="2926080" cy="566928"/>
          </a:xfrm>
          <a:prstGeom prst="rect">
            <a:avLst/>
          </a:prstGeom>
          <a:solidFill>
            <a:srgbClr val="16181C"/>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85816" y="2212848"/>
            <a:ext cx="2852928" cy="566928"/>
          </a:xfrm>
          <a:prstGeom prst="rect">
            <a:avLst/>
          </a:prstGeom>
          <a:noFill/>
        </p:spPr>
        <p:txBody>
          <a:bodyPr wrap="square" lIns="0" rIns="0" tIns="0" bIns="0" anchor="ctr">
            <a:spAutoFit/>
          </a:bodyPr>
          <a:lstStyle/>
          <a:p>
            <a:pPr algn="ctr">
              <a:lnSpc>
                <a:spcPct val="110000"/>
              </a:lnSpc>
              <a:spcBef>
                <a:spcPts val="0"/>
              </a:spcBef>
              <a:spcAft>
                <a:spcPts val="0"/>
              </a:spcAft>
            </a:pPr>
            <a:r>
              <a:rPr sz="1400" b="0">
                <a:solidFill>
                  <a:srgbClr val="FFFFFF"/>
                </a:solidFill>
                <a:latin typeface="Aptos"/>
              </a:rPr>
              <a:t>3.5 m/s</a:t>
            </a:r>
          </a:p>
        </p:txBody>
      </p:sp>
      <p:sp>
        <p:nvSpPr>
          <p:cNvPr id="23" name="Rectangle 22"/>
          <p:cNvSpPr/>
          <p:nvPr/>
        </p:nvSpPr>
        <p:spPr>
          <a:xfrm>
            <a:off x="8275320" y="2212848"/>
            <a:ext cx="3108960" cy="566928"/>
          </a:xfrm>
          <a:prstGeom prst="rect">
            <a:avLst/>
          </a:prstGeom>
          <a:solidFill>
            <a:srgbClr val="16181C"/>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11896" y="2212848"/>
            <a:ext cx="3035808" cy="566928"/>
          </a:xfrm>
          <a:prstGeom prst="rect">
            <a:avLst/>
          </a:prstGeom>
          <a:noFill/>
        </p:spPr>
        <p:txBody>
          <a:bodyPr wrap="square" lIns="0" rIns="0" tIns="0" bIns="0" anchor="ctr">
            <a:spAutoFit/>
          </a:bodyPr>
          <a:lstStyle/>
          <a:p>
            <a:pPr algn="ctr">
              <a:lnSpc>
                <a:spcPct val="110000"/>
              </a:lnSpc>
              <a:spcBef>
                <a:spcPts val="0"/>
              </a:spcBef>
              <a:spcAft>
                <a:spcPts val="0"/>
              </a:spcAft>
            </a:pPr>
            <a:r>
              <a:rPr sz="1400" b="0">
                <a:solidFill>
                  <a:srgbClr val="FFFFFF"/>
                </a:solidFill>
                <a:latin typeface="Aptos"/>
              </a:rPr>
              <a:t>0.5 m/s</a:t>
            </a:r>
          </a:p>
        </p:txBody>
      </p:sp>
      <p:sp>
        <p:nvSpPr>
          <p:cNvPr id="25" name="Rectangle 24"/>
          <p:cNvSpPr/>
          <p:nvPr/>
        </p:nvSpPr>
        <p:spPr>
          <a:xfrm>
            <a:off x="594360" y="2779776"/>
            <a:ext cx="4754880" cy="566928"/>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 y="2779776"/>
            <a:ext cx="4681728" cy="566928"/>
          </a:xfrm>
          <a:prstGeom prst="rect">
            <a:avLst/>
          </a:prstGeom>
          <a:noFill/>
        </p:spPr>
        <p:txBody>
          <a:bodyPr wrap="square" lIns="0" rIns="0" tIns="0" bIns="0" anchor="ctr">
            <a:spAutoFit/>
          </a:bodyPr>
          <a:lstStyle/>
          <a:p>
            <a:pPr algn="ctr">
              <a:lnSpc>
                <a:spcPct val="110000"/>
              </a:lnSpc>
              <a:spcBef>
                <a:spcPts val="0"/>
              </a:spcBef>
              <a:spcAft>
                <a:spcPts val="0"/>
              </a:spcAft>
            </a:pPr>
            <a:r>
              <a:rPr sz="1400" b="1">
                <a:solidFill>
                  <a:srgbClr val="5AC8FF"/>
                </a:solidFill>
                <a:latin typeface="Aptos"/>
              </a:rPr>
              <a:t>0 → −20 → 10 m in 5 s</a:t>
            </a:r>
          </a:p>
        </p:txBody>
      </p:sp>
      <p:sp>
        <p:nvSpPr>
          <p:cNvPr id="27" name="Rectangle 26"/>
          <p:cNvSpPr/>
          <p:nvPr/>
        </p:nvSpPr>
        <p:spPr>
          <a:xfrm>
            <a:off x="5349240" y="2779776"/>
            <a:ext cx="2926080" cy="566928"/>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85816" y="2779776"/>
            <a:ext cx="2852928" cy="566928"/>
          </a:xfrm>
          <a:prstGeom prst="rect">
            <a:avLst/>
          </a:prstGeom>
          <a:noFill/>
        </p:spPr>
        <p:txBody>
          <a:bodyPr wrap="square" lIns="0" rIns="0" tIns="0" bIns="0" anchor="ctr">
            <a:spAutoFit/>
          </a:bodyPr>
          <a:lstStyle/>
          <a:p>
            <a:pPr algn="ctr">
              <a:lnSpc>
                <a:spcPct val="110000"/>
              </a:lnSpc>
              <a:spcBef>
                <a:spcPts val="0"/>
              </a:spcBef>
              <a:spcAft>
                <a:spcPts val="0"/>
              </a:spcAft>
            </a:pPr>
            <a:r>
              <a:rPr sz="1400" b="0">
                <a:solidFill>
                  <a:srgbClr val="FFFFFF"/>
                </a:solidFill>
                <a:latin typeface="Aptos"/>
              </a:rPr>
              <a:t>10 m/s</a:t>
            </a:r>
          </a:p>
        </p:txBody>
      </p:sp>
      <p:sp>
        <p:nvSpPr>
          <p:cNvPr id="29" name="Rectangle 28"/>
          <p:cNvSpPr/>
          <p:nvPr/>
        </p:nvSpPr>
        <p:spPr>
          <a:xfrm>
            <a:off x="8275320" y="2779776"/>
            <a:ext cx="3108960" cy="566928"/>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11896" y="2779776"/>
            <a:ext cx="3035808" cy="566928"/>
          </a:xfrm>
          <a:prstGeom prst="rect">
            <a:avLst/>
          </a:prstGeom>
          <a:noFill/>
        </p:spPr>
        <p:txBody>
          <a:bodyPr wrap="square" lIns="0" rIns="0" tIns="0" bIns="0" anchor="ctr">
            <a:spAutoFit/>
          </a:bodyPr>
          <a:lstStyle/>
          <a:p>
            <a:pPr algn="ctr">
              <a:lnSpc>
                <a:spcPct val="110000"/>
              </a:lnSpc>
              <a:spcBef>
                <a:spcPts val="0"/>
              </a:spcBef>
              <a:spcAft>
                <a:spcPts val="0"/>
              </a:spcAft>
            </a:pPr>
            <a:r>
              <a:rPr sz="1400" b="0">
                <a:solidFill>
                  <a:srgbClr val="FFFFFF"/>
                </a:solidFill>
                <a:latin typeface="Aptos"/>
              </a:rPr>
              <a:t>2 m/s</a:t>
            </a:r>
          </a:p>
        </p:txBody>
      </p:sp>
      <p:sp>
        <p:nvSpPr>
          <p:cNvPr id="31" name="Rectangle 30"/>
          <p:cNvSpPr/>
          <p:nvPr/>
        </p:nvSpPr>
        <p:spPr>
          <a:xfrm>
            <a:off x="594360" y="3346703"/>
            <a:ext cx="4754880" cy="566928"/>
          </a:xfrm>
          <a:prstGeom prst="rect">
            <a:avLst/>
          </a:prstGeom>
          <a:solidFill>
            <a:srgbClr val="16181C"/>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0936" y="3346703"/>
            <a:ext cx="4681728" cy="566928"/>
          </a:xfrm>
          <a:prstGeom prst="rect">
            <a:avLst/>
          </a:prstGeom>
          <a:noFill/>
        </p:spPr>
        <p:txBody>
          <a:bodyPr wrap="square" lIns="0" rIns="0" tIns="0" bIns="0" anchor="ctr">
            <a:spAutoFit/>
          </a:bodyPr>
          <a:lstStyle/>
          <a:p>
            <a:pPr algn="ctr">
              <a:lnSpc>
                <a:spcPct val="110000"/>
              </a:lnSpc>
              <a:spcBef>
                <a:spcPts val="0"/>
              </a:spcBef>
              <a:spcAft>
                <a:spcPts val="0"/>
              </a:spcAft>
            </a:pPr>
            <a:r>
              <a:rPr sz="1400" b="1">
                <a:solidFill>
                  <a:srgbClr val="5AC8FF"/>
                </a:solidFill>
                <a:latin typeface="Aptos"/>
              </a:rPr>
              <a:t>out and back, 40 m path, 10 s</a:t>
            </a:r>
          </a:p>
        </p:txBody>
      </p:sp>
      <p:sp>
        <p:nvSpPr>
          <p:cNvPr id="33" name="Rectangle 32"/>
          <p:cNvSpPr/>
          <p:nvPr/>
        </p:nvSpPr>
        <p:spPr>
          <a:xfrm>
            <a:off x="5349240" y="3346703"/>
            <a:ext cx="2926080" cy="566928"/>
          </a:xfrm>
          <a:prstGeom prst="rect">
            <a:avLst/>
          </a:prstGeom>
          <a:solidFill>
            <a:srgbClr val="16181C"/>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85816" y="3346703"/>
            <a:ext cx="2852928" cy="566928"/>
          </a:xfrm>
          <a:prstGeom prst="rect">
            <a:avLst/>
          </a:prstGeom>
          <a:noFill/>
        </p:spPr>
        <p:txBody>
          <a:bodyPr wrap="square" lIns="0" rIns="0" tIns="0" bIns="0" anchor="ctr">
            <a:spAutoFit/>
          </a:bodyPr>
          <a:lstStyle/>
          <a:p>
            <a:pPr algn="ctr">
              <a:lnSpc>
                <a:spcPct val="110000"/>
              </a:lnSpc>
              <a:spcBef>
                <a:spcPts val="0"/>
              </a:spcBef>
              <a:spcAft>
                <a:spcPts val="0"/>
              </a:spcAft>
            </a:pPr>
            <a:r>
              <a:rPr sz="1400" b="0">
                <a:solidFill>
                  <a:srgbClr val="FFFFFF"/>
                </a:solidFill>
                <a:latin typeface="Aptos"/>
              </a:rPr>
              <a:t>4 m/s</a:t>
            </a:r>
          </a:p>
        </p:txBody>
      </p:sp>
      <p:sp>
        <p:nvSpPr>
          <p:cNvPr id="35" name="Rectangle 34"/>
          <p:cNvSpPr/>
          <p:nvPr/>
        </p:nvSpPr>
        <p:spPr>
          <a:xfrm>
            <a:off x="8275320" y="3346703"/>
            <a:ext cx="3108960" cy="566928"/>
          </a:xfrm>
          <a:prstGeom prst="rect">
            <a:avLst/>
          </a:prstGeom>
          <a:solidFill>
            <a:srgbClr val="16181C"/>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11896" y="3346703"/>
            <a:ext cx="3035808" cy="566928"/>
          </a:xfrm>
          <a:prstGeom prst="rect">
            <a:avLst/>
          </a:prstGeom>
          <a:noFill/>
        </p:spPr>
        <p:txBody>
          <a:bodyPr wrap="square" lIns="0" rIns="0" tIns="0" bIns="0" anchor="ctr">
            <a:spAutoFit/>
          </a:bodyPr>
          <a:lstStyle/>
          <a:p>
            <a:pPr algn="ctr">
              <a:lnSpc>
                <a:spcPct val="110000"/>
              </a:lnSpc>
              <a:spcBef>
                <a:spcPts val="0"/>
              </a:spcBef>
              <a:spcAft>
                <a:spcPts val="0"/>
              </a:spcAft>
            </a:pPr>
            <a:r>
              <a:rPr sz="1400" b="0">
                <a:solidFill>
                  <a:srgbClr val="FFFFFF"/>
                </a:solidFill>
                <a:latin typeface="Aptos"/>
              </a:rPr>
              <a:t>0</a:t>
            </a:r>
          </a:p>
        </p:txBody>
      </p:sp>
      <p:sp>
        <p:nvSpPr>
          <p:cNvPr id="37" name="TextBox 36"/>
          <p:cNvSpPr txBox="1"/>
          <p:nvPr/>
        </p:nvSpPr>
        <p:spPr>
          <a:xfrm>
            <a:off x="594360" y="427939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Path length goes in the speed. Only start-to-end goes in the velocity.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EXAMPLE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Semicircle in 10 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22</a:t>
            </a:r>
          </a:p>
        </p:txBody>
      </p:sp>
      <p:sp>
        <p:nvSpPr>
          <p:cNvPr id="7" name="TextBox 6"/>
          <p:cNvSpPr txBox="1"/>
          <p:nvPr/>
        </p:nvSpPr>
        <p:spPr>
          <a:xfrm>
            <a:off x="594360" y="1078992"/>
            <a:ext cx="11018520" cy="8229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Radius 4 m. The object runs the semicircle from one end of the diameter to the other in 10 s.</a:t>
            </a:r>
          </a:p>
        </p:txBody>
      </p:sp>
      <p:sp>
        <p:nvSpPr>
          <p:cNvPr id="8" name="TextBox 7"/>
          <p:cNvSpPr txBox="1"/>
          <p:nvPr/>
        </p:nvSpPr>
        <p:spPr>
          <a:xfrm>
            <a:off x="594360" y="213055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distance = πR = 4π m , |displacement| = 8 m</a:t>
            </a:r>
          </a:p>
        </p:txBody>
      </p:sp>
      <p:sp>
        <p:nvSpPr>
          <p:cNvPr id="9" name="TextBox 8"/>
          <p:cNvSpPr txBox="1"/>
          <p:nvPr/>
        </p:nvSpPr>
        <p:spPr>
          <a:xfrm>
            <a:off x="594360" y="26791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average speed = 4π / 10 = 0.4 π m/s</a:t>
            </a:r>
          </a:p>
        </p:txBody>
      </p:sp>
      <p:sp>
        <p:nvSpPr>
          <p:cNvPr id="10" name="TextBox 9"/>
          <p:cNvSpPr txBox="1"/>
          <p:nvPr/>
        </p:nvSpPr>
        <p:spPr>
          <a:xfrm>
            <a:off x="594360" y="322783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|average velocity| = 8 / 10 = 0.8 m/s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409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RULE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Constant speed v on a circle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23</a:t>
            </a:r>
          </a:p>
        </p:txBody>
      </p:sp>
      <p:sp>
        <p:nvSpPr>
          <p:cNvPr id="7" name="TextBox 6"/>
          <p:cNvSpPr txBox="1"/>
          <p:nvPr/>
        </p:nvSpPr>
        <p:spPr>
          <a:xfrm>
            <a:off x="594360" y="1078992"/>
            <a:ext cx="11018520" cy="731520"/>
          </a:xfrm>
          <a:prstGeom prst="rect">
            <a:avLst/>
          </a:prstGeom>
          <a:noFill/>
        </p:spPr>
        <p:txBody>
          <a:bodyPr wrap="square" lIns="0" rIns="0" tIns="0" bIns="0" anchor="t">
            <a:spAutoFit/>
          </a:bodyPr>
          <a:lstStyle/>
          <a:p>
            <a:pPr algn="l">
              <a:lnSpc>
                <a:spcPct val="128000"/>
              </a:lnSpc>
              <a:spcBef>
                <a:spcPts val="0"/>
              </a:spcBef>
              <a:spcAft>
                <a:spcPts val="0"/>
              </a:spcAft>
            </a:pPr>
            <a:r>
              <a:rPr sz="1500" b="0">
                <a:solidFill>
                  <a:srgbClr val="FFFFFF"/>
                </a:solidFill>
                <a:latin typeface="Aptos"/>
              </a:rPr>
              <a:t>One lap takes time 2πR/v. Read each fraction of the lap from that.</a:t>
            </a:r>
          </a:p>
        </p:txBody>
      </p:sp>
      <p:sp>
        <p:nvSpPr>
          <p:cNvPr id="8" name="Rectangle 7"/>
          <p:cNvSpPr/>
          <p:nvPr/>
        </p:nvSpPr>
        <p:spPr>
          <a:xfrm>
            <a:off x="594360" y="1993391"/>
            <a:ext cx="2377440" cy="530352"/>
          </a:xfrm>
          <a:prstGeom prst="rect">
            <a:avLst/>
          </a:prstGeom>
          <a:solidFill>
            <a:srgbClr val="1C2434"/>
          </a:solidFill>
          <a:ln>
            <a:solidFill>
              <a:srgbClr val="1C2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 y="1993391"/>
            <a:ext cx="2304288" cy="530352"/>
          </a:xfrm>
          <a:prstGeom prst="rect">
            <a:avLst/>
          </a:prstGeom>
          <a:noFill/>
        </p:spPr>
        <p:txBody>
          <a:bodyPr wrap="square" lIns="0" rIns="0" tIns="0" bIns="0" anchor="ctr">
            <a:spAutoFit/>
          </a:bodyPr>
          <a:lstStyle/>
          <a:p>
            <a:pPr algn="ctr">
              <a:lnSpc>
                <a:spcPct val="110000"/>
              </a:lnSpc>
              <a:spcBef>
                <a:spcPts val="0"/>
              </a:spcBef>
              <a:spcAft>
                <a:spcPts val="0"/>
              </a:spcAft>
            </a:pPr>
            <a:r>
              <a:rPr sz="1400" b="1">
                <a:solidFill>
                  <a:srgbClr val="FFFFFF"/>
                </a:solidFill>
                <a:latin typeface="Aptos"/>
              </a:rPr>
              <a:t>Part</a:t>
            </a:r>
          </a:p>
        </p:txBody>
      </p:sp>
      <p:sp>
        <p:nvSpPr>
          <p:cNvPr id="10" name="Rectangle 9"/>
          <p:cNvSpPr/>
          <p:nvPr/>
        </p:nvSpPr>
        <p:spPr>
          <a:xfrm>
            <a:off x="2971800" y="1993391"/>
            <a:ext cx="2560320" cy="530352"/>
          </a:xfrm>
          <a:prstGeom prst="rect">
            <a:avLst/>
          </a:prstGeom>
          <a:solidFill>
            <a:srgbClr val="1C2434"/>
          </a:solidFill>
          <a:ln>
            <a:solidFill>
              <a:srgbClr val="1C2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08376" y="1993391"/>
            <a:ext cx="2487168" cy="530352"/>
          </a:xfrm>
          <a:prstGeom prst="rect">
            <a:avLst/>
          </a:prstGeom>
          <a:noFill/>
        </p:spPr>
        <p:txBody>
          <a:bodyPr wrap="square" lIns="0" rIns="0" tIns="0" bIns="0" anchor="ctr">
            <a:spAutoFit/>
          </a:bodyPr>
          <a:lstStyle/>
          <a:p>
            <a:pPr algn="ctr">
              <a:lnSpc>
                <a:spcPct val="110000"/>
              </a:lnSpc>
              <a:spcBef>
                <a:spcPts val="0"/>
              </a:spcBef>
              <a:spcAft>
                <a:spcPts val="0"/>
              </a:spcAft>
            </a:pPr>
            <a:r>
              <a:rPr sz="1400" b="1">
                <a:solidFill>
                  <a:srgbClr val="FFFFFF"/>
                </a:solidFill>
                <a:latin typeface="Aptos"/>
              </a:rPr>
              <a:t>distance</a:t>
            </a:r>
          </a:p>
        </p:txBody>
      </p:sp>
      <p:sp>
        <p:nvSpPr>
          <p:cNvPr id="12" name="Rectangle 11"/>
          <p:cNvSpPr/>
          <p:nvPr/>
        </p:nvSpPr>
        <p:spPr>
          <a:xfrm>
            <a:off x="5532120" y="1993391"/>
            <a:ext cx="2377440" cy="530352"/>
          </a:xfrm>
          <a:prstGeom prst="rect">
            <a:avLst/>
          </a:prstGeom>
          <a:solidFill>
            <a:srgbClr val="1C2434"/>
          </a:solidFill>
          <a:ln>
            <a:solidFill>
              <a:srgbClr val="1C2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68696" y="1993391"/>
            <a:ext cx="2304288" cy="530352"/>
          </a:xfrm>
          <a:prstGeom prst="rect">
            <a:avLst/>
          </a:prstGeom>
          <a:noFill/>
        </p:spPr>
        <p:txBody>
          <a:bodyPr wrap="square" lIns="0" rIns="0" tIns="0" bIns="0" anchor="ctr">
            <a:spAutoFit/>
          </a:bodyPr>
          <a:lstStyle/>
          <a:p>
            <a:pPr algn="ctr">
              <a:lnSpc>
                <a:spcPct val="110000"/>
              </a:lnSpc>
              <a:spcBef>
                <a:spcPts val="0"/>
              </a:spcBef>
              <a:spcAft>
                <a:spcPts val="0"/>
              </a:spcAft>
            </a:pPr>
            <a:r>
              <a:rPr sz="1400" b="1">
                <a:solidFill>
                  <a:srgbClr val="FFFFFF"/>
                </a:solidFill>
                <a:latin typeface="Aptos"/>
              </a:rPr>
              <a:t>|disp|</a:t>
            </a:r>
          </a:p>
        </p:txBody>
      </p:sp>
      <p:sp>
        <p:nvSpPr>
          <p:cNvPr id="14" name="Rectangle 13"/>
          <p:cNvSpPr/>
          <p:nvPr/>
        </p:nvSpPr>
        <p:spPr>
          <a:xfrm>
            <a:off x="7909560" y="1993391"/>
            <a:ext cx="3474720" cy="530352"/>
          </a:xfrm>
          <a:prstGeom prst="rect">
            <a:avLst/>
          </a:prstGeom>
          <a:solidFill>
            <a:srgbClr val="1C2434"/>
          </a:solidFill>
          <a:ln>
            <a:solidFill>
              <a:srgbClr val="1C2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46136" y="1993391"/>
            <a:ext cx="3401568" cy="530352"/>
          </a:xfrm>
          <a:prstGeom prst="rect">
            <a:avLst/>
          </a:prstGeom>
          <a:noFill/>
        </p:spPr>
        <p:txBody>
          <a:bodyPr wrap="square" lIns="0" rIns="0" tIns="0" bIns="0" anchor="ctr">
            <a:spAutoFit/>
          </a:bodyPr>
          <a:lstStyle/>
          <a:p>
            <a:pPr algn="ctr">
              <a:lnSpc>
                <a:spcPct val="110000"/>
              </a:lnSpc>
              <a:spcBef>
                <a:spcPts val="0"/>
              </a:spcBef>
              <a:spcAft>
                <a:spcPts val="0"/>
              </a:spcAft>
            </a:pPr>
            <a:r>
              <a:rPr sz="1400" b="1">
                <a:solidFill>
                  <a:srgbClr val="FFFFFF"/>
                </a:solidFill>
                <a:latin typeface="Aptos"/>
              </a:rPr>
              <a:t>|vₐvg|</a:t>
            </a:r>
          </a:p>
        </p:txBody>
      </p:sp>
      <p:sp>
        <p:nvSpPr>
          <p:cNvPr id="16" name="Rectangle 15"/>
          <p:cNvSpPr/>
          <p:nvPr/>
        </p:nvSpPr>
        <p:spPr>
          <a:xfrm>
            <a:off x="594360" y="2523744"/>
            <a:ext cx="2377440" cy="530352"/>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 y="2523744"/>
            <a:ext cx="2304288" cy="530352"/>
          </a:xfrm>
          <a:prstGeom prst="rect">
            <a:avLst/>
          </a:prstGeom>
          <a:noFill/>
        </p:spPr>
        <p:txBody>
          <a:bodyPr wrap="square" lIns="0" rIns="0" tIns="0" bIns="0" anchor="ctr">
            <a:spAutoFit/>
          </a:bodyPr>
          <a:lstStyle/>
          <a:p>
            <a:pPr algn="ctr">
              <a:lnSpc>
                <a:spcPct val="110000"/>
              </a:lnSpc>
              <a:spcBef>
                <a:spcPts val="0"/>
              </a:spcBef>
              <a:spcAft>
                <a:spcPts val="0"/>
              </a:spcAft>
            </a:pPr>
            <a:r>
              <a:rPr sz="1500" b="1">
                <a:solidFill>
                  <a:srgbClr val="5AC8FF"/>
                </a:solidFill>
                <a:latin typeface="Aptos"/>
              </a:rPr>
              <a:t>1/4 lap</a:t>
            </a:r>
          </a:p>
        </p:txBody>
      </p:sp>
      <p:sp>
        <p:nvSpPr>
          <p:cNvPr id="18" name="Rectangle 17"/>
          <p:cNvSpPr/>
          <p:nvPr/>
        </p:nvSpPr>
        <p:spPr>
          <a:xfrm>
            <a:off x="2971800" y="2523744"/>
            <a:ext cx="2560320" cy="530352"/>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08376" y="2523744"/>
            <a:ext cx="2487168" cy="530352"/>
          </a:xfrm>
          <a:prstGeom prst="rect">
            <a:avLst/>
          </a:prstGeom>
          <a:noFill/>
        </p:spPr>
        <p:txBody>
          <a:bodyPr wrap="square" lIns="0" rIns="0" tIns="0" bIns="0" anchor="ctr">
            <a:spAutoFit/>
          </a:bodyPr>
          <a:lstStyle/>
          <a:p>
            <a:pPr algn="ctr">
              <a:lnSpc>
                <a:spcPct val="110000"/>
              </a:lnSpc>
              <a:spcBef>
                <a:spcPts val="0"/>
              </a:spcBef>
              <a:spcAft>
                <a:spcPts val="0"/>
              </a:spcAft>
            </a:pPr>
            <a:r>
              <a:rPr sz="1500" b="0">
                <a:solidFill>
                  <a:srgbClr val="FFFFFF"/>
                </a:solidFill>
                <a:latin typeface="Aptos"/>
              </a:rPr>
              <a:t>πR/2</a:t>
            </a:r>
          </a:p>
        </p:txBody>
      </p:sp>
      <p:sp>
        <p:nvSpPr>
          <p:cNvPr id="20" name="Rectangle 19"/>
          <p:cNvSpPr/>
          <p:nvPr/>
        </p:nvSpPr>
        <p:spPr>
          <a:xfrm>
            <a:off x="5532120" y="2523744"/>
            <a:ext cx="2377440" cy="530352"/>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68696" y="2523744"/>
            <a:ext cx="2304288" cy="530352"/>
          </a:xfrm>
          <a:prstGeom prst="rect">
            <a:avLst/>
          </a:prstGeom>
          <a:noFill/>
        </p:spPr>
        <p:txBody>
          <a:bodyPr wrap="square" lIns="0" rIns="0" tIns="0" bIns="0" anchor="ctr">
            <a:spAutoFit/>
          </a:bodyPr>
          <a:lstStyle/>
          <a:p>
            <a:pPr algn="ctr">
              <a:lnSpc>
                <a:spcPct val="110000"/>
              </a:lnSpc>
              <a:spcBef>
                <a:spcPts val="0"/>
              </a:spcBef>
              <a:spcAft>
                <a:spcPts val="0"/>
              </a:spcAft>
            </a:pPr>
            <a:r>
              <a:rPr sz="1500" b="0">
                <a:solidFill>
                  <a:srgbClr val="FFFFFF"/>
                </a:solidFill>
                <a:latin typeface="Aptos"/>
              </a:rPr>
              <a:t>R√2</a:t>
            </a:r>
          </a:p>
        </p:txBody>
      </p:sp>
      <p:sp>
        <p:nvSpPr>
          <p:cNvPr id="22" name="Rectangle 21"/>
          <p:cNvSpPr/>
          <p:nvPr/>
        </p:nvSpPr>
        <p:spPr>
          <a:xfrm>
            <a:off x="7909560" y="2523744"/>
            <a:ext cx="3474720" cy="530352"/>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46136" y="2523744"/>
            <a:ext cx="3401568" cy="530352"/>
          </a:xfrm>
          <a:prstGeom prst="rect">
            <a:avLst/>
          </a:prstGeom>
          <a:noFill/>
        </p:spPr>
        <p:txBody>
          <a:bodyPr wrap="square" lIns="0" rIns="0" tIns="0" bIns="0" anchor="ctr">
            <a:spAutoFit/>
          </a:bodyPr>
          <a:lstStyle/>
          <a:p>
            <a:pPr algn="ctr">
              <a:lnSpc>
                <a:spcPct val="110000"/>
              </a:lnSpc>
              <a:spcBef>
                <a:spcPts val="0"/>
              </a:spcBef>
              <a:spcAft>
                <a:spcPts val="0"/>
              </a:spcAft>
            </a:pPr>
            <a:r>
              <a:rPr sz="1500" b="0">
                <a:solidFill>
                  <a:srgbClr val="FFFFFF"/>
                </a:solidFill>
                <a:latin typeface="Aptos"/>
              </a:rPr>
              <a:t> (R√2) / t </a:t>
            </a:r>
          </a:p>
        </p:txBody>
      </p:sp>
      <p:sp>
        <p:nvSpPr>
          <p:cNvPr id="24" name="Rectangle 23"/>
          <p:cNvSpPr/>
          <p:nvPr/>
        </p:nvSpPr>
        <p:spPr>
          <a:xfrm>
            <a:off x="594360" y="3054096"/>
            <a:ext cx="2377440" cy="530352"/>
          </a:xfrm>
          <a:prstGeom prst="rect">
            <a:avLst/>
          </a:prstGeom>
          <a:solidFill>
            <a:srgbClr val="16181C"/>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 y="3054096"/>
            <a:ext cx="2304288" cy="530352"/>
          </a:xfrm>
          <a:prstGeom prst="rect">
            <a:avLst/>
          </a:prstGeom>
          <a:noFill/>
        </p:spPr>
        <p:txBody>
          <a:bodyPr wrap="square" lIns="0" rIns="0" tIns="0" bIns="0" anchor="ctr">
            <a:spAutoFit/>
          </a:bodyPr>
          <a:lstStyle/>
          <a:p>
            <a:pPr algn="ctr">
              <a:lnSpc>
                <a:spcPct val="110000"/>
              </a:lnSpc>
              <a:spcBef>
                <a:spcPts val="0"/>
              </a:spcBef>
              <a:spcAft>
                <a:spcPts val="0"/>
              </a:spcAft>
            </a:pPr>
            <a:r>
              <a:rPr sz="1500" b="1">
                <a:solidFill>
                  <a:srgbClr val="5AC8FF"/>
                </a:solidFill>
                <a:latin typeface="Aptos"/>
              </a:rPr>
              <a:t>1/2 lap</a:t>
            </a:r>
          </a:p>
        </p:txBody>
      </p:sp>
      <p:sp>
        <p:nvSpPr>
          <p:cNvPr id="26" name="Rectangle 25"/>
          <p:cNvSpPr/>
          <p:nvPr/>
        </p:nvSpPr>
        <p:spPr>
          <a:xfrm>
            <a:off x="2971800" y="3054096"/>
            <a:ext cx="2560320" cy="530352"/>
          </a:xfrm>
          <a:prstGeom prst="rect">
            <a:avLst/>
          </a:prstGeom>
          <a:solidFill>
            <a:srgbClr val="16181C"/>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08376" y="3054096"/>
            <a:ext cx="2487168" cy="530352"/>
          </a:xfrm>
          <a:prstGeom prst="rect">
            <a:avLst/>
          </a:prstGeom>
          <a:noFill/>
        </p:spPr>
        <p:txBody>
          <a:bodyPr wrap="square" lIns="0" rIns="0" tIns="0" bIns="0" anchor="ctr">
            <a:spAutoFit/>
          </a:bodyPr>
          <a:lstStyle/>
          <a:p>
            <a:pPr algn="ctr">
              <a:lnSpc>
                <a:spcPct val="110000"/>
              </a:lnSpc>
              <a:spcBef>
                <a:spcPts val="0"/>
              </a:spcBef>
              <a:spcAft>
                <a:spcPts val="0"/>
              </a:spcAft>
            </a:pPr>
            <a:r>
              <a:rPr sz="1500" b="0">
                <a:solidFill>
                  <a:srgbClr val="FFFFFF"/>
                </a:solidFill>
                <a:latin typeface="Aptos"/>
              </a:rPr>
              <a:t>πR</a:t>
            </a:r>
          </a:p>
        </p:txBody>
      </p:sp>
      <p:sp>
        <p:nvSpPr>
          <p:cNvPr id="28" name="Rectangle 27"/>
          <p:cNvSpPr/>
          <p:nvPr/>
        </p:nvSpPr>
        <p:spPr>
          <a:xfrm>
            <a:off x="5532120" y="3054096"/>
            <a:ext cx="2377440" cy="530352"/>
          </a:xfrm>
          <a:prstGeom prst="rect">
            <a:avLst/>
          </a:prstGeom>
          <a:solidFill>
            <a:srgbClr val="16181C"/>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568696" y="3054096"/>
            <a:ext cx="2304288" cy="530352"/>
          </a:xfrm>
          <a:prstGeom prst="rect">
            <a:avLst/>
          </a:prstGeom>
          <a:noFill/>
        </p:spPr>
        <p:txBody>
          <a:bodyPr wrap="square" lIns="0" rIns="0" tIns="0" bIns="0" anchor="ctr">
            <a:spAutoFit/>
          </a:bodyPr>
          <a:lstStyle/>
          <a:p>
            <a:pPr algn="ctr">
              <a:lnSpc>
                <a:spcPct val="110000"/>
              </a:lnSpc>
              <a:spcBef>
                <a:spcPts val="0"/>
              </a:spcBef>
              <a:spcAft>
                <a:spcPts val="0"/>
              </a:spcAft>
            </a:pPr>
            <a:r>
              <a:rPr sz="1500" b="0">
                <a:solidFill>
                  <a:srgbClr val="FFFFFF"/>
                </a:solidFill>
                <a:latin typeface="Aptos"/>
              </a:rPr>
              <a:t>2R</a:t>
            </a:r>
          </a:p>
        </p:txBody>
      </p:sp>
      <p:sp>
        <p:nvSpPr>
          <p:cNvPr id="30" name="Rectangle 29"/>
          <p:cNvSpPr/>
          <p:nvPr/>
        </p:nvSpPr>
        <p:spPr>
          <a:xfrm>
            <a:off x="7909560" y="3054096"/>
            <a:ext cx="3474720" cy="530352"/>
          </a:xfrm>
          <a:prstGeom prst="rect">
            <a:avLst/>
          </a:prstGeom>
          <a:solidFill>
            <a:srgbClr val="16181C"/>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6136" y="3054096"/>
            <a:ext cx="3401568" cy="530352"/>
          </a:xfrm>
          <a:prstGeom prst="rect">
            <a:avLst/>
          </a:prstGeom>
          <a:noFill/>
        </p:spPr>
        <p:txBody>
          <a:bodyPr wrap="square" lIns="0" rIns="0" tIns="0" bIns="0" anchor="ctr">
            <a:spAutoFit/>
          </a:bodyPr>
          <a:lstStyle/>
          <a:p>
            <a:pPr algn="ctr">
              <a:lnSpc>
                <a:spcPct val="110000"/>
              </a:lnSpc>
              <a:spcBef>
                <a:spcPts val="0"/>
              </a:spcBef>
              <a:spcAft>
                <a:spcPts val="0"/>
              </a:spcAft>
            </a:pPr>
            <a:r>
              <a:rPr sz="1500" b="0">
                <a:solidFill>
                  <a:srgbClr val="FFFFFF"/>
                </a:solidFill>
                <a:latin typeface="Aptos"/>
              </a:rPr>
              <a:t>2v/π</a:t>
            </a:r>
          </a:p>
        </p:txBody>
      </p:sp>
      <p:sp>
        <p:nvSpPr>
          <p:cNvPr id="32" name="Rectangle 31"/>
          <p:cNvSpPr/>
          <p:nvPr/>
        </p:nvSpPr>
        <p:spPr>
          <a:xfrm>
            <a:off x="594360" y="3584448"/>
            <a:ext cx="2377440" cy="530352"/>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0936" y="3584448"/>
            <a:ext cx="2304288" cy="530352"/>
          </a:xfrm>
          <a:prstGeom prst="rect">
            <a:avLst/>
          </a:prstGeom>
          <a:noFill/>
        </p:spPr>
        <p:txBody>
          <a:bodyPr wrap="square" lIns="0" rIns="0" tIns="0" bIns="0" anchor="ctr">
            <a:spAutoFit/>
          </a:bodyPr>
          <a:lstStyle/>
          <a:p>
            <a:pPr algn="ctr">
              <a:lnSpc>
                <a:spcPct val="110000"/>
              </a:lnSpc>
              <a:spcBef>
                <a:spcPts val="0"/>
              </a:spcBef>
              <a:spcAft>
                <a:spcPts val="0"/>
              </a:spcAft>
            </a:pPr>
            <a:r>
              <a:rPr sz="1500" b="1">
                <a:solidFill>
                  <a:srgbClr val="5AC8FF"/>
                </a:solidFill>
                <a:latin typeface="Aptos"/>
              </a:rPr>
              <a:t>full lap</a:t>
            </a:r>
          </a:p>
        </p:txBody>
      </p:sp>
      <p:sp>
        <p:nvSpPr>
          <p:cNvPr id="34" name="Rectangle 33"/>
          <p:cNvSpPr/>
          <p:nvPr/>
        </p:nvSpPr>
        <p:spPr>
          <a:xfrm>
            <a:off x="2971800" y="3584448"/>
            <a:ext cx="2560320" cy="530352"/>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008376" y="3584448"/>
            <a:ext cx="2487168" cy="530352"/>
          </a:xfrm>
          <a:prstGeom prst="rect">
            <a:avLst/>
          </a:prstGeom>
          <a:noFill/>
        </p:spPr>
        <p:txBody>
          <a:bodyPr wrap="square" lIns="0" rIns="0" tIns="0" bIns="0" anchor="ctr">
            <a:spAutoFit/>
          </a:bodyPr>
          <a:lstStyle/>
          <a:p>
            <a:pPr algn="ctr">
              <a:lnSpc>
                <a:spcPct val="110000"/>
              </a:lnSpc>
              <a:spcBef>
                <a:spcPts val="0"/>
              </a:spcBef>
              <a:spcAft>
                <a:spcPts val="0"/>
              </a:spcAft>
            </a:pPr>
            <a:r>
              <a:rPr sz="1500" b="0">
                <a:solidFill>
                  <a:srgbClr val="FFFFFF"/>
                </a:solidFill>
                <a:latin typeface="Aptos"/>
              </a:rPr>
              <a:t>2πR</a:t>
            </a:r>
          </a:p>
        </p:txBody>
      </p:sp>
      <p:sp>
        <p:nvSpPr>
          <p:cNvPr id="36" name="Rectangle 35"/>
          <p:cNvSpPr/>
          <p:nvPr/>
        </p:nvSpPr>
        <p:spPr>
          <a:xfrm>
            <a:off x="5532120" y="3584448"/>
            <a:ext cx="2377440" cy="530352"/>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568696" y="3584448"/>
            <a:ext cx="2304288" cy="530352"/>
          </a:xfrm>
          <a:prstGeom prst="rect">
            <a:avLst/>
          </a:prstGeom>
          <a:noFill/>
        </p:spPr>
        <p:txBody>
          <a:bodyPr wrap="square" lIns="0" rIns="0" tIns="0" bIns="0" anchor="ctr">
            <a:spAutoFit/>
          </a:bodyPr>
          <a:lstStyle/>
          <a:p>
            <a:pPr algn="ctr">
              <a:lnSpc>
                <a:spcPct val="110000"/>
              </a:lnSpc>
              <a:spcBef>
                <a:spcPts val="0"/>
              </a:spcBef>
              <a:spcAft>
                <a:spcPts val="0"/>
              </a:spcAft>
            </a:pPr>
            <a:r>
              <a:rPr sz="1500" b="0">
                <a:solidFill>
                  <a:srgbClr val="FFFFFF"/>
                </a:solidFill>
                <a:latin typeface="Aptos"/>
              </a:rPr>
              <a:t>0</a:t>
            </a:r>
          </a:p>
        </p:txBody>
      </p:sp>
      <p:sp>
        <p:nvSpPr>
          <p:cNvPr id="38" name="Rectangle 37"/>
          <p:cNvSpPr/>
          <p:nvPr/>
        </p:nvSpPr>
        <p:spPr>
          <a:xfrm>
            <a:off x="7909560" y="3584448"/>
            <a:ext cx="3474720" cy="530352"/>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946136" y="3584448"/>
            <a:ext cx="3401568" cy="530352"/>
          </a:xfrm>
          <a:prstGeom prst="rect">
            <a:avLst/>
          </a:prstGeom>
          <a:noFill/>
        </p:spPr>
        <p:txBody>
          <a:bodyPr wrap="square" lIns="0" rIns="0" tIns="0" bIns="0" anchor="ctr">
            <a:spAutoFit/>
          </a:bodyPr>
          <a:lstStyle/>
          <a:p>
            <a:pPr algn="ctr">
              <a:lnSpc>
                <a:spcPct val="110000"/>
              </a:lnSpc>
              <a:spcBef>
                <a:spcPts val="0"/>
              </a:spcBef>
              <a:spcAft>
                <a:spcPts val="0"/>
              </a:spcAft>
            </a:pPr>
            <a:r>
              <a:rPr sz="1500" b="0">
                <a:solidFill>
                  <a:srgbClr val="FFFFFF"/>
                </a:solidFill>
                <a:latin typeface="Aptos"/>
              </a:rPr>
              <a:t>0</a:t>
            </a:r>
          </a:p>
        </p:txBody>
      </p:sp>
      <p:sp>
        <p:nvSpPr>
          <p:cNvPr id="40" name="TextBox 39"/>
          <p:cNvSpPr txBox="1"/>
          <p:nvPr/>
        </p:nvSpPr>
        <p:spPr>
          <a:xfrm>
            <a:off x="594360" y="432511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Average speed for a full lap is still v. Average velocity is zero.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EXAMPLE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Half the distance at v, half at 2v</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25</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time = (d/2)/v + (d/2)/(2v) = 3d / (4v)</a:t>
            </a:r>
          </a:p>
        </p:txBody>
      </p:sp>
      <p:sp>
        <p:nvSpPr>
          <p:cNvPr id="8" name="TextBox 7"/>
          <p:cNvSpPr txBox="1"/>
          <p:nvPr/>
        </p:nvSpPr>
        <p:spPr>
          <a:xfrm>
            <a:off x="594360" y="16276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average speed = d / (3d/(4v)) = 4v/3</a:t>
            </a:r>
          </a:p>
        </p:txBody>
      </p:sp>
      <p:sp>
        <p:nvSpPr>
          <p:cNvPr id="9" name="TextBox 8"/>
          <p:cNvSpPr txBox="1"/>
          <p:nvPr/>
        </p:nvSpPr>
        <p:spPr>
          <a:xfrm>
            <a:off x="594360" y="2633472"/>
            <a:ext cx="11018520" cy="822960"/>
          </a:xfrm>
          <a:prstGeom prst="rect">
            <a:avLst/>
          </a:prstGeom>
          <a:noFill/>
        </p:spPr>
        <p:txBody>
          <a:bodyPr wrap="square" lIns="0" rIns="0" tIns="0" bIns="0" anchor="t">
            <a:spAutoFit/>
          </a:bodyPr>
          <a:lstStyle/>
          <a:p>
            <a:pPr algn="l">
              <a:lnSpc>
                <a:spcPct val="128000"/>
              </a:lnSpc>
              <a:spcBef>
                <a:spcPts val="0"/>
              </a:spcBef>
              <a:spcAft>
                <a:spcPts val="0"/>
              </a:spcAft>
            </a:pPr>
            <a:r>
              <a:rPr sz="1500" b="0">
                <a:solidFill>
                  <a:srgbClr val="FFFFFF"/>
                </a:solidFill>
                <a:latin typeface="Aptos"/>
              </a:rPr>
              <a:t>Same direction the whole way, so |average velocity| equals this average speed.</a:t>
            </a:r>
          </a:p>
        </p:txBody>
      </p:sp>
      <p:sp>
        <p:nvSpPr>
          <p:cNvPr id="10" name="TextBox 9"/>
          <p:cNvSpPr txBox="1"/>
          <p:nvPr/>
        </p:nvSpPr>
        <p:spPr>
          <a:xfrm>
            <a:off x="594360" y="3639311"/>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Answer: 4v/3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EXAMPLE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Out at 30 km/h, back at 60 km/h</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26</a:t>
            </a:r>
          </a:p>
        </p:txBody>
      </p:sp>
      <p:sp>
        <p:nvSpPr>
          <p:cNvPr id="7" name="TextBox 6"/>
          <p:cNvSpPr txBox="1"/>
          <p:nvPr/>
        </p:nvSpPr>
        <p:spPr>
          <a:xfrm>
            <a:off x="594360" y="1078992"/>
            <a:ext cx="11018520" cy="91440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Same road both ways. Distances are equal, so use the distance formula. Let the one-way distance be d.</a:t>
            </a:r>
          </a:p>
        </p:txBody>
      </p:sp>
      <p:sp>
        <p:nvSpPr>
          <p:cNvPr id="8" name="TextBox 7"/>
          <p:cNvSpPr txBox="1"/>
          <p:nvPr/>
        </p:nvSpPr>
        <p:spPr>
          <a:xfrm>
            <a:off x="594360" y="21762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average speed = 2d / (d/30 + d/60) = 2 / (1/30 + 1/60)</a:t>
            </a:r>
          </a:p>
        </p:txBody>
      </p:sp>
      <p:sp>
        <p:nvSpPr>
          <p:cNvPr id="9" name="TextBox 8"/>
          <p:cNvSpPr txBox="1"/>
          <p:nvPr/>
        </p:nvSpPr>
        <p:spPr>
          <a:xfrm>
            <a:off x="594360" y="272491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 = 2 / (3/60) = 40 km/h</a:t>
            </a:r>
          </a:p>
        </p:txBody>
      </p:sp>
      <p:sp>
        <p:nvSpPr>
          <p:cNvPr id="10" name="TextBox 9"/>
          <p:cNvSpPr txBox="1"/>
          <p:nvPr/>
        </p:nvSpPr>
        <p:spPr>
          <a:xfrm>
            <a:off x="594360" y="354787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Round trip of two speeds: 2 s₁ s₂ / (s₁ + s₂)</a:t>
            </a:r>
          </a:p>
        </p:txBody>
      </p:sp>
      <p:sp>
        <p:nvSpPr>
          <p:cNvPr id="11" name="TextBox 10"/>
          <p:cNvSpPr txBox="1"/>
          <p:nvPr/>
        </p:nvSpPr>
        <p:spPr>
          <a:xfrm>
            <a:off x="594360" y="437083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Displacement for the round trip is zero, so average velocity is zero.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MCQ — three equal parts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27</a:t>
            </a:r>
          </a:p>
        </p:txBody>
      </p:sp>
      <p:sp>
        <p:nvSpPr>
          <p:cNvPr id="7" name="TextBox 6"/>
          <p:cNvSpPr txBox="1"/>
          <p:nvPr/>
        </p:nvSpPr>
        <p:spPr>
          <a:xfrm>
            <a:off x="594360" y="1078992"/>
            <a:ext cx="11018520" cy="73152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First third at 10 m/s, second at 20 m/s, last at 30 m/s, all same direction. Average velocity is</a:t>
            </a:r>
          </a:p>
        </p:txBody>
      </p:sp>
      <p:sp>
        <p:nvSpPr>
          <p:cNvPr id="8" name="Oval 7"/>
          <p:cNvSpPr/>
          <p:nvPr/>
        </p:nvSpPr>
        <p:spPr>
          <a:xfrm>
            <a:off x="594360" y="2093976"/>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112264"/>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1014984" y="2075688"/>
            <a:ext cx="10597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17.8 m/s</a:t>
            </a:r>
          </a:p>
        </p:txBody>
      </p:sp>
      <p:sp>
        <p:nvSpPr>
          <p:cNvPr id="11" name="Oval 10"/>
          <p:cNvSpPr/>
          <p:nvPr/>
        </p:nvSpPr>
        <p:spPr>
          <a:xfrm>
            <a:off x="594360" y="2569464"/>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587752"/>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1014984" y="2551176"/>
            <a:ext cx="10597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16.4 m/s</a:t>
            </a:r>
          </a:p>
        </p:txBody>
      </p:sp>
      <p:sp>
        <p:nvSpPr>
          <p:cNvPr id="14" name="Oval 13"/>
          <p:cNvSpPr/>
          <p:nvPr/>
        </p:nvSpPr>
        <p:spPr>
          <a:xfrm>
            <a:off x="594360" y="3044952"/>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063240"/>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1014984" y="3026664"/>
            <a:ext cx="10597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18.3 m/s</a:t>
            </a:r>
          </a:p>
        </p:txBody>
      </p:sp>
      <p:sp>
        <p:nvSpPr>
          <p:cNvPr id="17" name="Oval 16"/>
          <p:cNvSpPr/>
          <p:nvPr/>
        </p:nvSpPr>
        <p:spPr>
          <a:xfrm>
            <a:off x="594360" y="3520440"/>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538728"/>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1014984" y="3502152"/>
            <a:ext cx="10597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20.2 m/s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MCQ — three equal parts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28</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1:  t = (x/10) + (x/20) + (x/30) = 11x/60</a:t>
            </a:r>
          </a:p>
        </p:txBody>
      </p:sp>
      <p:sp>
        <p:nvSpPr>
          <p:cNvPr id="8" name="TextBox 7"/>
          <p:cNvSpPr txBox="1"/>
          <p:nvPr/>
        </p:nvSpPr>
        <p:spPr>
          <a:xfrm>
            <a:off x="594360" y="16276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2:  total distance = 3x , average = 3x / (11x/60) = 180/11</a:t>
            </a:r>
          </a:p>
        </p:txBody>
      </p:sp>
      <p:sp>
        <p:nvSpPr>
          <p:cNvPr id="9" name="TextBox 8"/>
          <p:cNvSpPr txBox="1"/>
          <p:nvPr/>
        </p:nvSpPr>
        <p:spPr>
          <a:xfrm>
            <a:off x="594360" y="263347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180/11 ≈ 16.4 m/s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EXAMPLE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Unequal times, then a mixed half</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29</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v₁ for time t/3 and v₂ for time 2t/3</a:t>
            </a:r>
          </a:p>
        </p:txBody>
      </p:sp>
      <p:sp>
        <p:nvSpPr>
          <p:cNvPr id="8" name="TextBox 7"/>
          <p:cNvSpPr txBox="1"/>
          <p:nvPr/>
        </p:nvSpPr>
        <p:spPr>
          <a:xfrm>
            <a:off x="594360" y="16276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average = (v₁ + 2 v₂) / 3</a:t>
            </a:r>
          </a:p>
        </p:txBody>
      </p:sp>
      <p:sp>
        <p:nvSpPr>
          <p:cNvPr id="9" name="TextBox 8"/>
          <p:cNvSpPr txBox="1"/>
          <p:nvPr/>
        </p:nvSpPr>
        <p:spPr>
          <a:xfrm>
            <a:off x="594360" y="2724912"/>
            <a:ext cx="11018520" cy="777240"/>
          </a:xfrm>
          <a:prstGeom prst="rect">
            <a:avLst/>
          </a:prstGeom>
          <a:noFill/>
        </p:spPr>
        <p:txBody>
          <a:bodyPr wrap="square" lIns="0" rIns="0" tIns="0" bIns="0" anchor="t">
            <a:spAutoFit/>
          </a:bodyPr>
          <a:lstStyle/>
          <a:p>
            <a:pPr algn="l">
              <a:lnSpc>
                <a:spcPct val="128000"/>
              </a:lnSpc>
              <a:spcBef>
                <a:spcPts val="0"/>
              </a:spcBef>
              <a:spcAft>
                <a:spcPts val="0"/>
              </a:spcAft>
            </a:pPr>
            <a:r>
              <a:rPr sz="1500" b="0">
                <a:solidFill>
                  <a:srgbClr val="FFFFFF"/>
                </a:solidFill>
                <a:latin typeface="Aptos"/>
              </a:rPr>
              <a:t>A different mix: first half of the distance at 5 m/s, second half at 15 m/s.</a:t>
            </a:r>
          </a:p>
        </p:txBody>
      </p:sp>
      <p:sp>
        <p:nvSpPr>
          <p:cNvPr id="10" name="TextBox 9"/>
          <p:cNvSpPr txBox="1"/>
          <p:nvPr/>
        </p:nvSpPr>
        <p:spPr>
          <a:xfrm>
            <a:off x="594360" y="363931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average = 2×5×15 / (5+15) = 7.5 m/s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409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EXAMPLE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One full wave on x–t</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31</a:t>
            </a:r>
          </a:p>
        </p:txBody>
      </p:sp>
      <p:sp>
        <p:nvSpPr>
          <p:cNvPr id="7" name="TextBox 6"/>
          <p:cNvSpPr txBox="1"/>
          <p:nvPr/>
        </p:nvSpPr>
        <p:spPr>
          <a:xfrm>
            <a:off x="594360" y="1078992"/>
            <a:ext cx="11018520" cy="91440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Position swings between +10 m and −10 m and returns to the start after 8 s. That is one full oscillation.</a:t>
            </a:r>
          </a:p>
        </p:txBody>
      </p:sp>
      <p:cxnSp>
        <p:nvCxnSpPr>
          <p:cNvPr id="8" name="Connector 7"/>
          <p:cNvCxnSpPr/>
          <p:nvPr/>
        </p:nvCxnSpPr>
        <p:spPr>
          <a:xfrm>
            <a:off x="1188720" y="3749039"/>
            <a:ext cx="5669280" cy="0"/>
          </a:xfrm>
          <a:prstGeom prst="line">
            <a:avLst/>
          </a:prstGeom>
          <a:ln w="17780">
            <a:solidFill>
              <a:srgbClr val="B0B6C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88720" y="2286000"/>
            <a:ext cx="0" cy="2926080"/>
          </a:xfrm>
          <a:prstGeom prst="line">
            <a:avLst/>
          </a:prstGeom>
          <a:ln w="17780">
            <a:solidFill>
              <a:srgbClr val="B0B6C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693408" y="3794759"/>
            <a:ext cx="320040" cy="219456"/>
          </a:xfrm>
          <a:prstGeom prst="rect">
            <a:avLst/>
          </a:prstGeom>
          <a:noFill/>
        </p:spPr>
        <p:txBody>
          <a:bodyPr wrap="square" lIns="0" rIns="0" tIns="0" bIns="0" anchor="t">
            <a:spAutoFit/>
          </a:bodyPr>
          <a:lstStyle/>
          <a:p>
            <a:pPr algn="l">
              <a:lnSpc>
                <a:spcPct val="110000"/>
              </a:lnSpc>
              <a:spcBef>
                <a:spcPts val="0"/>
              </a:spcBef>
              <a:spcAft>
                <a:spcPts val="0"/>
              </a:spcAft>
            </a:pPr>
            <a:r>
              <a:rPr sz="1300" b="1">
                <a:solidFill>
                  <a:srgbClr val="B0B6C0"/>
                </a:solidFill>
                <a:latin typeface="Aptos"/>
              </a:rPr>
              <a:t>t</a:t>
            </a:r>
          </a:p>
        </p:txBody>
      </p:sp>
      <p:sp>
        <p:nvSpPr>
          <p:cNvPr id="11" name="TextBox 10"/>
          <p:cNvSpPr txBox="1"/>
          <p:nvPr/>
        </p:nvSpPr>
        <p:spPr>
          <a:xfrm>
            <a:off x="1252728" y="2286000"/>
            <a:ext cx="411480" cy="219456"/>
          </a:xfrm>
          <a:prstGeom prst="rect">
            <a:avLst/>
          </a:prstGeom>
          <a:noFill/>
        </p:spPr>
        <p:txBody>
          <a:bodyPr wrap="square" lIns="0" rIns="0" tIns="0" bIns="0" anchor="t">
            <a:spAutoFit/>
          </a:bodyPr>
          <a:lstStyle/>
          <a:p>
            <a:pPr algn="l">
              <a:lnSpc>
                <a:spcPct val="110000"/>
              </a:lnSpc>
              <a:spcBef>
                <a:spcPts val="0"/>
              </a:spcBef>
              <a:spcAft>
                <a:spcPts val="0"/>
              </a:spcAft>
            </a:pPr>
            <a:r>
              <a:rPr sz="1300" b="1">
                <a:solidFill>
                  <a:srgbClr val="B0B6C0"/>
                </a:solidFill>
                <a:latin typeface="Aptos"/>
              </a:rPr>
              <a:t>x</a:t>
            </a:r>
          </a:p>
        </p:txBody>
      </p:sp>
      <p:cxnSp>
        <p:nvCxnSpPr>
          <p:cNvPr id="12" name="Connector 11"/>
          <p:cNvCxnSpPr/>
          <p:nvPr/>
        </p:nvCxnSpPr>
        <p:spPr>
          <a:xfrm flipV="1">
            <a:off x="1188720" y="3282472"/>
            <a:ext cx="354330" cy="466567"/>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543050" y="2886935"/>
            <a:ext cx="354330" cy="395537"/>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897380" y="2622646"/>
            <a:ext cx="354330" cy="264289"/>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251710" y="2529840"/>
            <a:ext cx="354330" cy="92806"/>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606040" y="2529840"/>
            <a:ext cx="354330" cy="92806"/>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960370" y="2622646"/>
            <a:ext cx="354330" cy="264289"/>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314700" y="2886935"/>
            <a:ext cx="354330" cy="395537"/>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669030" y="3282472"/>
            <a:ext cx="354330" cy="466567"/>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023360" y="3749039"/>
            <a:ext cx="354330" cy="466568"/>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377690" y="4215607"/>
            <a:ext cx="354330" cy="395537"/>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732020" y="4611144"/>
            <a:ext cx="354330" cy="264289"/>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086350" y="4875433"/>
            <a:ext cx="354330" cy="92807"/>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5440680" y="4875433"/>
            <a:ext cx="354330" cy="92807"/>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5795010" y="4611144"/>
            <a:ext cx="354330" cy="264289"/>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6149340" y="4215607"/>
            <a:ext cx="354330" cy="395537"/>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6503670" y="3749040"/>
            <a:ext cx="354330" cy="466567"/>
          </a:xfrm>
          <a:prstGeom prst="line">
            <a:avLst/>
          </a:prstGeom>
          <a:ln w="27940">
            <a:solidFill>
              <a:srgbClr val="FFD646"/>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315200" y="2377440"/>
            <a:ext cx="4206240" cy="384048"/>
          </a:xfrm>
          <a:prstGeom prst="rect">
            <a:avLst/>
          </a:prstGeom>
          <a:noFill/>
        </p:spPr>
        <p:txBody>
          <a:bodyPr wrap="square" lIns="0" rIns="0" tIns="0" bIns="0" anchor="t">
            <a:spAutoFit/>
          </a:bodyPr>
          <a:lstStyle/>
          <a:p>
            <a:pPr algn="l">
              <a:lnSpc>
                <a:spcPct val="110000"/>
              </a:lnSpc>
              <a:spcBef>
                <a:spcPts val="0"/>
              </a:spcBef>
              <a:spcAft>
                <a:spcPts val="0"/>
              </a:spcAft>
            </a:pPr>
            <a:r>
              <a:rPr sz="1260" b="1">
                <a:solidFill>
                  <a:srgbClr val="5AC8FF"/>
                </a:solidFill>
                <a:latin typeface="Aptos"/>
              </a:rPr>
              <a:t>distance ≈ 4 × 10 = 40 m in 8 s</a:t>
            </a:r>
          </a:p>
        </p:txBody>
      </p:sp>
      <p:sp>
        <p:nvSpPr>
          <p:cNvPr id="29" name="TextBox 28"/>
          <p:cNvSpPr txBox="1"/>
          <p:nvPr/>
        </p:nvSpPr>
        <p:spPr>
          <a:xfrm>
            <a:off x="7315200" y="2926080"/>
            <a:ext cx="420624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average speed = 40/8 = 5 m/s</a:t>
            </a:r>
          </a:p>
        </p:txBody>
      </p:sp>
      <p:sp>
        <p:nvSpPr>
          <p:cNvPr id="30" name="TextBox 29"/>
          <p:cNvSpPr txBox="1"/>
          <p:nvPr/>
        </p:nvSpPr>
        <p:spPr>
          <a:xfrm>
            <a:off x="7315200" y="3474720"/>
            <a:ext cx="4206240" cy="384048"/>
          </a:xfrm>
          <a:prstGeom prst="rect">
            <a:avLst/>
          </a:prstGeom>
          <a:noFill/>
        </p:spPr>
        <p:txBody>
          <a:bodyPr wrap="square" lIns="0" rIns="0" tIns="0" bIns="0" anchor="t">
            <a:spAutoFit/>
          </a:bodyPr>
          <a:lstStyle/>
          <a:p>
            <a:pPr algn="l">
              <a:lnSpc>
                <a:spcPct val="110000"/>
              </a:lnSpc>
              <a:spcBef>
                <a:spcPts val="0"/>
              </a:spcBef>
              <a:spcAft>
                <a:spcPts val="0"/>
              </a:spcAft>
            </a:pPr>
            <a:r>
              <a:rPr sz="1260" b="1">
                <a:solidFill>
                  <a:srgbClr val="5AC8FF"/>
                </a:solidFill>
                <a:latin typeface="Aptos"/>
              </a:rPr>
              <a:t>displacement = 0  →  average velocity = 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LOCK LINES</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Only today’s lines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32</a:t>
            </a:r>
          </a:p>
        </p:txBody>
      </p:sp>
      <p:sp>
        <p:nvSpPr>
          <p:cNvPr id="7" name="TextBox 6"/>
          <p:cNvSpPr txBox="1"/>
          <p:nvPr/>
        </p:nvSpPr>
        <p:spPr>
          <a:xfrm>
            <a:off x="594360" y="107899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500" b="0">
                <a:solidFill>
                  <a:srgbClr val="FFFFFF"/>
                </a:solidFill>
                <a:latin typeface="Aptos"/>
              </a:rPr>
              <a:t>•  Fly the cube: |displacement| = ℓ√3. Crawl it: shortest distance = ℓ√5.</a:t>
            </a:r>
          </a:p>
        </p:txBody>
      </p:sp>
      <p:sp>
        <p:nvSpPr>
          <p:cNvPr id="8" name="TextBox 7"/>
          <p:cNvSpPr txBox="1"/>
          <p:nvPr/>
        </p:nvSpPr>
        <p:spPr>
          <a:xfrm>
            <a:off x="594360" y="1627631"/>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500" b="0">
                <a:solidFill>
                  <a:srgbClr val="FFFFFF"/>
                </a:solidFill>
                <a:latin typeface="Aptos"/>
              </a:rPr>
              <a:t>•  A bounce becomes a straight line after you reflect the board.</a:t>
            </a:r>
          </a:p>
        </p:txBody>
      </p:sp>
      <p:sp>
        <p:nvSpPr>
          <p:cNvPr id="9" name="TextBox 8"/>
          <p:cNvSpPr txBox="1"/>
          <p:nvPr/>
        </p:nvSpPr>
        <p:spPr>
          <a:xfrm>
            <a:off x="594360" y="213055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500" b="0">
                <a:solidFill>
                  <a:srgbClr val="FFFFFF"/>
                </a:solidFill>
                <a:latin typeface="Aptos"/>
              </a:rPr>
              <a:t>•  Drunkard: count full cycles, then the last forward run into the pit.</a:t>
            </a:r>
          </a:p>
        </p:txBody>
      </p:sp>
      <p:sp>
        <p:nvSpPr>
          <p:cNvPr id="10" name="TextBox 9"/>
          <p:cNvSpPr txBox="1"/>
          <p:nvPr/>
        </p:nvSpPr>
        <p:spPr>
          <a:xfrm>
            <a:off x="594360" y="263347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500" b="0">
                <a:solidFill>
                  <a:srgbClr val="FFFFFF"/>
                </a:solidFill>
                <a:latin typeface="Aptos"/>
              </a:rPr>
              <a:t>•  Rolling point, half turn: R √(π² + 4).</a:t>
            </a:r>
          </a:p>
        </p:txBody>
      </p:sp>
      <p:sp>
        <p:nvSpPr>
          <p:cNvPr id="11" name="TextBox 10"/>
          <p:cNvSpPr txBox="1"/>
          <p:nvPr/>
        </p:nvSpPr>
        <p:spPr>
          <a:xfrm>
            <a:off x="594360" y="3136391"/>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500" b="0">
                <a:solidFill>
                  <a:srgbClr val="FFFFFF"/>
                </a:solidFill>
                <a:latin typeface="Aptos"/>
              </a:rPr>
              <a:t>•  In x(t), split the path only at a turning time inside the interval.</a:t>
            </a:r>
          </a:p>
        </p:txBody>
      </p:sp>
      <p:sp>
        <p:nvSpPr>
          <p:cNvPr id="12" name="TextBox 11"/>
          <p:cNvSpPr txBox="1"/>
          <p:nvPr/>
        </p:nvSpPr>
        <p:spPr>
          <a:xfrm>
            <a:off x="594360" y="3639311"/>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500" b="0">
                <a:solidFill>
                  <a:srgbClr val="FFFFFF"/>
                </a:solidFill>
                <a:latin typeface="Aptos"/>
              </a:rPr>
              <a:t>•  Equal times: ordinary mean. Equal distances: the distance formula.</a:t>
            </a:r>
          </a:p>
        </p:txBody>
      </p:sp>
      <p:sp>
        <p:nvSpPr>
          <p:cNvPr id="13" name="Rectangle 12"/>
          <p:cNvSpPr/>
          <p:nvPr/>
        </p:nvSpPr>
        <p:spPr>
          <a:xfrm>
            <a:off x="594360" y="4325112"/>
            <a:ext cx="11018520" cy="82296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471416"/>
            <a:ext cx="10689336" cy="530352"/>
          </a:xfrm>
          <a:prstGeom prst="rect">
            <a:avLst/>
          </a:prstGeom>
          <a:noFill/>
        </p:spPr>
        <p:txBody>
          <a:bodyPr wrap="square" lIns="0" rIns="0" tIns="0" bIns="0" anchor="ctr">
            <a:spAutoFit/>
          </a:bodyPr>
          <a:lstStyle/>
          <a:p>
            <a:pPr algn="ctr">
              <a:lnSpc>
                <a:spcPct val="115000"/>
              </a:lnSpc>
              <a:spcBef>
                <a:spcPts val="0"/>
              </a:spcBef>
              <a:spcAft>
                <a:spcPts val="0"/>
              </a:spcAft>
            </a:pPr>
            <a:r>
              <a:rPr sz="1260" b="1">
                <a:solidFill>
                  <a:srgbClr val="081E3F"/>
                </a:solidFill>
                <a:latin typeface="Aptos"/>
              </a:rPr>
              <a:t>Next lecture continues velocity and acceleration. Today’s formulas stay.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D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END</a:t>
            </a:r>
          </a:p>
        </p:txBody>
      </p:sp>
      <p:sp>
        <p:nvSpPr>
          <p:cNvPr id="4" name="TextBox 3"/>
          <p:cNvSpPr txBox="1"/>
          <p:nvPr/>
        </p:nvSpPr>
        <p:spPr>
          <a:xfrm>
            <a:off x="635508" y="2235708"/>
            <a:ext cx="11018520" cy="914400"/>
          </a:xfrm>
          <a:prstGeom prst="rect">
            <a:avLst/>
          </a:prstGeom>
          <a:noFill/>
        </p:spPr>
        <p:txBody>
          <a:bodyPr wrap="square" lIns="0" rIns="0" tIns="0" bIns="0" anchor="t">
            <a:spAutoFit/>
          </a:bodyPr>
          <a:lstStyle/>
          <a:p>
            <a:pPr algn="ctr">
              <a:lnSpc>
                <a:spcPct val="110000"/>
              </a:lnSpc>
              <a:spcBef>
                <a:spcPts val="0"/>
              </a:spcBef>
              <a:spcAft>
                <a:spcPts val="0"/>
              </a:spcAft>
            </a:pPr>
            <a:r>
              <a:rPr sz="4800" b="1">
                <a:solidFill>
                  <a:srgbClr val="787882"/>
                </a:solidFill>
                <a:latin typeface="Arial Black"/>
              </a:rPr>
              <a:t>Thank you</a:t>
            </a:r>
          </a:p>
        </p:txBody>
      </p:sp>
      <p:sp>
        <p:nvSpPr>
          <p:cNvPr id="5" name="TextBox 4"/>
          <p:cNvSpPr txBox="1"/>
          <p:nvPr/>
        </p:nvSpPr>
        <p:spPr>
          <a:xfrm>
            <a:off x="594360" y="2194560"/>
            <a:ext cx="11018520" cy="914400"/>
          </a:xfrm>
          <a:prstGeom prst="rect">
            <a:avLst/>
          </a:prstGeom>
          <a:noFill/>
        </p:spPr>
        <p:txBody>
          <a:bodyPr wrap="square" lIns="0" rIns="0" tIns="0" bIns="0" anchor="t">
            <a:spAutoFit/>
          </a:bodyPr>
          <a:lstStyle/>
          <a:p>
            <a:pPr algn="ctr">
              <a:lnSpc>
                <a:spcPct val="110000"/>
              </a:lnSpc>
              <a:spcBef>
                <a:spcPts val="0"/>
              </a:spcBef>
              <a:spcAft>
                <a:spcPts val="0"/>
              </a:spcAft>
            </a:pPr>
            <a:r>
              <a:rPr sz="4800" b="1">
                <a:solidFill>
                  <a:srgbClr val="FFD646"/>
                </a:solidFill>
                <a:latin typeface="Arial Black"/>
              </a:rPr>
              <a:t>Thank you</a:t>
            </a:r>
          </a:p>
        </p:txBody>
      </p:sp>
      <p:sp>
        <p:nvSpPr>
          <p:cNvPr id="6" name="TextBox 5"/>
          <p:cNvSpPr txBox="1"/>
          <p:nvPr/>
        </p:nvSpPr>
        <p:spPr>
          <a:xfrm>
            <a:off x="594360" y="3383280"/>
            <a:ext cx="11018520" cy="411480"/>
          </a:xfrm>
          <a:prstGeom prst="rect">
            <a:avLst/>
          </a:prstGeom>
          <a:noFill/>
        </p:spPr>
        <p:txBody>
          <a:bodyPr wrap="square" lIns="0" rIns="0" tIns="0" bIns="0" anchor="t">
            <a:spAutoFit/>
          </a:bodyPr>
          <a:lstStyle/>
          <a:p>
            <a:pPr algn="ctr">
              <a:lnSpc>
                <a:spcPct val="110000"/>
              </a:lnSpc>
              <a:spcBef>
                <a:spcPts val="0"/>
              </a:spcBef>
              <a:spcAft>
                <a:spcPts val="0"/>
              </a:spcAft>
            </a:pPr>
            <a:r>
              <a:rPr sz="1500" b="1">
                <a:solidFill>
                  <a:srgbClr val="B0B6C0"/>
                </a:solidFill>
                <a:latin typeface="Aptos"/>
              </a:rPr>
              <a:t>Excellence  ·  Motion 03  ·  New paths · Speed · Average velocity</a:t>
            </a:r>
          </a:p>
        </p:txBody>
      </p:sp>
      <p:sp>
        <p:nvSpPr>
          <p:cNvPr id="7" name="TextBox 6"/>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