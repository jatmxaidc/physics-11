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discussion: each question, then its easy class-method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Remind: methods match our lecture slides, not new tricks.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Q1 · L01 ratios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Q2 · L01 identities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Q3 · L01 identities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Q4 · L02 ASTC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Q5 · L02 ASTC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Q6 · L02 radian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Q7 · L02 height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Q8 · L03 compound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Q9 · L03 double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Q10 · L03 small angle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Q11 · L04 max-min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Q12 · L04 max-min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Q13 · L04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Q14 · L05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Q15 · L05 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Q16 · L06 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Q17 · L06 GP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Q18 · L07 GP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Q19 · L06 straight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Q20 · L07 straight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Q21 · L08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Q22 · L08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Q23 · L08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Q24 · L09 circle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Q25 · L09 ellipse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Q26 · L09 exponential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Q27 · L09 differentiation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Q28 · L10 rate of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Q29 · L10 differentiation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Test 02 · Q30 · L10 product / 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Q30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Aptos"/>
              </a:rPr>
              <a:t>Paper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Weekly Test 02  ·  Lectures 01–10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20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D646"/>
                </a:solidFill>
                <a:latin typeface="Aptos"/>
              </a:rPr>
              <a:t>How we will discuss the paper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84048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14300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30 MCQs from Weekly Test 02 (Lectures 01–10)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2024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Question on one slide  →  solution on the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69748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Same methods we used in class (ASTC, √(a²+b²), Tn = Sn − Sₙ₋₁, 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747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47472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Keep steps short and easy — board style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519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25196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Rough-work slides appear every few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METHOD REMINDER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Lock lines before we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081E3F"/>
                </a:solidFill>
                <a:latin typeface="Aptos"/>
              </a:rPr>
              <a:t>ASTC: sign first  ·  a sinθ + b cosθ → √(a²+b²)  ·  arc = rθ (radian)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Triangle ratios from the right triangle. Identities: (sec − tan)(sec + tan) =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AP: Tn = Sn − Sₙ₋₁.  GP rebound: first fall + 2 × infinite series of ups.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1071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Circle: centre (−g/2, −f/2).  Ellipse foci: 2ae.  Diff: product / quotient / chain.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879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9E40"/>
                </a:solidFill>
                <a:latin typeface="Aptos"/>
              </a:rPr>
              <a:t>Do not invent a new method on the paper. Use the same board method from class.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Q1.  L01 ratios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In △ABC, ∠B = 90°. If tan A = 5/12, then sin A + cos A equals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17/13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17/12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7/13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12/5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Q1.  L01 ratios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tan A = opp/adj = 5/12  →  draw the right triangle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hyp = √(5² + 12²) = √(25 + 144) = √169 =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sin A = 5/13, cos A = 12/13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sin A + cos A = 5/13 + 12/13 = 17/13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2724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A   17/13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9417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9E40"/>
                </a:solidFill>
                <a:latin typeface="Aptos"/>
              </a:rPr>
              <a:t>Do not forget to find the hypotenuse with Pythagoras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Q2.  L01 identities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sec θ − tan θ = 1/2, then sec θ + tan θ equals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Q2.  L01 identities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(sec θ − tan θ)(sec θ + tan θ)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Use the identity (sec θ − tan θ)(sec θ + tan θ) = sec²θ − tan²θ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So (sec θ + tan θ) = 1 / (sec θ − tan 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sec θ + tan θ = 1 / (1/2) =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021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C  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Q3.  L01 identities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sin θ + cos θ = √2, then tan θ + cot θ equals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√2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Q3.  L01 identities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Square both sides: (sin θ + cos θ)² =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1 + 2 sin θ cos θ = 2  →  sin 2θ = 1  →  2θ = 90° (acute)  →  θ = 45° = π/4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tan(π/4) = 1, cot(π/4)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tan θ + cot θ = 1 + 1 =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2724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B  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9417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9E40"/>
                </a:solidFill>
                <a:latin typeface="Aptos"/>
              </a:rPr>
              <a:t>After squaring, take the acute angle that fits 0 &lt; θ &lt; π/2.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Q4.  L02 ASTC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value of sin 510° · cos 330° − cos 390° · sin 150°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−1/2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Q4.  L02 ASTC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Reduce each angle: sin 510° = sin(510 − 360) = sin 150° = 1/2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cos 330° = + cos 30° = √3/2   (ASTC: 4th quadrant, cos 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cos 390° = cos 30° = √3/2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Value = (1/2)(√3/2) − (√3/2)(1/2)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2724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A  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9417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9E40"/>
                </a:solidFill>
                <a:latin typeface="Aptos"/>
              </a:rPr>
              <a:t>Sign from ASTC first, then the acute brother angle.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Q5.  L02 ASTC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value of cos(−1410°)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−1/2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−√3/2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Q5.  L02 ASTC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cos(−θ) = cos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cos is even: cos(−1410°) = cos 1410°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1410° = 3 × 360° + 330°  →  cos 1410° = cos 330°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cos 330° = + cos 30° = √3/2   (ASTC 4th quadrant)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021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C   √3/2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Q6.  L02 radian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An arc of a circle of radius 21 cm subtends 60° at the centre. The length of the arc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7π cm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11π cm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14π cm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22π cm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Q6.  L02 radian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ℓ = rθ   (θ in radian)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Convert to radian: 60° = 60 × π/180 = π/3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Arc length ℓ = rθ = 21 × (π/3) = 7π 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0837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A   7π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7530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9E40"/>
                </a:solidFill>
                <a:latin typeface="Aptos"/>
              </a:rPr>
              <a:t>Never put degrees straight into ℓ = rθ.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Q7.  L02 height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angle of elevation of a tower from a point A is 30°. From a point B, 20 m closer to the tower on the same horizontal line, the elevation is 60°. The height of the tower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10√3 m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20√3 m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10 m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20 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Q7.  L02 height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Let height = h, and distance from A to base =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From A: tan 30° = h/x  →  1/√3 = h/x  →  x = h√3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From B (x − 20): tan 60° = h/(x − 20)  →  √3 = h/(x − 20)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h√3 − 20 = h/√3   →   multiply by √3:  3h − 20√3 = h  →  2h = 20√3  →  h = 10√3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2724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A   10√3 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Q8.  L03 compound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sin(A + B) = 1 and cos(A − B) = √3/2 with 0 &lt; A, B &lt; π/2, then A equals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π/3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π/4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π/6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π/2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Q8.  L03 compound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sin(A + B) = 1  →  A + B = π/2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cos(A − B) = √3/2  →  A − B = π/6   (acute)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Add the two equations: 2A = π/2 + π/6 = 2π/3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A = π/3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2724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A   π/3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Q9.  L03 double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tan θ = 1/2, then (2 tan θ)/(1 − tan² θ) equals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4/3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3/4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Q9.  L03 double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tan 2θ = (2 tan θ)/(1 − tan² 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Recognise the double-angle formula: tan 2θ = (2 tan θ)/(1 − tan² 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Put tan θ = 1/2:  numerator = 2 × (1/2)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denominator = 1 − (1/2)² = 1 − 1/4 = 3/4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Value = 1 / (3/4) = 4/3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9592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A   4/3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Q10.  L03 small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circular disc of radius 10 cm subtends 0.04 rad at the eye. Using the small-angle approximation, the diameter of the disc as seen is about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0.2 cm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0.4 cm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 cm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 cm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Q10.  L03 small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θ (rad) ≈ size /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Small-angle: θ ≈ (linear size) /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Here distance = radius to eye = 10 cm, θ = 0.04 rad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diameter ≈ θ × distance = 0.04 × 10 = 0.4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021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B   0.4 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6908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9E40"/>
                </a:solidFill>
                <a:latin typeface="Aptos"/>
              </a:rPr>
              <a:t>Use diameter (full size), not radius of the disc, when the question asks for diameter.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Q11.  L04 max-min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maximum value of 5 sin θ + 12 cos θ − 7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Q11.  L04 max-min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ymax of a sinθ + b cosθ = √(a² + b²)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For a sin θ + b cos θ, ymax = √(a² + b²)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√(5² + 12²) = √(25 + 144) = √169 =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So max of (5 sin θ + 12 cos θ − 7) = 13 − 7 =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021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A  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6908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9E40"/>
                </a:solidFill>
                <a:latin typeface="Aptos"/>
              </a:rPr>
              <a:t>Do not write ymax = 5 + 12. Sin and cos cannot both be 1 at once.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Q12.  L04 max-min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range of f(θ) = 2 + 3 sin θ + 4 cos θ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[−3, 7]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[−5, 5]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[2, 7]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[−1, 5]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Q12.  L04 max-min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a sinθ + b cosθ ∈ [−√(a²+b²), +√(a²+b²)]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3 sin θ + 4 cos θ lies between −√(9+16) and +√(9+16), i.e. [−5, 5]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Add the constant 2: range of f = [2 − 5, 2 + 5] = [−3, 7]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0837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A   [−3, 7]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Q13.  L04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particle has coordinates x = 3 cos(ωt) and y = 4 sin(ωt). Its maximum distance from the origin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Q13.  L04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Eliminate t: x²/9 + y²/16 = 1  (ellipse, axes-aligned)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Distance from origin is largest along the major axis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Semi-major axis = 4  (along 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Maximum distance =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2724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B  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9417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9E40"/>
                </a:solidFill>
                <a:latin typeface="Aptos"/>
              </a:rPr>
              <a:t>Do not write √(3²+4²) = 5 — that corner is outside the ellipse.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Q14.  L05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y₁ = 4 sin(ωt) and y₂ = 3 sin(ωt + π/2). The amplitude of y₁ + y₂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Q14.  L05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φ = 90°  →  R = √(A₁² + A₂²)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Phase difference φ = π/2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Resultant amplitude R = √(A₁² + A₂² + 2 A₁ A₂ cos φ)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cos(π/2) = 0  →  R = √(4² + 3²) = √(16 + 9) =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Same as perpendicular phasors (our board method)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9592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A  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6285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9E40"/>
                </a:solidFill>
                <a:latin typeface="Aptos"/>
              </a:rPr>
              <a:t>Do not add 4 + 3 = 7 unless the waves are exactly in phase.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Q15.  L05 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the pth, qth and rth terms of an A.P. are a, b and c respectively, then a(q − r) + b(r − p) + c(p − q) equals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+ b + c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pqr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Q15.  L05 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Write a = A + (p − 1)D, b = A + (q − 1)D, c = A + (r − 1)D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Put into a(q − r) + b(r − p) + c(p − q)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The A terms cancel: A[(q−r)+(r−p)+(p−q)]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The D terms also cancel identically  →  whole expression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2724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A   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Q16.  L06 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sum of n terms of an A.P. is 3n² + 5n. Its 10th term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32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59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62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65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Q16.  L06 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Tn = Sn − Sₙ₋₁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Class formula: Tn = Sn − Sₙ₋₁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S₁₀ = 3(100) + 5(10) = 300 + 50 = 350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S₉ = 3(81) + 5(9) = 243 + 45 = 288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T₁₀ = 350 − 288 = 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9592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C   62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Q17.  L06 GP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In a G.P., the 3rd term is 24 and the 6th term is 192. The first term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Q17.  L06 GP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ar² = 24, ar⁵ = 192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Divide: (ar⁵)/(ar²) = r³ = 192/24 = 8  →  r =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ar² = a · 4 = 24  →  a =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B   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Q18.  L07 GP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ball rebounds to 4/5 of the height from which it falls. If it falls from 10 m, the total distance travelled before coming to rest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50 m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90 m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100 m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18 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Q18.  L07 GP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Total = h + 2 · (h r)/(1 − 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First fall = 10 m (only once)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After that: up + down form an infinite GP with first up = 10 × (4/5) =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Sum of all ups and downs after first fall = 2 × [8 / (1 − 4/5)] = 2 × 8 / (1/5) = 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Total distance = 10 + 80 = 90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9592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B   90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6285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9E40"/>
                </a:solidFill>
                <a:latin typeface="Aptos"/>
              </a:rPr>
              <a:t>Do not forget the first fall is counted only once.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Q19.  L06 straight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lines 2x − 3y + 6 = 0 and 4x − 6y − 5 = 0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coincident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intersecting at one point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parallel and distinct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perpendicular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Q19.  L06 straight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Slope of first: 2x − 3y + 6 = 0  →  y = (2/3)x + 2  →  m₁ = 2/3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Slope of second: 4x − 6y − 5 = 0  →  y = (2/3)x − 5/6  →  m₂ = 2/3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Same slope, but second is not a scalar multiple of the first (constants 6 vs −5)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Therefore parallel and distinct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2724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C   parallel and distinct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9417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9E40"/>
                </a:solidFill>
                <a:latin typeface="Aptos"/>
              </a:rPr>
              <a:t>Same slope alone is not enough for coincident — check the constant term too.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Q20.  L07 straight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equation of the line through (2, −3) and parallel to 3x + 4y − 7 = 0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3x + 4y + 6 = 0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3x + 4y − 6 = 0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4x − 3y − 17 = 0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3x − 4y + 6 = 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Q20.  L07 straight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Parallel line keeps the same x and y coefficients: 3x + 4y + k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It passes through (2, −3): 3(2) + 4(−3) + k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6 − 12 + k = 0  →  k =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Equation: 3x + 4y + 6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2724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A   3x + 4y + 6 = 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Q21.  L08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particle starts from rest with constant acceleration and covers 8 m in the first 2 s. Distance covered in the next 2 s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8 m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16 m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24 m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32 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Q21.  L08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s = ut + ½ a t²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u = 0, s = ut + ½ a t²  →  8 = ½ a (2)²  →  8 = 2a  →  a = 4 m/s²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Distance in first 4 s: s₄ = ½(4)(4)² = 2 × 16 = 32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Next 2 s = s₄ − s₂ = 32 − 8 = 24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021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C   24 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Q22.  L08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On a straight-line v–t graph, velocity falls from 10 m/s to 0 in 5 s. Displacement in this interval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10 m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25 m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50 m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 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Q22.  L08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displacement = area under v–t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On a v–t graph, displacement = area under the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Here the graph is a straight triangle: base 5 s, height 10 m/s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Area = ½ × 5 × 10 = 25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021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B   25 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Q23.  L08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a = −2 m/s² (constant) and initial velocity is +10 m/s, the particle comes to rest 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 s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 s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10 s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20 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Q23.  L08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v = u + a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At rest: v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Use v = u + a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0 = 10 + (−2)t  →  2t = 10  →  t = 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021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B   5 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Q24.  L09 circle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For the circle x² + y² − 4x + 6y − 3 = 0, the centre and radius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(2, −3), 4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(−2, 3), 4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(2, −3), 2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(2, 3), 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Q24.  L09 circle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centre (−g, −f), r = √(g² + f² − 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General form: x² + y² + 2gx + 2fy + c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Here 2g = −4 → g = −2;   2f = 6 → f = 3;   c = −3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Centre = (−g, −f) = (2, −3)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Radius = √(g² + f² − c) = √(4 + 9 − (−3)) = √16 =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9592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A   (2, −3), 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Q25.  L09 ellipse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For the ellipse x²/16 + y²/9 = 1, the distance between the foci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√7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2√7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Q25.  L09 ellipse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foci distance = 2ae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a² = 16 → a = 4;   b² = 9 → b = 3  (a &gt; b, major along 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e = √(1 − b²/a²) = √(1 − 9/16) = √(7/16) = √7 /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Distance between foci = 2ae = 2 · 4 · (√7/4) = 2√7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021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B   2√7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Q26.  L09 exponential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y = e^{3x} + e^{−3x}, then d²y/dx² − 9y equals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18e^{3x}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−18e^{−3x}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Q26.  L09 exponential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dy/dx = 3 e^{3x} − 3 e^{−3x}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d²y/dx² = 9 e^{3x} + 9 e^{−3x} = 9(e^{3x} + e^{−3x}) = 9y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Therefore d²y/dx² − 9y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A   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Q27.  L09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y = √(2x + 3), then dy/dx at x = 3 equals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1/√3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1/√9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1/3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Q27.  L09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d/dx [√u] = (1/(2√u)) · du/dx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Write y = (2x + 3)^{1/2}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Chain rule: dy/dx = (1/2)(2x + 3)^{−1/2} · 2 = 1 / √(2x + 3)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At x = 3:  1 / √(6 + 3) = 1 / √9 = 1/3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021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C   1/3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Q28.  L10 rate of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volume of a sphere increases at 4π cm³/s when the radius is 2 cm. The rate of increase of the radius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1/4 cm/s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1/2 cm/s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 cm/s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 cm/s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Q28.  L10 rate of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dV/dt = 4π r² dr/dt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V = (4/3)π r³  →  dV/dt = 4π r² (dr/dt)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Given dV/dt = 4π when r =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4π = 4π (2)² (dr/dt) = 4π · 4 · (dr/dt)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1 = 4 (dr/dt)  →  dr/dt = 1/4 cm/s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9592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A   1/4 cm/s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Q29.  L10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y = (x² + 1)/(x² − 1) with |x| ≠ 1, then dy/dx equals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−4x/(x² − 1)²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4x/(x² − 1)²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−2x/(x² − 1)²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2x/(x² − 1)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Q29.  L10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(u/v)' = (v u' − u v') / v²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Quotient rule: (u/v)' = (v u' − u v') / v²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u = x² + 1, u' = 2x;   v = x² − 1, v' = 2x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Numerator = (x² − 1)(2x) − (x² + 1)(2x) = 2x[(x² − 1) − (x² + 1)] = 2x(−2) = −4x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dy/dx = −4x / (x² − 1)²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9592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A   −4x/(x² − 1)²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6285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9E40"/>
                </a:solidFill>
                <a:latin typeface="Aptos"/>
              </a:rPr>
              <a:t>Keep the order v u' − u v' — swapping the sign is a common trap.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Q30.  L10 product /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y = sin(x²), then dy/dx equals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 marks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cos(x²)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91256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95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209544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2x cos(x²)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575304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2x sin(x²)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93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77639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cos(2x)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Solution: Q30.  L10 product /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d/dx [sin u] = cos u · du/dx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Outer function sin(·), inner function x²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Chain rule: dy/dx = cos(x²) · d(x²)/dx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d(x²)/dx = 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dy/dx = 2x cos(x²)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9592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Answer: B   2x cos(x²)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6285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9E40"/>
                </a:solidFill>
                <a:latin typeface="Aptos"/>
              </a:rPr>
              <a:t>Do not forget to multiply by the derivative of the inside (2x).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Paper discussion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Every question: write the class formula first, then substitute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ASTC / √(a²+b²) / Tn = Sn−Sₙ₋₁ / ℓ = rθ / quotient–chain — same as 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Read options after you finish; do not reverse-engineer from choices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Re-attempt any wrong question tomorrow without looking at the solution slide.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Re-do Q1–Q10 from memory (ratios, ASTC, compound, small angle).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Re-do Q11–Q20 (max–min, phase, AP/GP, lines).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Re-do Q21–Q30 (graphs, circle, ellipse, differentiation).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54096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Mark every trap in orange in your notebook.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9E40"/>
                </a:solidFill>
                <a:latin typeface="Aptos"/>
              </a:rPr>
              <a:t>If a method feels new, go back to that lecture slide — we stay with class methods only.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