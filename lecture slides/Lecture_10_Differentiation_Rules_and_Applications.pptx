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differentiation from the first idea of tangent slope, then continue through the rules and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Differentiation was not started in the previous class, so teach it from the beginning.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Differentiation Rules and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15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Differentiation: tangent slope at a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Rate of change and the derivative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Quadratic equations and graph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Basic differentiation formulae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Sum, difference, product and quotient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Mixed practice with simple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Differentiation: slope at a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Differentiation finds how quickly one quantity changes with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 a graph, it gives the slope of the tangent at the chosen 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60320"/>
            <a:ext cx="5303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06624"/>
            <a:ext cx="4974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slope = Δy/Δx     tangent slope = dy/dx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29400" y="3543300"/>
            <a:ext cx="425196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55380" y="1371600"/>
            <a:ext cx="0" cy="434340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16768" y="358902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9388" y="13716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907903" y="5407812"/>
            <a:ext cx="23386" cy="1639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31289" y="5249148"/>
            <a:ext cx="23385" cy="1586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54674" y="5095701"/>
            <a:ext cx="23386" cy="1534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978060" y="4947402"/>
            <a:ext cx="23386" cy="1482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001446" y="4804185"/>
            <a:ext cx="23386" cy="1432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024832" y="4665980"/>
            <a:ext cx="23386" cy="1382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48218" y="4532722"/>
            <a:ext cx="23385" cy="1332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71603" y="4404341"/>
            <a:ext cx="23386" cy="1283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94989" y="4280770"/>
            <a:ext cx="23386" cy="1235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18375" y="4161941"/>
            <a:ext cx="23386" cy="1188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41761" y="4047787"/>
            <a:ext cx="23385" cy="1141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65146" y="3938240"/>
            <a:ext cx="23386" cy="1095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88532" y="3833231"/>
            <a:ext cx="23386" cy="1050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211918" y="3732694"/>
            <a:ext cx="23386" cy="1005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35304" y="3636561"/>
            <a:ext cx="23386" cy="961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58690" y="3544763"/>
            <a:ext cx="23385" cy="91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82075" y="3457234"/>
            <a:ext cx="23386" cy="875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05461" y="3373904"/>
            <a:ext cx="23386" cy="833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28847" y="3294708"/>
            <a:ext cx="23386" cy="791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52233" y="3219576"/>
            <a:ext cx="23385" cy="751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75618" y="3148441"/>
            <a:ext cx="23386" cy="711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399004" y="3081235"/>
            <a:ext cx="23386" cy="672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22390" y="3017891"/>
            <a:ext cx="23386" cy="63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45776" y="2958341"/>
            <a:ext cx="23386" cy="59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69162" y="2902517"/>
            <a:ext cx="23385" cy="558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492547" y="2850351"/>
            <a:ext cx="23386" cy="521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515933" y="2801776"/>
            <a:ext cx="23386" cy="48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39319" y="2756724"/>
            <a:ext cx="23386" cy="450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62705" y="2715127"/>
            <a:ext cx="23386" cy="415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586091" y="2676917"/>
            <a:ext cx="23385" cy="382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09476" y="2642027"/>
            <a:ext cx="23386" cy="348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32862" y="2610388"/>
            <a:ext cx="23386" cy="316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656248" y="2581934"/>
            <a:ext cx="23386" cy="284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679634" y="2556596"/>
            <a:ext cx="23385" cy="253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703019" y="2534307"/>
            <a:ext cx="23386" cy="222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26405" y="2514998"/>
            <a:ext cx="23386" cy="193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749791" y="2498603"/>
            <a:ext cx="23386" cy="16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773177" y="2485053"/>
            <a:ext cx="23386" cy="13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796563" y="2474280"/>
            <a:ext cx="23385" cy="107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819948" y="2466218"/>
            <a:ext cx="23386" cy="80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43334" y="2460797"/>
            <a:ext cx="23386" cy="54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866720" y="2457951"/>
            <a:ext cx="23386" cy="2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890106" y="2457612"/>
            <a:ext cx="23385" cy="3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913491" y="2457612"/>
            <a:ext cx="23386" cy="20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936877" y="2459711"/>
            <a:ext cx="23386" cy="44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960263" y="2464182"/>
            <a:ext cx="23386" cy="67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83649" y="2470956"/>
            <a:ext cx="23386" cy="90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007035" y="2479966"/>
            <a:ext cx="23385" cy="111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030420" y="2491143"/>
            <a:ext cx="23386" cy="132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053806" y="2504421"/>
            <a:ext cx="23386" cy="15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77192" y="2519731"/>
            <a:ext cx="23386" cy="172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100578" y="2537006"/>
            <a:ext cx="23385" cy="191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23963" y="2556178"/>
            <a:ext cx="23386" cy="21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147349" y="2577179"/>
            <a:ext cx="23386" cy="227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70735" y="2599941"/>
            <a:ext cx="23386" cy="244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194121" y="2624397"/>
            <a:ext cx="23386" cy="2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217507" y="2650479"/>
            <a:ext cx="23385" cy="276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40892" y="2678119"/>
            <a:ext cx="23386" cy="291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264278" y="2707249"/>
            <a:ext cx="23386" cy="30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287664" y="2737802"/>
            <a:ext cx="23386" cy="319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311050" y="2769711"/>
            <a:ext cx="23385" cy="33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334435" y="2802906"/>
            <a:ext cx="23386" cy="344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357821" y="2837321"/>
            <a:ext cx="23386" cy="35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381207" y="2872887"/>
            <a:ext cx="23386" cy="366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04593" y="2909537"/>
            <a:ext cx="23386" cy="376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427979" y="2947204"/>
            <a:ext cx="23385" cy="386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51364" y="2985819"/>
            <a:ext cx="23386" cy="394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474750" y="3025315"/>
            <a:ext cx="23386" cy="403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498136" y="3065624"/>
            <a:ext cx="23386" cy="410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521522" y="3106678"/>
            <a:ext cx="23385" cy="417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544907" y="3148409"/>
            <a:ext cx="23386" cy="423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68293" y="3190750"/>
            <a:ext cx="23386" cy="42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591679" y="3233633"/>
            <a:ext cx="23386" cy="433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615065" y="3276991"/>
            <a:ext cx="23386" cy="437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638451" y="3320754"/>
            <a:ext cx="23385" cy="441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61836" y="3364857"/>
            <a:ext cx="23386" cy="443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85222" y="3409230"/>
            <a:ext cx="23386" cy="445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08608" y="3453807"/>
            <a:ext cx="23386" cy="447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31994" y="3498519"/>
            <a:ext cx="23386" cy="447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55380" y="3543300"/>
            <a:ext cx="23385" cy="447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778765" y="3588080"/>
            <a:ext cx="23386" cy="447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802151" y="3632792"/>
            <a:ext cx="23386" cy="445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825537" y="3677369"/>
            <a:ext cx="23386" cy="443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48923" y="3721742"/>
            <a:ext cx="23385" cy="441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872308" y="3765845"/>
            <a:ext cx="23386" cy="437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895694" y="3809608"/>
            <a:ext cx="23386" cy="433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919080" y="3852966"/>
            <a:ext cx="23386" cy="42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942466" y="3895849"/>
            <a:ext cx="23386" cy="423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965852" y="3938190"/>
            <a:ext cx="23385" cy="417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989237" y="3979921"/>
            <a:ext cx="23386" cy="410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012623" y="4020975"/>
            <a:ext cx="23386" cy="403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036009" y="4061284"/>
            <a:ext cx="23386" cy="394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059395" y="4100780"/>
            <a:ext cx="23385" cy="386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082780" y="4139395"/>
            <a:ext cx="23386" cy="376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106166" y="4177062"/>
            <a:ext cx="23386" cy="366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129552" y="4213712"/>
            <a:ext cx="23386" cy="35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152938" y="4249278"/>
            <a:ext cx="23386" cy="344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176324" y="4283693"/>
            <a:ext cx="23385" cy="33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199709" y="4316888"/>
            <a:ext cx="23386" cy="319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223095" y="4348797"/>
            <a:ext cx="23386" cy="30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246481" y="4379350"/>
            <a:ext cx="23386" cy="291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269867" y="4408480"/>
            <a:ext cx="23385" cy="276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293252" y="4436120"/>
            <a:ext cx="23386" cy="2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316638" y="4462202"/>
            <a:ext cx="23386" cy="244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340024" y="4486658"/>
            <a:ext cx="23386" cy="227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363410" y="4509420"/>
            <a:ext cx="23386" cy="21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386796" y="4530421"/>
            <a:ext cx="23385" cy="191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410181" y="4549593"/>
            <a:ext cx="23386" cy="172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433567" y="4566868"/>
            <a:ext cx="23386" cy="15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456953" y="4582178"/>
            <a:ext cx="23386" cy="132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480339" y="4595456"/>
            <a:ext cx="23385" cy="111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503724" y="4606633"/>
            <a:ext cx="23386" cy="90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527110" y="4615643"/>
            <a:ext cx="23386" cy="67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550496" y="4622417"/>
            <a:ext cx="23386" cy="44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573882" y="4626888"/>
            <a:ext cx="23386" cy="20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597268" y="4628648"/>
            <a:ext cx="23385" cy="3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620653" y="4625802"/>
            <a:ext cx="23386" cy="2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644039" y="4620381"/>
            <a:ext cx="23386" cy="54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667425" y="4612319"/>
            <a:ext cx="23386" cy="80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690811" y="4601546"/>
            <a:ext cx="23385" cy="107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714196" y="4587996"/>
            <a:ext cx="23386" cy="13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737582" y="4571601"/>
            <a:ext cx="23386" cy="16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760968" y="4552292"/>
            <a:ext cx="23386" cy="193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784354" y="4530003"/>
            <a:ext cx="23386" cy="222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807740" y="4504665"/>
            <a:ext cx="23385" cy="253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831125" y="4476211"/>
            <a:ext cx="23386" cy="284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854511" y="4444572"/>
            <a:ext cx="23386" cy="316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877897" y="4409682"/>
            <a:ext cx="23386" cy="348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901283" y="4371472"/>
            <a:ext cx="23386" cy="382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924669" y="4329875"/>
            <a:ext cx="23385" cy="415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948054" y="4284823"/>
            <a:ext cx="23386" cy="450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971440" y="4236248"/>
            <a:ext cx="23386" cy="48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994826" y="4184082"/>
            <a:ext cx="23386" cy="521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018212" y="4128258"/>
            <a:ext cx="23385" cy="558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041597" y="4068708"/>
            <a:ext cx="23386" cy="59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064983" y="4005364"/>
            <a:ext cx="23386" cy="63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088369" y="3938158"/>
            <a:ext cx="23386" cy="672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111755" y="3867023"/>
            <a:ext cx="23386" cy="711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135141" y="3791891"/>
            <a:ext cx="23385" cy="751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58526" y="3712695"/>
            <a:ext cx="23386" cy="791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181912" y="3629365"/>
            <a:ext cx="23386" cy="833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205298" y="3541836"/>
            <a:ext cx="23386" cy="875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228684" y="3450038"/>
            <a:ext cx="23385" cy="91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252069" y="3353905"/>
            <a:ext cx="23386" cy="961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275455" y="3253368"/>
            <a:ext cx="23386" cy="1005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298841" y="3148359"/>
            <a:ext cx="23386" cy="1050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322227" y="3038812"/>
            <a:ext cx="23386" cy="1095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345613" y="2924658"/>
            <a:ext cx="23385" cy="1141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368998" y="2805829"/>
            <a:ext cx="23386" cy="1188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392384" y="2682258"/>
            <a:ext cx="23386" cy="1235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415770" y="2553877"/>
            <a:ext cx="23386" cy="1283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439156" y="2420619"/>
            <a:ext cx="23385" cy="1332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462541" y="2282414"/>
            <a:ext cx="23386" cy="1382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485927" y="2139197"/>
            <a:ext cx="23386" cy="1432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509313" y="1990898"/>
            <a:ext cx="23386" cy="1482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532699" y="1837451"/>
            <a:ext cx="23386" cy="1534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56085" y="1678787"/>
            <a:ext cx="23385" cy="1586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9470" y="1514839"/>
            <a:ext cx="23386" cy="1639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7854696" y="2407158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036307" y="209169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maximum</a:t>
            </a:r>
          </a:p>
        </p:txBody>
      </p:sp>
      <p:sp>
        <p:nvSpPr>
          <p:cNvPr id="175" name="Oval 174"/>
          <p:cNvSpPr/>
          <p:nvPr/>
        </p:nvSpPr>
        <p:spPr>
          <a:xfrm>
            <a:off x="9555480" y="4578858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742932" y="473887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minimum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903720" y="58064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dy/dx = 0 at both turning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Rate of change: from two points to one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average rate of change between two points is the secant's slope.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83664"/>
            <a:ext cx="5303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29968"/>
            <a:ext cx="4974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average rate = Δy/Δx = (y₂-y₁)/(x₂-x₁)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 find the rate at one point, bring the second point extremely close to the first.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5623559"/>
            <a:ext cx="40690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20840" y="1417320"/>
            <a:ext cx="0" cy="420623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25328" y="566927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4173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720840" y="5623396"/>
            <a:ext cx="20027" cy="1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740867" y="5622907"/>
            <a:ext cx="20028" cy="4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60895" y="5622092"/>
            <a:ext cx="20027" cy="8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80922" y="5620951"/>
            <a:ext cx="20028" cy="11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800950" y="5619484"/>
            <a:ext cx="20027" cy="14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820977" y="5617690"/>
            <a:ext cx="20028" cy="17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841005" y="5615571"/>
            <a:ext cx="20027" cy="21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61032" y="5613125"/>
            <a:ext cx="20028" cy="24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81060" y="5610354"/>
            <a:ext cx="20027" cy="27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901087" y="5607256"/>
            <a:ext cx="20028" cy="30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21115" y="5603833"/>
            <a:ext cx="20027" cy="34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41142" y="5600083"/>
            <a:ext cx="20028" cy="37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961170" y="5596007"/>
            <a:ext cx="20027" cy="40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81197" y="5591605"/>
            <a:ext cx="20028" cy="44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001225" y="5586877"/>
            <a:ext cx="20027" cy="47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021252" y="5581823"/>
            <a:ext cx="20028" cy="50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041280" y="5576443"/>
            <a:ext cx="20027" cy="53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61307" y="5570737"/>
            <a:ext cx="20028" cy="57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81335" y="5564705"/>
            <a:ext cx="20027" cy="60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101362" y="5558346"/>
            <a:ext cx="20028" cy="63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121390" y="5551662"/>
            <a:ext cx="20027" cy="66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141417" y="5544652"/>
            <a:ext cx="20028" cy="70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61445" y="5537315"/>
            <a:ext cx="20027" cy="73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81472" y="5529653"/>
            <a:ext cx="20028" cy="7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201500" y="5521664"/>
            <a:ext cx="20027" cy="79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221527" y="5513349"/>
            <a:ext cx="20028" cy="83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241555" y="5504709"/>
            <a:ext cx="20027" cy="86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261582" y="5495742"/>
            <a:ext cx="20028" cy="89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281610" y="5486449"/>
            <a:ext cx="20027" cy="9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301637" y="5476830"/>
            <a:ext cx="20028" cy="96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321665" y="5466885"/>
            <a:ext cx="20027" cy="99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41692" y="5456614"/>
            <a:ext cx="20028" cy="102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361720" y="5446017"/>
            <a:ext cx="20027" cy="105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381747" y="5435093"/>
            <a:ext cx="20028" cy="109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401775" y="5423844"/>
            <a:ext cx="20027" cy="112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421802" y="5412269"/>
            <a:ext cx="20028" cy="11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441830" y="5400367"/>
            <a:ext cx="20027" cy="119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461857" y="5388140"/>
            <a:ext cx="20028" cy="122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481885" y="5375586"/>
            <a:ext cx="20027" cy="125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01912" y="5362707"/>
            <a:ext cx="20028" cy="128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521940" y="5349501"/>
            <a:ext cx="20027" cy="132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541967" y="5335970"/>
            <a:ext cx="20028" cy="135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561995" y="5322112"/>
            <a:ext cx="20027" cy="138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582022" y="5307928"/>
            <a:ext cx="20028" cy="141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602050" y="5293418"/>
            <a:ext cx="20027" cy="145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622077" y="5278582"/>
            <a:ext cx="20028" cy="148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642105" y="5263420"/>
            <a:ext cx="20027" cy="151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662132" y="5247932"/>
            <a:ext cx="20028" cy="154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682160" y="5232118"/>
            <a:ext cx="20027" cy="158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702187" y="5215977"/>
            <a:ext cx="20028" cy="161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722215" y="5199511"/>
            <a:ext cx="20027" cy="16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42242" y="5182719"/>
            <a:ext cx="20028" cy="167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762270" y="5165600"/>
            <a:ext cx="20027" cy="171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782297" y="5148156"/>
            <a:ext cx="20028" cy="174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802325" y="5130385"/>
            <a:ext cx="20027" cy="177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822352" y="5112288"/>
            <a:ext cx="20028" cy="18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842380" y="5093866"/>
            <a:ext cx="20027" cy="18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862407" y="5075117"/>
            <a:ext cx="20028" cy="187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882435" y="5056042"/>
            <a:ext cx="20027" cy="190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902462" y="5036641"/>
            <a:ext cx="20028" cy="194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922490" y="5016914"/>
            <a:ext cx="20027" cy="197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42517" y="4996861"/>
            <a:ext cx="20028" cy="200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62545" y="4976482"/>
            <a:ext cx="20027" cy="203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982572" y="4955777"/>
            <a:ext cx="20028" cy="207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002600" y="4934746"/>
            <a:ext cx="20027" cy="210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022627" y="4913388"/>
            <a:ext cx="20028" cy="213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042655" y="4891705"/>
            <a:ext cx="20027" cy="216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062682" y="4869695"/>
            <a:ext cx="20028" cy="220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082710" y="4847360"/>
            <a:ext cx="20027" cy="223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102737" y="4824698"/>
            <a:ext cx="20028" cy="22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22765" y="4801711"/>
            <a:ext cx="20027" cy="229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142792" y="4778397"/>
            <a:ext cx="20028" cy="233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162820" y="4754757"/>
            <a:ext cx="20027" cy="236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182847" y="4730791"/>
            <a:ext cx="20028" cy="239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202875" y="4706500"/>
            <a:ext cx="20027" cy="24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222902" y="4681882"/>
            <a:ext cx="20028" cy="246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42930" y="4656938"/>
            <a:ext cx="20027" cy="249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262957" y="4631667"/>
            <a:ext cx="20028" cy="252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282985" y="4606071"/>
            <a:ext cx="20027" cy="25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303012" y="4580149"/>
            <a:ext cx="20028" cy="259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323040" y="4553901"/>
            <a:ext cx="20027" cy="262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343067" y="4527326"/>
            <a:ext cx="20028" cy="26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363095" y="4500426"/>
            <a:ext cx="20027" cy="269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383122" y="4473200"/>
            <a:ext cx="20028" cy="272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403150" y="4445647"/>
            <a:ext cx="20027" cy="27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423177" y="4417768"/>
            <a:ext cx="20028" cy="278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443205" y="4389564"/>
            <a:ext cx="20027" cy="28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463232" y="4361033"/>
            <a:ext cx="20028" cy="285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483260" y="4332176"/>
            <a:ext cx="20027" cy="288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503287" y="4302993"/>
            <a:ext cx="20028" cy="291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523315" y="4273484"/>
            <a:ext cx="20027" cy="295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543342" y="4243649"/>
            <a:ext cx="20028" cy="298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563370" y="4213488"/>
            <a:ext cx="20027" cy="301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583397" y="4183001"/>
            <a:ext cx="20028" cy="304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603425" y="4152188"/>
            <a:ext cx="20027" cy="308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623452" y="4121049"/>
            <a:ext cx="20028" cy="311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643480" y="4089583"/>
            <a:ext cx="20027" cy="31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663507" y="4057792"/>
            <a:ext cx="20028" cy="317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683535" y="4025674"/>
            <a:ext cx="20027" cy="321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703562" y="3993231"/>
            <a:ext cx="20028" cy="324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723590" y="3960461"/>
            <a:ext cx="20027" cy="32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743617" y="3927365"/>
            <a:ext cx="20028" cy="330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763645" y="3893944"/>
            <a:ext cx="20027" cy="334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783672" y="3860196"/>
            <a:ext cx="20028" cy="337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803700" y="3826122"/>
            <a:ext cx="20027" cy="340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823727" y="3791722"/>
            <a:ext cx="20028" cy="344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843755" y="3756996"/>
            <a:ext cx="20027" cy="347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863782" y="3721944"/>
            <a:ext cx="20028" cy="350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883810" y="3686566"/>
            <a:ext cx="20027" cy="353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903837" y="3650862"/>
            <a:ext cx="20028" cy="357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923865" y="3614831"/>
            <a:ext cx="20027" cy="360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943892" y="3578475"/>
            <a:ext cx="20028" cy="363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963920" y="3541793"/>
            <a:ext cx="20027" cy="366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983947" y="3504784"/>
            <a:ext cx="20028" cy="370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003975" y="3467450"/>
            <a:ext cx="20027" cy="37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024002" y="3429789"/>
            <a:ext cx="20028" cy="376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044030" y="3391802"/>
            <a:ext cx="20027" cy="379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064057" y="3353490"/>
            <a:ext cx="20028" cy="383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084085" y="3314851"/>
            <a:ext cx="20027" cy="386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104112" y="3275886"/>
            <a:ext cx="20028" cy="389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124140" y="3236595"/>
            <a:ext cx="20027" cy="39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144167" y="3196978"/>
            <a:ext cx="20028" cy="396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164195" y="3157035"/>
            <a:ext cx="20027" cy="399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184222" y="3116766"/>
            <a:ext cx="20028" cy="402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204250" y="3076171"/>
            <a:ext cx="20027" cy="405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224277" y="3035250"/>
            <a:ext cx="20028" cy="409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44305" y="2994002"/>
            <a:ext cx="20027" cy="412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264332" y="2952429"/>
            <a:ext cx="20028" cy="41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284360" y="2910529"/>
            <a:ext cx="20027" cy="419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304387" y="2868304"/>
            <a:ext cx="20028" cy="422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324415" y="2825752"/>
            <a:ext cx="20027" cy="425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344442" y="2782875"/>
            <a:ext cx="20028" cy="428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64470" y="2739671"/>
            <a:ext cx="20027" cy="43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84497" y="2696141"/>
            <a:ext cx="20028" cy="435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04525" y="2652285"/>
            <a:ext cx="20027" cy="438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24552" y="2608103"/>
            <a:ext cx="20028" cy="441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44580" y="2563595"/>
            <a:ext cx="20027" cy="445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464607" y="2518761"/>
            <a:ext cx="20028" cy="448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484635" y="2473601"/>
            <a:ext cx="20027" cy="451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504662" y="2428115"/>
            <a:ext cx="20028" cy="454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524690" y="2382303"/>
            <a:ext cx="20027" cy="458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544717" y="2336165"/>
            <a:ext cx="20028" cy="461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564745" y="2289700"/>
            <a:ext cx="20027" cy="464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584772" y="2242910"/>
            <a:ext cx="20028" cy="467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604800" y="2195793"/>
            <a:ext cx="20027" cy="471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624827" y="2148351"/>
            <a:ext cx="20028" cy="474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644855" y="2100582"/>
            <a:ext cx="20027" cy="477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664882" y="2052487"/>
            <a:ext cx="20028" cy="480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684910" y="2004067"/>
            <a:ext cx="20027" cy="484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704937" y="1955320"/>
            <a:ext cx="20028" cy="487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724965" y="1906247"/>
            <a:ext cx="20027" cy="490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9744992" y="1856848"/>
            <a:ext cx="20028" cy="493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9765020" y="1807123"/>
            <a:ext cx="20027" cy="497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9785047" y="1757072"/>
            <a:ext cx="20028" cy="500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805075" y="1706695"/>
            <a:ext cx="20027" cy="503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825102" y="1655991"/>
            <a:ext cx="20028" cy="507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845130" y="1604962"/>
            <a:ext cx="20027" cy="510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865157" y="1553607"/>
            <a:ext cx="20028" cy="513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885185" y="1501925"/>
            <a:ext cx="20027" cy="516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905212" y="1449918"/>
            <a:ext cx="20028" cy="52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7687818" y="5152644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88302" y="529437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P(1, 1)</a:t>
            </a:r>
          </a:p>
        </p:txBody>
      </p:sp>
      <p:sp>
        <p:nvSpPr>
          <p:cNvPr id="177" name="Oval 176"/>
          <p:cNvSpPr/>
          <p:nvPr/>
        </p:nvSpPr>
        <p:spPr>
          <a:xfrm>
            <a:off x="9722358" y="1787651"/>
            <a:ext cx="100584" cy="100584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589770" y="151790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B4BE"/>
                </a:solidFill>
                <a:latin typeface="Aptos"/>
              </a:rPr>
              <a:t>Q(3, 9)</a:t>
            </a:r>
          </a:p>
        </p:txBody>
      </p:sp>
      <p:cxnSp>
        <p:nvCxnSpPr>
          <p:cNvPr id="179" name="Connector 178"/>
          <p:cNvCxnSpPr/>
          <p:nvPr/>
        </p:nvCxnSpPr>
        <p:spPr>
          <a:xfrm flipV="1">
            <a:off x="7382065" y="1501444"/>
            <a:ext cx="2594039" cy="4290365"/>
          </a:xfrm>
          <a:prstGeom prst="line">
            <a:avLst/>
          </a:prstGeom>
          <a:ln w="2286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COMPLETE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The derivative is an instantaneous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Let x change by a small amount Δx. The corresponding change in y is Δy.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As Δx approaches zero, the secant approaches the tangent.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9631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64261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dy/dx = lim(Δx→0)  Δy/Δx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Therefore dy/dx gives the tangent's slope and the instantaneous rate of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35424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Δx approaches zero; we do not divide by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Change in y for a linear 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y = 2x+4, find the change in y and the average rate of change when x changes from 1 to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Change in y for a linear 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At x₁ = 1: y₁ = 2(1)+4 =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At x₂ = 3: y₂ = 2(3)+4 =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Δy = y₂-y₁ = 10-6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4:  Δy/Δx = 4/(3-1)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Change in y = 4; average rate of change =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GRAPH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Increasing, decreasing and stationary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200400" cy="585216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Graph behaviour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078992"/>
            <a:ext cx="2926080" cy="585216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1336" y="1078992"/>
            <a:ext cx="285292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Derivative 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078992"/>
            <a:ext cx="4892040" cy="585216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7416" y="107899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64207"/>
            <a:ext cx="32004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64207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Increasing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664207"/>
            <a:ext cx="292608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6" y="1664207"/>
            <a:ext cx="285292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dy/dx &gt;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664207"/>
            <a:ext cx="489204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7416" y="1664207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 rises as x increases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49424"/>
            <a:ext cx="32004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49424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Stationary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2249424"/>
            <a:ext cx="292608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1336" y="2249424"/>
            <a:ext cx="285292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dy/dx =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249424"/>
            <a:ext cx="489204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7416" y="2249424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horizontal tangent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34639"/>
            <a:ext cx="32004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834639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Decreasing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2834639"/>
            <a:ext cx="292608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834639"/>
            <a:ext cx="285292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dy/dx &lt;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2834639"/>
            <a:ext cx="489204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7416" y="2834639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 falls as x increases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8221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magnitude |dy/dx| tells how steep the graph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QUICK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Quadratic equation and its roots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quadratic equation has the form ax²+bx+c = 0, where a≠0.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83664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x = (-b ± √(b²-4ac))/(2a)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5257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sum of roots = -b/a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980944"/>
            <a:ext cx="5257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product of roots = c/a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30752"/>
            <a:ext cx="512064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3730752"/>
            <a:ext cx="5047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Discriminant D = b²-4ac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3730752"/>
            <a:ext cx="58978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1576" y="3730752"/>
            <a:ext cx="5824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Nature of real roots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206240"/>
            <a:ext cx="51206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4206240"/>
            <a:ext cx="5047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D &gt;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4206240"/>
            <a:ext cx="5897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4206240"/>
            <a:ext cx="5824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two distinct real roots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681727"/>
            <a:ext cx="512064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4681727"/>
            <a:ext cx="5047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D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4681727"/>
            <a:ext cx="58978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51576" y="4681727"/>
            <a:ext cx="5824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one repeated real root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57216"/>
            <a:ext cx="512064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5157216"/>
            <a:ext cx="5047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D &lt;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5157216"/>
            <a:ext cx="58978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1576" y="5157216"/>
            <a:ext cx="58247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 real roots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Quadratic roots: x²-7x+12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both roots by factorisation.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Quadratic roots: x²-7x+12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Find two numbers with product 12 and sum -7: -3 and 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x²-7x+12 = (x-3)(x-4)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(x-3)(x-4)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3 or x = 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Quadratic roots: x²+7x-18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both roots by factorisation.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Quadratic roots: x²+7x-18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Split 7x as 9x-2x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x²+9x-2x-18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(x+9)(x-2)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-9 or x = 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Quadratic roots: x²+8x+15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both roots by factorisation.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Quadratic roots: x²+8x+15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Find two numbers with product 15 and sum 8: 5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x²+8x+15 = (x+5)(x+3)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(x+5)(x+3)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-5 or x = -3.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Parabola y = x²-3x-10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x-intercepts: solve x²-3x-10 = (x-5)(x+2) =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roots: x = -2 and x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y-intercept: (0, 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turning point: x = 3/2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At x = 3/2, y = -49/4 = -12.25.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2702052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01000" y="1371600"/>
            <a:ext cx="0" cy="443484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62488" y="274777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13716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75120" y="1471860"/>
            <a:ext cx="27432" cy="1045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02552" y="1576399"/>
            <a:ext cx="27432" cy="1031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9984" y="1679535"/>
            <a:ext cx="27432" cy="1017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57416" y="1781268"/>
            <a:ext cx="27432" cy="1003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84848" y="1881597"/>
            <a:ext cx="27432" cy="98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12280" y="1980524"/>
            <a:ext cx="27432" cy="975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39712" y="2078047"/>
            <a:ext cx="27432" cy="961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67144" y="2174167"/>
            <a:ext cx="27432" cy="947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94576" y="2268884"/>
            <a:ext cx="27432" cy="933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22008" y="2362197"/>
            <a:ext cx="27432" cy="919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2454108"/>
            <a:ext cx="27432" cy="905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76872" y="2544615"/>
            <a:ext cx="27432" cy="89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04304" y="2633719"/>
            <a:ext cx="27432" cy="87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31736" y="2721419"/>
            <a:ext cx="27432" cy="862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59168" y="2807717"/>
            <a:ext cx="27432" cy="848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86600" y="2892611"/>
            <a:ext cx="27432" cy="834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14032" y="2976102"/>
            <a:ext cx="27432" cy="820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41464" y="3058190"/>
            <a:ext cx="27432" cy="806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68896" y="3138875"/>
            <a:ext cx="27432" cy="792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96328" y="3218156"/>
            <a:ext cx="27432" cy="77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23760" y="3296034"/>
            <a:ext cx="27432" cy="764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251192" y="3372509"/>
            <a:ext cx="27432" cy="75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78624" y="3447581"/>
            <a:ext cx="27432" cy="736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06056" y="3521250"/>
            <a:ext cx="27432" cy="722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33488" y="3593515"/>
            <a:ext cx="27432" cy="708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60920" y="3664377"/>
            <a:ext cx="27432" cy="694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88352" y="3733836"/>
            <a:ext cx="27432" cy="680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15784" y="3801892"/>
            <a:ext cx="27432" cy="666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43216" y="3868544"/>
            <a:ext cx="27432" cy="652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70648" y="3933794"/>
            <a:ext cx="27431" cy="63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98079" y="3997640"/>
            <a:ext cx="27433" cy="624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25512" y="4060083"/>
            <a:ext cx="27432" cy="61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52944" y="4121122"/>
            <a:ext cx="27432" cy="596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580376" y="4180759"/>
            <a:ext cx="27432" cy="582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07808" y="4238992"/>
            <a:ext cx="27432" cy="568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35240" y="4295822"/>
            <a:ext cx="27432" cy="554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62672" y="4351249"/>
            <a:ext cx="27432" cy="540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90104" y="4405273"/>
            <a:ext cx="27432" cy="526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17536" y="4457893"/>
            <a:ext cx="27432" cy="512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44968" y="4509110"/>
            <a:ext cx="27432" cy="498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72400" y="4558924"/>
            <a:ext cx="27432" cy="484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799832" y="4607335"/>
            <a:ext cx="27432" cy="470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27264" y="4654343"/>
            <a:ext cx="27432" cy="456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54696" y="4699947"/>
            <a:ext cx="27432" cy="44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882128" y="4744148"/>
            <a:ext cx="27432" cy="42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09560" y="4786946"/>
            <a:ext cx="27432" cy="41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36992" y="4828341"/>
            <a:ext cx="27432" cy="399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64424" y="4868332"/>
            <a:ext cx="27432" cy="385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991856" y="4906921"/>
            <a:ext cx="27432" cy="37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19288" y="4944106"/>
            <a:ext cx="27432" cy="357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46720" y="4979888"/>
            <a:ext cx="27432" cy="343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074152" y="5014266"/>
            <a:ext cx="27431" cy="329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101583" y="5047242"/>
            <a:ext cx="27433" cy="315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29016" y="5078814"/>
            <a:ext cx="27432" cy="301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156448" y="5108983"/>
            <a:ext cx="27431" cy="287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183879" y="5137749"/>
            <a:ext cx="27433" cy="273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11312" y="5165111"/>
            <a:ext cx="27432" cy="25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238744" y="5191071"/>
            <a:ext cx="27432" cy="245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266176" y="5215627"/>
            <a:ext cx="27432" cy="231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293608" y="5238780"/>
            <a:ext cx="27432" cy="217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321040" y="5260530"/>
            <a:ext cx="27432" cy="203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348472" y="5280876"/>
            <a:ext cx="27432" cy="189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375904" y="5299820"/>
            <a:ext cx="27432" cy="175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03336" y="5317360"/>
            <a:ext cx="27432" cy="16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430768" y="5333497"/>
            <a:ext cx="27432" cy="147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58200" y="5348230"/>
            <a:ext cx="27432" cy="13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485632" y="5361561"/>
            <a:ext cx="27432" cy="11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13064" y="5373488"/>
            <a:ext cx="27432" cy="105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540496" y="5384012"/>
            <a:ext cx="27432" cy="9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567928" y="5393133"/>
            <a:ext cx="27432" cy="77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95360" y="5400851"/>
            <a:ext cx="27432" cy="63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22792" y="5407165"/>
            <a:ext cx="27432" cy="49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650224" y="5412077"/>
            <a:ext cx="27432" cy="35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677656" y="5415585"/>
            <a:ext cx="27432" cy="2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705088" y="5417689"/>
            <a:ext cx="27432" cy="7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732520" y="5417689"/>
            <a:ext cx="27432" cy="7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759952" y="5415585"/>
            <a:ext cx="27432" cy="2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87384" y="5412077"/>
            <a:ext cx="27432" cy="35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14816" y="5407165"/>
            <a:ext cx="27432" cy="49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842248" y="5400851"/>
            <a:ext cx="27432" cy="63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869680" y="5393133"/>
            <a:ext cx="27432" cy="77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897112" y="5384012"/>
            <a:ext cx="27432" cy="9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924544" y="5373488"/>
            <a:ext cx="27432" cy="105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951976" y="5361561"/>
            <a:ext cx="27432" cy="11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979408" y="5348230"/>
            <a:ext cx="27432" cy="13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006840" y="5333497"/>
            <a:ext cx="27432" cy="147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034272" y="5317360"/>
            <a:ext cx="27432" cy="16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061704" y="5299820"/>
            <a:ext cx="27432" cy="175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089136" y="5280876"/>
            <a:ext cx="27432" cy="189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116568" y="5260530"/>
            <a:ext cx="27432" cy="203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144000" y="5238780"/>
            <a:ext cx="27432" cy="217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171432" y="5215627"/>
            <a:ext cx="27432" cy="231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198864" y="5191071"/>
            <a:ext cx="27432" cy="245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226296" y="5165111"/>
            <a:ext cx="27432" cy="25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253728" y="5137749"/>
            <a:ext cx="27432" cy="273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281160" y="5108983"/>
            <a:ext cx="27432" cy="287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308592" y="5078814"/>
            <a:ext cx="27432" cy="301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336024" y="5047242"/>
            <a:ext cx="27432" cy="315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363456" y="5014266"/>
            <a:ext cx="27432" cy="329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390888" y="4979888"/>
            <a:ext cx="27432" cy="343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418320" y="4944106"/>
            <a:ext cx="27432" cy="357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445752" y="4906921"/>
            <a:ext cx="27432" cy="37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473184" y="4868332"/>
            <a:ext cx="27432" cy="385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500616" y="4828341"/>
            <a:ext cx="27432" cy="399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528048" y="4786946"/>
            <a:ext cx="27432" cy="41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555480" y="4744148"/>
            <a:ext cx="27432" cy="42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582912" y="4699947"/>
            <a:ext cx="27432" cy="44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610344" y="4654343"/>
            <a:ext cx="27432" cy="456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637776" y="4607335"/>
            <a:ext cx="27432" cy="470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665208" y="4558924"/>
            <a:ext cx="27432" cy="484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692640" y="4509110"/>
            <a:ext cx="27432" cy="498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720072" y="4457893"/>
            <a:ext cx="27432" cy="512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747504" y="4405273"/>
            <a:ext cx="27432" cy="526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774936" y="4351249"/>
            <a:ext cx="27431" cy="540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802367" y="4295822"/>
            <a:ext cx="27433" cy="554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829800" y="4238992"/>
            <a:ext cx="27432" cy="568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857232" y="4180759"/>
            <a:ext cx="27432" cy="582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84664" y="4121122"/>
            <a:ext cx="27432" cy="596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912096" y="4060083"/>
            <a:ext cx="27432" cy="61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939528" y="3997640"/>
            <a:ext cx="27432" cy="624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966960" y="3933794"/>
            <a:ext cx="27432" cy="63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994392" y="3868544"/>
            <a:ext cx="27432" cy="652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021824" y="3801892"/>
            <a:ext cx="27432" cy="666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049256" y="3733836"/>
            <a:ext cx="27432" cy="680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076688" y="3664377"/>
            <a:ext cx="27432" cy="694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104120" y="3593515"/>
            <a:ext cx="27432" cy="708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131552" y="3521250"/>
            <a:ext cx="27432" cy="722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158984" y="3447581"/>
            <a:ext cx="27432" cy="736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186416" y="3372509"/>
            <a:ext cx="27432" cy="75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213848" y="3296034"/>
            <a:ext cx="27432" cy="764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241280" y="3218156"/>
            <a:ext cx="27432" cy="77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268712" y="3138875"/>
            <a:ext cx="27432" cy="792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296144" y="3058190"/>
            <a:ext cx="27432" cy="806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323576" y="2976102"/>
            <a:ext cx="27432" cy="820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351008" y="2892611"/>
            <a:ext cx="27432" cy="834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378440" y="2807717"/>
            <a:ext cx="27432" cy="848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405872" y="2721419"/>
            <a:ext cx="27432" cy="862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433304" y="2633719"/>
            <a:ext cx="27432" cy="87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460736" y="2544615"/>
            <a:ext cx="27431" cy="89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488167" y="2454108"/>
            <a:ext cx="27433" cy="905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515600" y="2362197"/>
            <a:ext cx="27432" cy="919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543032" y="2268884"/>
            <a:ext cx="27432" cy="933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570464" y="2174167"/>
            <a:ext cx="27432" cy="947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597896" y="2078047"/>
            <a:ext cx="27432" cy="961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625328" y="1980524"/>
            <a:ext cx="27432" cy="975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652760" y="1881597"/>
            <a:ext cx="27432" cy="98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680192" y="1781268"/>
            <a:ext cx="27432" cy="1003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707624" y="1679535"/>
            <a:ext cx="27432" cy="1017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735056" y="1576399"/>
            <a:ext cx="27432" cy="1031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762488" y="1471860"/>
            <a:ext cx="27432" cy="1045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025640" y="2647188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861048" y="277520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0439400" y="2647188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10274808" y="277520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7946136" y="4919472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7580375" y="481888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08392" y="2775204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73" name="Oval 172"/>
          <p:cNvSpPr/>
          <p:nvPr/>
        </p:nvSpPr>
        <p:spPr>
          <a:xfrm>
            <a:off x="8682228" y="5368099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03920" y="5528119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vertex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 application: downward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A ball is thrown vertically downward at 10 m s⁻¹ from a height of 75 m. Taking g = 10 m s⁻², find its time of flight.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Physics application: downward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Choose downward as positive: u = 10, a = 10, s = 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Use s = ut+1/2 at²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75 = 10t+5t², so t²+2t-15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4:  (t+5)(t-3)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Time cannot be negative, so t = 3 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rate becomes a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y = 3x-2: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y(1) = 1 and y(3) = 7, so Δy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0370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Δy/Δx = 6/2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Because the graph is a straight line, the rate is 3 everywhere.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493008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639312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dy/dx = d(3x-2)/dx =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Read the differential operator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d/dx means: differentiate the expression that follows with respect to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d(y)/dx: rate of change of y with respect to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d(P)/dx: rate of change of P with respect to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d(x)/dt: rate of change of x with respect to time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identify both the changing quantity and the independent variable.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Derivative of a constant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If y = C, then dy/dx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constant does not change when x changes, so its rate of change is zero.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d(6)/dx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072384"/>
            <a:ext cx="726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d(sin²θ+cos²θ)/dθ = d(1)/dθ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d(e⁰)/dx = d(1)/dx = 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 rule for algebraic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For constant n: d(xⁿ)/dx = n xⁿ⁻¹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Multiply by the old power, then reduce the power by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d(x²)/dx = 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01752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d(x³)/dx = 3x²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01752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d(1/x²)/dx = d(x⁻²)/dx = -2x⁻³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and trigonometric derivatives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078992"/>
            <a:ext cx="384048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2536" y="1078992"/>
            <a:ext cx="37673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078992"/>
            <a:ext cx="438912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43016" y="1078992"/>
            <a:ext cx="43159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Derivative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719072"/>
            <a:ext cx="384048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2536" y="1719072"/>
            <a:ext cx="37673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eˣ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719072"/>
            <a:ext cx="438912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43016" y="1719072"/>
            <a:ext cx="43159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359152"/>
            <a:ext cx="384048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2536" y="2359152"/>
            <a:ext cx="37673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sin 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359152"/>
            <a:ext cx="438912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3016" y="2359152"/>
            <a:ext cx="43159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cos 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2999232"/>
            <a:ext cx="384048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02536" y="2999232"/>
            <a:ext cx="37673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cos 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2999232"/>
            <a:ext cx="438912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3016" y="2999232"/>
            <a:ext cx="43159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-sin 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639311"/>
            <a:ext cx="384048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2536" y="3639311"/>
            <a:ext cx="37673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tan 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3639311"/>
            <a:ext cx="438912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3016" y="3639311"/>
            <a:ext cx="43159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sec²x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4279392"/>
            <a:ext cx="384048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02536" y="4279392"/>
            <a:ext cx="37673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logₑx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4279392"/>
            <a:ext cx="438912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43016" y="4279392"/>
            <a:ext cx="43159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1663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Angles must be in radians when using these standard trigonometric derivatives.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Constant multiple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d[k f(x)]/dx = k f'(x)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9424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constant multiplier stays outside differentiation.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If y = 3x⁵, then dy/dx = 3(5x⁴) = 15x⁴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If y = 7sin x, then dy/dx = 7cos 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Sum and difference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d(A±B)/dx = dA/dx ± dB/dx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every term separately and keep its 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d(sin x+x²)/dx = cos x+2x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d(eˣ-cos x)/dx = eˣ+sin 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Product and quotient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90472"/>
            <a:ext cx="5257800" cy="98755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36775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d(AB)/dx = A dB/dx + B dA/dx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one factor at a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078992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QUOTIENT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490472"/>
            <a:ext cx="5257800" cy="98755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636775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81E3F"/>
                </a:solidFill>
                <a:latin typeface="Aptos"/>
              </a:rPr>
              <a:t>d(A/B)/dx = (B dA/dx - A dB/dx)/B²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79191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 the denominator squared.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a quotient, remember: denominator × derivative of numerator minus numerator × derivative of denominator.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Differentiate a simple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y = 4x³-5x²+2x-7, find dy/dx.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Differentiate a simple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d(4x³)/dx = 12x²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d(-5x²)/dx = -10x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d(2x)/dx = 2 and d(-7)/dx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12x²-10x+2.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Product-rule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tan x · logₑx.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Product-rule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Use d(AB)/dx = A dB/dx + B dA/dx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d(tan x)/dx = sec²x and d(logₑx)/dx = 1/x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tan x/x + logₑx·sec²x.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Stationary-point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y = A/x³-B/x⁴, find x for which dy/dx = 0. Assume A and B are non-zero constants.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Stationary-point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Write y = Ax⁻³-Bx⁻⁴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dy/dx = -3Ax⁻⁴+4Bx⁻⁵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Set zero and multiply by x⁵: -3Ax+4B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4B/(3A).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Quotient-rule practice: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eˣ/x², where x≠0.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Quotient-rule practice: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Take A = eˣ and B = x²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dy/dx = [x²eˣ-eˣ(2x)]/x⁴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Factor eˣ x from the numerator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eˣ(x-2)/x³.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Quotient-rule practice: algebraic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(x²-1)/(x²+1).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Quotient-rule practice: algebraic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Use the quotient rule with A = x²-1 and B = x²+1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dy/dx = [(x²+1)(2x)-(x²-1)(2x)]/(x²+1)²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The numerator becomes 2x[(x²+1)-(x²-1)] = 4x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4x/(x²+1)².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 trigonometric-algebraic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cos x+2/x³, where x≠0.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 trigonometric-algebraic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Write 2/x³ as 2x⁻³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d(cos x)/dx = -sin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d(2x⁻³)/dx = -6x⁻⁴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-sin x-6/x⁴.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Simplify before differentiating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Differentiate y = (√(x)+1/√(x))² for x &gt; 0.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Simplify before differentiating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Expand first: y = x+2+1/x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Write 1/x as x⁻¹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dy/dx = 1+0-x⁻²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1-1/x².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Differentiation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dy/dx is the instantaneous rate of change and tangent slope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d(C)/dx = 0     d(xⁿ)/dx = nxⁿ⁻¹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differentiate sums term by term; constants stay outside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product: A B'+B A'     quotient: (B A'-A B')/B²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At a smooth maximum or minimum, dy/dx = 0.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every question without looking at its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Write the six basic derivative formulae from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Draw one curve and label positive, zero and negative slope regions.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Check signs carefully in product and quotient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95344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simplify the function first when it makes differentiation shorter.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