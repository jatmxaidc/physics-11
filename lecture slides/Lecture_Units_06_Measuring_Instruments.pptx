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PW Units and Measurement Lecture 08. Final Units lecture.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Empty board for extra working.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35508" y="516636"/>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D2D2DC"/>
                </a:solidFill>
                <a:latin typeface="Arial Black"/>
              </a:rPr>
              <a:t>EXCELLENCE</a:t>
            </a:r>
          </a:p>
        </p:txBody>
      </p:sp>
      <p:sp>
        <p:nvSpPr>
          <p:cNvPr id="3" name="TextBox 2"/>
          <p:cNvSpPr txBox="1"/>
          <p:nvPr/>
        </p:nvSpPr>
        <p:spPr>
          <a:xfrm>
            <a:off x="594360" y="475488"/>
            <a:ext cx="11018520" cy="1005840"/>
          </a:xfrm>
          <a:prstGeom prst="rect">
            <a:avLst/>
          </a:prstGeom>
          <a:noFill/>
        </p:spPr>
        <p:txBody>
          <a:bodyPr wrap="square" lIns="0" rIns="0" tIns="0" bIns="0" anchor="t">
            <a:spAutoFit/>
          </a:bodyPr>
          <a:lstStyle/>
          <a:p>
            <a:pPr algn="ctr">
              <a:lnSpc>
                <a:spcPct val="110000"/>
              </a:lnSpc>
              <a:spcBef>
                <a:spcPts val="0"/>
              </a:spcBef>
              <a:spcAft>
                <a:spcPts val="0"/>
              </a:spcAft>
            </a:pPr>
            <a:r>
              <a:rPr sz="6200" b="1">
                <a:solidFill>
                  <a:srgbClr val="FFD646"/>
                </a:solidFill>
                <a:latin typeface="Arial Black"/>
              </a:rPr>
              <a:t>EXCELLENCE</a:t>
            </a:r>
          </a:p>
        </p:txBody>
      </p:sp>
      <p:sp>
        <p:nvSpPr>
          <p:cNvPr id="4" name="TextBox 3"/>
          <p:cNvSpPr txBox="1"/>
          <p:nvPr/>
        </p:nvSpPr>
        <p:spPr>
          <a:xfrm>
            <a:off x="635508" y="1540763"/>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5A5A64"/>
                </a:solidFill>
                <a:latin typeface="Aptos"/>
              </a:rPr>
              <a:t>CLASS 11   -   2026-27</a:t>
            </a:r>
          </a:p>
        </p:txBody>
      </p:sp>
      <p:sp>
        <p:nvSpPr>
          <p:cNvPr id="5" name="TextBox 4"/>
          <p:cNvSpPr txBox="1"/>
          <p:nvPr/>
        </p:nvSpPr>
        <p:spPr>
          <a:xfrm>
            <a:off x="594360" y="1499616"/>
            <a:ext cx="11018520" cy="530352"/>
          </a:xfrm>
          <a:prstGeom prst="rect">
            <a:avLst/>
          </a:prstGeom>
          <a:noFill/>
        </p:spPr>
        <p:txBody>
          <a:bodyPr wrap="square" lIns="0" rIns="0" tIns="0" bIns="0" anchor="t">
            <a:spAutoFit/>
          </a:bodyPr>
          <a:lstStyle/>
          <a:p>
            <a:pPr algn="ctr">
              <a:lnSpc>
                <a:spcPct val="110000"/>
              </a:lnSpc>
              <a:spcBef>
                <a:spcPts val="0"/>
              </a:spcBef>
              <a:spcAft>
                <a:spcPts val="0"/>
              </a:spcAft>
            </a:pPr>
            <a:r>
              <a:rPr sz="3000" b="1">
                <a:solidFill>
                  <a:srgbClr val="FFFFFF"/>
                </a:solidFill>
                <a:latin typeface="Aptos"/>
              </a:rPr>
              <a:t>CLASS 11   -   2026-27</a:t>
            </a:r>
          </a:p>
        </p:txBody>
      </p:sp>
      <p:sp>
        <p:nvSpPr>
          <p:cNvPr id="6" name="Rectangle 5"/>
          <p:cNvSpPr/>
          <p:nvPr/>
        </p:nvSpPr>
        <p:spPr>
          <a:xfrm>
            <a:off x="3794760" y="2084831"/>
            <a:ext cx="4572000" cy="2560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874519" y="2468880"/>
            <a:ext cx="8412480" cy="2148840"/>
          </a:xfrm>
          <a:prstGeom prst="round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874519" y="3127248"/>
            <a:ext cx="8412480" cy="1490472"/>
          </a:xfrm>
          <a:prstGeom prst="roundRect">
            <a:avLst/>
          </a:prstGeom>
          <a:solidFill>
            <a:srgbClr val="000000"/>
          </a:solidFill>
          <a:ln w="15875">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80759" y="2615184"/>
            <a:ext cx="16459" cy="384048"/>
          </a:xfrm>
          <a:prstGeom prst="rect">
            <a:avLst/>
          </a:prstGeom>
          <a:solidFill>
            <a:srgbClr val="28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874519" y="2596896"/>
            <a:ext cx="411480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Physics</a:t>
            </a:r>
          </a:p>
        </p:txBody>
      </p:sp>
      <p:sp>
        <p:nvSpPr>
          <p:cNvPr id="11" name="TextBox 10"/>
          <p:cNvSpPr txBox="1"/>
          <p:nvPr/>
        </p:nvSpPr>
        <p:spPr>
          <a:xfrm>
            <a:off x="6080759" y="2596896"/>
            <a:ext cx="420624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000000"/>
                </a:solidFill>
                <a:latin typeface="Aptos"/>
              </a:rPr>
              <a:t>Units 06</a:t>
            </a:r>
          </a:p>
        </p:txBody>
      </p:sp>
      <p:sp>
        <p:nvSpPr>
          <p:cNvPr id="12" name="TextBox 11"/>
          <p:cNvSpPr txBox="1"/>
          <p:nvPr/>
        </p:nvSpPr>
        <p:spPr>
          <a:xfrm>
            <a:off x="1874519" y="3401568"/>
            <a:ext cx="8412480" cy="566928"/>
          </a:xfrm>
          <a:prstGeom prst="rect">
            <a:avLst/>
          </a:prstGeom>
          <a:noFill/>
        </p:spPr>
        <p:txBody>
          <a:bodyPr wrap="square" lIns="0" rIns="0" tIns="0" bIns="0" anchor="t">
            <a:spAutoFit/>
          </a:bodyPr>
          <a:lstStyle/>
          <a:p>
            <a:pPr algn="ctr">
              <a:lnSpc>
                <a:spcPct val="110000"/>
              </a:lnSpc>
              <a:spcBef>
                <a:spcPts val="0"/>
              </a:spcBef>
              <a:spcAft>
                <a:spcPts val="0"/>
              </a:spcAft>
            </a:pPr>
            <a:r>
              <a:rPr sz="3200" b="1">
                <a:solidFill>
                  <a:srgbClr val="FFFFFF"/>
                </a:solidFill>
                <a:latin typeface="Georgia"/>
              </a:rPr>
              <a:t>Units and Measurement</a:t>
            </a:r>
          </a:p>
        </p:txBody>
      </p:sp>
      <p:sp>
        <p:nvSpPr>
          <p:cNvPr id="13" name="TextBox 12"/>
          <p:cNvSpPr txBox="1"/>
          <p:nvPr/>
        </p:nvSpPr>
        <p:spPr>
          <a:xfrm>
            <a:off x="1874519" y="3950208"/>
            <a:ext cx="8412480" cy="365760"/>
          </a:xfrm>
          <a:prstGeom prst="rect">
            <a:avLst/>
          </a:prstGeom>
          <a:noFill/>
        </p:spPr>
        <p:txBody>
          <a:bodyPr wrap="square" lIns="0" rIns="0" tIns="0" bIns="0" anchor="t">
            <a:spAutoFit/>
          </a:bodyPr>
          <a:lstStyle/>
          <a:p>
            <a:pPr algn="ctr">
              <a:lnSpc>
                <a:spcPct val="110000"/>
              </a:lnSpc>
              <a:spcBef>
                <a:spcPts val="0"/>
              </a:spcBef>
              <a:spcAft>
                <a:spcPts val="0"/>
              </a:spcAft>
            </a:pPr>
            <a:r>
              <a:rPr sz="1500" b="1">
                <a:solidFill>
                  <a:srgbClr val="FFD646"/>
                </a:solidFill>
                <a:latin typeface="Aptos"/>
              </a:rPr>
              <a:t>Easy Instruments: Scale, Vernier, Screw Gauge</a:t>
            </a:r>
          </a:p>
        </p:txBody>
      </p:sp>
      <p:sp>
        <p:nvSpPr>
          <p:cNvPr id="14" name="TextBox 13"/>
          <p:cNvSpPr txBox="1"/>
          <p:nvPr/>
        </p:nvSpPr>
        <p:spPr>
          <a:xfrm>
            <a:off x="594360" y="4828032"/>
            <a:ext cx="11018520" cy="457200"/>
          </a:xfrm>
          <a:prstGeom prst="rect">
            <a:avLst/>
          </a:prstGeom>
          <a:noFill/>
        </p:spPr>
        <p:txBody>
          <a:bodyPr wrap="square" lIns="0" rIns="0" tIns="0" bIns="0" anchor="t">
            <a:spAutoFit/>
          </a:bodyPr>
          <a:lstStyle/>
          <a:p>
            <a:pPr algn="ctr">
              <a:lnSpc>
                <a:spcPct val="110000"/>
              </a:lnSpc>
              <a:spcBef>
                <a:spcPts val="0"/>
              </a:spcBef>
              <a:spcAft>
                <a:spcPts val="0"/>
              </a:spcAft>
            </a:pPr>
            <a:r>
              <a:rPr sz="2500" b="1">
                <a:solidFill>
                  <a:srgbClr val="FFFFFF"/>
                </a:solidFill>
                <a:latin typeface="Aptos"/>
              </a:rPr>
              <a:t>By - Excellence Programme</a:t>
            </a:r>
          </a:p>
        </p:txBody>
      </p:sp>
      <p:sp>
        <p:nvSpPr>
          <p:cNvPr id="15" name="TextBox 14"/>
          <p:cNvSpPr txBox="1"/>
          <p:nvPr/>
        </p:nvSpPr>
        <p:spPr>
          <a:xfrm>
            <a:off x="594360" y="5303520"/>
            <a:ext cx="11018520" cy="292608"/>
          </a:xfrm>
          <a:prstGeom prst="rect">
            <a:avLst/>
          </a:prstGeom>
          <a:noFill/>
        </p:spPr>
        <p:txBody>
          <a:bodyPr wrap="square" lIns="0" rIns="0" tIns="0" bIns="0" anchor="t">
            <a:spAutoFit/>
          </a:bodyPr>
          <a:lstStyle/>
          <a:p>
            <a:pPr algn="ctr">
              <a:lnSpc>
                <a:spcPct val="110000"/>
              </a:lnSpc>
              <a:spcBef>
                <a:spcPts val="0"/>
              </a:spcBef>
              <a:spcAft>
                <a:spcPts val="0"/>
              </a:spcAft>
            </a:pPr>
            <a:r>
              <a:rPr sz="1800" b="1">
                <a:solidFill>
                  <a:srgbClr val="B0B6C0"/>
                </a:solidFill>
                <a:latin typeface="Aptos"/>
              </a:rPr>
              <a:t>19 October 2026</a:t>
            </a:r>
          </a:p>
        </p:txBody>
      </p:sp>
      <p:sp>
        <p:nvSpPr>
          <p:cNvPr id="16" name="TextBox 1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594360" y="320040"/>
            <a:ext cx="11018520" cy="585216"/>
          </a:xfrm>
          <a:prstGeom prst="rect">
            <a:avLst/>
          </a:prstGeom>
          <a:noFill/>
        </p:spPr>
        <p:txBody>
          <a:bodyPr wrap="square" lIns="0" rIns="0" tIns="0" bIns="0" anchor="t">
            <a:spAutoFit/>
          </a:bodyPr>
          <a:lstStyle/>
          <a:p>
            <a:pPr algn="l">
              <a:lnSpc>
                <a:spcPct val="110000"/>
              </a:lnSpc>
              <a:spcBef>
                <a:spcPts val="0"/>
              </a:spcBef>
              <a:spcAft>
                <a:spcPts val="0"/>
              </a:spcAft>
            </a:pPr>
            <a:r>
              <a:rPr sz="3200" b="1">
                <a:solidFill>
                  <a:srgbClr val="FFD646"/>
                </a:solidFill>
                <a:latin typeface="Aptos"/>
              </a:rPr>
              <a:t>What we learn today</a:t>
            </a:r>
          </a:p>
        </p:txBody>
      </p:sp>
      <p:sp>
        <p:nvSpPr>
          <p:cNvPr id="3" name="Rectangle 2"/>
          <p:cNvSpPr/>
          <p:nvPr/>
        </p:nvSpPr>
        <p:spPr>
          <a:xfrm>
            <a:off x="594360" y="914400"/>
            <a:ext cx="3108960" cy="32004"/>
          </a:xfrm>
          <a:prstGeom prst="rect">
            <a:avLst/>
          </a:prstGeom>
          <a:solidFill>
            <a:srgbClr val="FFD6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94360" y="1115568"/>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161288"/>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01</a:t>
            </a:r>
          </a:p>
        </p:txBody>
      </p:sp>
      <p:sp>
        <p:nvSpPr>
          <p:cNvPr id="6" name="TextBox 5"/>
          <p:cNvSpPr txBox="1"/>
          <p:nvPr/>
        </p:nvSpPr>
        <p:spPr>
          <a:xfrm>
            <a:off x="1143000" y="1161288"/>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Metre scale — the simple ruler</a:t>
            </a:r>
          </a:p>
        </p:txBody>
      </p:sp>
      <p:sp>
        <p:nvSpPr>
          <p:cNvPr id="7" name="Oval 6"/>
          <p:cNvSpPr/>
          <p:nvPr/>
        </p:nvSpPr>
        <p:spPr>
          <a:xfrm>
            <a:off x="594360" y="1773936"/>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819656"/>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02</a:t>
            </a:r>
          </a:p>
        </p:txBody>
      </p:sp>
      <p:sp>
        <p:nvSpPr>
          <p:cNvPr id="9" name="TextBox 8"/>
          <p:cNvSpPr txBox="1"/>
          <p:nvPr/>
        </p:nvSpPr>
        <p:spPr>
          <a:xfrm>
            <a:off x="1143000" y="1819656"/>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Vernier callipers — how to find least count</a:t>
            </a:r>
          </a:p>
        </p:txBody>
      </p:sp>
      <p:sp>
        <p:nvSpPr>
          <p:cNvPr id="10" name="Oval 9"/>
          <p:cNvSpPr/>
          <p:nvPr/>
        </p:nvSpPr>
        <p:spPr>
          <a:xfrm>
            <a:off x="594360" y="2432304"/>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478024"/>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03</a:t>
            </a:r>
          </a:p>
        </p:txBody>
      </p:sp>
      <p:sp>
        <p:nvSpPr>
          <p:cNvPr id="12" name="TextBox 11"/>
          <p:cNvSpPr txBox="1"/>
          <p:nvPr/>
        </p:nvSpPr>
        <p:spPr>
          <a:xfrm>
            <a:off x="1143000" y="2478024"/>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How to read a vernier</a:t>
            </a:r>
          </a:p>
        </p:txBody>
      </p:sp>
      <p:sp>
        <p:nvSpPr>
          <p:cNvPr id="13" name="Oval 12"/>
          <p:cNvSpPr/>
          <p:nvPr/>
        </p:nvSpPr>
        <p:spPr>
          <a:xfrm>
            <a:off x="594360" y="3090672"/>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3136391"/>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04</a:t>
            </a:r>
          </a:p>
        </p:txBody>
      </p:sp>
      <p:sp>
        <p:nvSpPr>
          <p:cNvPr id="15" name="TextBox 14"/>
          <p:cNvSpPr txBox="1"/>
          <p:nvPr/>
        </p:nvSpPr>
        <p:spPr>
          <a:xfrm>
            <a:off x="1143000" y="3136391"/>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Zero error — when the instrument is wrong at zero</a:t>
            </a:r>
          </a:p>
        </p:txBody>
      </p:sp>
      <p:sp>
        <p:nvSpPr>
          <p:cNvPr id="16" name="Oval 15"/>
          <p:cNvSpPr/>
          <p:nvPr/>
        </p:nvSpPr>
        <p:spPr>
          <a:xfrm>
            <a:off x="594360" y="3749039"/>
            <a:ext cx="384048" cy="38404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4360" y="3794759"/>
            <a:ext cx="384048" cy="292608"/>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05</a:t>
            </a:r>
          </a:p>
        </p:txBody>
      </p:sp>
      <p:sp>
        <p:nvSpPr>
          <p:cNvPr id="18" name="TextBox 17"/>
          <p:cNvSpPr txBox="1"/>
          <p:nvPr/>
        </p:nvSpPr>
        <p:spPr>
          <a:xfrm>
            <a:off x="1143000" y="3794759"/>
            <a:ext cx="9601200" cy="320040"/>
          </a:xfrm>
          <a:prstGeom prst="rect">
            <a:avLst/>
          </a:prstGeom>
          <a:noFill/>
        </p:spPr>
        <p:txBody>
          <a:bodyPr wrap="square" lIns="0" rIns="0" tIns="0" bIns="0" anchor="t">
            <a:spAutoFit/>
          </a:bodyPr>
          <a:lstStyle/>
          <a:p>
            <a:pPr algn="l">
              <a:lnSpc>
                <a:spcPct val="110000"/>
              </a:lnSpc>
              <a:spcBef>
                <a:spcPts val="0"/>
              </a:spcBef>
              <a:spcAft>
                <a:spcPts val="0"/>
              </a:spcAft>
            </a:pPr>
            <a:r>
              <a:rPr sz="2000" b="0">
                <a:solidFill>
                  <a:srgbClr val="FFFFFF"/>
                </a:solidFill>
                <a:latin typeface="Aptos"/>
              </a:rPr>
              <a:t>Screw gauge — for very small lengths</a:t>
            </a:r>
          </a:p>
        </p:txBody>
      </p:sp>
      <p:sp>
        <p:nvSpPr>
          <p:cNvPr id="19" name="TextBox 18"/>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NOTE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Link from last class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Last class we learned how error grows when we add, multiply or raise a number to a power. That part is done.</a:t>
            </a:r>
          </a:p>
        </p:txBody>
      </p:sp>
      <p:sp>
        <p:nvSpPr>
          <p:cNvPr id="8" name="TextBox 7"/>
          <p:cNvSpPr txBox="1"/>
          <p:nvPr/>
        </p:nvSpPr>
        <p:spPr>
          <a:xfrm>
            <a:off x="594360" y="231343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Today we learn the tools that measure length: a metre scale, vernier callipers and a screw gauge. The key word is least count — the smallest length the tool can measure.</a:t>
            </a:r>
          </a:p>
        </p:txBody>
      </p:sp>
      <p:sp>
        <p:nvSpPr>
          <p:cNvPr id="9" name="Rectangle 8"/>
          <p:cNvSpPr/>
          <p:nvPr/>
        </p:nvSpPr>
        <p:spPr>
          <a:xfrm>
            <a:off x="594360" y="3822191"/>
            <a:ext cx="11018520" cy="82296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3968496"/>
            <a:ext cx="10689336" cy="53035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Least count = smallest length the instrument can show</a:t>
            </a:r>
          </a:p>
        </p:txBody>
      </p:sp>
      <p:sp>
        <p:nvSpPr>
          <p:cNvPr id="11" name="TextBox 10"/>
          <p:cNvSpPr txBox="1"/>
          <p:nvPr/>
        </p:nvSpPr>
        <p:spPr>
          <a:xfrm>
            <a:off x="594360" y="487375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Class notes come after teaching. These slides are for the board.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WORDS</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Short names we will use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a:t>
            </a:r>
          </a:p>
        </p:txBody>
      </p:sp>
      <p:sp>
        <p:nvSpPr>
          <p:cNvPr id="7" name="TextBox 6"/>
          <p:cNvSpPr txBox="1"/>
          <p:nvPr/>
        </p:nvSpPr>
        <p:spPr>
          <a:xfrm>
            <a:off x="594360" y="107899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L.C. = least count (smallest step the tool can show)</a:t>
            </a:r>
          </a:p>
        </p:txBody>
      </p:sp>
      <p:sp>
        <p:nvSpPr>
          <p:cNvPr id="8" name="TextBox 7"/>
          <p:cNvSpPr txBox="1"/>
          <p:nvPr/>
        </p:nvSpPr>
        <p:spPr>
          <a:xfrm>
            <a:off x="594360" y="171907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M.S.D. = one small mark gap on the main scale</a:t>
            </a:r>
          </a:p>
        </p:txBody>
      </p:sp>
      <p:sp>
        <p:nvSpPr>
          <p:cNvPr id="9" name="TextBox 8"/>
          <p:cNvSpPr txBox="1"/>
          <p:nvPr/>
        </p:nvSpPr>
        <p:spPr>
          <a:xfrm>
            <a:off x="594360" y="235915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V.S.D. = one small mark gap on the vernier scale</a:t>
            </a:r>
          </a:p>
        </p:txBody>
      </p:sp>
      <p:sp>
        <p:nvSpPr>
          <p:cNvPr id="10" name="TextBox 9"/>
          <p:cNvSpPr txBox="1"/>
          <p:nvPr/>
        </p:nvSpPr>
        <p:spPr>
          <a:xfrm>
            <a:off x="594360" y="299923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M.S.R. = main scale reading   |   V.S.R. = vernier scale reading</a:t>
            </a:r>
          </a:p>
        </p:txBody>
      </p:sp>
      <p:sp>
        <p:nvSpPr>
          <p:cNvPr id="11" name="Rectangle 10"/>
          <p:cNvSpPr/>
          <p:nvPr/>
        </p:nvSpPr>
        <p:spPr>
          <a:xfrm>
            <a:off x="594360" y="3822191"/>
            <a:ext cx="11018520" cy="82296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968496"/>
            <a:ext cx="10689336" cy="53035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Learn these four short names. Questions use them a lot.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Three tools for length</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Metre scale — a normal ruler with millimetre marks.</a:t>
            </a:r>
          </a:p>
        </p:txBody>
      </p:sp>
      <p:sp>
        <p:nvSpPr>
          <p:cNvPr id="8" name="TextBox 7"/>
          <p:cNvSpPr txBox="1"/>
          <p:nvPr/>
        </p:nvSpPr>
        <p:spPr>
          <a:xfrm>
            <a:off x="594360" y="171907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Vernier callipers — a ruler plus a short sliding scale.</a:t>
            </a:r>
          </a:p>
        </p:txBody>
      </p:sp>
      <p:sp>
        <p:nvSpPr>
          <p:cNvPr id="9" name="TextBox 8"/>
          <p:cNvSpPr txBox="1"/>
          <p:nvPr/>
        </p:nvSpPr>
        <p:spPr>
          <a:xfrm>
            <a:off x="594360" y="235915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Screw gauge — a screw tool for very thin objects.</a:t>
            </a:r>
          </a:p>
        </p:txBody>
      </p:sp>
      <p:sp>
        <p:nvSpPr>
          <p:cNvPr id="10" name="Rectangle 9"/>
          <p:cNvSpPr/>
          <p:nvPr/>
        </p:nvSpPr>
        <p:spPr>
          <a:xfrm>
            <a:off x="594360" y="3136391"/>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282696"/>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All three measure length. Least count tells how fine the reading can be.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Metre scale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7</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On a school metre scale, marks are 1 mm apart. So the smallest length you can read is 1 mm. That 1 mm is the least count.</a:t>
            </a:r>
          </a:p>
        </p:txBody>
      </p:sp>
      <p:sp>
        <p:nvSpPr>
          <p:cNvPr id="8" name="TextBox 7"/>
          <p:cNvSpPr txBox="1"/>
          <p:nvPr/>
        </p:nvSpPr>
        <p:spPr>
          <a:xfrm>
            <a:off x="594360" y="23591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Least count of metre scale = 1 mm</a:t>
            </a:r>
          </a:p>
        </p:txBody>
      </p:sp>
      <p:sp>
        <p:nvSpPr>
          <p:cNvPr id="9" name="TextBox 8"/>
          <p:cNvSpPr txBox="1"/>
          <p:nvPr/>
        </p:nvSpPr>
        <p:spPr>
          <a:xfrm>
            <a:off x="594360" y="29077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Write the answer as (reading ± 1 mm)</a:t>
            </a:r>
          </a:p>
        </p:txBody>
      </p:sp>
      <p:sp>
        <p:nvSpPr>
          <p:cNvPr id="10" name="TextBox 9"/>
          <p:cNvSpPr txBox="1"/>
          <p:nvPr/>
        </p:nvSpPr>
        <p:spPr>
          <a:xfrm>
            <a:off x="594360" y="373075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If a rod ends between 4 mm and 5 mm, write 4 mm ± 1 mm. Do not guess 4.2 mm.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Why we need a vernier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8</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 metre scale cannot show lengths smaller than 1 mm. Vernier callipers fix that. They have a fixed main scale and a short scale that slides. That short scale is the vernier.</a:t>
            </a:r>
          </a:p>
        </p:txBody>
      </p:sp>
      <p:sp>
        <p:nvSpPr>
          <p:cNvPr id="8" name="TextBox 7"/>
          <p:cNvSpPr txBox="1"/>
          <p:nvPr/>
        </p:nvSpPr>
        <p:spPr>
          <a:xfrm>
            <a:off x="594360" y="254203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The vernier marks are a little closer than the main marks. So one vernier mark can line up exactly with a main mark. That helps us read a small part of 1 mm.</a:t>
            </a:r>
          </a:p>
        </p:txBody>
      </p:sp>
      <p:sp>
        <p:nvSpPr>
          <p:cNvPr id="9" name="Rectangle 8"/>
          <p:cNvSpPr/>
          <p:nvPr/>
        </p:nvSpPr>
        <p:spPr>
          <a:xfrm>
            <a:off x="594360" y="3913632"/>
            <a:ext cx="11018520" cy="73152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059936"/>
            <a:ext cx="10689336" cy="438912"/>
          </a:xfrm>
          <a:prstGeom prst="rect">
            <a:avLst/>
          </a:prstGeom>
          <a:noFill/>
        </p:spPr>
        <p:txBody>
          <a:bodyPr wrap="square" lIns="0" rIns="0" tIns="0" bIns="0" anchor="ctr">
            <a:spAutoFit/>
          </a:bodyPr>
          <a:lstStyle/>
          <a:p>
            <a:pPr algn="ctr">
              <a:lnSpc>
                <a:spcPct val="115000"/>
              </a:lnSpc>
              <a:spcBef>
                <a:spcPts val="0"/>
              </a:spcBef>
              <a:spcAft>
                <a:spcPts val="0"/>
              </a:spcAft>
            </a:pPr>
            <a:r>
              <a:rPr sz="1620" b="1">
                <a:solidFill>
                  <a:srgbClr val="081E3F"/>
                </a:solidFill>
                <a:latin typeface="Aptos"/>
              </a:rPr>
              <a:t>L.C. = 1 M.S.D. − 1 V.S.D.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Easy school vernier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9</a:t>
            </a:r>
          </a:p>
        </p:txBody>
      </p:sp>
      <p:sp>
        <p:nvSpPr>
          <p:cNvPr id="7" name="TextBox 6"/>
          <p:cNvSpPr txBox="1"/>
          <p:nvPr/>
        </p:nvSpPr>
        <p:spPr>
          <a:xfrm>
            <a:off x="594360" y="1078992"/>
            <a:ext cx="11018520" cy="109728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In school, 10 vernier marks match 9 main marks. Each main mark gap is 1 mm. So one vernier gap is a bit less than 1 mm.</a:t>
            </a:r>
          </a:p>
        </p:txBody>
      </p:sp>
      <p:sp>
        <p:nvSpPr>
          <p:cNvPr id="8" name="TextBox 7"/>
          <p:cNvSpPr txBox="1"/>
          <p:nvPr/>
        </p:nvSpPr>
        <p:spPr>
          <a:xfrm>
            <a:off x="594360" y="23134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10 V.S.D. = 9 mm  →  1 V.S.D. = 0.9 mm</a:t>
            </a:r>
          </a:p>
        </p:txBody>
      </p:sp>
      <p:sp>
        <p:nvSpPr>
          <p:cNvPr id="9" name="TextBox 8"/>
          <p:cNvSpPr txBox="1"/>
          <p:nvPr/>
        </p:nvSpPr>
        <p:spPr>
          <a:xfrm>
            <a:off x="594360" y="2862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L.C. = 1 mm − 0.9 mm = 0.1 mm</a:t>
            </a:r>
          </a:p>
        </p:txBody>
      </p:sp>
      <p:sp>
        <p:nvSpPr>
          <p:cNvPr id="10" name="Rectangle 9"/>
          <p:cNvSpPr/>
          <p:nvPr/>
        </p:nvSpPr>
        <p:spPr>
          <a:xfrm>
            <a:off x="594360" y="3730752"/>
            <a:ext cx="11018520" cy="91440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877056"/>
            <a:ext cx="10689336" cy="621792"/>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If n vernier marks match (n − 1) main marks: L.C. = (1 M.S.D.) / 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METHOD</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Only two jobs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10</a:t>
            </a:r>
          </a:p>
        </p:txBody>
      </p:sp>
      <p:sp>
        <p:nvSpPr>
          <p:cNvPr id="7" name="TextBox 6"/>
          <p:cNvSpPr txBox="1"/>
          <p:nvPr/>
        </p:nvSpPr>
        <p:spPr>
          <a:xfrm>
            <a:off x="594360" y="107899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Job 1: Find the least count from how the two scales match.</a:t>
            </a:r>
          </a:p>
        </p:txBody>
      </p:sp>
      <p:sp>
        <p:nvSpPr>
          <p:cNvPr id="8" name="TextBox 7"/>
          <p:cNvSpPr txBox="1"/>
          <p:nvPr/>
        </p:nvSpPr>
        <p:spPr>
          <a:xfrm>
            <a:off x="594360" y="181051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  Job 2: Find the reading = main reading + (vernier mark × least count).</a:t>
            </a:r>
          </a:p>
        </p:txBody>
      </p:sp>
      <p:sp>
        <p:nvSpPr>
          <p:cNvPr id="9" name="TextBox 8"/>
          <p:cNvSpPr txBox="1"/>
          <p:nvPr/>
        </p:nvSpPr>
        <p:spPr>
          <a:xfrm>
            <a:off x="594360" y="27706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Reading = M.S.R. + (V.S.R. × L.C.)</a:t>
            </a:r>
          </a:p>
        </p:txBody>
      </p:sp>
      <p:sp>
        <p:nvSpPr>
          <p:cNvPr id="10" name="Rectangle 9"/>
          <p:cNvSpPr/>
          <p:nvPr/>
        </p:nvSpPr>
        <p:spPr>
          <a:xfrm>
            <a:off x="594360" y="3639311"/>
            <a:ext cx="11018520" cy="7772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785615"/>
            <a:ext cx="10689336" cy="48463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Write the final answer as (reading ± least count).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Least count: 9 and 12</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11</a:t>
            </a:r>
          </a:p>
        </p:txBody>
      </p:sp>
      <p:sp>
        <p:nvSpPr>
          <p:cNvPr id="7" name="TextBox 6"/>
          <p:cNvSpPr txBox="1"/>
          <p:nvPr/>
        </p:nvSpPr>
        <p:spPr>
          <a:xfrm>
            <a:off x="594360" y="1078992"/>
            <a:ext cx="11018520" cy="6858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One main mark gap is 1 cm. 9 main gaps match 12 vernier gaps. Find the least count.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Least count: 9 and 12</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12</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find one vernier gap, then subtract it from one main gap.</a:t>
            </a:r>
          </a:p>
        </p:txBody>
      </p:sp>
      <p:sp>
        <p:nvSpPr>
          <p:cNvPr id="8" name="TextBox 7"/>
          <p:cNvSpPr txBox="1"/>
          <p:nvPr/>
        </p:nvSpPr>
        <p:spPr>
          <a:xfrm>
            <a:off x="594360" y="1719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1 V.S.D. = (9/12) × 1 cm = 0.75 cm</a:t>
            </a:r>
          </a:p>
        </p:txBody>
      </p:sp>
      <p:sp>
        <p:nvSpPr>
          <p:cNvPr id="9" name="TextBox 8"/>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L.C. = 1 − 0.75 = 0.25 cm</a:t>
            </a:r>
          </a:p>
        </p:txBody>
      </p:sp>
      <p:sp>
        <p:nvSpPr>
          <p:cNvPr id="10" name="TextBox 9"/>
          <p:cNvSpPr txBox="1"/>
          <p:nvPr/>
        </p:nvSpPr>
        <p:spPr>
          <a:xfrm>
            <a:off x="594360" y="281635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0.25 cm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25 vernier marks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14</a:t>
            </a:r>
          </a:p>
        </p:txBody>
      </p:sp>
      <p:sp>
        <p:nvSpPr>
          <p:cNvPr id="7" name="TextBox 6"/>
          <p:cNvSpPr txBox="1"/>
          <p:nvPr/>
        </p:nvSpPr>
        <p:spPr>
          <a:xfrm>
            <a:off x="594360" y="1078992"/>
            <a:ext cx="11018520" cy="6858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25 vernier marks match 24 main marks. One main mark gap is 1 mm. Least count is</a:t>
            </a:r>
          </a:p>
        </p:txBody>
      </p:sp>
      <p:sp>
        <p:nvSpPr>
          <p:cNvPr id="8" name="Oval 7"/>
          <p:cNvSpPr/>
          <p:nvPr/>
        </p:nvSpPr>
        <p:spPr>
          <a:xfrm>
            <a:off x="594360" y="20025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208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98424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0.04 mm</a:t>
            </a:r>
          </a:p>
        </p:txBody>
      </p:sp>
      <p:sp>
        <p:nvSpPr>
          <p:cNvPr id="11" name="Oval 10"/>
          <p:cNvSpPr/>
          <p:nvPr/>
        </p:nvSpPr>
        <p:spPr>
          <a:xfrm>
            <a:off x="594360" y="24780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963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45973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0.01 mm</a:t>
            </a:r>
          </a:p>
        </p:txBody>
      </p:sp>
      <p:sp>
        <p:nvSpPr>
          <p:cNvPr id="14" name="Oval 13"/>
          <p:cNvSpPr/>
          <p:nvPr/>
        </p:nvSpPr>
        <p:spPr>
          <a:xfrm>
            <a:off x="594360" y="29535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718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93522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0.02 mm</a:t>
            </a:r>
          </a:p>
        </p:txBody>
      </p:sp>
      <p:sp>
        <p:nvSpPr>
          <p:cNvPr id="17" name="Oval 16"/>
          <p:cNvSpPr/>
          <p:nvPr/>
        </p:nvSpPr>
        <p:spPr>
          <a:xfrm>
            <a:off x="594360" y="34290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4728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41071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0.08 mm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25 vernier marks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15</a:t>
            </a:r>
          </a:p>
        </p:txBody>
      </p:sp>
      <p:sp>
        <p:nvSpPr>
          <p:cNvPr id="7" name="TextBox 6"/>
          <p:cNvSpPr txBox="1"/>
          <p:nvPr/>
        </p:nvSpPr>
        <p:spPr>
          <a:xfrm>
            <a:off x="594360" y="10789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use L.C. = 1 M.S.D. − 1 V.S.D.</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1 V.S.D. = 24/25 mm = 0.96 mm</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L.C. = 1 − 0.96 = 0.04 mm</a:t>
            </a:r>
          </a:p>
        </p:txBody>
      </p:sp>
      <p:sp>
        <p:nvSpPr>
          <p:cNvPr id="10" name="TextBox 9"/>
          <p:cNvSpPr txBox="1"/>
          <p:nvPr/>
        </p:nvSpPr>
        <p:spPr>
          <a:xfrm>
            <a:off x="594360" y="272491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0.04 mm   (option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Formula with x and 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16</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One main mark gap is x cm. n vernier marks match (n − 1) main marks. Least count in cm is</a:t>
            </a:r>
          </a:p>
        </p:txBody>
      </p:sp>
      <p:sp>
        <p:nvSpPr>
          <p:cNvPr id="8" name="Oval 7"/>
          <p:cNvSpPr/>
          <p:nvPr/>
        </p:nvSpPr>
        <p:spPr>
          <a:xfrm>
            <a:off x="594360" y="2048255"/>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66543"/>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29967"/>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(n − 1)x / n</a:t>
            </a:r>
          </a:p>
        </p:txBody>
      </p:sp>
      <p:sp>
        <p:nvSpPr>
          <p:cNvPr id="11" name="Oval 10"/>
          <p:cNvSpPr/>
          <p:nvPr/>
        </p:nvSpPr>
        <p:spPr>
          <a:xfrm>
            <a:off x="594360" y="252374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4203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05456"/>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n x / (n − 1)</a:t>
            </a:r>
          </a:p>
        </p:txBody>
      </p:sp>
      <p:sp>
        <p:nvSpPr>
          <p:cNvPr id="14" name="Oval 13"/>
          <p:cNvSpPr/>
          <p:nvPr/>
        </p:nvSpPr>
        <p:spPr>
          <a:xfrm>
            <a:off x="594360" y="299923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1752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980944"/>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x / n</a:t>
            </a:r>
          </a:p>
        </p:txBody>
      </p:sp>
      <p:sp>
        <p:nvSpPr>
          <p:cNvPr id="17" name="Oval 16"/>
          <p:cNvSpPr/>
          <p:nvPr/>
        </p:nvSpPr>
        <p:spPr>
          <a:xfrm>
            <a:off x="594360" y="347472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9300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456432"/>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x / (n − 1)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Formula with x and 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17</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this is the same school rule, written with letters.</a:t>
            </a:r>
          </a:p>
        </p:txBody>
      </p:sp>
      <p:sp>
        <p:nvSpPr>
          <p:cNvPr id="8" name="TextBox 7"/>
          <p:cNvSpPr txBox="1"/>
          <p:nvPr/>
        </p:nvSpPr>
        <p:spPr>
          <a:xfrm>
            <a:off x="594360" y="1673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1 V.S.D. = ((n − 1)/n) × x</a:t>
            </a:r>
          </a:p>
        </p:txBody>
      </p:sp>
      <p:sp>
        <p:nvSpPr>
          <p:cNvPr id="9" name="TextBox 8"/>
          <p:cNvSpPr txBox="1"/>
          <p:nvPr/>
        </p:nvSpPr>
        <p:spPr>
          <a:xfrm>
            <a:off x="594360" y="2221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L.C. = x − ((n − 1)/n)x = x/n</a:t>
            </a:r>
          </a:p>
        </p:txBody>
      </p:sp>
      <p:sp>
        <p:nvSpPr>
          <p:cNvPr id="10" name="TextBox 9"/>
          <p:cNvSpPr txBox="1"/>
          <p:nvPr/>
        </p:nvSpPr>
        <p:spPr>
          <a:xfrm>
            <a:off x="594360" y="277063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x / n   (option 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20 vernier and 8 main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19</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1 cm on the main scale is cut into 10 equal parts. 20 vernier marks match 8 of those small parts. Find least count.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20 vernier and 8 main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20</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find 1 M.S.D., then 1 V.S.D., then subtract.</a:t>
            </a:r>
          </a:p>
        </p:txBody>
      </p:sp>
      <p:sp>
        <p:nvSpPr>
          <p:cNvPr id="8" name="TextBox 7"/>
          <p:cNvSpPr txBox="1"/>
          <p:nvPr/>
        </p:nvSpPr>
        <p:spPr>
          <a:xfrm>
            <a:off x="594360" y="1673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1 M.S.D. = 1/10 cm = 0.1 cm</a:t>
            </a:r>
          </a:p>
        </p:txBody>
      </p:sp>
      <p:sp>
        <p:nvSpPr>
          <p:cNvPr id="9" name="TextBox 8"/>
          <p:cNvSpPr txBox="1"/>
          <p:nvPr/>
        </p:nvSpPr>
        <p:spPr>
          <a:xfrm>
            <a:off x="594360" y="2221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1 V.S.D. = (8/20) × 0.1 = 0.04 cm</a:t>
            </a:r>
          </a:p>
        </p:txBody>
      </p:sp>
      <p:sp>
        <p:nvSpPr>
          <p:cNvPr id="10" name="TextBox 9"/>
          <p:cNvSpPr txBox="1"/>
          <p:nvPr/>
        </p:nvSpPr>
        <p:spPr>
          <a:xfrm>
            <a:off x="594360" y="277063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3:  L.C. = 0.1 − 0.04 = 0.06 cm</a:t>
            </a:r>
          </a:p>
        </p:txBody>
      </p:sp>
      <p:sp>
        <p:nvSpPr>
          <p:cNvPr id="11" name="TextBox 10"/>
          <p:cNvSpPr txBox="1"/>
          <p:nvPr/>
        </p:nvSpPr>
        <p:spPr>
          <a:xfrm>
            <a:off x="594360" y="359359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0.06 cm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METHOD</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How to read a vernier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21</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Look at the zero mark of the vernier. The main mark just before it is the main scale reading. Then look for the vernier mark that lines up with any main mark. That number is the vernier reading.</a:t>
            </a:r>
          </a:p>
        </p:txBody>
      </p:sp>
      <p:sp>
        <p:nvSpPr>
          <p:cNvPr id="8" name="TextBox 7"/>
          <p:cNvSpPr txBox="1"/>
          <p:nvPr/>
        </p:nvSpPr>
        <p:spPr>
          <a:xfrm>
            <a:off x="594360" y="24963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Reading = M.S.R. + V.S.R. × L.C.</a:t>
            </a:r>
          </a:p>
        </p:txBody>
      </p:sp>
      <p:sp>
        <p:nvSpPr>
          <p:cNvPr id="9" name="TextBox 8"/>
          <p:cNvSpPr txBox="1"/>
          <p:nvPr/>
        </p:nvSpPr>
        <p:spPr>
          <a:xfrm>
            <a:off x="594360" y="30449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Example: 3 mm + 4 × 0.1 mm = 3.4 mm</a:t>
            </a:r>
          </a:p>
        </p:txBody>
      </p:sp>
      <p:sp>
        <p:nvSpPr>
          <p:cNvPr id="10" name="Rectangle 9"/>
          <p:cNvSpPr/>
          <p:nvPr/>
        </p:nvSpPr>
        <p:spPr>
          <a:xfrm>
            <a:off x="594360" y="3822191"/>
            <a:ext cx="11018520" cy="68580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3968496"/>
            <a:ext cx="10689336" cy="393192"/>
          </a:xfrm>
          <a:prstGeom prst="rect">
            <a:avLst/>
          </a:prstGeom>
          <a:noFill/>
        </p:spPr>
        <p:txBody>
          <a:bodyPr wrap="square" lIns="0" rIns="0" tIns="0" bIns="0" anchor="ctr">
            <a:spAutoFit/>
          </a:bodyPr>
          <a:lstStyle/>
          <a:p>
            <a:pPr algn="ctr">
              <a:lnSpc>
                <a:spcPct val="115000"/>
              </a:lnSpc>
              <a:spcBef>
                <a:spcPts val="0"/>
              </a:spcBef>
              <a:spcAft>
                <a:spcPts val="0"/>
              </a:spcAft>
            </a:pPr>
            <a:r>
              <a:rPr sz="1530" b="1">
                <a:solidFill>
                  <a:srgbClr val="081E3F"/>
                </a:solidFill>
                <a:latin typeface="Aptos"/>
              </a:rPr>
              <a:t>Write it as (3.4 ± 0.1) mm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What is zero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22</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Close the jaws with nothing inside. The two zero marks should meet. If they do not meet, the tool already shows a small wrong reading. That wrong reading is called zero error.</a:t>
            </a:r>
          </a:p>
        </p:txBody>
      </p:sp>
      <p:sp>
        <p:nvSpPr>
          <p:cNvPr id="8" name="TextBox 7"/>
          <p:cNvSpPr txBox="1"/>
          <p:nvPr/>
        </p:nvSpPr>
        <p:spPr>
          <a:xfrm>
            <a:off x="594360" y="254203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Always subtract the zero error from the reading you took. Keep the + or − sign. Zero correction is just the opposite of zero error.</a:t>
            </a:r>
          </a:p>
        </p:txBody>
      </p:sp>
      <p:sp>
        <p:nvSpPr>
          <p:cNvPr id="9" name="Rectangle 8"/>
          <p:cNvSpPr/>
          <p:nvPr/>
        </p:nvSpPr>
        <p:spPr>
          <a:xfrm>
            <a:off x="594360" y="3913632"/>
            <a:ext cx="11018520" cy="82296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4059936"/>
            <a:ext cx="10689336" cy="530352"/>
          </a:xfrm>
          <a:prstGeom prst="rect">
            <a:avLst/>
          </a:prstGeom>
          <a:noFill/>
        </p:spPr>
        <p:txBody>
          <a:bodyPr wrap="square" lIns="0" rIns="0" tIns="0" bIns="0" anchor="ctr">
            <a:spAutoFit/>
          </a:bodyPr>
          <a:lstStyle/>
          <a:p>
            <a:pPr algn="ctr">
              <a:lnSpc>
                <a:spcPct val="115000"/>
              </a:lnSpc>
              <a:spcBef>
                <a:spcPts val="0"/>
              </a:spcBef>
              <a:spcAft>
                <a:spcPts val="0"/>
              </a:spcAft>
            </a:pPr>
            <a:r>
              <a:rPr sz="1530" b="1">
                <a:solidFill>
                  <a:srgbClr val="081E3F"/>
                </a:solidFill>
                <a:latin typeface="Aptos"/>
              </a:rPr>
              <a:t>True reading = reading you took − zero error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Positive zero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23</a:t>
            </a:r>
          </a:p>
        </p:txBody>
      </p:sp>
      <p:sp>
        <p:nvSpPr>
          <p:cNvPr id="7" name="TextBox 6"/>
          <p:cNvSpPr txBox="1"/>
          <p:nvPr/>
        </p:nvSpPr>
        <p:spPr>
          <a:xfrm>
            <a:off x="594360" y="1078992"/>
            <a:ext cx="11018520" cy="114300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Jaws closed. If vernier zero is to the right of main zero, zero error is positive. Size = (matching vernier mark) × least count.</a:t>
            </a:r>
          </a:p>
        </p:txBody>
      </p:sp>
      <p:sp>
        <p:nvSpPr>
          <p:cNvPr id="8" name="TextBox 7"/>
          <p:cNvSpPr txBox="1"/>
          <p:nvPr/>
        </p:nvSpPr>
        <p:spPr>
          <a:xfrm>
            <a:off x="594360" y="23591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Zero error = + (matching vernier mark) × L.C.</a:t>
            </a:r>
          </a:p>
        </p:txBody>
      </p:sp>
      <p:sp>
        <p:nvSpPr>
          <p:cNvPr id="9" name="TextBox 8"/>
          <p:cNvSpPr txBox="1"/>
          <p:nvPr/>
        </p:nvSpPr>
        <p:spPr>
          <a:xfrm>
            <a:off x="594360" y="290779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Example: 4th mark matches, L.C. = 0.1 mm → zero error = +0.4 mm</a:t>
            </a:r>
          </a:p>
        </p:txBody>
      </p:sp>
      <p:sp>
        <p:nvSpPr>
          <p:cNvPr id="10" name="TextBox 9"/>
          <p:cNvSpPr txBox="1"/>
          <p:nvPr/>
        </p:nvSpPr>
        <p:spPr>
          <a:xfrm>
            <a:off x="594360" y="3867911"/>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Zero correction here is −0.4 mm. Error and correction have opposite signs.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409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Negative zero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25</a:t>
            </a:r>
          </a:p>
        </p:txBody>
      </p:sp>
      <p:sp>
        <p:nvSpPr>
          <p:cNvPr id="7" name="TextBox 6"/>
          <p:cNvSpPr txBox="1"/>
          <p:nvPr/>
        </p:nvSpPr>
        <p:spPr>
          <a:xfrm>
            <a:off x="594360" y="1078992"/>
            <a:ext cx="11018520" cy="123444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Jaws closed. If vernier zero is to the left of main zero, zero error is negative. For a 10-mark vernier, use (10 − matching mark) × least count, and put a minus sign.</a:t>
            </a:r>
          </a:p>
        </p:txBody>
      </p:sp>
      <p:sp>
        <p:nvSpPr>
          <p:cNvPr id="8" name="TextBox 7"/>
          <p:cNvSpPr txBox="1"/>
          <p:nvPr/>
        </p:nvSpPr>
        <p:spPr>
          <a:xfrm>
            <a:off x="594360" y="24505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Zero error = − (N − matching mark) × L.C.</a:t>
            </a:r>
          </a:p>
        </p:txBody>
      </p:sp>
      <p:sp>
        <p:nvSpPr>
          <p:cNvPr id="9" name="TextBox 8"/>
          <p:cNvSpPr txBox="1"/>
          <p:nvPr/>
        </p:nvSpPr>
        <p:spPr>
          <a:xfrm>
            <a:off x="594360" y="299923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260" b="1">
                <a:solidFill>
                  <a:srgbClr val="5AC8FF"/>
                </a:solidFill>
                <a:latin typeface="Aptos"/>
              </a:rPr>
              <a:t>Example: N = 10, 6th mark matches, L.C. = 0.1 mm → zero error = −0.4 mm</a:t>
            </a:r>
          </a:p>
        </p:txBody>
      </p:sp>
      <p:sp>
        <p:nvSpPr>
          <p:cNvPr id="10" name="Rectangle 9"/>
          <p:cNvSpPr/>
          <p:nvPr/>
        </p:nvSpPr>
        <p:spPr>
          <a:xfrm>
            <a:off x="594360" y="3913632"/>
            <a:ext cx="11018520" cy="82296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059936"/>
            <a:ext cx="10689336" cy="530352"/>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Minus a negative error means you add. True = reading + 0.4 mm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Find zero correction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26</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Jaws closed. Vernier zero is to the right of main zero. 5th vernier mark matches. L.C. = 0.1 mm. Zero correction is</a:t>
            </a:r>
          </a:p>
        </p:txBody>
      </p:sp>
      <p:sp>
        <p:nvSpPr>
          <p:cNvPr id="8" name="Oval 7"/>
          <p:cNvSpPr/>
          <p:nvPr/>
        </p:nvSpPr>
        <p:spPr>
          <a:xfrm>
            <a:off x="594360" y="213969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5798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12140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0.4 mm</a:t>
            </a:r>
          </a:p>
        </p:txBody>
      </p:sp>
      <p:sp>
        <p:nvSpPr>
          <p:cNvPr id="11" name="Oval 10"/>
          <p:cNvSpPr/>
          <p:nvPr/>
        </p:nvSpPr>
        <p:spPr>
          <a:xfrm>
            <a:off x="594360" y="261518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3347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9689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+0.5 mm</a:t>
            </a:r>
          </a:p>
        </p:txBody>
      </p:sp>
      <p:sp>
        <p:nvSpPr>
          <p:cNvPr id="14" name="Oval 13"/>
          <p:cNvSpPr/>
          <p:nvPr/>
        </p:nvSpPr>
        <p:spPr>
          <a:xfrm>
            <a:off x="594360" y="309067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10896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07238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−0.5 mm</a:t>
            </a:r>
          </a:p>
        </p:txBody>
      </p:sp>
      <p:sp>
        <p:nvSpPr>
          <p:cNvPr id="17" name="Oval 16"/>
          <p:cNvSpPr/>
          <p:nvPr/>
        </p:nvSpPr>
        <p:spPr>
          <a:xfrm>
            <a:off x="594360" y="356616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8444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4787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−0.4 mm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Find zero correction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27</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right side means + error. Correction flips the sign.</a:t>
            </a:r>
          </a:p>
        </p:txBody>
      </p:sp>
      <p:sp>
        <p:nvSpPr>
          <p:cNvPr id="8" name="TextBox 7"/>
          <p:cNvSpPr txBox="1"/>
          <p:nvPr/>
        </p:nvSpPr>
        <p:spPr>
          <a:xfrm>
            <a:off x="594360" y="1719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Zero error = +5 × 0.1 = +0.5 mm</a:t>
            </a:r>
          </a:p>
        </p:txBody>
      </p:sp>
      <p:sp>
        <p:nvSpPr>
          <p:cNvPr id="9" name="TextBox 8"/>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Zero correction = −0.5 mm</a:t>
            </a:r>
          </a:p>
        </p:txBody>
      </p:sp>
      <p:sp>
        <p:nvSpPr>
          <p:cNvPr id="10" name="TextBox 9"/>
          <p:cNvSpPr txBox="1"/>
          <p:nvPr/>
        </p:nvSpPr>
        <p:spPr>
          <a:xfrm>
            <a:off x="594360" y="281635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−0.5 mm   (option 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Fix a vernier reading</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28</a:t>
            </a:r>
          </a:p>
        </p:txBody>
      </p:sp>
      <p:sp>
        <p:nvSpPr>
          <p:cNvPr id="7" name="TextBox 6"/>
          <p:cNvSpPr txBox="1"/>
          <p:nvPr/>
        </p:nvSpPr>
        <p:spPr>
          <a:xfrm>
            <a:off x="594360" y="1078992"/>
            <a:ext cx="11018520" cy="86868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Zero error = +0.2 mm. Vernier zero is between 8.5 cm and 8.6 cm. Matching vernier mark = 6. L.C. = 0.01 cm. Correct length is</a:t>
            </a:r>
          </a:p>
        </p:txBody>
      </p:sp>
      <p:sp>
        <p:nvSpPr>
          <p:cNvPr id="8" name="Oval 7"/>
          <p:cNvSpPr/>
          <p:nvPr/>
        </p:nvSpPr>
        <p:spPr>
          <a:xfrm>
            <a:off x="594360" y="218541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0370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16712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8.58 cm</a:t>
            </a:r>
          </a:p>
        </p:txBody>
      </p:sp>
      <p:sp>
        <p:nvSpPr>
          <p:cNvPr id="11" name="Oval 10"/>
          <p:cNvSpPr/>
          <p:nvPr/>
        </p:nvSpPr>
        <p:spPr>
          <a:xfrm>
            <a:off x="594360" y="266090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7919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64261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8.54 cm</a:t>
            </a:r>
          </a:p>
        </p:txBody>
      </p:sp>
      <p:sp>
        <p:nvSpPr>
          <p:cNvPr id="14" name="Oval 13"/>
          <p:cNvSpPr/>
          <p:nvPr/>
        </p:nvSpPr>
        <p:spPr>
          <a:xfrm>
            <a:off x="594360" y="313639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15468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11810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8.56 cm</a:t>
            </a:r>
          </a:p>
        </p:txBody>
      </p:sp>
      <p:sp>
        <p:nvSpPr>
          <p:cNvPr id="17" name="Oval 16"/>
          <p:cNvSpPr/>
          <p:nvPr/>
        </p:nvSpPr>
        <p:spPr>
          <a:xfrm>
            <a:off x="594360" y="361188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63016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9359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8.36 cm</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Fix a vernier reading</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29</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use one unit. Change 0.2 mm to 0.02 cm.</a:t>
            </a:r>
          </a:p>
        </p:txBody>
      </p:sp>
      <p:sp>
        <p:nvSpPr>
          <p:cNvPr id="8" name="TextBox 7"/>
          <p:cNvSpPr txBox="1"/>
          <p:nvPr/>
        </p:nvSpPr>
        <p:spPr>
          <a:xfrm>
            <a:off x="594360" y="1673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Reading taken = 8.5 + 6 × 0.01 = 8.56 cm</a:t>
            </a:r>
          </a:p>
        </p:txBody>
      </p:sp>
      <p:sp>
        <p:nvSpPr>
          <p:cNvPr id="9" name="TextBox 8"/>
          <p:cNvSpPr txBox="1"/>
          <p:nvPr/>
        </p:nvSpPr>
        <p:spPr>
          <a:xfrm>
            <a:off x="594360" y="2221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True length = 8.56 − 0.02 = 8.54 cm</a:t>
            </a:r>
          </a:p>
        </p:txBody>
      </p:sp>
      <p:sp>
        <p:nvSpPr>
          <p:cNvPr id="10" name="TextBox 9"/>
          <p:cNvSpPr txBox="1"/>
          <p:nvPr/>
        </p:nvSpPr>
        <p:spPr>
          <a:xfrm>
            <a:off x="594360" y="277063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8.54 cm   (option 2)</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Sphere with zero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31</a:t>
            </a:r>
          </a:p>
        </p:txBody>
      </p:sp>
      <p:sp>
        <p:nvSpPr>
          <p:cNvPr id="7" name="TextBox 6"/>
          <p:cNvSpPr txBox="1"/>
          <p:nvPr/>
        </p:nvSpPr>
        <p:spPr>
          <a:xfrm>
            <a:off x="594360" y="1078992"/>
            <a:ext cx="11018520" cy="10515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1 M.S.D. = 0.1 cm. 10 vernier marks match 9 main marks. Jaws closed: 6th vernier mark matches (vernier zero is left). With sphere: M.S.R. = 3.1 cm, 1st vernier mark matches. Diameter is</a:t>
            </a:r>
          </a:p>
        </p:txBody>
      </p:sp>
      <p:sp>
        <p:nvSpPr>
          <p:cNvPr id="8" name="Oval 7"/>
          <p:cNvSpPr/>
          <p:nvPr/>
        </p:nvSpPr>
        <p:spPr>
          <a:xfrm>
            <a:off x="594360" y="236829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38658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35000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3.07 cm</a:t>
            </a:r>
          </a:p>
        </p:txBody>
      </p:sp>
      <p:sp>
        <p:nvSpPr>
          <p:cNvPr id="11" name="Oval 10"/>
          <p:cNvSpPr/>
          <p:nvPr/>
        </p:nvSpPr>
        <p:spPr>
          <a:xfrm>
            <a:off x="594360" y="284378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86207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82549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3.11 cm</a:t>
            </a:r>
          </a:p>
        </p:txBody>
      </p:sp>
      <p:sp>
        <p:nvSpPr>
          <p:cNvPr id="14" name="Oval 13"/>
          <p:cNvSpPr/>
          <p:nvPr/>
        </p:nvSpPr>
        <p:spPr>
          <a:xfrm>
            <a:off x="594360" y="331927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33756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30098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3.15 cm</a:t>
            </a:r>
          </a:p>
        </p:txBody>
      </p:sp>
      <p:sp>
        <p:nvSpPr>
          <p:cNvPr id="17" name="Oval 16"/>
          <p:cNvSpPr/>
          <p:nvPr/>
        </p:nvSpPr>
        <p:spPr>
          <a:xfrm>
            <a:off x="594360" y="3794759"/>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81304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77647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3.17 cm</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Sphere with zero error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32</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least count → zero error → sphere reading → true value.</a:t>
            </a:r>
          </a:p>
        </p:txBody>
      </p:sp>
      <p:sp>
        <p:nvSpPr>
          <p:cNvPr id="8" name="TextBox 7"/>
          <p:cNvSpPr txBox="1"/>
          <p:nvPr/>
        </p:nvSpPr>
        <p:spPr>
          <a:xfrm>
            <a:off x="594360" y="1719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L.C. = 0.1 / 10 = 0.01 cm</a:t>
            </a:r>
          </a:p>
        </p:txBody>
      </p:sp>
      <p:sp>
        <p:nvSpPr>
          <p:cNvPr id="9" name="TextBox 8"/>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Zero error = −(10 − 6) × 0.01 = −0.04 cm</a:t>
            </a:r>
          </a:p>
        </p:txBody>
      </p:sp>
      <p:sp>
        <p:nvSpPr>
          <p:cNvPr id="10" name="TextBox 9"/>
          <p:cNvSpPr txBox="1"/>
          <p:nvPr/>
        </p:nvSpPr>
        <p:spPr>
          <a:xfrm>
            <a:off x="594360" y="28163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Reading taken = 3.1 + 1 × 0.01 = 3.11 cm</a:t>
            </a:r>
          </a:p>
        </p:txBody>
      </p:sp>
      <p:sp>
        <p:nvSpPr>
          <p:cNvPr id="11" name="TextBox 10"/>
          <p:cNvSpPr txBox="1"/>
          <p:nvPr/>
        </p:nvSpPr>
        <p:spPr>
          <a:xfrm>
            <a:off x="594360" y="33649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4:  True = 3.11 − (−0.04) = 3.15 cm</a:t>
            </a:r>
          </a:p>
        </p:txBody>
      </p:sp>
      <p:sp>
        <p:nvSpPr>
          <p:cNvPr id="12" name="TextBox 11"/>
          <p:cNvSpPr txBox="1"/>
          <p:nvPr/>
        </p:nvSpPr>
        <p:spPr>
          <a:xfrm>
            <a:off x="594360" y="432511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3.15 cm   (option 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Diameter of a cylinder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33</a:t>
            </a:r>
          </a:p>
        </p:txBody>
      </p:sp>
      <p:sp>
        <p:nvSpPr>
          <p:cNvPr id="7" name="TextBox 6"/>
          <p:cNvSpPr txBox="1"/>
          <p:nvPr/>
        </p:nvSpPr>
        <p:spPr>
          <a:xfrm>
            <a:off x="594360" y="1078992"/>
            <a:ext cx="11018520" cy="86868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No zero error. Vernier zero is between 5.10 cm and 5.15 cm. 50 vernier marks = 2.45 cm. 24th vernier mark matches. Diameter is</a:t>
            </a:r>
          </a:p>
        </p:txBody>
      </p:sp>
      <p:sp>
        <p:nvSpPr>
          <p:cNvPr id="8" name="Oval 7"/>
          <p:cNvSpPr/>
          <p:nvPr/>
        </p:nvSpPr>
        <p:spPr>
          <a:xfrm>
            <a:off x="594360" y="218541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20370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16712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5.112 cm</a:t>
            </a:r>
          </a:p>
        </p:txBody>
      </p:sp>
      <p:sp>
        <p:nvSpPr>
          <p:cNvPr id="11" name="Oval 10"/>
          <p:cNvSpPr/>
          <p:nvPr/>
        </p:nvSpPr>
        <p:spPr>
          <a:xfrm>
            <a:off x="594360" y="266090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67919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64261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5.124 cm</a:t>
            </a:r>
          </a:p>
        </p:txBody>
      </p:sp>
      <p:sp>
        <p:nvSpPr>
          <p:cNvPr id="14" name="Oval 13"/>
          <p:cNvSpPr/>
          <p:nvPr/>
        </p:nvSpPr>
        <p:spPr>
          <a:xfrm>
            <a:off x="594360" y="313639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15468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11810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5.136 cm</a:t>
            </a:r>
          </a:p>
        </p:txBody>
      </p:sp>
      <p:sp>
        <p:nvSpPr>
          <p:cNvPr id="17" name="Oval 16"/>
          <p:cNvSpPr/>
          <p:nvPr/>
        </p:nvSpPr>
        <p:spPr>
          <a:xfrm>
            <a:off x="594360" y="361188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63016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9359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5.148 cm</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Diameter of a cylinder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34</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gap 5.10 to 5.15 means 1 M.S.D. = 0.05 cm.</a:t>
            </a:r>
          </a:p>
        </p:txBody>
      </p:sp>
      <p:sp>
        <p:nvSpPr>
          <p:cNvPr id="8" name="TextBox 7"/>
          <p:cNvSpPr txBox="1"/>
          <p:nvPr/>
        </p:nvSpPr>
        <p:spPr>
          <a:xfrm>
            <a:off x="594360" y="1719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1:  1 V.S.D. = 2.45 / 50 = 0.049 cm</a:t>
            </a:r>
          </a:p>
        </p:txBody>
      </p:sp>
      <p:sp>
        <p:nvSpPr>
          <p:cNvPr id="9" name="TextBox 8"/>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2:  L.C. = 0.05 − 0.049 = 0.001 cm</a:t>
            </a:r>
          </a:p>
        </p:txBody>
      </p:sp>
      <p:sp>
        <p:nvSpPr>
          <p:cNvPr id="10" name="TextBox 9"/>
          <p:cNvSpPr txBox="1"/>
          <p:nvPr/>
        </p:nvSpPr>
        <p:spPr>
          <a:xfrm>
            <a:off x="594360" y="28163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Step 3:  Diameter = 5.10 + 24 × 0.001 = 5.124 cm</a:t>
            </a:r>
          </a:p>
        </p:txBody>
      </p:sp>
      <p:sp>
        <p:nvSpPr>
          <p:cNvPr id="11" name="TextBox 10"/>
          <p:cNvSpPr txBox="1"/>
          <p:nvPr/>
        </p:nvSpPr>
        <p:spPr>
          <a:xfrm>
            <a:off x="594360" y="368503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5.124 cm   (option 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20 vernier match 16 main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35</a:t>
            </a:r>
          </a:p>
        </p:txBody>
      </p:sp>
      <p:sp>
        <p:nvSpPr>
          <p:cNvPr id="7" name="TextBox 6"/>
          <p:cNvSpPr txBox="1"/>
          <p:nvPr/>
        </p:nvSpPr>
        <p:spPr>
          <a:xfrm>
            <a:off x="594360" y="1078992"/>
            <a:ext cx="11018520" cy="6858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Main scale marks are 1 mm apart. 20 vernier marks match 16 main marks. Least count is</a:t>
            </a:r>
          </a:p>
        </p:txBody>
      </p:sp>
      <p:sp>
        <p:nvSpPr>
          <p:cNvPr id="8" name="Oval 7"/>
          <p:cNvSpPr/>
          <p:nvPr/>
        </p:nvSpPr>
        <p:spPr>
          <a:xfrm>
            <a:off x="594360" y="20025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208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98424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0.02 mm</a:t>
            </a:r>
          </a:p>
        </p:txBody>
      </p:sp>
      <p:sp>
        <p:nvSpPr>
          <p:cNvPr id="11" name="Oval 10"/>
          <p:cNvSpPr/>
          <p:nvPr/>
        </p:nvSpPr>
        <p:spPr>
          <a:xfrm>
            <a:off x="594360" y="24780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963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45973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0.05 mm</a:t>
            </a:r>
          </a:p>
        </p:txBody>
      </p:sp>
      <p:sp>
        <p:nvSpPr>
          <p:cNvPr id="14" name="Oval 13"/>
          <p:cNvSpPr/>
          <p:nvPr/>
        </p:nvSpPr>
        <p:spPr>
          <a:xfrm>
            <a:off x="594360" y="29535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718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93522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0.1 mm</a:t>
            </a:r>
          </a:p>
        </p:txBody>
      </p:sp>
      <p:sp>
        <p:nvSpPr>
          <p:cNvPr id="17" name="Oval 16"/>
          <p:cNvSpPr/>
          <p:nvPr/>
        </p:nvSpPr>
        <p:spPr>
          <a:xfrm>
            <a:off x="594360" y="34290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4728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41071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0.2 mm</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20 vernier match 16 main</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36</a:t>
            </a:r>
          </a:p>
        </p:txBody>
      </p:sp>
      <p:sp>
        <p:nvSpPr>
          <p:cNvPr id="7" name="TextBox 6"/>
          <p:cNvSpPr txBox="1"/>
          <p:nvPr/>
        </p:nvSpPr>
        <p:spPr>
          <a:xfrm>
            <a:off x="594360" y="1078992"/>
            <a:ext cx="11018520" cy="4114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same subtract rule again.</a:t>
            </a:r>
          </a:p>
        </p:txBody>
      </p:sp>
      <p:sp>
        <p:nvSpPr>
          <p:cNvPr id="8" name="TextBox 7"/>
          <p:cNvSpPr txBox="1"/>
          <p:nvPr/>
        </p:nvSpPr>
        <p:spPr>
          <a:xfrm>
            <a:off x="594360" y="162763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1 V.S.D. = 16/20 = 0.8 mm</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2:  L.C. = 1 − 0.8 = 0.2 mm</a:t>
            </a:r>
          </a:p>
        </p:txBody>
      </p:sp>
      <p:sp>
        <p:nvSpPr>
          <p:cNvPr id="10" name="TextBox 9"/>
          <p:cNvSpPr txBox="1"/>
          <p:nvPr/>
        </p:nvSpPr>
        <p:spPr>
          <a:xfrm>
            <a:off x="594360" y="272491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0.2 mm   (option 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n marks in one centimetre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38</a:t>
            </a:r>
          </a:p>
        </p:txBody>
      </p:sp>
      <p:sp>
        <p:nvSpPr>
          <p:cNvPr id="7" name="TextBox 6"/>
          <p:cNvSpPr txBox="1"/>
          <p:nvPr/>
        </p:nvSpPr>
        <p:spPr>
          <a:xfrm>
            <a:off x="594360" y="1078992"/>
            <a:ext cx="11018520" cy="73152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Main scale has n marks in 1 cm. n vernier marks match (n − 1) main marks. Least count is</a:t>
            </a:r>
          </a:p>
        </p:txBody>
      </p:sp>
      <p:sp>
        <p:nvSpPr>
          <p:cNvPr id="8" name="Oval 7"/>
          <p:cNvSpPr/>
          <p:nvPr/>
        </p:nvSpPr>
        <p:spPr>
          <a:xfrm>
            <a:off x="594360" y="2048255"/>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66543"/>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29967"/>
            <a:ext cx="96377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 ((n + 1)(n − 1)) cm</a:t>
            </a:r>
          </a:p>
        </p:txBody>
      </p:sp>
      <p:sp>
        <p:nvSpPr>
          <p:cNvPr id="11" name="Oval 10"/>
          <p:cNvSpPr/>
          <p:nvPr/>
        </p:nvSpPr>
        <p:spPr>
          <a:xfrm>
            <a:off x="594360" y="252374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4203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05456"/>
            <a:ext cx="96377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 n cm</a:t>
            </a:r>
          </a:p>
        </p:txBody>
      </p:sp>
      <p:sp>
        <p:nvSpPr>
          <p:cNvPr id="14" name="Oval 13"/>
          <p:cNvSpPr/>
          <p:nvPr/>
        </p:nvSpPr>
        <p:spPr>
          <a:xfrm>
            <a:off x="594360" y="299923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1752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980944"/>
            <a:ext cx="96377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 n² cm</a:t>
            </a:r>
          </a:p>
        </p:txBody>
      </p:sp>
      <p:sp>
        <p:nvSpPr>
          <p:cNvPr id="17" name="Oval 16"/>
          <p:cNvSpPr/>
          <p:nvPr/>
        </p:nvSpPr>
        <p:spPr>
          <a:xfrm>
            <a:off x="594360" y="347472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9300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456432"/>
            <a:ext cx="96377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 (n(n + 1)) cm</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n marks in one centimetre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39</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one main gap is already 1/n cm.</a:t>
            </a:r>
          </a:p>
        </p:txBody>
      </p:sp>
      <p:sp>
        <p:nvSpPr>
          <p:cNvPr id="8" name="TextBox 7"/>
          <p:cNvSpPr txBox="1"/>
          <p:nvPr/>
        </p:nvSpPr>
        <p:spPr>
          <a:xfrm>
            <a:off x="594360" y="1673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1 M.S.D. = 1/n cm</a:t>
            </a:r>
          </a:p>
        </p:txBody>
      </p:sp>
      <p:sp>
        <p:nvSpPr>
          <p:cNvPr id="9" name="TextBox 8"/>
          <p:cNvSpPr txBox="1"/>
          <p:nvPr/>
        </p:nvSpPr>
        <p:spPr>
          <a:xfrm>
            <a:off x="594360" y="2221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2:  L.C. = (1 M.S.D.) / n = 1/n² cm</a:t>
            </a:r>
          </a:p>
        </p:txBody>
      </p:sp>
      <p:sp>
        <p:nvSpPr>
          <p:cNvPr id="10" name="TextBox 9"/>
          <p:cNvSpPr txBox="1"/>
          <p:nvPr/>
        </p:nvSpPr>
        <p:spPr>
          <a:xfrm>
            <a:off x="594360" y="277063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1 / n² cm   (option 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Fill the blank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40</a:t>
            </a:r>
          </a:p>
        </p:txBody>
      </p:sp>
      <p:sp>
        <p:nvSpPr>
          <p:cNvPr id="7" name="TextBox 6"/>
          <p:cNvSpPr txBox="1"/>
          <p:nvPr/>
        </p:nvSpPr>
        <p:spPr>
          <a:xfrm>
            <a:off x="594360" y="1078992"/>
            <a:ext cx="11018520" cy="9144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Vernier constant = 0.1 mm. Zero error = (−0.05) cm. M.S.R. = 1.7 cm. Matching vernier mark = 5. Correct diameter = ____ × 10−² cm.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Fill the blank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41</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change 0.1 mm to cm first, then find true length.</a:t>
            </a:r>
          </a:p>
        </p:txBody>
      </p:sp>
      <p:sp>
        <p:nvSpPr>
          <p:cNvPr id="8" name="TextBox 7"/>
          <p:cNvSpPr txBox="1"/>
          <p:nvPr/>
        </p:nvSpPr>
        <p:spPr>
          <a:xfrm>
            <a:off x="594360" y="1719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L.C. = 0.1 mm = 0.01 cm</a:t>
            </a:r>
          </a:p>
        </p:txBody>
      </p:sp>
      <p:sp>
        <p:nvSpPr>
          <p:cNvPr id="9" name="TextBox 8"/>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Reading taken = 1.7 + 5 × 0.01 = 1.75 cm</a:t>
            </a:r>
          </a:p>
        </p:txBody>
      </p:sp>
      <p:sp>
        <p:nvSpPr>
          <p:cNvPr id="10" name="TextBox 9"/>
          <p:cNvSpPr txBox="1"/>
          <p:nvPr/>
        </p:nvSpPr>
        <p:spPr>
          <a:xfrm>
            <a:off x="594360" y="2816351"/>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3:  True = 1.75 − (−0.05) = 1.80 cm = 180 × 10−² cm</a:t>
            </a:r>
          </a:p>
        </p:txBody>
      </p:sp>
      <p:sp>
        <p:nvSpPr>
          <p:cNvPr id="11" name="TextBox 10"/>
          <p:cNvSpPr txBox="1"/>
          <p:nvPr/>
        </p:nvSpPr>
        <p:spPr>
          <a:xfrm>
            <a:off x="594360" y="373075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180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Least count in mm</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43</a:t>
            </a:r>
          </a:p>
        </p:txBody>
      </p:sp>
      <p:sp>
        <p:nvSpPr>
          <p:cNvPr id="7" name="TextBox 6"/>
          <p:cNvSpPr txBox="1"/>
          <p:nvPr/>
        </p:nvSpPr>
        <p:spPr>
          <a:xfrm>
            <a:off x="594360" y="1078992"/>
            <a:ext cx="11018520" cy="77724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One main mark gap is a cm. The nth vernier mark matches the (n − 1)th main mark. Least count in mm is</a:t>
            </a:r>
          </a:p>
        </p:txBody>
      </p:sp>
      <p:sp>
        <p:nvSpPr>
          <p:cNvPr id="8" name="Oval 7"/>
          <p:cNvSpPr/>
          <p:nvPr/>
        </p:nvSpPr>
        <p:spPr>
          <a:xfrm>
            <a:off x="594360" y="209397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11226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2075688"/>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10 n a / (n − 1)</a:t>
            </a:r>
          </a:p>
        </p:txBody>
      </p:sp>
      <p:sp>
        <p:nvSpPr>
          <p:cNvPr id="11" name="Oval 10"/>
          <p:cNvSpPr/>
          <p:nvPr/>
        </p:nvSpPr>
        <p:spPr>
          <a:xfrm>
            <a:off x="594360" y="256946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58775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551176"/>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10 a / (n − 1)</a:t>
            </a:r>
          </a:p>
        </p:txBody>
      </p:sp>
      <p:sp>
        <p:nvSpPr>
          <p:cNvPr id="14" name="Oval 13"/>
          <p:cNvSpPr/>
          <p:nvPr/>
        </p:nvSpPr>
        <p:spPr>
          <a:xfrm>
            <a:off x="594360" y="304495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06324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3026664"/>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10 a / n</a:t>
            </a:r>
          </a:p>
        </p:txBody>
      </p:sp>
      <p:sp>
        <p:nvSpPr>
          <p:cNvPr id="17" name="Oval 16"/>
          <p:cNvSpPr/>
          <p:nvPr/>
        </p:nvSpPr>
        <p:spPr>
          <a:xfrm>
            <a:off x="594360" y="352044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53872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502152"/>
            <a:ext cx="945489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(n − 1)a / (10 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Least count in mm</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44</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in cm, L.C. = a/n. Times 10 gives mm.</a:t>
            </a:r>
          </a:p>
        </p:txBody>
      </p:sp>
      <p:sp>
        <p:nvSpPr>
          <p:cNvPr id="8" name="TextBox 7"/>
          <p:cNvSpPr txBox="1"/>
          <p:nvPr/>
        </p:nvSpPr>
        <p:spPr>
          <a:xfrm>
            <a:off x="594360" y="1673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L.C. = a/n cm = 10a/n mm</a:t>
            </a:r>
          </a:p>
        </p:txBody>
      </p:sp>
      <p:sp>
        <p:nvSpPr>
          <p:cNvPr id="9" name="TextBox 8"/>
          <p:cNvSpPr txBox="1"/>
          <p:nvPr/>
        </p:nvSpPr>
        <p:spPr>
          <a:xfrm>
            <a:off x="594360" y="2221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10 a / n   (option 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IDEA</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Screw gauge in plain words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45</a:t>
            </a:r>
          </a:p>
        </p:txBody>
      </p:sp>
      <p:sp>
        <p:nvSpPr>
          <p:cNvPr id="7" name="TextBox 6"/>
          <p:cNvSpPr txBox="1"/>
          <p:nvPr/>
        </p:nvSpPr>
        <p:spPr>
          <a:xfrm>
            <a:off x="594360" y="1078992"/>
            <a:ext cx="11018520" cy="128016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A screw gauge is used for very small lengths, like the diameter of a thin wire. When you turn the screw once, it moves forward by a fixed length. That fixed length is called pitch.</a:t>
            </a:r>
          </a:p>
        </p:txBody>
      </p:sp>
      <p:sp>
        <p:nvSpPr>
          <p:cNvPr id="8" name="TextBox 7"/>
          <p:cNvSpPr txBox="1"/>
          <p:nvPr/>
        </p:nvSpPr>
        <p:spPr>
          <a:xfrm>
            <a:off x="594360" y="24963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Pitch = how far the screw moves in one full turn</a:t>
            </a:r>
          </a:p>
        </p:txBody>
      </p:sp>
      <p:sp>
        <p:nvSpPr>
          <p:cNvPr id="9" name="TextBox 8"/>
          <p:cNvSpPr txBox="1"/>
          <p:nvPr/>
        </p:nvSpPr>
        <p:spPr>
          <a:xfrm>
            <a:off x="594360" y="30449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L.C. = Pitch / (number of marks on the round scale)</a:t>
            </a:r>
          </a:p>
        </p:txBody>
      </p:sp>
      <p:sp>
        <p:nvSpPr>
          <p:cNvPr id="10" name="Rectangle 9"/>
          <p:cNvSpPr/>
          <p:nvPr/>
        </p:nvSpPr>
        <p:spPr>
          <a:xfrm>
            <a:off x="594360" y="3867911"/>
            <a:ext cx="11018520" cy="86868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8952" y="4014215"/>
            <a:ext cx="10689336" cy="576071"/>
          </a:xfrm>
          <a:prstGeom prst="rect">
            <a:avLst/>
          </a:prstGeom>
          <a:noFill/>
        </p:spPr>
        <p:txBody>
          <a:bodyPr wrap="square" lIns="0" rIns="0" tIns="0" bIns="0" anchor="ctr">
            <a:spAutoFit/>
          </a:bodyPr>
          <a:lstStyle/>
          <a:p>
            <a:pPr algn="ctr">
              <a:lnSpc>
                <a:spcPct val="115000"/>
              </a:lnSpc>
              <a:spcBef>
                <a:spcPts val="0"/>
              </a:spcBef>
              <a:spcAft>
                <a:spcPts val="0"/>
              </a:spcAft>
            </a:pPr>
            <a:r>
              <a:rPr sz="1350" b="1">
                <a:solidFill>
                  <a:srgbClr val="081E3F"/>
                </a:solidFill>
                <a:latin typeface="Aptos"/>
              </a:rPr>
              <a:t>Reading = linear reading + (round-scale mark × L.C.)</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RULE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Zero error of screw gauge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46</a:t>
            </a:r>
          </a:p>
        </p:txBody>
      </p:sp>
      <p:sp>
        <p:nvSpPr>
          <p:cNvPr id="7" name="TextBox 6"/>
          <p:cNvSpPr txBox="1"/>
          <p:nvPr/>
        </p:nvSpPr>
        <p:spPr>
          <a:xfrm>
            <a:off x="594360" y="1078992"/>
            <a:ext cx="11018520" cy="1188720"/>
          </a:xfrm>
          <a:prstGeom prst="rect">
            <a:avLst/>
          </a:prstGeom>
          <a:noFill/>
        </p:spPr>
        <p:txBody>
          <a:bodyPr wrap="square" lIns="0" rIns="0" tIns="0" bIns="0" anchor="t">
            <a:spAutoFit/>
          </a:bodyPr>
          <a:lstStyle/>
          <a:p>
            <a:pPr algn="l">
              <a:lnSpc>
                <a:spcPct val="128000"/>
              </a:lnSpc>
              <a:spcBef>
                <a:spcPts val="0"/>
              </a:spcBef>
              <a:spcAft>
                <a:spcPts val="0"/>
              </a:spcAft>
            </a:pPr>
            <a:r>
              <a:rPr sz="1600" b="0">
                <a:solidFill>
                  <a:srgbClr val="FFFFFF"/>
                </a:solidFill>
                <a:latin typeface="Aptos"/>
              </a:rPr>
              <a:t>Close the ends with nothing between them. The zero of the round scale should meet the line. If it does not, there is a zero error — just like in the vernier.</a:t>
            </a:r>
          </a:p>
        </p:txBody>
      </p:sp>
      <p:sp>
        <p:nvSpPr>
          <p:cNvPr id="8" name="TextBox 7"/>
          <p:cNvSpPr txBox="1"/>
          <p:nvPr/>
        </p:nvSpPr>
        <p:spPr>
          <a:xfrm>
            <a:off x="594360" y="245059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True reading = reading you took − zero error</a:t>
            </a:r>
          </a:p>
        </p:txBody>
      </p:sp>
      <p:sp>
        <p:nvSpPr>
          <p:cNvPr id="9" name="TextBox 8"/>
          <p:cNvSpPr txBox="1"/>
          <p:nvPr/>
        </p:nvSpPr>
        <p:spPr>
          <a:xfrm>
            <a:off x="594360" y="331927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Screw gauge least count is smaller than vernier. That is why we use it for thin wires.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Find the pitch</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47</a:t>
            </a:r>
          </a:p>
        </p:txBody>
      </p:sp>
      <p:sp>
        <p:nvSpPr>
          <p:cNvPr id="7" name="TextBox 6"/>
          <p:cNvSpPr txBox="1"/>
          <p:nvPr/>
        </p:nvSpPr>
        <p:spPr>
          <a:xfrm>
            <a:off x="594360" y="1078992"/>
            <a:ext cx="11018520" cy="68580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A screw gauge has least count 0.01 mm and 50 marks on the round scale. Pitch is</a:t>
            </a:r>
          </a:p>
        </p:txBody>
      </p:sp>
      <p:sp>
        <p:nvSpPr>
          <p:cNvPr id="8" name="Oval 7"/>
          <p:cNvSpPr/>
          <p:nvPr/>
        </p:nvSpPr>
        <p:spPr>
          <a:xfrm>
            <a:off x="594360" y="2002536"/>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020824"/>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1</a:t>
            </a:r>
          </a:p>
        </p:txBody>
      </p:sp>
      <p:sp>
        <p:nvSpPr>
          <p:cNvPr id="10" name="TextBox 9"/>
          <p:cNvSpPr txBox="1"/>
          <p:nvPr/>
        </p:nvSpPr>
        <p:spPr>
          <a:xfrm>
            <a:off x="1014984" y="1984248"/>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0.01 mm</a:t>
            </a:r>
          </a:p>
        </p:txBody>
      </p:sp>
      <p:sp>
        <p:nvSpPr>
          <p:cNvPr id="11" name="Oval 10"/>
          <p:cNvSpPr/>
          <p:nvPr/>
        </p:nvSpPr>
        <p:spPr>
          <a:xfrm>
            <a:off x="594360" y="2478024"/>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496312"/>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2</a:t>
            </a:r>
          </a:p>
        </p:txBody>
      </p:sp>
      <p:sp>
        <p:nvSpPr>
          <p:cNvPr id="13" name="TextBox 12"/>
          <p:cNvSpPr txBox="1"/>
          <p:nvPr/>
        </p:nvSpPr>
        <p:spPr>
          <a:xfrm>
            <a:off x="1014984" y="2459736"/>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0.25 mm</a:t>
            </a:r>
          </a:p>
        </p:txBody>
      </p:sp>
      <p:sp>
        <p:nvSpPr>
          <p:cNvPr id="14" name="Oval 13"/>
          <p:cNvSpPr/>
          <p:nvPr/>
        </p:nvSpPr>
        <p:spPr>
          <a:xfrm>
            <a:off x="594360" y="2953512"/>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2971800"/>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3</a:t>
            </a:r>
          </a:p>
        </p:txBody>
      </p:sp>
      <p:sp>
        <p:nvSpPr>
          <p:cNvPr id="16" name="TextBox 15"/>
          <p:cNvSpPr txBox="1"/>
          <p:nvPr/>
        </p:nvSpPr>
        <p:spPr>
          <a:xfrm>
            <a:off x="1014984" y="2935224"/>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0.5 mm</a:t>
            </a:r>
          </a:p>
        </p:txBody>
      </p:sp>
      <p:sp>
        <p:nvSpPr>
          <p:cNvPr id="17" name="Oval 16"/>
          <p:cNvSpPr/>
          <p:nvPr/>
        </p:nvSpPr>
        <p:spPr>
          <a:xfrm>
            <a:off x="594360" y="3429000"/>
            <a:ext cx="292608" cy="292608"/>
          </a:xfrm>
          <a:prstGeom prst="ellipse">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447288"/>
            <a:ext cx="292608" cy="256032"/>
          </a:xfrm>
          <a:prstGeom prst="rect">
            <a:avLst/>
          </a:prstGeom>
          <a:noFill/>
        </p:spPr>
        <p:txBody>
          <a:bodyPr wrap="square" lIns="0" rIns="0" tIns="0" bIns="0" anchor="t">
            <a:spAutoFit/>
          </a:bodyPr>
          <a:lstStyle/>
          <a:p>
            <a:pPr algn="ctr">
              <a:lnSpc>
                <a:spcPct val="110000"/>
              </a:lnSpc>
              <a:spcBef>
                <a:spcPts val="0"/>
              </a:spcBef>
              <a:spcAft>
                <a:spcPts val="0"/>
              </a:spcAft>
            </a:pPr>
            <a:r>
              <a:rPr sz="1400" b="1">
                <a:solidFill>
                  <a:srgbClr val="FFFFFF"/>
                </a:solidFill>
                <a:latin typeface="Aptos"/>
              </a:rPr>
              <a:t>4</a:t>
            </a:r>
          </a:p>
        </p:txBody>
      </p:sp>
      <p:sp>
        <p:nvSpPr>
          <p:cNvPr id="19" name="TextBox 18"/>
          <p:cNvSpPr txBox="1"/>
          <p:nvPr/>
        </p:nvSpPr>
        <p:spPr>
          <a:xfrm>
            <a:off x="1014984" y="3410712"/>
            <a:ext cx="9180576" cy="384048"/>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1.0 mm</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Find the pitch</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48</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Pitch = least count × number of marks.</a:t>
            </a:r>
          </a:p>
        </p:txBody>
      </p:sp>
      <p:sp>
        <p:nvSpPr>
          <p:cNvPr id="8" name="TextBox 7"/>
          <p:cNvSpPr txBox="1"/>
          <p:nvPr/>
        </p:nvSpPr>
        <p:spPr>
          <a:xfrm>
            <a:off x="594360" y="16733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C8FF"/>
                </a:solidFill>
                <a:latin typeface="Aptos"/>
              </a:rPr>
              <a:t>Step 1:  Pitch = 0.01 × 50 = 0.5 mm</a:t>
            </a:r>
          </a:p>
        </p:txBody>
      </p:sp>
      <p:sp>
        <p:nvSpPr>
          <p:cNvPr id="9" name="TextBox 8"/>
          <p:cNvSpPr txBox="1"/>
          <p:nvPr/>
        </p:nvSpPr>
        <p:spPr>
          <a:xfrm>
            <a:off x="594360" y="2221992"/>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0.5 mm   (option 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QUESTION</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Wire diameter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50</a:t>
            </a:r>
          </a:p>
        </p:txBody>
      </p:sp>
      <p:sp>
        <p:nvSpPr>
          <p:cNvPr id="7" name="TextBox 6"/>
          <p:cNvSpPr txBox="1"/>
          <p:nvPr/>
        </p:nvSpPr>
        <p:spPr>
          <a:xfrm>
            <a:off x="594360" y="1078992"/>
            <a:ext cx="11018520" cy="822960"/>
          </a:xfrm>
          <a:prstGeom prst="rect">
            <a:avLst/>
          </a:prstGeom>
          <a:noFill/>
        </p:spPr>
        <p:txBody>
          <a:bodyPr wrap="square" lIns="0" rIns="0" tIns="0" bIns="0" anchor="t">
            <a:spAutoFit/>
          </a:bodyPr>
          <a:lstStyle/>
          <a:p>
            <a:pPr algn="l">
              <a:lnSpc>
                <a:spcPct val="110000"/>
              </a:lnSpc>
              <a:spcBef>
                <a:spcPts val="0"/>
              </a:spcBef>
              <a:spcAft>
                <a:spcPts val="0"/>
              </a:spcAft>
            </a:pPr>
            <a:r>
              <a:rPr sz="1900" b="1">
                <a:solidFill>
                  <a:srgbClr val="FF9E40"/>
                </a:solidFill>
                <a:latin typeface="Aptos"/>
              </a:rPr>
              <a:t>Pitch = 0.5 mm. Round scale has 50 marks. Linear reading = 2.5 mm. Round reading = 20. Zero error = +0.02 mm. True diameter is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ANSWER</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Solution: Wire diameter</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51</a:t>
            </a:r>
          </a:p>
        </p:txBody>
      </p:sp>
      <p:sp>
        <p:nvSpPr>
          <p:cNvPr id="7" name="TextBox 6"/>
          <p:cNvSpPr txBox="1"/>
          <p:nvPr/>
        </p:nvSpPr>
        <p:spPr>
          <a:xfrm>
            <a:off x="594360" y="10789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Idea: least count → reading taken → subtract zero error.</a:t>
            </a:r>
          </a:p>
        </p:txBody>
      </p:sp>
      <p:sp>
        <p:nvSpPr>
          <p:cNvPr id="8" name="TextBox 7"/>
          <p:cNvSpPr txBox="1"/>
          <p:nvPr/>
        </p:nvSpPr>
        <p:spPr>
          <a:xfrm>
            <a:off x="594360" y="17190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1:  L.C. = 0.5 / 50 = 0.01 mm</a:t>
            </a:r>
          </a:p>
        </p:txBody>
      </p:sp>
      <p:sp>
        <p:nvSpPr>
          <p:cNvPr id="9" name="TextBox 8"/>
          <p:cNvSpPr txBox="1"/>
          <p:nvPr/>
        </p:nvSpPr>
        <p:spPr>
          <a:xfrm>
            <a:off x="594360" y="226771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350" b="1">
                <a:solidFill>
                  <a:srgbClr val="5AC8FF"/>
                </a:solidFill>
                <a:latin typeface="Aptos"/>
              </a:rPr>
              <a:t>Step 2:  Reading taken = 2.5 + 20 × 0.01 = 2.70 mm</a:t>
            </a:r>
          </a:p>
        </p:txBody>
      </p:sp>
      <p:sp>
        <p:nvSpPr>
          <p:cNvPr id="10" name="TextBox 9"/>
          <p:cNvSpPr txBox="1"/>
          <p:nvPr/>
        </p:nvSpPr>
        <p:spPr>
          <a:xfrm>
            <a:off x="594360" y="2816351"/>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Step 3:  True = 2.70 − 0.02 = 2.68 mm</a:t>
            </a:r>
          </a:p>
        </p:txBody>
      </p:sp>
      <p:sp>
        <p:nvSpPr>
          <p:cNvPr id="11" name="TextBox 10"/>
          <p:cNvSpPr txBox="1"/>
          <p:nvPr/>
        </p:nvSpPr>
        <p:spPr>
          <a:xfrm>
            <a:off x="594360" y="3639311"/>
            <a:ext cx="11018520" cy="438912"/>
          </a:xfrm>
          <a:prstGeom prst="rect">
            <a:avLst/>
          </a:prstGeom>
          <a:noFill/>
        </p:spPr>
        <p:txBody>
          <a:bodyPr wrap="square" lIns="0" rIns="0" tIns="0" bIns="0" anchor="t">
            <a:spAutoFit/>
          </a:bodyPr>
          <a:lstStyle/>
          <a:p>
            <a:pPr algn="l">
              <a:lnSpc>
                <a:spcPct val="110000"/>
              </a:lnSpc>
              <a:spcBef>
                <a:spcPts val="0"/>
              </a:spcBef>
              <a:spcAft>
                <a:spcPts val="0"/>
              </a:spcAft>
            </a:pPr>
            <a:r>
              <a:rPr sz="1620" b="1">
                <a:solidFill>
                  <a:srgbClr val="5AD680"/>
                </a:solidFill>
                <a:latin typeface="Aptos"/>
              </a:rPr>
              <a:t>Final answer: 2.68 mm</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28B4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CLASS SUMMARY</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Remember these lines</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52</a:t>
            </a:r>
          </a:p>
        </p:txBody>
      </p:sp>
      <p:sp>
        <p:nvSpPr>
          <p:cNvPr id="7" name="TextBox 6"/>
          <p:cNvSpPr txBox="1"/>
          <p:nvPr/>
        </p:nvSpPr>
        <p:spPr>
          <a:xfrm>
            <a:off x="594360" y="107899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Metre scale least count = 1 mm</a:t>
            </a:r>
          </a:p>
        </p:txBody>
      </p:sp>
      <p:sp>
        <p:nvSpPr>
          <p:cNvPr id="8" name="TextBox 7"/>
          <p:cNvSpPr txBox="1"/>
          <p:nvPr/>
        </p:nvSpPr>
        <p:spPr>
          <a:xfrm>
            <a:off x="594360" y="1627631"/>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440" b="1">
                <a:solidFill>
                  <a:srgbClr val="5AC8FF"/>
                </a:solidFill>
                <a:latin typeface="Aptos"/>
              </a:rPr>
              <a:t>Vernier: L.C. = 1 M.S.D. − 1 V.S.D.   (or 1 M.S.D. / n)</a:t>
            </a:r>
          </a:p>
        </p:txBody>
      </p:sp>
      <p:sp>
        <p:nvSpPr>
          <p:cNvPr id="9" name="TextBox 8"/>
          <p:cNvSpPr txBox="1"/>
          <p:nvPr/>
        </p:nvSpPr>
        <p:spPr>
          <a:xfrm>
            <a:off x="594360" y="217627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Reading = M.S.R. + V.S.R. × L.C.</a:t>
            </a:r>
          </a:p>
        </p:txBody>
      </p:sp>
      <p:sp>
        <p:nvSpPr>
          <p:cNvPr id="10" name="TextBox 9"/>
          <p:cNvSpPr txBox="1"/>
          <p:nvPr/>
        </p:nvSpPr>
        <p:spPr>
          <a:xfrm>
            <a:off x="594360" y="3273552"/>
            <a:ext cx="11018520" cy="384048"/>
          </a:xfrm>
          <a:prstGeom prst="rect">
            <a:avLst/>
          </a:prstGeom>
          <a:noFill/>
        </p:spPr>
        <p:txBody>
          <a:bodyPr wrap="square" lIns="0" rIns="0" tIns="0" bIns="0" anchor="t">
            <a:spAutoFit/>
          </a:bodyPr>
          <a:lstStyle/>
          <a:p>
            <a:pPr algn="l">
              <a:lnSpc>
                <a:spcPct val="110000"/>
              </a:lnSpc>
              <a:spcBef>
                <a:spcPts val="0"/>
              </a:spcBef>
              <a:spcAft>
                <a:spcPts val="0"/>
              </a:spcAft>
            </a:pPr>
            <a:r>
              <a:rPr sz="1530" b="1">
                <a:solidFill>
                  <a:srgbClr val="5AC8FF"/>
                </a:solidFill>
                <a:latin typeface="Aptos"/>
              </a:rPr>
              <a:t>True reading = reading taken − zero error</a:t>
            </a:r>
          </a:p>
        </p:txBody>
      </p:sp>
      <p:sp>
        <p:nvSpPr>
          <p:cNvPr id="11" name="Rectangle 10"/>
          <p:cNvSpPr/>
          <p:nvPr/>
        </p:nvSpPr>
        <p:spPr>
          <a:xfrm>
            <a:off x="594360" y="4050791"/>
            <a:ext cx="11018520" cy="7772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4197096"/>
            <a:ext cx="10689336" cy="48463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Screw gauge: L.C. = Pitch / N. Same zero-error rule.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5AD6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FOR THE EXAM</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Four lines to write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53</a:t>
            </a:r>
          </a:p>
        </p:txBody>
      </p:sp>
      <p:sp>
        <p:nvSpPr>
          <p:cNvPr id="7" name="TextBox 6"/>
          <p:cNvSpPr txBox="1"/>
          <p:nvPr/>
        </p:nvSpPr>
        <p:spPr>
          <a:xfrm>
            <a:off x="594360" y="1078992"/>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Vernier least count = 1 M.S.D. − 1 V.S.D.</a:t>
            </a:r>
          </a:p>
        </p:txBody>
      </p:sp>
      <p:sp>
        <p:nvSpPr>
          <p:cNvPr id="8" name="TextBox 7"/>
          <p:cNvSpPr txBox="1"/>
          <p:nvPr/>
        </p:nvSpPr>
        <p:spPr>
          <a:xfrm>
            <a:off x="594360" y="1719072"/>
            <a:ext cx="11018520" cy="54864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Reading taken = M.S.R. + (matching vernier mark × L.C.)</a:t>
            </a:r>
          </a:p>
        </p:txBody>
      </p:sp>
      <p:sp>
        <p:nvSpPr>
          <p:cNvPr id="9" name="TextBox 8"/>
          <p:cNvSpPr txBox="1"/>
          <p:nvPr/>
        </p:nvSpPr>
        <p:spPr>
          <a:xfrm>
            <a:off x="594360" y="235915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True reading = reading taken − zero error</a:t>
            </a:r>
          </a:p>
        </p:txBody>
      </p:sp>
      <p:sp>
        <p:nvSpPr>
          <p:cNvPr id="10" name="TextBox 9"/>
          <p:cNvSpPr txBox="1"/>
          <p:nvPr/>
        </p:nvSpPr>
        <p:spPr>
          <a:xfrm>
            <a:off x="594360" y="299923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Screw gauge least count = Pitch / (round marks)</a:t>
            </a:r>
          </a:p>
        </p:txBody>
      </p:sp>
      <p:sp>
        <p:nvSpPr>
          <p:cNvPr id="11" name="Rectangle 10"/>
          <p:cNvSpPr/>
          <p:nvPr/>
        </p:nvSpPr>
        <p:spPr>
          <a:xfrm>
            <a:off x="594360" y="3730752"/>
            <a:ext cx="11018520" cy="777240"/>
          </a:xfrm>
          <a:prstGeom prst="rect">
            <a:avLst/>
          </a:prstGeom>
          <a:solidFill>
            <a:srgbClr val="FFF8E1"/>
          </a:solidFill>
          <a:ln w="19050">
            <a:solidFill>
              <a:srgbClr val="DA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58952" y="3877056"/>
            <a:ext cx="10689336" cy="484632"/>
          </a:xfrm>
          <a:prstGeom prst="rect">
            <a:avLst/>
          </a:prstGeom>
          <a:noFill/>
        </p:spPr>
        <p:txBody>
          <a:bodyPr wrap="square" lIns="0" rIns="0" tIns="0" bIns="0" anchor="ctr">
            <a:spAutoFit/>
          </a:bodyPr>
          <a:lstStyle/>
          <a:p>
            <a:pPr algn="ctr">
              <a:lnSpc>
                <a:spcPct val="115000"/>
              </a:lnSpc>
              <a:spcBef>
                <a:spcPts val="0"/>
              </a:spcBef>
              <a:spcAft>
                <a:spcPts val="0"/>
              </a:spcAft>
            </a:pPr>
            <a:r>
              <a:rPr sz="1440" b="1">
                <a:solidFill>
                  <a:srgbClr val="081E3F"/>
                </a:solidFill>
                <a:latin typeface="Aptos"/>
              </a:rPr>
              <a:t>These four lines are enough for most board questions.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B0B6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ROUGH WORK</a:t>
            </a:r>
          </a:p>
        </p:txBody>
      </p:sp>
      <p:sp>
        <p:nvSpPr>
          <p:cNvPr id="4" name="TextBox 3"/>
          <p:cNvSpPr txBox="1"/>
          <p:nvPr/>
        </p:nvSpPr>
        <p:spPr>
          <a:xfrm>
            <a:off x="594360" y="310896"/>
            <a:ext cx="11018520" cy="457200"/>
          </a:xfrm>
          <a:prstGeom prst="rect">
            <a:avLst/>
          </a:prstGeom>
          <a:noFill/>
        </p:spPr>
        <p:txBody>
          <a:bodyPr wrap="square" lIns="0" rIns="0" tIns="0" bIns="0" anchor="t">
            <a:spAutoFit/>
          </a:bodyPr>
          <a:lstStyle/>
          <a:p>
            <a:pPr algn="l">
              <a:lnSpc>
                <a:spcPct val="110000"/>
              </a:lnSpc>
              <a:spcBef>
                <a:spcPts val="0"/>
              </a:spcBef>
              <a:spcAft>
                <a:spcPts val="0"/>
              </a:spcAft>
            </a:pPr>
            <a:r>
              <a:rPr sz="1980" b="1">
                <a:solidFill>
                  <a:srgbClr val="FFD646"/>
                </a:solidFill>
                <a:latin typeface="Aptos"/>
              </a:rPr>
              <a:t>Rough work  /  extra work</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265176"/>
          </a:xfrm>
          <a:prstGeom prst="rect">
            <a:avLst/>
          </a:prstGeom>
          <a:solidFill>
            <a:srgbClr val="FF9E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45720"/>
            <a:ext cx="8229600" cy="182880"/>
          </a:xfrm>
          <a:prstGeom prst="rect">
            <a:avLst/>
          </a:prstGeom>
          <a:noFill/>
        </p:spPr>
        <p:txBody>
          <a:bodyPr wrap="square" lIns="0" rIns="0" tIns="0" bIns="0" anchor="t">
            <a:spAutoFit/>
          </a:bodyPr>
          <a:lstStyle/>
          <a:p>
            <a:pPr algn="l">
              <a:lnSpc>
                <a:spcPct val="110000"/>
              </a:lnSpc>
              <a:spcBef>
                <a:spcPts val="0"/>
              </a:spcBef>
              <a:spcAft>
                <a:spcPts val="0"/>
              </a:spcAft>
            </a:pPr>
            <a:r>
              <a:rPr sz="720" b="1">
                <a:solidFill>
                  <a:srgbClr val="FFFFFF"/>
                </a:solidFill>
                <a:latin typeface="Aptos"/>
              </a:rPr>
              <a:t>PRACTICE</a:t>
            </a:r>
          </a:p>
        </p:txBody>
      </p:sp>
      <p:sp>
        <p:nvSpPr>
          <p:cNvPr id="4" name="TextBox 3"/>
          <p:cNvSpPr txBox="1"/>
          <p:nvPr/>
        </p:nvSpPr>
        <p:spPr>
          <a:xfrm>
            <a:off x="594360" y="310896"/>
            <a:ext cx="11018520" cy="658368"/>
          </a:xfrm>
          <a:prstGeom prst="rect">
            <a:avLst/>
          </a:prstGeom>
          <a:noFill/>
        </p:spPr>
        <p:txBody>
          <a:bodyPr wrap="square" lIns="0" rIns="0" tIns="0" bIns="0" anchor="t">
            <a:spAutoFit/>
          </a:bodyPr>
          <a:lstStyle/>
          <a:p>
            <a:pPr algn="l">
              <a:lnSpc>
                <a:spcPct val="110000"/>
              </a:lnSpc>
              <a:spcBef>
                <a:spcPts val="0"/>
              </a:spcBef>
              <a:spcAft>
                <a:spcPts val="0"/>
              </a:spcAft>
            </a:pPr>
            <a:r>
              <a:rPr sz="2340" b="1">
                <a:solidFill>
                  <a:srgbClr val="FFD646"/>
                </a:solidFill>
                <a:latin typeface="Aptos"/>
              </a:rPr>
              <a:t>Try these at home</a:t>
            </a:r>
          </a:p>
        </p:txBody>
      </p:sp>
      <p:sp>
        <p:nvSpPr>
          <p:cNvPr id="5" name="Rectangle 4"/>
          <p:cNvSpPr/>
          <p:nvPr/>
        </p:nvSpPr>
        <p:spPr>
          <a:xfrm>
            <a:off x="594360" y="1005840"/>
            <a:ext cx="11018520" cy="16459"/>
          </a:xfrm>
          <a:prstGeom prst="rect">
            <a:avLst/>
          </a:prstGeom>
          <a:solidFill>
            <a:srgbClr val="484E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01400" y="6510528"/>
            <a:ext cx="731520" cy="228600"/>
          </a:xfrm>
          <a:prstGeom prst="rect">
            <a:avLst/>
          </a:prstGeom>
          <a:noFill/>
        </p:spPr>
        <p:txBody>
          <a:bodyPr wrap="square" lIns="0" rIns="0" tIns="0" bIns="0" anchor="t">
            <a:spAutoFit/>
          </a:bodyPr>
          <a:lstStyle/>
          <a:p>
            <a:pPr algn="r">
              <a:lnSpc>
                <a:spcPct val="110000"/>
              </a:lnSpc>
              <a:spcBef>
                <a:spcPts val="0"/>
              </a:spcBef>
              <a:spcAft>
                <a:spcPts val="0"/>
              </a:spcAft>
            </a:pPr>
            <a:r>
              <a:rPr sz="990" b="1">
                <a:solidFill>
                  <a:srgbClr val="B0B6C0"/>
                </a:solidFill>
                <a:latin typeface="Aptos"/>
              </a:rPr>
              <a:t>55</a:t>
            </a:r>
          </a:p>
        </p:txBody>
      </p:sp>
      <p:sp>
        <p:nvSpPr>
          <p:cNvPr id="7" name="TextBox 6"/>
          <p:cNvSpPr txBox="1"/>
          <p:nvPr/>
        </p:nvSpPr>
        <p:spPr>
          <a:xfrm>
            <a:off x="594360" y="1078992"/>
            <a:ext cx="11018520" cy="59436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1. 50 vernier marks match 49 main marks. 1 M.S.D. = 1 mm. Find least count.</a:t>
            </a:r>
          </a:p>
        </p:txBody>
      </p:sp>
      <p:sp>
        <p:nvSpPr>
          <p:cNvPr id="8" name="TextBox 7"/>
          <p:cNvSpPr txBox="1"/>
          <p:nvPr/>
        </p:nvSpPr>
        <p:spPr>
          <a:xfrm>
            <a:off x="594360" y="181051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2. M.S.R. = 4.2 cm, V.S.R. = 7, L.C. = 0.01 cm, zero error = +0.03 cm. Find true length.</a:t>
            </a:r>
          </a:p>
        </p:txBody>
      </p:sp>
      <p:sp>
        <p:nvSpPr>
          <p:cNvPr id="9" name="TextBox 8"/>
          <p:cNvSpPr txBox="1"/>
          <p:nvPr/>
        </p:nvSpPr>
        <p:spPr>
          <a:xfrm>
            <a:off x="594360" y="2587752"/>
            <a:ext cx="11018520" cy="64008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3. Pitch = 1 mm, round scale has 100 marks. Find least count in mm and in cm.</a:t>
            </a:r>
          </a:p>
        </p:txBody>
      </p:sp>
      <p:sp>
        <p:nvSpPr>
          <p:cNvPr id="10" name="TextBox 9"/>
          <p:cNvSpPr txBox="1"/>
          <p:nvPr/>
        </p:nvSpPr>
        <p:spPr>
          <a:xfrm>
            <a:off x="594360" y="3364991"/>
            <a:ext cx="11018520" cy="685800"/>
          </a:xfrm>
          <a:prstGeom prst="rect">
            <a:avLst/>
          </a:prstGeom>
          <a:noFill/>
        </p:spPr>
        <p:txBody>
          <a:bodyPr wrap="square" lIns="0" rIns="0" tIns="0" bIns="0" anchor="t">
            <a:spAutoFit/>
          </a:bodyPr>
          <a:lstStyle/>
          <a:p>
            <a:pPr algn="l">
              <a:lnSpc>
                <a:spcPct val="110000"/>
              </a:lnSpc>
              <a:spcBef>
                <a:spcPts val="0"/>
              </a:spcBef>
              <a:spcAft>
                <a:spcPts val="0"/>
              </a:spcAft>
            </a:pPr>
            <a:r>
              <a:rPr sz="1700" b="0">
                <a:solidFill>
                  <a:srgbClr val="FFFFFF"/>
                </a:solidFill>
                <a:latin typeface="Aptos"/>
              </a:rPr>
              <a:t>4. Ends closed. Round reading = −3, L.C. = 0.01 mm. Write zero error and zero correction.</a:t>
            </a:r>
          </a:p>
        </p:txBody>
      </p:sp>
      <p:sp>
        <p:nvSpPr>
          <p:cNvPr id="11" name="TextBox 10"/>
          <p:cNvSpPr txBox="1"/>
          <p:nvPr/>
        </p:nvSpPr>
        <p:spPr>
          <a:xfrm>
            <a:off x="594360" y="4279392"/>
            <a:ext cx="11018520" cy="502920"/>
          </a:xfrm>
          <a:prstGeom prst="rect">
            <a:avLst/>
          </a:prstGeom>
          <a:noFill/>
        </p:spPr>
        <p:txBody>
          <a:bodyPr wrap="square" lIns="0" rIns="0" tIns="0" bIns="0" anchor="t">
            <a:spAutoFit/>
          </a:bodyPr>
          <a:lstStyle/>
          <a:p>
            <a:pPr algn="l">
              <a:lnSpc>
                <a:spcPct val="110000"/>
              </a:lnSpc>
              <a:spcBef>
                <a:spcPts val="0"/>
              </a:spcBef>
              <a:spcAft>
                <a:spcPts val="0"/>
              </a:spcAft>
            </a:pPr>
            <a:r>
              <a:rPr sz="1600" b="0">
                <a:solidFill>
                  <a:srgbClr val="FF9E40"/>
                </a:solidFill>
                <a:latin typeface="Aptos"/>
              </a:rPr>
              <a:t>Units chapter is finished. Next chapter: Motion in a Straight Line.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