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and binomial warmup, then the feel of a vector.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order as the Vector 01 class notes.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35508" y="516636"/>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D2D2DC"/>
                </a:solidFill>
                <a:latin typeface="Arial Black"/>
              </a:rPr>
              <a:t>EXCELLENCE</a:t>
            </a:r>
          </a:p>
        </p:txBody>
      </p:sp>
      <p:sp>
        <p:nvSpPr>
          <p:cNvPr id="3" name="TextBox 2"/>
          <p:cNvSpPr txBox="1"/>
          <p:nvPr/>
        </p:nvSpPr>
        <p:spPr>
          <a:xfrm>
            <a:off x="594360" y="475488"/>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FFD646"/>
                </a:solidFill>
                <a:latin typeface="Arial Black"/>
              </a:rPr>
              <a:t>EXCELLENCE</a:t>
            </a:r>
          </a:p>
        </p:txBody>
      </p:sp>
      <p:sp>
        <p:nvSpPr>
          <p:cNvPr id="4" name="TextBox 3"/>
          <p:cNvSpPr txBox="1"/>
          <p:nvPr/>
        </p:nvSpPr>
        <p:spPr>
          <a:xfrm>
            <a:off x="635508" y="1540763"/>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5A5A64"/>
                </a:solidFill>
                <a:latin typeface="Aptos"/>
              </a:rPr>
              <a:t>CLASS 11   -   2026-27</a:t>
            </a:r>
          </a:p>
        </p:txBody>
      </p:sp>
      <p:sp>
        <p:nvSpPr>
          <p:cNvPr id="5" name="TextBox 4"/>
          <p:cNvSpPr txBox="1"/>
          <p:nvPr/>
        </p:nvSpPr>
        <p:spPr>
          <a:xfrm>
            <a:off x="594360" y="1499616"/>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FFFFFF"/>
                </a:solidFill>
                <a:latin typeface="Aptos"/>
              </a:rPr>
              <a:t>CLASS 11   -   2026-27</a:t>
            </a:r>
          </a:p>
        </p:txBody>
      </p:sp>
      <p:sp>
        <p:nvSpPr>
          <p:cNvPr id="6" name="Rectangle 5"/>
          <p:cNvSpPr/>
          <p:nvPr/>
        </p:nvSpPr>
        <p:spPr>
          <a:xfrm>
            <a:off x="3794760" y="2084831"/>
            <a:ext cx="4572000" cy="25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74519" y="2468880"/>
            <a:ext cx="8412480" cy="2148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74519" y="3127248"/>
            <a:ext cx="8412480" cy="1490472"/>
          </a:xfrm>
          <a:prstGeom prst="roundRect">
            <a:avLst/>
          </a:prstGeom>
          <a:solidFill>
            <a:srgbClr val="000000"/>
          </a:solidFill>
          <a:ln w="15875">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59" y="2615184"/>
            <a:ext cx="16459" cy="38404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2596896"/>
            <a:ext cx="411480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Physics</a:t>
            </a:r>
          </a:p>
        </p:txBody>
      </p:sp>
      <p:sp>
        <p:nvSpPr>
          <p:cNvPr id="11" name="TextBox 10"/>
          <p:cNvSpPr txBox="1"/>
          <p:nvPr/>
        </p:nvSpPr>
        <p:spPr>
          <a:xfrm>
            <a:off x="6080759" y="2596896"/>
            <a:ext cx="420624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Vector 01</a:t>
            </a:r>
          </a:p>
        </p:txBody>
      </p:sp>
      <p:sp>
        <p:nvSpPr>
          <p:cNvPr id="12" name="TextBox 11"/>
          <p:cNvSpPr txBox="1"/>
          <p:nvPr/>
        </p:nvSpPr>
        <p:spPr>
          <a:xfrm>
            <a:off x="1874519" y="3401568"/>
            <a:ext cx="8412480" cy="566928"/>
          </a:xfrm>
          <a:prstGeom prst="rect">
            <a:avLst/>
          </a:prstGeom>
          <a:noFill/>
        </p:spPr>
        <p:txBody>
          <a:bodyPr wrap="square" lIns="0" rIns="0" tIns="0" bIns="0" anchor="t">
            <a:spAutoFit/>
          </a:bodyPr>
          <a:lstStyle/>
          <a:p>
            <a:pPr algn="ctr">
              <a:lnSpc>
                <a:spcPct val="110000"/>
              </a:lnSpc>
              <a:spcBef>
                <a:spcPts val="0"/>
              </a:spcBef>
              <a:spcAft>
                <a:spcPts val="0"/>
              </a:spcAft>
            </a:pPr>
            <a:r>
              <a:rPr sz="3200" b="1">
                <a:solidFill>
                  <a:srgbClr val="FFFFFF"/>
                </a:solidFill>
                <a:latin typeface="Georgia"/>
              </a:rPr>
              <a:t>Vectors</a:t>
            </a:r>
          </a:p>
        </p:txBody>
      </p:sp>
      <p:sp>
        <p:nvSpPr>
          <p:cNvPr id="13" name="TextBox 12"/>
          <p:cNvSpPr txBox="1"/>
          <p:nvPr/>
        </p:nvSpPr>
        <p:spPr>
          <a:xfrm>
            <a:off x="1874519" y="3950208"/>
            <a:ext cx="8412480" cy="365760"/>
          </a:xfrm>
          <a:prstGeom prst="rect">
            <a:avLst/>
          </a:prstGeom>
          <a:noFill/>
        </p:spPr>
        <p:txBody>
          <a:bodyPr wrap="square" lIns="0" rIns="0" tIns="0" bIns="0" anchor="t">
            <a:spAutoFit/>
          </a:bodyPr>
          <a:lstStyle/>
          <a:p>
            <a:pPr algn="ctr">
              <a:lnSpc>
                <a:spcPct val="110000"/>
              </a:lnSpc>
              <a:spcBef>
                <a:spcPts val="0"/>
              </a:spcBef>
              <a:spcAft>
                <a:spcPts val="0"/>
              </a:spcAft>
            </a:pPr>
            <a:r>
              <a:rPr sz="2000" b="1">
                <a:solidFill>
                  <a:srgbClr val="FFD646"/>
                </a:solidFill>
                <a:latin typeface="Aptos"/>
              </a:rPr>
              <a:t>Feel of a Vector</a:t>
            </a:r>
          </a:p>
        </p:txBody>
      </p:sp>
      <p:sp>
        <p:nvSpPr>
          <p:cNvPr id="14" name="TextBox 13"/>
          <p:cNvSpPr txBox="1"/>
          <p:nvPr/>
        </p:nvSpPr>
        <p:spPr>
          <a:xfrm>
            <a:off x="594360" y="4828032"/>
            <a:ext cx="1101852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FFFFFF"/>
                </a:solidFill>
                <a:latin typeface="Aptos"/>
              </a:rPr>
              <a:t>By - Excellence Programme</a:t>
            </a:r>
          </a:p>
        </p:txBody>
      </p:sp>
      <p:sp>
        <p:nvSpPr>
          <p:cNvPr id="15" name="TextBox 14"/>
          <p:cNvSpPr txBox="1"/>
          <p:nvPr/>
        </p:nvSpPr>
        <p:spPr>
          <a:xfrm>
            <a:off x="594360" y="5303520"/>
            <a:ext cx="11018520" cy="292608"/>
          </a:xfrm>
          <a:prstGeom prst="rect">
            <a:avLst/>
          </a:prstGeom>
          <a:noFill/>
        </p:spPr>
        <p:txBody>
          <a:bodyPr wrap="square" lIns="0" rIns="0" tIns="0" bIns="0" anchor="t">
            <a:spAutoFit/>
          </a:bodyPr>
          <a:lstStyle/>
          <a:p>
            <a:pPr algn="ctr">
              <a:lnSpc>
                <a:spcPct val="110000"/>
              </a:lnSpc>
              <a:spcBef>
                <a:spcPts val="0"/>
              </a:spcBef>
              <a:spcAft>
                <a:spcPts val="0"/>
              </a:spcAft>
            </a:pPr>
            <a:r>
              <a:rPr sz="1800" b="1">
                <a:solidFill>
                  <a:srgbClr val="B0B6C0"/>
                </a:solidFill>
                <a:latin typeface="Aptos"/>
              </a:rPr>
              <a:t>29 September 2026</a:t>
            </a:r>
          </a:p>
        </p:txBody>
      </p:sp>
      <p:sp>
        <p:nvSpPr>
          <p:cNvPr id="16" name="TextBox 1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94360" y="320040"/>
            <a:ext cx="11018520" cy="585216"/>
          </a:xfrm>
          <a:prstGeom prst="rect">
            <a:avLst/>
          </a:prstGeom>
          <a:noFill/>
        </p:spPr>
        <p:txBody>
          <a:bodyPr wrap="square" lIns="0" rIns="0" tIns="0" bIns="0" anchor="t">
            <a:spAutoFit/>
          </a:bodyPr>
          <a:lstStyle/>
          <a:p>
            <a:pPr algn="l">
              <a:lnSpc>
                <a:spcPct val="110000"/>
              </a:lnSpc>
              <a:spcBef>
                <a:spcPts val="0"/>
              </a:spcBef>
              <a:spcAft>
                <a:spcPts val="0"/>
              </a:spcAft>
            </a:pPr>
            <a:r>
              <a:rPr sz="3200" b="1">
                <a:solidFill>
                  <a:srgbClr val="FFD646"/>
                </a:solidFill>
                <a:latin typeface="Aptos"/>
              </a:rPr>
              <a:t>Topics to be covered</a:t>
            </a:r>
          </a:p>
        </p:txBody>
      </p:sp>
      <p:sp>
        <p:nvSpPr>
          <p:cNvPr id="3" name="Rectangle 2"/>
          <p:cNvSpPr/>
          <p:nvPr/>
        </p:nvSpPr>
        <p:spPr>
          <a:xfrm>
            <a:off x="594360" y="914400"/>
            <a:ext cx="3108960" cy="32004"/>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005840"/>
            <a:ext cx="640080" cy="45720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D646"/>
                </a:solidFill>
                <a:latin typeface="Aptos"/>
              </a:rPr>
              <a:t>01</a:t>
            </a:r>
          </a:p>
        </p:txBody>
      </p:sp>
      <p:sp>
        <p:nvSpPr>
          <p:cNvPr id="5" name="TextBox 4"/>
          <p:cNvSpPr txBox="1"/>
          <p:nvPr/>
        </p:nvSpPr>
        <p:spPr>
          <a:xfrm>
            <a:off x="1417320" y="1005840"/>
            <a:ext cx="10195560" cy="603504"/>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Log formulae and loudness questions</a:t>
            </a:r>
          </a:p>
        </p:txBody>
      </p:sp>
      <p:sp>
        <p:nvSpPr>
          <p:cNvPr id="6" name="TextBox 5"/>
          <p:cNvSpPr txBox="1"/>
          <p:nvPr/>
        </p:nvSpPr>
        <p:spPr>
          <a:xfrm>
            <a:off x="594360" y="1719072"/>
            <a:ext cx="640080" cy="45720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D646"/>
                </a:solidFill>
                <a:latin typeface="Aptos"/>
              </a:rPr>
              <a:t>02</a:t>
            </a:r>
          </a:p>
        </p:txBody>
      </p:sp>
      <p:sp>
        <p:nvSpPr>
          <p:cNvPr id="7" name="TextBox 6"/>
          <p:cNvSpPr txBox="1"/>
          <p:nvPr/>
        </p:nvSpPr>
        <p:spPr>
          <a:xfrm>
            <a:off x="1417320" y="1719072"/>
            <a:ext cx="10195560" cy="603504"/>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Decaying current</a:t>
            </a:r>
          </a:p>
        </p:txBody>
      </p:sp>
      <p:sp>
        <p:nvSpPr>
          <p:cNvPr id="8" name="TextBox 7"/>
          <p:cNvSpPr txBox="1"/>
          <p:nvPr/>
        </p:nvSpPr>
        <p:spPr>
          <a:xfrm>
            <a:off x="594360" y="2432304"/>
            <a:ext cx="640080" cy="45720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D646"/>
                </a:solidFill>
                <a:latin typeface="Aptos"/>
              </a:rPr>
              <a:t>03</a:t>
            </a:r>
          </a:p>
        </p:txBody>
      </p:sp>
      <p:sp>
        <p:nvSpPr>
          <p:cNvPr id="9" name="TextBox 8"/>
          <p:cNvSpPr txBox="1"/>
          <p:nvPr/>
        </p:nvSpPr>
        <p:spPr>
          <a:xfrm>
            <a:off x="1417320" y="2432304"/>
            <a:ext cx="10195560" cy="603504"/>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Binomial approximation when 1 ≫ x</a:t>
            </a:r>
          </a:p>
        </p:txBody>
      </p:sp>
      <p:sp>
        <p:nvSpPr>
          <p:cNvPr id="10" name="TextBox 9"/>
          <p:cNvSpPr txBox="1"/>
          <p:nvPr/>
        </p:nvSpPr>
        <p:spPr>
          <a:xfrm>
            <a:off x="594360" y="3145536"/>
            <a:ext cx="640080" cy="45720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D646"/>
                </a:solidFill>
                <a:latin typeface="Aptos"/>
              </a:rPr>
              <a:t>04</a:t>
            </a:r>
          </a:p>
        </p:txBody>
      </p:sp>
      <p:sp>
        <p:nvSpPr>
          <p:cNvPr id="11" name="TextBox 10"/>
          <p:cNvSpPr txBox="1"/>
          <p:nvPr/>
        </p:nvSpPr>
        <p:spPr>
          <a:xfrm>
            <a:off x="1417320" y="3145536"/>
            <a:ext cx="10195560" cy="603504"/>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Physical quantity: scalar and vector</a:t>
            </a:r>
          </a:p>
        </p:txBody>
      </p:sp>
      <p:sp>
        <p:nvSpPr>
          <p:cNvPr id="12" name="TextBox 11"/>
          <p:cNvSpPr txBox="1"/>
          <p:nvPr/>
        </p:nvSpPr>
        <p:spPr>
          <a:xfrm>
            <a:off x="594360" y="3858768"/>
            <a:ext cx="640080" cy="45720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D646"/>
                </a:solidFill>
                <a:latin typeface="Aptos"/>
              </a:rPr>
              <a:t>05</a:t>
            </a:r>
          </a:p>
        </p:txBody>
      </p:sp>
      <p:sp>
        <p:nvSpPr>
          <p:cNvPr id="13" name="TextBox 12"/>
          <p:cNvSpPr txBox="1"/>
          <p:nvPr/>
        </p:nvSpPr>
        <p:spPr>
          <a:xfrm>
            <a:off x="1417320" y="3858768"/>
            <a:ext cx="10195560" cy="603504"/>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Writing a vector as magnitude times unit vector</a:t>
            </a:r>
          </a:p>
        </p:txBody>
      </p:sp>
      <p:sp>
        <p:nvSpPr>
          <p:cNvPr id="14" name="TextBox 13"/>
          <p:cNvSpPr txBox="1"/>
          <p:nvPr/>
        </p:nvSpPr>
        <p:spPr>
          <a:xfrm>
            <a:off x="594360" y="4572000"/>
            <a:ext cx="640080" cy="45720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D646"/>
                </a:solidFill>
                <a:latin typeface="Aptos"/>
              </a:rPr>
              <a:t>06</a:t>
            </a:r>
          </a:p>
        </p:txBody>
      </p:sp>
      <p:sp>
        <p:nvSpPr>
          <p:cNvPr id="15" name="TextBox 14"/>
          <p:cNvSpPr txBox="1"/>
          <p:nvPr/>
        </p:nvSpPr>
        <p:spPr>
          <a:xfrm>
            <a:off x="1417320" y="4572000"/>
            <a:ext cx="10195560" cy="603504"/>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Angle between two vectors</a:t>
            </a:r>
          </a:p>
        </p:txBody>
      </p:sp>
      <p:sp>
        <p:nvSpPr>
          <p:cNvPr id="16" name="TextBox 15"/>
          <p:cNvSpPr txBox="1"/>
          <p:nvPr/>
        </p:nvSpPr>
        <p:spPr>
          <a:xfrm>
            <a:off x="594360" y="5285231"/>
            <a:ext cx="640080" cy="45720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D646"/>
                </a:solidFill>
                <a:latin typeface="Aptos"/>
              </a:rPr>
              <a:t>07</a:t>
            </a:r>
          </a:p>
        </p:txBody>
      </p:sp>
      <p:sp>
        <p:nvSpPr>
          <p:cNvPr id="17" name="TextBox 16"/>
          <p:cNvSpPr txBox="1"/>
          <p:nvPr/>
        </p:nvSpPr>
        <p:spPr>
          <a:xfrm>
            <a:off x="1417320" y="5285231"/>
            <a:ext cx="10195560" cy="603504"/>
          </a:xfrm>
          <a:prstGeom prst="rect">
            <a:avLst/>
          </a:prstGeom>
          <a:noFill/>
        </p:spPr>
        <p:txBody>
          <a:bodyPr wrap="square" lIns="0" rIns="0" tIns="0" bIns="0" anchor="t">
            <a:spAutoFit/>
          </a:bodyPr>
          <a:lstStyle/>
          <a:p>
            <a:pPr algn="l">
              <a:lnSpc>
                <a:spcPct val="110000"/>
              </a:lnSpc>
              <a:spcBef>
                <a:spcPts val="0"/>
              </a:spcBef>
              <a:spcAft>
                <a:spcPts val="0"/>
              </a:spcAft>
            </a:pPr>
            <a:r>
              <a:rPr sz="1800" b="0">
                <a:solidFill>
                  <a:srgbClr val="FFFFFF"/>
                </a:solidFill>
                <a:latin typeface="Aptos"/>
              </a:rPr>
              <a:t>Types of vectors</a:t>
            </a:r>
          </a:p>
        </p:txBody>
      </p:sp>
      <p:sp>
        <p:nvSpPr>
          <p:cNvPr id="18" name="TextBox 17"/>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Log lock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a:t>
            </a:r>
          </a:p>
        </p:txBody>
      </p:sp>
      <p:sp>
        <p:nvSpPr>
          <p:cNvPr id="7" name="Rectangle 6"/>
          <p:cNvSpPr/>
          <p:nvPr/>
        </p:nvSpPr>
        <p:spPr>
          <a:xfrm>
            <a:off x="594360" y="1078992"/>
            <a:ext cx="11018520" cy="713232"/>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225295"/>
            <a:ext cx="10689336" cy="420624"/>
          </a:xfrm>
          <a:prstGeom prst="rect">
            <a:avLst/>
          </a:prstGeom>
          <a:noFill/>
        </p:spPr>
        <p:txBody>
          <a:bodyPr wrap="square" lIns="0" rIns="0" tIns="0" bIns="0" anchor="ctr">
            <a:spAutoFit/>
          </a:bodyPr>
          <a:lstStyle/>
          <a:p>
            <a:pPr algn="ctr">
              <a:lnSpc>
                <a:spcPct val="115000"/>
              </a:lnSpc>
              <a:spcBef>
                <a:spcPts val="0"/>
              </a:spcBef>
              <a:spcAft>
                <a:spcPts val="0"/>
              </a:spcAft>
            </a:pPr>
            <a:r>
              <a:rPr sz="1980" b="1">
                <a:solidFill>
                  <a:srgbClr val="081E3F"/>
                </a:solidFill>
                <a:latin typeface="Aptos"/>
              </a:rPr>
              <a:t>log (xⁿ) = n log x</a:t>
            </a:r>
          </a:p>
        </p:txBody>
      </p:sp>
      <p:sp>
        <p:nvSpPr>
          <p:cNvPr id="9" name="Rectangle 8"/>
          <p:cNvSpPr/>
          <p:nvPr/>
        </p:nvSpPr>
        <p:spPr>
          <a:xfrm>
            <a:off x="594360" y="1920240"/>
            <a:ext cx="11018520" cy="713232"/>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066544"/>
            <a:ext cx="10689336" cy="420624"/>
          </a:xfrm>
          <a:prstGeom prst="rect">
            <a:avLst/>
          </a:prstGeom>
          <a:noFill/>
        </p:spPr>
        <p:txBody>
          <a:bodyPr wrap="square" lIns="0" rIns="0" tIns="0" bIns="0" anchor="ctr">
            <a:spAutoFit/>
          </a:bodyPr>
          <a:lstStyle/>
          <a:p>
            <a:pPr algn="ctr">
              <a:lnSpc>
                <a:spcPct val="115000"/>
              </a:lnSpc>
              <a:spcBef>
                <a:spcPts val="0"/>
              </a:spcBef>
              <a:spcAft>
                <a:spcPts val="0"/>
              </a:spcAft>
            </a:pPr>
            <a:r>
              <a:rPr sz="1800" b="1">
                <a:solidFill>
                  <a:srgbClr val="081E3F"/>
                </a:solidFill>
                <a:latin typeface="Aptos"/>
              </a:rPr>
              <a:t>log (x to the 1/m) = (1/m) log x</a:t>
            </a:r>
          </a:p>
        </p:txBody>
      </p:sp>
      <p:sp>
        <p:nvSpPr>
          <p:cNvPr id="11" name="Rectangle 10"/>
          <p:cNvSpPr/>
          <p:nvPr/>
        </p:nvSpPr>
        <p:spPr>
          <a:xfrm>
            <a:off x="594360" y="2761488"/>
            <a:ext cx="11018520" cy="749808"/>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907792"/>
            <a:ext cx="10689336" cy="457199"/>
          </a:xfrm>
          <a:prstGeom prst="rect">
            <a:avLst/>
          </a:prstGeom>
          <a:noFill/>
        </p:spPr>
        <p:txBody>
          <a:bodyPr wrap="square" lIns="0" rIns="0" tIns="0" bIns="0" anchor="ctr">
            <a:spAutoFit/>
          </a:bodyPr>
          <a:lstStyle/>
          <a:p>
            <a:pPr algn="ctr">
              <a:lnSpc>
                <a:spcPct val="115000"/>
              </a:lnSpc>
              <a:spcBef>
                <a:spcPts val="0"/>
              </a:spcBef>
              <a:spcAft>
                <a:spcPts val="0"/>
              </a:spcAft>
            </a:pPr>
            <a:r>
              <a:rPr sz="1620" b="1">
                <a:solidFill>
                  <a:srgbClr val="081E3F"/>
                </a:solidFill>
                <a:latin typeface="Aptos"/>
              </a:rPr>
              <a:t>log(xy) = log x + log y      log(x/y) = log x - log y</a:t>
            </a:r>
          </a:p>
        </p:txBody>
      </p:sp>
      <p:sp>
        <p:nvSpPr>
          <p:cNvPr id="13" name="TextBox 12"/>
          <p:cNvSpPr txBox="1"/>
          <p:nvPr/>
        </p:nvSpPr>
        <p:spPr>
          <a:xfrm>
            <a:off x="594360" y="37307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log_b a = log a / log b, taken in the same base.   log 1 = 0.   b⁰ = 1.</a:t>
            </a:r>
          </a:p>
        </p:txBody>
      </p:sp>
      <p:sp>
        <p:nvSpPr>
          <p:cNvPr id="14" name="TextBox 13"/>
          <p:cNvSpPr txBox="1"/>
          <p:nvPr/>
        </p:nvSpPr>
        <p:spPr>
          <a:xfrm>
            <a:off x="594360" y="43708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Keep the base written. Change of base is a fraction of two logs, not a product.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log base 8 of 16</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9E40"/>
                </a:solidFill>
                <a:latin typeface="Aptos"/>
              </a:rPr>
              <a:t>Find log base 8 of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log base 8 of 16</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Step 1:  16 = 2⁴ and 8 = 2³</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log8(16) = log(2⁴) / log(2³) = 4/3</a:t>
            </a:r>
          </a:p>
        </p:txBody>
      </p:sp>
      <p:sp>
        <p:nvSpPr>
          <p:cNvPr id="9" name="TextBox 8"/>
          <p:cNvSpPr txBox="1"/>
          <p:nvPr/>
        </p:nvSpPr>
        <p:spPr>
          <a:xfrm>
            <a:off x="594360" y="21762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log base 27 of 3</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9E40"/>
                </a:solidFill>
                <a:latin typeface="Aptos"/>
              </a:rPr>
              <a:t>Find log base 27 of 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log base 27 of 3</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27 = 3³, so log27(3) = log(3) / log(3³) = 1/3</a:t>
            </a:r>
          </a:p>
        </p:txBody>
      </p:sp>
      <p:sp>
        <p:nvSpPr>
          <p:cNvPr id="8" name="TextBox 7"/>
          <p:cNvSpPr txBox="1"/>
          <p:nvPr/>
        </p:nvSpPr>
        <p:spPr>
          <a:xfrm>
            <a:off x="594360" y="162763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log base 100 of 1000</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9</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9E40"/>
                </a:solidFill>
                <a:latin typeface="Aptos"/>
              </a:rPr>
              <a:t>Find log base 100 of 1000.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log base 100 of 1000</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Step 1:  1000 = 10³ and 100 = 10²</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Step 2:  log100(1000) = 3/2</a:t>
            </a:r>
          </a:p>
        </p:txBody>
      </p:sp>
      <p:sp>
        <p:nvSpPr>
          <p:cNvPr id="9" name="TextBox 8"/>
          <p:cNvSpPr txBox="1"/>
          <p:nvPr/>
        </p:nvSpPr>
        <p:spPr>
          <a:xfrm>
            <a:off x="594360" y="21762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3/2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log10 of 0.0001</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11</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9E40"/>
                </a:solidFill>
                <a:latin typeface="Aptos"/>
              </a:rPr>
              <a:t>Find log10(0.0001).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log10 of 0.0001</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12</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Step 1:  0.0001 = 10⁻⁴</a:t>
            </a:r>
          </a:p>
        </p:txBody>
      </p:sp>
      <p:sp>
        <p:nvSpPr>
          <p:cNvPr id="8" name="TextBox 7"/>
          <p:cNvSpPr txBox="1"/>
          <p:nvPr/>
        </p:nvSpPr>
        <p:spPr>
          <a:xfrm>
            <a:off x="594360" y="162763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log10(0.0001) = -4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log base 0.01 of 10</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14</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2300" b="1">
                <a:solidFill>
                  <a:srgbClr val="FF9E40"/>
                </a:solidFill>
                <a:latin typeface="Aptos"/>
              </a:rPr>
              <a:t>Find log base 0.01 of 10.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log base 0.01 of 10</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15</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0.01 = 10⁻², so the base is 10⁻²</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log of 10 in base 10⁻² = 1/(-2) = -1/2</a:t>
            </a:r>
          </a:p>
        </p:txBody>
      </p:sp>
      <p:sp>
        <p:nvSpPr>
          <p:cNvPr id="9" name="TextBox 8"/>
          <p:cNvSpPr txBox="1"/>
          <p:nvPr/>
        </p:nvSpPr>
        <p:spPr>
          <a:xfrm>
            <a:off x="594360" y="21762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Loudness 50 dB</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16</a:t>
            </a:r>
          </a:p>
        </p:txBody>
      </p:sp>
      <p:sp>
        <p:nvSpPr>
          <p:cNvPr id="7" name="TextBox 6"/>
          <p:cNvSpPr txBox="1"/>
          <p:nvPr/>
        </p:nvSpPr>
        <p:spPr>
          <a:xfrm>
            <a:off x="594360" y="1078992"/>
            <a:ext cx="11018520" cy="96012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Loudness is 50 dB.  L = 10 log10(I/I0) with I0 = 10⁻¹² W/m². Find 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Loudness 50 dB</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17</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50 = 10 log10(I/I0), so 5 = log10(I/I0)</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Step 2:  I/I0 = 10⁵</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3:  I = 10⁵ times 10⁻¹² = 10⁻⁷</a:t>
            </a:r>
          </a:p>
        </p:txBody>
      </p:sp>
      <p:sp>
        <p:nvSpPr>
          <p:cNvPr id="10" name="TextBox 9"/>
          <p:cNvSpPr txBox="1"/>
          <p:nvPr/>
        </p:nvSpPr>
        <p:spPr>
          <a:xfrm>
            <a:off x="594360" y="2724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I = 10⁻⁷ W/m²</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Current falling to 10 A</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19</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I = 20 times e to the power (-λ t), λ = 2.303. Find t when I = 10 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Current falling to 10 A</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10 = 20 times e to the power (-λ t), so 1/2 equals that exponential</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Take natural log: ln(1/2) = -λ t</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3:  t = ln 2 / λ.   ln 2 = 2.303 log10(2)</a:t>
            </a:r>
          </a:p>
        </p:txBody>
      </p:sp>
      <p:sp>
        <p:nvSpPr>
          <p:cNvPr id="10" name="TextBox 9"/>
          <p:cNvSpPr txBox="1"/>
          <p:nvPr/>
        </p:nvSpPr>
        <p:spPr>
          <a:xfrm>
            <a:off x="594360" y="2724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4:  t = 2.303 log10(2) / 2.303 = log10(2)</a:t>
            </a:r>
          </a:p>
        </p:txBody>
      </p:sp>
      <p:sp>
        <p:nvSpPr>
          <p:cNvPr id="11" name="TextBox 10"/>
          <p:cNvSpPr txBox="1"/>
          <p:nvPr/>
        </p:nvSpPr>
        <p:spPr>
          <a:xfrm>
            <a:off x="594360" y="32735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t = 0.30 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Loudness when intensity becomes I/4</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21</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L = 16 dB at intensity I. Intensity becomes I/4. Find the new loudness.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Loudness when intensity becomes I/4</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22</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L = 10 log10(I/I0), L' = 10 log10((I/4)/I0)</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L - L' = 10 log10(4) = 10 times 0.60 = 6</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800" b="1">
                <a:solidFill>
                  <a:srgbClr val="5AC8FF"/>
                </a:solidFill>
                <a:latin typeface="Aptos"/>
              </a:rPr>
              <a:t>Step 3:  L' = 16 - 6 = 10</a:t>
            </a:r>
          </a:p>
        </p:txBody>
      </p:sp>
      <p:sp>
        <p:nvSpPr>
          <p:cNvPr id="10" name="TextBox 9"/>
          <p:cNvSpPr txBox="1"/>
          <p:nvPr/>
        </p:nvSpPr>
        <p:spPr>
          <a:xfrm>
            <a:off x="594360" y="2724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New loudness = 10 dB</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NEW TOPIC</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Binomial when 1 is much larger than x</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23</a:t>
            </a:r>
          </a:p>
        </p:txBody>
      </p:sp>
      <p:sp>
        <p:nvSpPr>
          <p:cNvPr id="7" name="Rectangle 6"/>
          <p:cNvSpPr/>
          <p:nvPr/>
        </p:nvSpPr>
        <p:spPr>
          <a:xfrm>
            <a:off x="594360" y="107899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225295"/>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980" b="1">
                <a:solidFill>
                  <a:srgbClr val="081E3F"/>
                </a:solidFill>
                <a:latin typeface="Aptos"/>
              </a:rPr>
              <a:t>(1 + x)ⁿ = 1 + n x     if |x| ≪ 1</a:t>
            </a:r>
          </a:p>
        </p:txBody>
      </p:sp>
      <p:sp>
        <p:nvSpPr>
          <p:cNvPr id="9" name="Rectangle 8"/>
          <p:cNvSpPr/>
          <p:nvPr/>
        </p:nvSpPr>
        <p:spPr>
          <a:xfrm>
            <a:off x="594360" y="2130552"/>
            <a:ext cx="11018520" cy="7772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276856"/>
            <a:ext cx="10689336" cy="484632"/>
          </a:xfrm>
          <a:prstGeom prst="rect">
            <a:avLst/>
          </a:prstGeom>
          <a:noFill/>
        </p:spPr>
        <p:txBody>
          <a:bodyPr wrap="square" lIns="0" rIns="0" tIns="0" bIns="0" anchor="ctr">
            <a:spAutoFit/>
          </a:bodyPr>
          <a:lstStyle/>
          <a:p>
            <a:pPr algn="ctr">
              <a:lnSpc>
                <a:spcPct val="115000"/>
              </a:lnSpc>
              <a:spcBef>
                <a:spcPts val="0"/>
              </a:spcBef>
              <a:spcAft>
                <a:spcPts val="0"/>
              </a:spcAft>
            </a:pPr>
            <a:r>
              <a:rPr sz="1980" b="1">
                <a:solidFill>
                  <a:srgbClr val="081E3F"/>
                </a:solidFill>
                <a:latin typeface="Aptos"/>
              </a:rPr>
              <a:t>(1 - x)ⁿ = 1 - n x</a:t>
            </a:r>
          </a:p>
        </p:txBody>
      </p:sp>
      <p:sp>
        <p:nvSpPr>
          <p:cNvPr id="11" name="Rectangle 10"/>
          <p:cNvSpPr/>
          <p:nvPr/>
        </p:nvSpPr>
        <p:spPr>
          <a:xfrm>
            <a:off x="594360" y="3090672"/>
            <a:ext cx="11018520" cy="7772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236976"/>
            <a:ext cx="10689336" cy="484632"/>
          </a:xfrm>
          <a:prstGeom prst="rect">
            <a:avLst/>
          </a:prstGeom>
          <a:noFill/>
        </p:spPr>
        <p:txBody>
          <a:bodyPr wrap="square" lIns="0" rIns="0" tIns="0" bIns="0" anchor="ctr">
            <a:spAutoFit/>
          </a:bodyPr>
          <a:lstStyle/>
          <a:p>
            <a:pPr algn="ctr">
              <a:lnSpc>
                <a:spcPct val="115000"/>
              </a:lnSpc>
              <a:spcBef>
                <a:spcPts val="0"/>
              </a:spcBef>
              <a:spcAft>
                <a:spcPts val="0"/>
              </a:spcAft>
            </a:pPr>
            <a:r>
              <a:rPr sz="1980" b="1">
                <a:solidFill>
                  <a:srgbClr val="081E3F"/>
                </a:solidFill>
                <a:latin typeface="Aptos"/>
              </a:rPr>
              <a:t>(1 + x)⁻ⁿ = 1 - n x</a:t>
            </a:r>
          </a:p>
        </p:txBody>
      </p:sp>
      <p:sp>
        <p:nvSpPr>
          <p:cNvPr id="13" name="TextBox 12"/>
          <p:cNvSpPr txBox="1"/>
          <p:nvPr/>
        </p:nvSpPr>
        <p:spPr>
          <a:xfrm>
            <a:off x="594360" y="4050791"/>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Drop x² and higher powers only after the first term is 1 and |x| is much smaller than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(1.007)⁵</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25</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2100" b="1">
                <a:solidFill>
                  <a:srgbClr val="FF9E40"/>
                </a:solidFill>
                <a:latin typeface="Aptos"/>
              </a:rPr>
              <a:t>Find (1.007)⁵ using the small-x approximation.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(1.007)⁵</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26</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10" b="1">
                <a:solidFill>
                  <a:srgbClr val="5AC8FF"/>
                </a:solidFill>
                <a:latin typeface="Aptos"/>
              </a:rPr>
              <a:t>Step 1:  1.007 = 1 + 0.007, and 0.007 ≪ 1</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(1 + 0.007)⁵ = 1 + 5 times 0.007 = 1 + 0.035</a:t>
            </a:r>
          </a:p>
        </p:txBody>
      </p:sp>
      <p:sp>
        <p:nvSpPr>
          <p:cNvPr id="9" name="TextBox 8"/>
          <p:cNvSpPr txBox="1"/>
          <p:nvPr/>
        </p:nvSpPr>
        <p:spPr>
          <a:xfrm>
            <a:off x="594360" y="21762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1.035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Square root of 0.99</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27</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2200" b="1">
                <a:solidFill>
                  <a:srgbClr val="FF9E40"/>
                </a:solidFill>
                <a:latin typeface="Aptos"/>
              </a:rPr>
              <a:t>Find √(0.99) using (1 - x)ⁿ.</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Square root of 0.99</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28</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10" b="1">
                <a:solidFill>
                  <a:srgbClr val="5AC8FF"/>
                </a:solidFill>
                <a:latin typeface="Aptos"/>
              </a:rPr>
              <a:t>Step 1:  0.99 = 1 - 0.01, and the power is 1/2</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(1 - 0.01)½ = 1 - (1/2)(0.01) = 1 - 0.005</a:t>
            </a:r>
          </a:p>
        </p:txBody>
      </p:sp>
      <p:sp>
        <p:nvSpPr>
          <p:cNvPr id="9" name="TextBox 8"/>
          <p:cNvSpPr txBox="1"/>
          <p:nvPr/>
        </p:nvSpPr>
        <p:spPr>
          <a:xfrm>
            <a:off x="594360" y="21762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0.995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Gravity at a small height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29</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g_h = GM/(R+h)². If h ≪ R, write a simple expression for g_h.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Gravity at a small height</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R + h = R(1 + h/R), so (R+h)² = R² (1 + h/R)²</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g_h = (GM/R²) times (1 + h/R)⁻²</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3:  (1 + h/R)⁻² = 1 - 2(h/R)   because h/R ≪ 1</a:t>
            </a:r>
          </a:p>
        </p:txBody>
      </p:sp>
      <p:sp>
        <p:nvSpPr>
          <p:cNvPr id="10" name="TextBox 9"/>
          <p:cNvSpPr txBox="1"/>
          <p:nvPr/>
        </p:nvSpPr>
        <p:spPr>
          <a:xfrm>
            <a:off x="594360" y="2724912"/>
            <a:ext cx="11018520" cy="47548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g_h = g (1 - 2h/R)   where g = GM/R²</a:t>
            </a:r>
          </a:p>
        </p:txBody>
      </p:sp>
      <p:sp>
        <p:nvSpPr>
          <p:cNvPr id="11" name="TextBox 10"/>
          <p:cNvSpPr txBox="1"/>
          <p:nvPr/>
        </p:nvSpPr>
        <p:spPr>
          <a:xfrm>
            <a:off x="594360" y="32735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Do not write the denominator as (R + 2h)². That is a different expansion.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Trap: (2.01)³ is not 2.03</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32</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Why is (2.01)³ = 2.03 a wrong use of (1+x)ⁿ = 1 + n 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Trap: (2.01)³ is not 2.03</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33</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First write 2.01 = 2(1 + 0.005), not (1 + 0.01)</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The formula needs the leading 1. Here the leading number is 2.</a:t>
            </a:r>
          </a:p>
        </p:txBody>
      </p:sp>
      <p:sp>
        <p:nvSpPr>
          <p:cNvPr id="9" name="TextBox 8"/>
          <p:cNvSpPr txBox="1"/>
          <p:nvPr/>
        </p:nvSpPr>
        <p:spPr>
          <a:xfrm>
            <a:off x="594360" y="21762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(2.01)³ = 8 (1.005)³ = 8(1 + 0.015) = 8.12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NEW TOPIC</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Physical quantity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34</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 physical quantity can be measured. Love and hate cannot, so they are not physical quantities.</a:t>
            </a:r>
          </a:p>
        </p:txBody>
      </p:sp>
      <p:sp>
        <p:nvSpPr>
          <p:cNvPr id="8" name="TextBox 7"/>
          <p:cNvSpPr txBox="1"/>
          <p:nvPr/>
        </p:nvSpPr>
        <p:spPr>
          <a:xfrm>
            <a:off x="594360" y="185623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 measurable quantity is either a scalar or a vector.</a:t>
            </a:r>
          </a:p>
        </p:txBody>
      </p:sp>
      <p:sp>
        <p:nvSpPr>
          <p:cNvPr id="9" name="Rectangle 8"/>
          <p:cNvSpPr/>
          <p:nvPr/>
        </p:nvSpPr>
        <p:spPr>
          <a:xfrm>
            <a:off x="594360" y="2542032"/>
            <a:ext cx="11018520" cy="96012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688336"/>
            <a:ext cx="10689336" cy="667512"/>
          </a:xfrm>
          <a:prstGeom prst="rect">
            <a:avLst/>
          </a:prstGeom>
          <a:noFill/>
        </p:spPr>
        <p:txBody>
          <a:bodyPr wrap="square" lIns="0" rIns="0" tIns="0" bIns="0" anchor="ctr">
            <a:spAutoFit/>
          </a:bodyPr>
          <a:lstStyle/>
          <a:p>
            <a:pPr algn="ctr">
              <a:lnSpc>
                <a:spcPct val="115000"/>
              </a:lnSpc>
              <a:spcBef>
                <a:spcPts val="0"/>
              </a:spcBef>
              <a:spcAft>
                <a:spcPts val="0"/>
              </a:spcAft>
            </a:pPr>
            <a:r>
              <a:rPr sz="1620" b="1">
                <a:solidFill>
                  <a:srgbClr val="081E3F"/>
                </a:solidFill>
                <a:latin typeface="Aptos"/>
              </a:rPr>
              <a:t>Scalar: magnitude only.   Vector: magnitude, direction, and triangle law.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Scalar and vector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35</a:t>
            </a:r>
          </a:p>
        </p:txBody>
      </p:sp>
      <p:sp>
        <p:nvSpPr>
          <p:cNvPr id="7" name="Rectangle 6"/>
          <p:cNvSpPr/>
          <p:nvPr/>
        </p:nvSpPr>
        <p:spPr>
          <a:xfrm>
            <a:off x="594360" y="1078992"/>
            <a:ext cx="2194560" cy="640080"/>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 y="1078992"/>
            <a:ext cx="2121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
            </a:r>
          </a:p>
        </p:txBody>
      </p:sp>
      <p:sp>
        <p:nvSpPr>
          <p:cNvPr id="9" name="Rectangle 8"/>
          <p:cNvSpPr/>
          <p:nvPr/>
        </p:nvSpPr>
        <p:spPr>
          <a:xfrm>
            <a:off x="2788920" y="1078992"/>
            <a:ext cx="4297680" cy="640080"/>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25496" y="1078992"/>
            <a:ext cx="42245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Scalar</a:t>
            </a:r>
          </a:p>
        </p:txBody>
      </p:sp>
      <p:sp>
        <p:nvSpPr>
          <p:cNvPr id="11" name="Rectangle 10"/>
          <p:cNvSpPr/>
          <p:nvPr/>
        </p:nvSpPr>
        <p:spPr>
          <a:xfrm>
            <a:off x="7086600" y="1078992"/>
            <a:ext cx="4480560" cy="640080"/>
          </a:xfrm>
          <a:prstGeom prst="rect">
            <a:avLst/>
          </a:prstGeom>
          <a:solidFill>
            <a:srgbClr val="1C2434"/>
          </a:solidFill>
          <a:ln>
            <a:solidFill>
              <a:srgbClr val="1C24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23176" y="1078992"/>
            <a:ext cx="4407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FFFFFF"/>
                </a:solidFill>
                <a:latin typeface="Aptos"/>
              </a:rPr>
              <a:t>Vector</a:t>
            </a:r>
          </a:p>
        </p:txBody>
      </p:sp>
      <p:sp>
        <p:nvSpPr>
          <p:cNvPr id="13" name="Rectangle 12"/>
          <p:cNvSpPr/>
          <p:nvPr/>
        </p:nvSpPr>
        <p:spPr>
          <a:xfrm>
            <a:off x="594360" y="1719072"/>
            <a:ext cx="219456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1719072"/>
            <a:ext cx="2121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5AC8FF"/>
                </a:solidFill>
                <a:latin typeface="Aptos"/>
              </a:rPr>
              <a:t>Needs</a:t>
            </a:r>
          </a:p>
        </p:txBody>
      </p:sp>
      <p:sp>
        <p:nvSpPr>
          <p:cNvPr id="15" name="Rectangle 14"/>
          <p:cNvSpPr/>
          <p:nvPr/>
        </p:nvSpPr>
        <p:spPr>
          <a:xfrm>
            <a:off x="2788920" y="1719072"/>
            <a:ext cx="429768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25496" y="1719072"/>
            <a:ext cx="42245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magnitude only</a:t>
            </a:r>
          </a:p>
        </p:txBody>
      </p:sp>
      <p:sp>
        <p:nvSpPr>
          <p:cNvPr id="17" name="Rectangle 16"/>
          <p:cNvSpPr/>
          <p:nvPr/>
        </p:nvSpPr>
        <p:spPr>
          <a:xfrm>
            <a:off x="7086600" y="1719072"/>
            <a:ext cx="448056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23176" y="1719072"/>
            <a:ext cx="4407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magnitude and direction</a:t>
            </a:r>
          </a:p>
        </p:txBody>
      </p:sp>
      <p:sp>
        <p:nvSpPr>
          <p:cNvPr id="19" name="Rectangle 18"/>
          <p:cNvSpPr/>
          <p:nvPr/>
        </p:nvSpPr>
        <p:spPr>
          <a:xfrm>
            <a:off x="594360" y="2359152"/>
            <a:ext cx="2194560" cy="64008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2359152"/>
            <a:ext cx="2121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5AC8FF"/>
                </a:solidFill>
                <a:latin typeface="Aptos"/>
              </a:rPr>
              <a:t>Addition</a:t>
            </a:r>
          </a:p>
        </p:txBody>
      </p:sp>
      <p:sp>
        <p:nvSpPr>
          <p:cNvPr id="21" name="Rectangle 20"/>
          <p:cNvSpPr/>
          <p:nvPr/>
        </p:nvSpPr>
        <p:spPr>
          <a:xfrm>
            <a:off x="2788920" y="2359152"/>
            <a:ext cx="4297680" cy="64008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25496" y="2359152"/>
            <a:ext cx="42245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ordinary + and -</a:t>
            </a:r>
          </a:p>
        </p:txBody>
      </p:sp>
      <p:sp>
        <p:nvSpPr>
          <p:cNvPr id="23" name="Rectangle 22"/>
          <p:cNvSpPr/>
          <p:nvPr/>
        </p:nvSpPr>
        <p:spPr>
          <a:xfrm>
            <a:off x="7086600" y="2359152"/>
            <a:ext cx="4480560" cy="64008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23176" y="2359152"/>
            <a:ext cx="4407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triangle law</a:t>
            </a:r>
          </a:p>
        </p:txBody>
      </p:sp>
      <p:sp>
        <p:nvSpPr>
          <p:cNvPr id="25" name="Rectangle 24"/>
          <p:cNvSpPr/>
          <p:nvPr/>
        </p:nvSpPr>
        <p:spPr>
          <a:xfrm>
            <a:off x="594360" y="2999232"/>
            <a:ext cx="219456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 y="2999232"/>
            <a:ext cx="2121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5AC8FF"/>
                </a:solidFill>
                <a:latin typeface="Aptos"/>
              </a:rPr>
              <a:t>Sign</a:t>
            </a:r>
          </a:p>
        </p:txBody>
      </p:sp>
      <p:sp>
        <p:nvSpPr>
          <p:cNvPr id="27" name="Rectangle 26"/>
          <p:cNvSpPr/>
          <p:nvPr/>
        </p:nvSpPr>
        <p:spPr>
          <a:xfrm>
            <a:off x="2788920" y="2999232"/>
            <a:ext cx="429768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25496" y="2999232"/>
            <a:ext cx="42245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plus or minus is a value</a:t>
            </a:r>
          </a:p>
        </p:txBody>
      </p:sp>
      <p:sp>
        <p:nvSpPr>
          <p:cNvPr id="29" name="Rectangle 28"/>
          <p:cNvSpPr/>
          <p:nvPr/>
        </p:nvSpPr>
        <p:spPr>
          <a:xfrm>
            <a:off x="7086600" y="2999232"/>
            <a:ext cx="4480560" cy="640080"/>
          </a:xfrm>
          <a:prstGeom prst="rect">
            <a:avLst/>
          </a:prstGeom>
          <a:solidFill>
            <a:srgbClr val="101014"/>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23176" y="2999232"/>
            <a:ext cx="4407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plus or minus is a direction</a:t>
            </a:r>
          </a:p>
        </p:txBody>
      </p:sp>
      <p:sp>
        <p:nvSpPr>
          <p:cNvPr id="31" name="Rectangle 30"/>
          <p:cNvSpPr/>
          <p:nvPr/>
        </p:nvSpPr>
        <p:spPr>
          <a:xfrm>
            <a:off x="594360" y="3639311"/>
            <a:ext cx="2194560" cy="64008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 y="3639311"/>
            <a:ext cx="2121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1">
                <a:solidFill>
                  <a:srgbClr val="5AC8FF"/>
                </a:solidFill>
                <a:latin typeface="Aptos"/>
              </a:rPr>
              <a:t>Examples</a:t>
            </a:r>
          </a:p>
        </p:txBody>
      </p:sp>
      <p:sp>
        <p:nvSpPr>
          <p:cNvPr id="33" name="Rectangle 32"/>
          <p:cNvSpPr/>
          <p:nvPr/>
        </p:nvSpPr>
        <p:spPr>
          <a:xfrm>
            <a:off x="2788920" y="3639311"/>
            <a:ext cx="4297680" cy="64008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25496" y="3639311"/>
            <a:ext cx="422452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mass, temperature, current, speed, energy</a:t>
            </a:r>
          </a:p>
        </p:txBody>
      </p:sp>
      <p:sp>
        <p:nvSpPr>
          <p:cNvPr id="35" name="Rectangle 34"/>
          <p:cNvSpPr/>
          <p:nvPr/>
        </p:nvSpPr>
        <p:spPr>
          <a:xfrm>
            <a:off x="7086600" y="3639311"/>
            <a:ext cx="4480560" cy="640080"/>
          </a:xfrm>
          <a:prstGeom prst="rect">
            <a:avLst/>
          </a:prstGeom>
          <a:solidFill>
            <a:srgbClr val="16181C"/>
          </a:solidFill>
          <a:ln w="6350">
            <a:solidFill>
              <a:srgbClr val="484E5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23176" y="3639311"/>
            <a:ext cx="4407408" cy="640080"/>
          </a:xfrm>
          <a:prstGeom prst="rect">
            <a:avLst/>
          </a:prstGeom>
          <a:noFill/>
        </p:spPr>
        <p:txBody>
          <a:bodyPr wrap="square" lIns="0" rIns="0" tIns="0" bIns="0" anchor="ctr">
            <a:spAutoFit/>
          </a:bodyPr>
          <a:lstStyle/>
          <a:p>
            <a:pPr algn="ctr">
              <a:lnSpc>
                <a:spcPct val="110000"/>
              </a:lnSpc>
              <a:spcBef>
                <a:spcPts val="0"/>
              </a:spcBef>
              <a:spcAft>
                <a:spcPts val="0"/>
              </a:spcAft>
            </a:pPr>
            <a:r>
              <a:rPr sz="1400" b="0">
                <a:solidFill>
                  <a:srgbClr val="FFFFFF"/>
                </a:solidFill>
                <a:latin typeface="Aptos"/>
              </a:rPr>
              <a:t>force, velocity, displacement, weight, electric field</a:t>
            </a:r>
          </a:p>
        </p:txBody>
      </p:sp>
      <p:sp>
        <p:nvSpPr>
          <p:cNvPr id="37" name="TextBox 36"/>
          <p:cNvSpPr txBox="1"/>
          <p:nvPr/>
        </p:nvSpPr>
        <p:spPr>
          <a:xfrm>
            <a:off x="594360" y="44622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Current has a conventional direction, but it does not follow the triangle law, so current is a scalar.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HOW IT WORKS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Plus and minus on a vector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37</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On a scalar, +10 and -10 differ in value. On a vector, the sign is the direction along a chosen line.</a:t>
            </a:r>
          </a:p>
        </p:txBody>
      </p:sp>
      <p:sp>
        <p:nvSpPr>
          <p:cNvPr id="8" name="Rectangle 7"/>
          <p:cNvSpPr/>
          <p:nvPr/>
        </p:nvSpPr>
        <p:spPr>
          <a:xfrm>
            <a:off x="594360" y="194767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09397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800" b="1">
                <a:solidFill>
                  <a:srgbClr val="081E3F"/>
                </a:solidFill>
                <a:latin typeface="Aptos"/>
              </a:rPr>
              <a:t>F1 = +20 N i-hat     and     F2 = -10 N i-hat</a:t>
            </a:r>
          </a:p>
        </p:txBody>
      </p:sp>
      <p:sp>
        <p:nvSpPr>
          <p:cNvPr id="10" name="TextBox 9"/>
          <p:cNvSpPr txBox="1"/>
          <p:nvPr/>
        </p:nvSpPr>
        <p:spPr>
          <a:xfrm>
            <a:off x="594360" y="304495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Same line, opposite senses. The unit vector i-hat carries the direction. The number is the magnitude with a sign.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How we write a vector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38</a:t>
            </a:r>
          </a:p>
        </p:txBody>
      </p:sp>
      <p:sp>
        <p:nvSpPr>
          <p:cNvPr id="7" name="Rectangle 6"/>
          <p:cNvSpPr/>
          <p:nvPr/>
        </p:nvSpPr>
        <p:spPr>
          <a:xfrm>
            <a:off x="594360" y="107899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225295"/>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2160" b="1">
                <a:solidFill>
                  <a:srgbClr val="081E3F"/>
                </a:solidFill>
                <a:latin typeface="Aptos"/>
              </a:rPr>
              <a:t>A arrow = A times A-hat</a:t>
            </a:r>
          </a:p>
        </p:txBody>
      </p:sp>
      <p:sp>
        <p:nvSpPr>
          <p:cNvPr id="9" name="TextBox 8"/>
          <p:cNvSpPr txBox="1"/>
          <p:nvPr/>
        </p:nvSpPr>
        <p:spPr>
          <a:xfrm>
            <a:off x="594360" y="21762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 is the magnitude (a positive number, with unit).</a:t>
            </a:r>
          </a:p>
        </p:txBody>
      </p:sp>
      <p:sp>
        <p:nvSpPr>
          <p:cNvPr id="10" name="TextBox 9"/>
          <p:cNvSpPr txBox="1"/>
          <p:nvPr/>
        </p:nvSpPr>
        <p:spPr>
          <a:xfrm>
            <a:off x="594360" y="272491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A-hat is the unit vector. It has magnitude 1 and no unit. It only points the direction.</a:t>
            </a:r>
          </a:p>
        </p:txBody>
      </p:sp>
      <p:sp>
        <p:nvSpPr>
          <p:cNvPr id="11" name="TextBox 10"/>
          <p:cNvSpPr txBox="1"/>
          <p:nvPr/>
        </p:nvSpPr>
        <p:spPr>
          <a:xfrm>
            <a:off x="594360" y="3410711"/>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Force is written F arrow, velocity v arrow, electric field E arrow. Mass, energy and speed stay without an arrow.</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Arrow on paper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39</a:t>
            </a:r>
          </a:p>
        </p:txBody>
      </p:sp>
      <p:sp>
        <p:nvSpPr>
          <p:cNvPr id="7" name="TextBox 6"/>
          <p:cNvSpPr txBox="1"/>
          <p:nvPr/>
        </p:nvSpPr>
        <p:spPr>
          <a:xfrm>
            <a:off x="594360" y="10789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Tail to head. The head shows the direction. The length of the arrow shows the magnitude.</a:t>
            </a:r>
          </a:p>
        </p:txBody>
      </p:sp>
      <p:sp>
        <p:nvSpPr>
          <p:cNvPr id="8" name="TextBox 7"/>
          <p:cNvSpPr txBox="1"/>
          <p:nvPr/>
        </p:nvSpPr>
        <p:spPr>
          <a:xfrm>
            <a:off x="594360" y="19019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Two arrows of the same direction but different lengths are not equal.</a:t>
            </a:r>
          </a:p>
        </p:txBody>
      </p:sp>
      <p:sp>
        <p:nvSpPr>
          <p:cNvPr id="9" name="TextBox 8"/>
          <p:cNvSpPr txBox="1"/>
          <p:nvPr/>
        </p:nvSpPr>
        <p:spPr>
          <a:xfrm>
            <a:off x="594360" y="249631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Two arrows of the same length but different directions are not equal.</a:t>
            </a:r>
          </a:p>
        </p:txBody>
      </p:sp>
      <p:sp>
        <p:nvSpPr>
          <p:cNvPr id="10" name="TextBox 9"/>
          <p:cNvSpPr txBox="1"/>
          <p:nvPr/>
        </p:nvSpPr>
        <p:spPr>
          <a:xfrm>
            <a:off x="594360" y="30906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East is +i, west is -i, north is +j, south is -j, upward is +k.</a:t>
            </a:r>
          </a:p>
        </p:txBody>
      </p:sp>
      <p:sp>
        <p:nvSpPr>
          <p:cNvPr id="11" name="TextBox 10"/>
          <p:cNvSpPr txBox="1"/>
          <p:nvPr/>
        </p:nvSpPr>
        <p:spPr>
          <a:xfrm>
            <a:off x="594360" y="3822191"/>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A free vector may be slid parallel to itself. Magnitude and direction must stay the same. Turning it changes the vector.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Which one is a vector?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40</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Which of the following is a vector?   emf, surface tension, weight, focal length.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Which one is a vector?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41</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emf is a potential difference, a scalar</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surface tension = force per length, a scalar</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3:  focal length is a length, a scalar</a:t>
            </a:r>
          </a:p>
        </p:txBody>
      </p:sp>
      <p:sp>
        <p:nvSpPr>
          <p:cNvPr id="10" name="TextBox 9"/>
          <p:cNvSpPr txBox="1"/>
          <p:nvPr/>
        </p:nvSpPr>
        <p:spPr>
          <a:xfrm>
            <a:off x="594360" y="2724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4:  weight = mg downward, so magnitude and direction</a:t>
            </a:r>
          </a:p>
        </p:txBody>
      </p:sp>
      <p:sp>
        <p:nvSpPr>
          <p:cNvPr id="11" name="TextBox 10"/>
          <p:cNvSpPr txBox="1"/>
          <p:nvPr/>
        </p:nvSpPr>
        <p:spPr>
          <a:xfrm>
            <a:off x="594360" y="32735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Weight is the vector.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Which symbol is written correctly?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43</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Work with an arrow, force without an arrow, or energy without an arrow?</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Which symbol is written correctly?</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44</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Work and energy are scalars, so no arrow</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Force is a vector, so it needs an arrow or bold type</a:t>
            </a:r>
          </a:p>
        </p:txBody>
      </p:sp>
      <p:sp>
        <p:nvSpPr>
          <p:cNvPr id="9" name="TextBox 8"/>
          <p:cNvSpPr txBox="1"/>
          <p:nvPr/>
        </p:nvSpPr>
        <p:spPr>
          <a:xfrm>
            <a:off x="594360" y="21762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Energy (E) is the correct writing among the three.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Direction does not automatically make a vector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45</a:t>
            </a:r>
          </a:p>
        </p:txBody>
      </p:sp>
      <p:sp>
        <p:nvSpPr>
          <p:cNvPr id="7" name="TextBox 6"/>
          <p:cNvSpPr txBox="1"/>
          <p:nvPr/>
        </p:nvSpPr>
        <p:spPr>
          <a:xfrm>
            <a:off x="594360" y="1078992"/>
            <a:ext cx="11018520" cy="86868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A: no direction means scalar.   B: a direction means vector. Which is correct?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Direction does not automatically make a vector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46</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A scalar really has no direction, so A is true</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Current has a direction but does not obey the triangle law</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3:  So having a direction is not enough. B is false</a:t>
            </a:r>
          </a:p>
        </p:txBody>
      </p:sp>
      <p:sp>
        <p:nvSpPr>
          <p:cNvPr id="10" name="TextBox 9"/>
          <p:cNvSpPr txBox="1"/>
          <p:nvPr/>
        </p:nvSpPr>
        <p:spPr>
          <a:xfrm>
            <a:off x="594360" y="27249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A true, B false.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NEW TOPIC</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Angle between two vectors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47</a:t>
            </a:r>
          </a:p>
        </p:txBody>
      </p:sp>
      <p:sp>
        <p:nvSpPr>
          <p:cNvPr id="7" name="Rectangle 6"/>
          <p:cNvSpPr/>
          <p:nvPr/>
        </p:nvSpPr>
        <p:spPr>
          <a:xfrm>
            <a:off x="594360" y="1078992"/>
            <a:ext cx="11018520" cy="91440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225295"/>
            <a:ext cx="10689336" cy="621792"/>
          </a:xfrm>
          <a:prstGeom prst="rect">
            <a:avLst/>
          </a:prstGeom>
          <a:noFill/>
        </p:spPr>
        <p:txBody>
          <a:bodyPr wrap="square" lIns="0" rIns="0" tIns="0" bIns="0" anchor="ctr">
            <a:spAutoFit/>
          </a:bodyPr>
          <a:lstStyle/>
          <a:p>
            <a:pPr algn="ctr">
              <a:lnSpc>
                <a:spcPct val="115000"/>
              </a:lnSpc>
              <a:spcBef>
                <a:spcPts val="0"/>
              </a:spcBef>
              <a:spcAft>
                <a:spcPts val="0"/>
              </a:spcAft>
            </a:pPr>
            <a:r>
              <a:rPr sz="1800" b="1">
                <a:solidFill>
                  <a:srgbClr val="081E3F"/>
                </a:solidFill>
                <a:latin typeface="Aptos"/>
              </a:rPr>
              <a:t>Join tail with tail, or head with head. Take the smaller angle.</a:t>
            </a:r>
          </a:p>
        </p:txBody>
      </p:sp>
      <p:sp>
        <p:nvSpPr>
          <p:cNvPr id="9" name="TextBox 8"/>
          <p:cNvSpPr txBox="1"/>
          <p:nvPr/>
        </p:nvSpPr>
        <p:spPr>
          <a:xfrm>
            <a:off x="594360" y="2221991"/>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The bigger gap and the smaller gap add to 180 degrees only when the arrows are on crossing lines. The angle between the vectors is the smaller one, and it is never more than 180 degrees.</a:t>
            </a:r>
          </a:p>
        </p:txBody>
      </p:sp>
      <p:sp>
        <p:nvSpPr>
          <p:cNvPr id="10" name="TextBox 9"/>
          <p:cNvSpPr txBox="1"/>
          <p:nvPr/>
        </p:nvSpPr>
        <p:spPr>
          <a:xfrm>
            <a:off x="594360" y="327355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Do not measure the angle between a tail and a head when the arrows are placed carelessly. First bring tails together.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Two arrows at 60 degrees, one reversed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49</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Arrow A points right. Arrow B points down-right and the marked corner is 60 degrees. After reversing B onto the same tails, what is the angle between them?</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Two arrows at 60 degrees, one reversed</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50</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710" b="1">
                <a:solidFill>
                  <a:srgbClr val="5AC8FF"/>
                </a:solidFill>
                <a:latin typeface="Aptos"/>
              </a:rPr>
              <a:t>Step 1:  Place both tails at the same point</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The supplement of 60 degrees is 180 - 60 = 120</a:t>
            </a:r>
          </a:p>
        </p:txBody>
      </p:sp>
      <p:sp>
        <p:nvSpPr>
          <p:cNvPr id="9" name="TextBox 8"/>
          <p:cNvSpPr txBox="1"/>
          <p:nvPr/>
        </p:nvSpPr>
        <p:spPr>
          <a:xfrm>
            <a:off x="594360" y="21762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Angle between the vectors = 120 degrees.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Negative of a vector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51</a:t>
            </a:r>
          </a:p>
        </p:txBody>
      </p:sp>
      <p:sp>
        <p:nvSpPr>
          <p:cNvPr id="7" name="Rectangle 6"/>
          <p:cNvSpPr/>
          <p:nvPr/>
        </p:nvSpPr>
        <p:spPr>
          <a:xfrm>
            <a:off x="594360" y="1078992"/>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225295"/>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800" b="1">
                <a:solidFill>
                  <a:srgbClr val="081E3F"/>
                </a:solidFill>
                <a:latin typeface="Aptos"/>
              </a:rPr>
              <a:t>-A has the same magnitude and the opposite direction.</a:t>
            </a:r>
          </a:p>
        </p:txBody>
      </p:sp>
      <p:sp>
        <p:nvSpPr>
          <p:cNvPr id="9" name="TextBox 8"/>
          <p:cNvSpPr txBox="1"/>
          <p:nvPr/>
        </p:nvSpPr>
        <p:spPr>
          <a:xfrm>
            <a:off x="594360" y="21762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If A = 10 i-hat, then -A = -10 i-hat.</a:t>
            </a:r>
          </a:p>
        </p:txBody>
      </p:sp>
      <p:sp>
        <p:nvSpPr>
          <p:cNvPr id="10" name="TextBox 9"/>
          <p:cNvSpPr txBox="1"/>
          <p:nvPr/>
        </p:nvSpPr>
        <p:spPr>
          <a:xfrm>
            <a:off x="594360" y="27706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On the paper, flip the head of the arrow. Do not change the length.</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Unit vector of a 40 N force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52</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2000" b="1">
                <a:solidFill>
                  <a:srgbClr val="FF9E40"/>
                </a:solidFill>
                <a:latin typeface="Aptos"/>
              </a:rPr>
              <a:t>A force of 40 N points north. What is the unit vector of that force?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Unit vector of a 40 N force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53</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F arrow = 40 N times (north unit vector)</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Unit vector = F arrow / magnitude</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3:  The newton cancels. Direction does not carry a unit.</a:t>
            </a:r>
          </a:p>
        </p:txBody>
      </p:sp>
      <p:sp>
        <p:nvSpPr>
          <p:cNvPr id="10" name="TextBox 9"/>
          <p:cNvSpPr txBox="1"/>
          <p:nvPr/>
        </p:nvSpPr>
        <p:spPr>
          <a:xfrm>
            <a:off x="594360" y="2724912"/>
            <a:ext cx="11018520" cy="47548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Unit vector = 1 north, not 1 N north.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Types of vector — equality and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55</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Equal: same magnitude, same direction, same kind of quantity.</a:t>
            </a:r>
          </a:p>
        </p:txBody>
      </p:sp>
      <p:sp>
        <p:nvSpPr>
          <p:cNvPr id="8" name="TextBox 7"/>
          <p:cNvSpPr txBox="1"/>
          <p:nvPr/>
        </p:nvSpPr>
        <p:spPr>
          <a:xfrm>
            <a:off x="594360" y="171907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Parallel: same direction. Magnitudes may differ. Every equal pair is parallel. A parallel pair need not be equal.</a:t>
            </a:r>
          </a:p>
        </p:txBody>
      </p:sp>
      <p:sp>
        <p:nvSpPr>
          <p:cNvPr id="9" name="TextBox 8"/>
          <p:cNvSpPr txBox="1"/>
          <p:nvPr/>
        </p:nvSpPr>
        <p:spPr>
          <a:xfrm>
            <a:off x="594360" y="24963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Negative: same magnitude, exactly opposite direction.</a:t>
            </a:r>
          </a:p>
        </p:txBody>
      </p:sp>
      <p:sp>
        <p:nvSpPr>
          <p:cNvPr id="10" name="TextBox 9"/>
          <p:cNvSpPr txBox="1"/>
          <p:nvPr/>
        </p:nvSpPr>
        <p:spPr>
          <a:xfrm>
            <a:off x="594360" y="3090672"/>
            <a:ext cx="11018520" cy="6858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Anti-parallel: opposite direction, magnitudes may differ. Every negative pair is anti-parallel. An anti-parallel pair need not be a negative pair.</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COPY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Types of vector — size and plane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56</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Unit vector: magnitude 1, no unit, direction only.</a:t>
            </a:r>
          </a:p>
        </p:txBody>
      </p:sp>
      <p:sp>
        <p:nvSpPr>
          <p:cNvPr id="8" name="TextBox 7"/>
          <p:cNvSpPr txBox="1"/>
          <p:nvPr/>
        </p:nvSpPr>
        <p:spPr>
          <a:xfrm>
            <a:off x="594360" y="16733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Zero vector: magnitude 0. Example: velocity of a car at rest.</a:t>
            </a:r>
          </a:p>
        </p:txBody>
      </p:sp>
      <p:sp>
        <p:nvSpPr>
          <p:cNvPr id="9" name="TextBox 8"/>
          <p:cNvSpPr txBox="1"/>
          <p:nvPr/>
        </p:nvSpPr>
        <p:spPr>
          <a:xfrm>
            <a:off x="594360" y="226771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Collinear: all lie on the same straight line.</a:t>
            </a:r>
          </a:p>
        </p:txBody>
      </p:sp>
      <p:sp>
        <p:nvSpPr>
          <p:cNvPr id="10" name="TextBox 9"/>
          <p:cNvSpPr txBox="1"/>
          <p:nvPr/>
        </p:nvSpPr>
        <p:spPr>
          <a:xfrm>
            <a:off x="594360" y="281635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Coplanar: all lie in the same plane.</a:t>
            </a:r>
          </a:p>
        </p:txBody>
      </p:sp>
      <p:sp>
        <p:nvSpPr>
          <p:cNvPr id="11" name="TextBox 10"/>
          <p:cNvSpPr txBox="1"/>
          <p:nvPr/>
        </p:nvSpPr>
        <p:spPr>
          <a:xfrm>
            <a:off x="594360" y="3364991"/>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Orthogonal: angle between them is 90 degrees. Magnitudes may differ.</a:t>
            </a:r>
          </a:p>
        </p:txBody>
      </p:sp>
      <p:sp>
        <p:nvSpPr>
          <p:cNvPr id="12" name="TextBox 11"/>
          <p:cNvSpPr txBox="1"/>
          <p:nvPr/>
        </p:nvSpPr>
        <p:spPr>
          <a:xfrm>
            <a:off x="594360" y="39593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Concurrent: arrows act at the same point, even if magnitudes and directions differ.</a:t>
            </a:r>
          </a:p>
        </p:txBody>
      </p:sp>
      <p:sp>
        <p:nvSpPr>
          <p:cNvPr id="13" name="TextBox 12"/>
          <p:cNvSpPr txBox="1"/>
          <p:nvPr/>
        </p:nvSpPr>
        <p:spPr>
          <a:xfrm>
            <a:off x="594360" y="455371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Axial: direction is along the axis of rotation. Examples: torque, angular velocity, angular acceleration, angular momentum.</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SUMMARY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Vector 01 lock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57</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log change of base is a ratio of logs in one common base</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(1+x)ⁿ = 1 + n x only when the first term is 1 and |x| is tiny</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Vector = magnitude and direction, and it obeys the triangle law</a:t>
            </a:r>
          </a:p>
        </p:txBody>
      </p:sp>
      <p:sp>
        <p:nvSpPr>
          <p:cNvPr id="10" name="TextBox 9"/>
          <p:cNvSpPr txBox="1"/>
          <p:nvPr/>
        </p:nvSpPr>
        <p:spPr>
          <a:xfrm>
            <a:off x="594360" y="27249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A arrow = A times A-hat, and the angle is the smaller tail-to-tail angle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CC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AFTER CLASS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Practice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58</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Redo the five log values without looking.</a:t>
            </a:r>
          </a:p>
        </p:txBody>
      </p:sp>
      <p:sp>
        <p:nvSpPr>
          <p:cNvPr id="8" name="TextBox 7"/>
          <p:cNvSpPr txBox="1"/>
          <p:nvPr/>
        </p:nvSpPr>
        <p:spPr>
          <a:xfrm>
            <a:off x="594360" y="167335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Redo both loudness questions and the decaying current.</a:t>
            </a:r>
          </a:p>
        </p:txBody>
      </p:sp>
      <p:sp>
        <p:nvSpPr>
          <p:cNvPr id="9" name="TextBox 8"/>
          <p:cNvSpPr txBox="1"/>
          <p:nvPr/>
        </p:nvSpPr>
        <p:spPr>
          <a:xfrm>
            <a:off x="594360" y="226771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Write five scalars and five vectors from memory.</a:t>
            </a:r>
          </a:p>
        </p:txBody>
      </p:sp>
      <p:sp>
        <p:nvSpPr>
          <p:cNvPr id="10" name="TextBox 9"/>
          <p:cNvSpPr txBox="1"/>
          <p:nvPr/>
        </p:nvSpPr>
        <p:spPr>
          <a:xfrm>
            <a:off x="594360" y="286207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Sketch equal, parallel, negative and orthogonal pairs.</a:t>
            </a:r>
          </a:p>
        </p:txBody>
      </p:sp>
      <p:sp>
        <p:nvSpPr>
          <p:cNvPr id="11" name="TextBox 10"/>
          <p:cNvSpPr txBox="1"/>
          <p:nvPr/>
        </p:nvSpPr>
        <p:spPr>
          <a:xfrm>
            <a:off x="594360" y="354787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Do not put an arrow on work or energy. Do not call current a vector.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