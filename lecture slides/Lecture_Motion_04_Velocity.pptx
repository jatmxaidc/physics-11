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PW Motion 04. Skips speed recipes already taught in Motion 03.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35508" y="516636"/>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D2D2DC"/>
                </a:solidFill>
                <a:latin typeface="Arial Black"/>
              </a:rPr>
              <a:t>EXCELLENCE</a:t>
            </a:r>
          </a:p>
        </p:txBody>
      </p:sp>
      <p:sp>
        <p:nvSpPr>
          <p:cNvPr id="3" name="TextBox 2"/>
          <p:cNvSpPr txBox="1"/>
          <p:nvPr/>
        </p:nvSpPr>
        <p:spPr>
          <a:xfrm>
            <a:off x="594360" y="475488"/>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FFD646"/>
                </a:solidFill>
                <a:latin typeface="Arial Black"/>
              </a:rPr>
              <a:t>EXCELLENCE</a:t>
            </a:r>
          </a:p>
        </p:txBody>
      </p:sp>
      <p:sp>
        <p:nvSpPr>
          <p:cNvPr id="4" name="TextBox 3"/>
          <p:cNvSpPr txBox="1"/>
          <p:nvPr/>
        </p:nvSpPr>
        <p:spPr>
          <a:xfrm>
            <a:off x="635508" y="1540763"/>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5A5A64"/>
                </a:solidFill>
                <a:latin typeface="Aptos"/>
              </a:rPr>
              <a:t>CLASS 11   -   2026-27</a:t>
            </a:r>
          </a:p>
        </p:txBody>
      </p:sp>
      <p:sp>
        <p:nvSpPr>
          <p:cNvPr id="5" name="TextBox 4"/>
          <p:cNvSpPr txBox="1"/>
          <p:nvPr/>
        </p:nvSpPr>
        <p:spPr>
          <a:xfrm>
            <a:off x="594360" y="1499616"/>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FFFFFF"/>
                </a:solidFill>
                <a:latin typeface="Aptos"/>
              </a:rPr>
              <a:t>CLASS 11   -   2026-27</a:t>
            </a:r>
          </a:p>
        </p:txBody>
      </p:sp>
      <p:sp>
        <p:nvSpPr>
          <p:cNvPr id="6" name="Rectangle 5"/>
          <p:cNvSpPr/>
          <p:nvPr/>
        </p:nvSpPr>
        <p:spPr>
          <a:xfrm>
            <a:off x="3794760" y="2084831"/>
            <a:ext cx="4572000" cy="25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468880"/>
            <a:ext cx="841248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19" y="3127248"/>
            <a:ext cx="8412480" cy="1490472"/>
          </a:xfrm>
          <a:prstGeom prst="roundRect">
            <a:avLst/>
          </a:prstGeom>
          <a:solidFill>
            <a:srgbClr val="000000"/>
          </a:solidFill>
          <a:ln w="15875">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59" y="2615184"/>
            <a:ext cx="16459" cy="38404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596896"/>
            <a:ext cx="411480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Physics</a:t>
            </a:r>
          </a:p>
        </p:txBody>
      </p:sp>
      <p:sp>
        <p:nvSpPr>
          <p:cNvPr id="11" name="TextBox 10"/>
          <p:cNvSpPr txBox="1"/>
          <p:nvPr/>
        </p:nvSpPr>
        <p:spPr>
          <a:xfrm>
            <a:off x="6080759" y="2596896"/>
            <a:ext cx="420624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Motion 04</a:t>
            </a:r>
          </a:p>
        </p:txBody>
      </p:sp>
      <p:sp>
        <p:nvSpPr>
          <p:cNvPr id="12" name="TextBox 11"/>
          <p:cNvSpPr txBox="1"/>
          <p:nvPr/>
        </p:nvSpPr>
        <p:spPr>
          <a:xfrm>
            <a:off x="1874519" y="3401568"/>
            <a:ext cx="8412480" cy="502920"/>
          </a:xfrm>
          <a:prstGeom prst="rect">
            <a:avLst/>
          </a:prstGeom>
          <a:noFill/>
        </p:spPr>
        <p:txBody>
          <a:bodyPr wrap="square" lIns="0" rIns="0" tIns="0" bIns="0" anchor="t">
            <a:spAutoFit/>
          </a:bodyPr>
          <a:lstStyle/>
          <a:p>
            <a:pPr algn="ctr">
              <a:lnSpc>
                <a:spcPct val="110000"/>
              </a:lnSpc>
              <a:spcBef>
                <a:spcPts val="0"/>
              </a:spcBef>
              <a:spcAft>
                <a:spcPts val="0"/>
              </a:spcAft>
            </a:pPr>
            <a:r>
              <a:rPr sz="2800" b="1">
                <a:solidFill>
                  <a:srgbClr val="FFFFFF"/>
                </a:solidFill>
                <a:latin typeface="Georgia"/>
              </a:rPr>
              <a:t>Motion in a Straight Line</a:t>
            </a:r>
          </a:p>
        </p:txBody>
      </p:sp>
      <p:sp>
        <p:nvSpPr>
          <p:cNvPr id="13" name="TextBox 12"/>
          <p:cNvSpPr txBox="1"/>
          <p:nvPr/>
        </p:nvSpPr>
        <p:spPr>
          <a:xfrm>
            <a:off x="1874519" y="3950208"/>
            <a:ext cx="8412480" cy="365760"/>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D646"/>
                </a:solidFill>
                <a:latin typeface="Aptos"/>
              </a:rPr>
              <a:t>Velocity as a vector · v–t graphs · when averages fail</a:t>
            </a:r>
          </a:p>
        </p:txBody>
      </p:sp>
      <p:sp>
        <p:nvSpPr>
          <p:cNvPr id="14" name="TextBox 13"/>
          <p:cNvSpPr txBox="1"/>
          <p:nvPr/>
        </p:nvSpPr>
        <p:spPr>
          <a:xfrm>
            <a:off x="594360" y="4828032"/>
            <a:ext cx="1101852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FFFFFF"/>
                </a:solidFill>
                <a:latin typeface="Aptos"/>
              </a:rPr>
              <a:t>By - Excellence Programme</a:t>
            </a:r>
          </a:p>
        </p:txBody>
      </p:sp>
      <p:sp>
        <p:nvSpPr>
          <p:cNvPr id="15" name="TextBox 14"/>
          <p:cNvSpPr txBox="1"/>
          <p:nvPr/>
        </p:nvSpPr>
        <p:spPr>
          <a:xfrm>
            <a:off x="594360" y="5303520"/>
            <a:ext cx="11018520" cy="292608"/>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B0B6C0"/>
                </a:solidFill>
                <a:latin typeface="Aptos"/>
              </a:rPr>
              <a:t>22 October 2026</a:t>
            </a:r>
          </a:p>
        </p:txBody>
      </p:sp>
      <p:sp>
        <p:nvSpPr>
          <p:cNvPr id="16" name="TextBox 1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94360" y="320040"/>
            <a:ext cx="11018520" cy="585216"/>
          </a:xfrm>
          <a:prstGeom prst="rect">
            <a:avLst/>
          </a:prstGeom>
          <a:noFill/>
        </p:spPr>
        <p:txBody>
          <a:bodyPr wrap="square" lIns="0" rIns="0" tIns="0" bIns="0" anchor="t">
            <a:spAutoFit/>
          </a:bodyPr>
          <a:lstStyle/>
          <a:p>
            <a:pPr algn="l">
              <a:lnSpc>
                <a:spcPct val="110000"/>
              </a:lnSpc>
              <a:spcBef>
                <a:spcPts val="0"/>
              </a:spcBef>
              <a:spcAft>
                <a:spcPts val="0"/>
              </a:spcAft>
            </a:pPr>
            <a:r>
              <a:rPr sz="3200" b="1">
                <a:solidFill>
                  <a:srgbClr val="FFD646"/>
                </a:solidFill>
                <a:latin typeface="Aptos"/>
              </a:rPr>
              <a:t>What is new today</a:t>
            </a:r>
          </a:p>
        </p:txBody>
      </p:sp>
      <p:sp>
        <p:nvSpPr>
          <p:cNvPr id="3" name="Rectangle 2"/>
          <p:cNvSpPr/>
          <p:nvPr/>
        </p:nvSpPr>
        <p:spPr>
          <a:xfrm>
            <a:off x="594360" y="914400"/>
            <a:ext cx="3108960" cy="32004"/>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097280"/>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43000"/>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01</a:t>
            </a:r>
          </a:p>
        </p:txBody>
      </p:sp>
      <p:sp>
        <p:nvSpPr>
          <p:cNvPr id="6" name="TextBox 5"/>
          <p:cNvSpPr txBox="1"/>
          <p:nvPr/>
        </p:nvSpPr>
        <p:spPr>
          <a:xfrm>
            <a:off x="1143000" y="1143000"/>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Instantaneous velocity, and how it differs from speed</a:t>
            </a:r>
          </a:p>
        </p:txBody>
      </p:sp>
      <p:sp>
        <p:nvSpPr>
          <p:cNvPr id="7" name="Oval 6"/>
          <p:cNvSpPr/>
          <p:nvPr/>
        </p:nvSpPr>
        <p:spPr>
          <a:xfrm>
            <a:off x="594360" y="1755648"/>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01368"/>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02</a:t>
            </a:r>
          </a:p>
        </p:txBody>
      </p:sp>
      <p:sp>
        <p:nvSpPr>
          <p:cNvPr id="9" name="TextBox 8"/>
          <p:cNvSpPr txBox="1"/>
          <p:nvPr/>
        </p:nvSpPr>
        <p:spPr>
          <a:xfrm>
            <a:off x="1143000" y="1801368"/>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What a graph’s slope and area actually give</a:t>
            </a:r>
          </a:p>
        </p:txBody>
      </p:sp>
      <p:sp>
        <p:nvSpPr>
          <p:cNvPr id="10" name="Oval 9"/>
          <p:cNvSpPr/>
          <p:nvPr/>
        </p:nvSpPr>
        <p:spPr>
          <a:xfrm>
            <a:off x="594360" y="2414015"/>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59735"/>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03</a:t>
            </a:r>
          </a:p>
        </p:txBody>
      </p:sp>
      <p:sp>
        <p:nvSpPr>
          <p:cNvPr id="12" name="TextBox 11"/>
          <p:cNvSpPr txBox="1"/>
          <p:nvPr/>
        </p:nvSpPr>
        <p:spPr>
          <a:xfrm>
            <a:off x="1143000" y="2459735"/>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v–t: a kink is not a U-turn</a:t>
            </a:r>
          </a:p>
        </p:txBody>
      </p:sp>
      <p:sp>
        <p:nvSpPr>
          <p:cNvPr id="13" name="Oval 12"/>
          <p:cNvSpPr/>
          <p:nvPr/>
        </p:nvSpPr>
        <p:spPr>
          <a:xfrm>
            <a:off x="594360" y="3072384"/>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18104"/>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04</a:t>
            </a:r>
          </a:p>
        </p:txBody>
      </p:sp>
      <p:sp>
        <p:nvSpPr>
          <p:cNvPr id="15" name="TextBox 14"/>
          <p:cNvSpPr txBox="1"/>
          <p:nvPr/>
        </p:nvSpPr>
        <p:spPr>
          <a:xfrm>
            <a:off x="1143000" y="3118104"/>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v = 0 with no reversal</a:t>
            </a:r>
          </a:p>
        </p:txBody>
      </p:sp>
      <p:sp>
        <p:nvSpPr>
          <p:cNvPr id="16" name="Oval 15"/>
          <p:cNvSpPr/>
          <p:nvPr/>
        </p:nvSpPr>
        <p:spPr>
          <a:xfrm>
            <a:off x="594360" y="3730752"/>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776472"/>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05</a:t>
            </a:r>
          </a:p>
        </p:txBody>
      </p:sp>
      <p:sp>
        <p:nvSpPr>
          <p:cNvPr id="18" name="TextBox 17"/>
          <p:cNvSpPr txBox="1"/>
          <p:nvPr/>
        </p:nvSpPr>
        <p:spPr>
          <a:xfrm>
            <a:off x="1143000" y="3776472"/>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Average velocity along the chord in 2-D</a:t>
            </a:r>
          </a:p>
        </p:txBody>
      </p:sp>
      <p:sp>
        <p:nvSpPr>
          <p:cNvPr id="19" name="Oval 18"/>
          <p:cNvSpPr/>
          <p:nvPr/>
        </p:nvSpPr>
        <p:spPr>
          <a:xfrm>
            <a:off x="594360" y="4389120"/>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434840"/>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06</a:t>
            </a:r>
          </a:p>
        </p:txBody>
      </p:sp>
      <p:sp>
        <p:nvSpPr>
          <p:cNvPr id="21" name="TextBox 20"/>
          <p:cNvSpPr txBox="1"/>
          <p:nvPr/>
        </p:nvSpPr>
        <p:spPr>
          <a:xfrm>
            <a:off x="1143000" y="4434840"/>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One nested average, and one impossible average</a:t>
            </a:r>
          </a:p>
        </p:txBody>
      </p:sp>
      <p:sp>
        <p:nvSpPr>
          <p:cNvPr id="22" name="TextBox 21"/>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NOTE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Left in Motion 03</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Average speed, average velocity, the time-mix formula, the distance-mix formula, 4v/3, the 40 km/h round trip, and the three-thirds 16.4 m/s problem stay in lecture 03. We will not calculate them again.</a:t>
            </a:r>
          </a:p>
        </p:txBody>
      </p:sp>
      <p:sp>
        <p:nvSpPr>
          <p:cNvPr id="8" name="TextBox 7"/>
          <p:cNvSpPr txBox="1"/>
          <p:nvPr/>
        </p:nvSpPr>
        <p:spPr>
          <a:xfrm>
            <a:off x="594360" y="254203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Today the new job is direction: when velocity changes, what a v–t graph is allowed to say, and when an average cannot exist.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Instantaneous velocity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a:t>
            </a:r>
          </a:p>
        </p:txBody>
      </p:sp>
      <p:sp>
        <p:nvSpPr>
          <p:cNvPr id="7" name="TextBox 6"/>
          <p:cNvSpPr txBox="1"/>
          <p:nvPr/>
        </p:nvSpPr>
        <p:spPr>
          <a:xfrm>
            <a:off x="594360" y="1078992"/>
            <a:ext cx="11018520" cy="10972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Average velocity looks at the whole trip. Instantaneous velocity is the velocity at one moment. In one dimension it is the slope of the x–t graph at that instant.</a:t>
            </a:r>
          </a:p>
        </p:txBody>
      </p:sp>
      <p:sp>
        <p:nvSpPr>
          <p:cNvPr id="8" name="Rectangle 7"/>
          <p:cNvSpPr/>
          <p:nvPr/>
        </p:nvSpPr>
        <p:spPr>
          <a:xfrm>
            <a:off x="594360" y="235915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50545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620" b="1">
                <a:solidFill>
                  <a:srgbClr val="081E3F"/>
                </a:solidFill>
                <a:latin typeface="Aptos"/>
              </a:rPr>
              <a:t>v = dx/dt     ·     instantaneous speed = |v|</a:t>
            </a:r>
          </a:p>
        </p:txBody>
      </p:sp>
      <p:sp>
        <p:nvSpPr>
          <p:cNvPr id="10" name="TextBox 9"/>
          <p:cNvSpPr txBox="1"/>
          <p:nvPr/>
        </p:nvSpPr>
        <p:spPr>
          <a:xfrm>
            <a:off x="594360" y="341071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Differentiate x(t) when you want the instant, not the average.</a:t>
            </a:r>
          </a:p>
        </p:txBody>
      </p:sp>
      <p:sp>
        <p:nvSpPr>
          <p:cNvPr id="11" name="TextBox 10"/>
          <p:cNvSpPr txBox="1"/>
          <p:nvPr/>
        </p:nvSpPr>
        <p:spPr>
          <a:xfrm>
            <a:off x="594360" y="400507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If the instantaneous velocity stays constant, the average velocity equals that same vector.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Speed fixed does not fix velocity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Speed is only the size. Velocity also carries direction. A particle can keep the same speed and still change its velocity by turning.</a:t>
            </a:r>
          </a:p>
        </p:txBody>
      </p:sp>
      <p:sp>
        <p:nvSpPr>
          <p:cNvPr id="8" name="TextBox 7"/>
          <p:cNvSpPr txBox="1"/>
          <p:nvPr/>
        </p:nvSpPr>
        <p:spPr>
          <a:xfrm>
            <a:off x="594360" y="23591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constant velocity  →  constant speed</a:t>
            </a:r>
          </a:p>
        </p:txBody>
      </p:sp>
      <p:sp>
        <p:nvSpPr>
          <p:cNvPr id="9" name="TextBox 8"/>
          <p:cNvSpPr txBox="1"/>
          <p:nvPr/>
        </p:nvSpPr>
        <p:spPr>
          <a:xfrm>
            <a:off x="594360" y="29077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constant speed  →  velocity may still change</a:t>
            </a:r>
          </a:p>
        </p:txBody>
      </p:sp>
      <p:sp>
        <p:nvSpPr>
          <p:cNvPr id="10" name="TextBox 9"/>
          <p:cNvSpPr txBox="1"/>
          <p:nvPr/>
        </p:nvSpPr>
        <p:spPr>
          <a:xfrm>
            <a:off x="594360" y="34564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variable speed  →  velocity is variable</a:t>
            </a:r>
          </a:p>
        </p:txBody>
      </p:sp>
      <p:sp>
        <p:nvSpPr>
          <p:cNvPr id="11" name="TextBox 10"/>
          <p:cNvSpPr txBox="1"/>
          <p:nvPr/>
        </p:nvSpPr>
        <p:spPr>
          <a:xfrm>
            <a:off x="594360" y="418795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Uniform circular motion is the clean picture: speed stays v, velocity keeps turning.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|average velocity| cannot beat average speed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Distance is at least the straight shift, so the speed average is at least the size of the velocity average.</a:t>
            </a:r>
          </a:p>
        </p:txBody>
      </p:sp>
      <p:sp>
        <p:nvSpPr>
          <p:cNvPr id="8" name="Rectangle 7"/>
          <p:cNvSpPr/>
          <p:nvPr/>
        </p:nvSpPr>
        <p:spPr>
          <a:xfrm>
            <a:off x="594360" y="2221991"/>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36829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620" b="1">
                <a:solidFill>
                  <a:srgbClr val="081E3F"/>
                </a:solidFill>
                <a:latin typeface="Aptos"/>
              </a:rPr>
              <a:t>|average velocity|  ≤  average speed</a:t>
            </a:r>
          </a:p>
        </p:txBody>
      </p:sp>
      <p:sp>
        <p:nvSpPr>
          <p:cNvPr id="10" name="TextBox 9"/>
          <p:cNvSpPr txBox="1"/>
          <p:nvPr/>
        </p:nvSpPr>
        <p:spPr>
          <a:xfrm>
            <a:off x="594360" y="331927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They are equal only in one dimension when the object never reverses. Any turn, or any detour, makes the speed average strictly larger.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Zero links — speed and velocity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a:t>
            </a:r>
          </a:p>
        </p:txBody>
      </p:sp>
      <p:sp>
        <p:nvSpPr>
          <p:cNvPr id="7" name="Rectangle 6"/>
          <p:cNvSpPr/>
          <p:nvPr/>
        </p:nvSpPr>
        <p:spPr>
          <a:xfrm>
            <a:off x="594360" y="1078992"/>
            <a:ext cx="4754880" cy="640080"/>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078992"/>
            <a:ext cx="46817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FFFFFF"/>
                </a:solidFill>
                <a:latin typeface="Aptos"/>
              </a:rPr>
              <a:t>If this is zero</a:t>
            </a:r>
          </a:p>
        </p:txBody>
      </p:sp>
      <p:sp>
        <p:nvSpPr>
          <p:cNvPr id="9" name="Rectangle 8"/>
          <p:cNvSpPr/>
          <p:nvPr/>
        </p:nvSpPr>
        <p:spPr>
          <a:xfrm>
            <a:off x="5349240" y="1078992"/>
            <a:ext cx="6035040" cy="640080"/>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85816" y="1078992"/>
            <a:ext cx="596188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FFFFFF"/>
                </a:solidFill>
                <a:latin typeface="Aptos"/>
              </a:rPr>
              <a:t>Then the other</a:t>
            </a:r>
          </a:p>
        </p:txBody>
      </p:sp>
      <p:sp>
        <p:nvSpPr>
          <p:cNvPr id="11" name="Rectangle 10"/>
          <p:cNvSpPr/>
          <p:nvPr/>
        </p:nvSpPr>
        <p:spPr>
          <a:xfrm>
            <a:off x="594360" y="1719072"/>
            <a:ext cx="475488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1719072"/>
            <a:ext cx="46817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average speed = 0</a:t>
            </a:r>
          </a:p>
        </p:txBody>
      </p:sp>
      <p:sp>
        <p:nvSpPr>
          <p:cNvPr id="13" name="Rectangle 12"/>
          <p:cNvSpPr/>
          <p:nvPr/>
        </p:nvSpPr>
        <p:spPr>
          <a:xfrm>
            <a:off x="5349240" y="1719072"/>
            <a:ext cx="603504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85816" y="1719072"/>
            <a:ext cx="596188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average velocity must be 0</a:t>
            </a:r>
          </a:p>
        </p:txBody>
      </p:sp>
      <p:sp>
        <p:nvSpPr>
          <p:cNvPr id="15" name="Rectangle 14"/>
          <p:cNvSpPr/>
          <p:nvPr/>
        </p:nvSpPr>
        <p:spPr>
          <a:xfrm>
            <a:off x="594360" y="2359152"/>
            <a:ext cx="475488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 y="2359152"/>
            <a:ext cx="46817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average velocity = 0</a:t>
            </a:r>
          </a:p>
        </p:txBody>
      </p:sp>
      <p:sp>
        <p:nvSpPr>
          <p:cNvPr id="17" name="Rectangle 16"/>
          <p:cNvSpPr/>
          <p:nvPr/>
        </p:nvSpPr>
        <p:spPr>
          <a:xfrm>
            <a:off x="5349240" y="2359152"/>
            <a:ext cx="603504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85816" y="2359152"/>
            <a:ext cx="596188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average speed may still be &gt; 0</a:t>
            </a:r>
          </a:p>
        </p:txBody>
      </p:sp>
      <p:sp>
        <p:nvSpPr>
          <p:cNvPr id="19" name="Rectangle 18"/>
          <p:cNvSpPr/>
          <p:nvPr/>
        </p:nvSpPr>
        <p:spPr>
          <a:xfrm>
            <a:off x="594360" y="2999232"/>
            <a:ext cx="475488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999232"/>
            <a:ext cx="46817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average velocity ≠ 0</a:t>
            </a:r>
          </a:p>
        </p:txBody>
      </p:sp>
      <p:sp>
        <p:nvSpPr>
          <p:cNvPr id="21" name="Rectangle 20"/>
          <p:cNvSpPr/>
          <p:nvPr/>
        </p:nvSpPr>
        <p:spPr>
          <a:xfrm>
            <a:off x="5349240" y="2999232"/>
            <a:ext cx="603504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85816" y="2999232"/>
            <a:ext cx="5961888" cy="640080"/>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average speed must be &gt; 0</a:t>
            </a:r>
          </a:p>
        </p:txBody>
      </p:sp>
      <p:sp>
        <p:nvSpPr>
          <p:cNvPr id="23" name="TextBox 22"/>
          <p:cNvSpPr txBox="1"/>
          <p:nvPr/>
        </p:nvSpPr>
        <p:spPr>
          <a:xfrm>
            <a:off x="594360" y="3822191"/>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A closed loop has average velocity zero and average speed greater than zero.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METHOD</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Four readings from one graph</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9</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Before a new graph, name the axes. Then only four things are available.</a:t>
            </a:r>
          </a:p>
        </p:txBody>
      </p:sp>
      <p:sp>
        <p:nvSpPr>
          <p:cNvPr id="8" name="TextBox 7"/>
          <p:cNvSpPr txBox="1"/>
          <p:nvPr/>
        </p:nvSpPr>
        <p:spPr>
          <a:xfrm>
            <a:off x="594360" y="203911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The y-reading is the quantity on the vertical axis at that instant.</a:t>
            </a:r>
          </a:p>
        </p:txBody>
      </p:sp>
      <p:sp>
        <p:nvSpPr>
          <p:cNvPr id="9" name="TextBox 8"/>
          <p:cNvSpPr txBox="1"/>
          <p:nvPr/>
        </p:nvSpPr>
        <p:spPr>
          <a:xfrm>
            <a:off x="594360" y="25877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The x-reading is the quantity on the horizontal axis.</a:t>
            </a:r>
          </a:p>
        </p:txBody>
      </p:sp>
      <p:sp>
        <p:nvSpPr>
          <p:cNvPr id="10" name="TextBox 9"/>
          <p:cNvSpPr txBox="1"/>
          <p:nvPr/>
        </p:nvSpPr>
        <p:spPr>
          <a:xfrm>
            <a:off x="594360" y="313639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Slope = Δy / Δx. On an x–t graph the slope is velocity.</a:t>
            </a:r>
          </a:p>
        </p:txBody>
      </p:sp>
      <p:sp>
        <p:nvSpPr>
          <p:cNvPr id="11" name="TextBox 10"/>
          <p:cNvSpPr txBox="1"/>
          <p:nvPr/>
        </p:nvSpPr>
        <p:spPr>
          <a:xfrm>
            <a:off x="594360" y="373075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Area under a v–t graph equals displacement (watch the sign below the axis).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FIGURE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 kink on v–t is not a U-turn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10</a:t>
            </a:r>
          </a:p>
        </p:txBody>
      </p:sp>
      <p:sp>
        <p:nvSpPr>
          <p:cNvPr id="7" name="TextBox 6"/>
          <p:cNvSpPr txBox="1"/>
          <p:nvPr/>
        </p:nvSpPr>
        <p:spPr>
          <a:xfrm>
            <a:off x="594360" y="1078992"/>
            <a:ext cx="11018520" cy="100584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Direction of motion changes only when velocity crosses zero. A sharp peak or a sharp valley, while v stays positive, is only a change of acceleration.</a:t>
            </a:r>
          </a:p>
        </p:txBody>
      </p:sp>
      <p:cxnSp>
        <p:nvCxnSpPr>
          <p:cNvPr id="8" name="Connector 7"/>
          <p:cNvCxnSpPr/>
          <p:nvPr/>
        </p:nvCxnSpPr>
        <p:spPr>
          <a:xfrm>
            <a:off x="1280160" y="5440679"/>
            <a:ext cx="9326880"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80160" y="2331720"/>
            <a:ext cx="0" cy="3108959"/>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442448" y="5486399"/>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11" name="TextBox 10"/>
          <p:cNvSpPr txBox="1"/>
          <p:nvPr/>
        </p:nvSpPr>
        <p:spPr>
          <a:xfrm>
            <a:off x="1344168" y="233172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v</a:t>
            </a:r>
          </a:p>
        </p:txBody>
      </p:sp>
      <p:cxnSp>
        <p:nvCxnSpPr>
          <p:cNvPr id="12" name="Connector 11"/>
          <p:cNvCxnSpPr/>
          <p:nvPr/>
        </p:nvCxnSpPr>
        <p:spPr>
          <a:xfrm flipV="1">
            <a:off x="1280160" y="2720339"/>
            <a:ext cx="3730752" cy="1943101"/>
          </a:xfrm>
          <a:prstGeom prst="line">
            <a:avLst/>
          </a:prstGeom>
          <a:ln w="30480">
            <a:solidFill>
              <a:srgbClr val="FFD646"/>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10912" y="2720339"/>
            <a:ext cx="2798063" cy="2137410"/>
          </a:xfrm>
          <a:prstGeom prst="line">
            <a:avLst/>
          </a:prstGeom>
          <a:ln w="30480">
            <a:solidFill>
              <a:srgbClr val="FFD646"/>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808975" y="3886199"/>
            <a:ext cx="2331721" cy="971550"/>
          </a:xfrm>
          <a:prstGeom prst="line">
            <a:avLst/>
          </a:prstGeom>
          <a:ln w="30480">
            <a:solidFill>
              <a:srgbClr val="FFD646"/>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05839" y="4343400"/>
            <a:ext cx="365760" cy="228600"/>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FFFFFF"/>
                </a:solidFill>
                <a:latin typeface="Aptos"/>
              </a:rPr>
              <a:t>A</a:t>
            </a:r>
          </a:p>
        </p:txBody>
      </p:sp>
      <p:sp>
        <p:nvSpPr>
          <p:cNvPr id="16" name="TextBox 15"/>
          <p:cNvSpPr txBox="1"/>
          <p:nvPr/>
        </p:nvSpPr>
        <p:spPr>
          <a:xfrm>
            <a:off x="4873752" y="2354579"/>
            <a:ext cx="365760" cy="228600"/>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FF9E40"/>
                </a:solidFill>
                <a:latin typeface="Aptos"/>
              </a:rPr>
              <a:t>B</a:t>
            </a:r>
          </a:p>
        </p:txBody>
      </p:sp>
      <p:sp>
        <p:nvSpPr>
          <p:cNvPr id="17" name="TextBox 16"/>
          <p:cNvSpPr txBox="1"/>
          <p:nvPr/>
        </p:nvSpPr>
        <p:spPr>
          <a:xfrm>
            <a:off x="7671815" y="4994909"/>
            <a:ext cx="365760" cy="228600"/>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FF9E40"/>
                </a:solidFill>
                <a:latin typeface="Aptos"/>
              </a:rPr>
              <a:t>C</a:t>
            </a:r>
          </a:p>
        </p:txBody>
      </p:sp>
      <p:sp>
        <p:nvSpPr>
          <p:cNvPr id="18" name="TextBox 17"/>
          <p:cNvSpPr txBox="1"/>
          <p:nvPr/>
        </p:nvSpPr>
        <p:spPr>
          <a:xfrm>
            <a:off x="10213848" y="3886199"/>
            <a:ext cx="365760" cy="228600"/>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FFFFFF"/>
                </a:solidFill>
                <a:latin typeface="Aptos"/>
              </a:rPr>
              <a:t>D</a:t>
            </a:r>
          </a:p>
        </p:txBody>
      </p:sp>
      <p:sp>
        <p:nvSpPr>
          <p:cNvPr id="19" name="TextBox 18"/>
          <p:cNvSpPr txBox="1"/>
          <p:nvPr/>
        </p:nvSpPr>
        <p:spPr>
          <a:xfrm>
            <a:off x="594360" y="505663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v never crosses 0  →  direction of motion does not change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Where a real U-turn sits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11</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On a v–t graph, mark only the crossings of the time axis. Those are the instants when velocity changes sign. A maximum or a minimum of speed, away from the axis, is not a turn-around.</a:t>
            </a:r>
          </a:p>
        </p:txBody>
      </p:sp>
      <p:cxnSp>
        <p:nvCxnSpPr>
          <p:cNvPr id="8" name="Connector 7"/>
          <p:cNvCxnSpPr/>
          <p:nvPr/>
        </p:nvCxnSpPr>
        <p:spPr>
          <a:xfrm>
            <a:off x="1371600" y="3977639"/>
            <a:ext cx="9144000"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371600" y="2468880"/>
            <a:ext cx="0" cy="301752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351008" y="4023359"/>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11" name="TextBox 10"/>
          <p:cNvSpPr txBox="1"/>
          <p:nvPr/>
        </p:nvSpPr>
        <p:spPr>
          <a:xfrm>
            <a:off x="1435608" y="246888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v</a:t>
            </a:r>
          </a:p>
        </p:txBody>
      </p:sp>
      <p:cxnSp>
        <p:nvCxnSpPr>
          <p:cNvPr id="12" name="Connector 11"/>
          <p:cNvCxnSpPr/>
          <p:nvPr/>
        </p:nvCxnSpPr>
        <p:spPr>
          <a:xfrm>
            <a:off x="1371600" y="2846070"/>
            <a:ext cx="2286000" cy="1131569"/>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3977639"/>
            <a:ext cx="2286000" cy="113157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943600" y="3977639"/>
            <a:ext cx="2286000" cy="1131571"/>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229600" y="3034665"/>
            <a:ext cx="1828800" cy="942974"/>
          </a:xfrm>
          <a:prstGeom prst="line">
            <a:avLst/>
          </a:prstGeom>
          <a:ln w="30480">
            <a:solidFill>
              <a:srgbClr val="FFD64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37560" y="4114800"/>
            <a:ext cx="822960" cy="228600"/>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5AD680"/>
                </a:solidFill>
                <a:latin typeface="Aptos"/>
              </a:rPr>
              <a:t>cross</a:t>
            </a:r>
          </a:p>
        </p:txBody>
      </p:sp>
      <p:sp>
        <p:nvSpPr>
          <p:cNvPr id="17" name="TextBox 16"/>
          <p:cNvSpPr txBox="1"/>
          <p:nvPr/>
        </p:nvSpPr>
        <p:spPr>
          <a:xfrm>
            <a:off x="7909560" y="3611879"/>
            <a:ext cx="822960" cy="228600"/>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5AD680"/>
                </a:solidFill>
                <a:latin typeface="Aptos"/>
              </a:rPr>
              <a:t>cross</a:t>
            </a:r>
          </a:p>
        </p:txBody>
      </p:sp>
      <p:sp>
        <p:nvSpPr>
          <p:cNvPr id="18" name="TextBox 17"/>
          <p:cNvSpPr txBox="1"/>
          <p:nvPr/>
        </p:nvSpPr>
        <p:spPr>
          <a:xfrm>
            <a:off x="5486400" y="4789170"/>
            <a:ext cx="1188720" cy="228600"/>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FF9E40"/>
                </a:solidFill>
                <a:latin typeface="Aptos"/>
              </a:rPr>
              <a:t>not a turn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v = 0, and still no reversal</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13</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x = t³/3 − 2t² + 4t. Find distance and displacement in the first 3 s.</a:t>
            </a:r>
          </a:p>
        </p:txBody>
      </p:sp>
      <p:sp>
        <p:nvSpPr>
          <p:cNvPr id="8" name="TextBox 7"/>
          <p:cNvSpPr txBox="1"/>
          <p:nvPr/>
        </p:nvSpPr>
        <p:spPr>
          <a:xfrm>
            <a:off x="594360" y="19933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 = t² − 4t + 4 = (t − 2)²</a:t>
            </a:r>
          </a:p>
        </p:txBody>
      </p:sp>
      <p:sp>
        <p:nvSpPr>
          <p:cNvPr id="9" name="TextBox 8"/>
          <p:cNvSpPr txBox="1"/>
          <p:nvPr/>
        </p:nvSpPr>
        <p:spPr>
          <a:xfrm>
            <a:off x="594360" y="25420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v = 0 at t = 2 s, but (t − 2)² never becomes negative.</a:t>
            </a:r>
          </a:p>
        </p:txBody>
      </p:sp>
      <p:sp>
        <p:nvSpPr>
          <p:cNvPr id="10" name="TextBox 9"/>
          <p:cNvSpPr txBox="1"/>
          <p:nvPr/>
        </p:nvSpPr>
        <p:spPr>
          <a:xfrm>
            <a:off x="594360" y="30906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x(0) = 0 , x(3) = 3. No split of the path.</a:t>
            </a:r>
          </a:p>
        </p:txBody>
      </p:sp>
      <p:sp>
        <p:nvSpPr>
          <p:cNvPr id="11" name="TextBox 10"/>
          <p:cNvSpPr txBox="1"/>
          <p:nvPr/>
        </p:nvSpPr>
        <p:spPr>
          <a:xfrm>
            <a:off x="594360" y="39593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distance = 3 m    ·    displacement = 3 m</a:t>
            </a:r>
          </a:p>
        </p:txBody>
      </p:sp>
      <p:sp>
        <p:nvSpPr>
          <p:cNvPr id="12" name="TextBox 11"/>
          <p:cNvSpPr txBox="1"/>
          <p:nvPr/>
        </p:nvSpPr>
        <p:spPr>
          <a:xfrm>
            <a:off x="594360" y="46451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A root of v = 0 is a U-turn only when v changes 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Read the start from x = αt² + βt − γ</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14</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x(0) = −γ     →     the object starts at x = −γ</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 = 2αt + β     →     v(0) = β</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v(2 s) = 4α + β</a:t>
            </a:r>
          </a:p>
        </p:txBody>
      </p:sp>
      <p:sp>
        <p:nvSpPr>
          <p:cNvPr id="10" name="TextBox 9"/>
          <p:cNvSpPr txBox="1"/>
          <p:nvPr/>
        </p:nvSpPr>
        <p:spPr>
          <a:xfrm>
            <a:off x="594360" y="3273552"/>
            <a:ext cx="11018520" cy="91440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α, β and γ are constants given in the question. Do not treat them as variables you must eliminate.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Average speed from v = 3t²</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15</a:t>
            </a:r>
          </a:p>
        </p:txBody>
      </p:sp>
      <p:sp>
        <p:nvSpPr>
          <p:cNvPr id="7" name="TextBox 6"/>
          <p:cNvSpPr txBox="1"/>
          <p:nvPr/>
        </p:nvSpPr>
        <p:spPr>
          <a:xfrm>
            <a:off x="594360" y="1078992"/>
            <a:ext cx="11018520" cy="100584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Speed at time t is 3t² (already positive). Average speed over the first 2 s is the area under the speed–time curve, divided by 2 s.</a:t>
            </a:r>
          </a:p>
        </p:txBody>
      </p:sp>
      <p:sp>
        <p:nvSpPr>
          <p:cNvPr id="8" name="TextBox 7"/>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area = ∫ from 0 to 2 of 3t² dt = [t³] from 0 to 2 = 8</a:t>
            </a:r>
          </a:p>
        </p:txBody>
      </p:sp>
      <p:sp>
        <p:nvSpPr>
          <p:cNvPr id="9" name="TextBox 8"/>
          <p:cNvSpPr txBox="1"/>
          <p:nvPr/>
        </p:nvSpPr>
        <p:spPr>
          <a:xfrm>
            <a:off x="594360" y="2816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average speed = 8 / 2 = 4 m/s</a:t>
            </a:r>
          </a:p>
        </p:txBody>
      </p:sp>
      <p:sp>
        <p:nvSpPr>
          <p:cNvPr id="10" name="TextBox 9"/>
          <p:cNvSpPr txBox="1"/>
          <p:nvPr/>
        </p:nvSpPr>
        <p:spPr>
          <a:xfrm>
            <a:off x="594360" y="37307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average  v(0) and v(2)  by adding and dividing by 2. The speed is not linear.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FIGURE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Chord versus tangent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16</a:t>
            </a:r>
          </a:p>
        </p:txBody>
      </p:sp>
      <p:sp>
        <p:nvSpPr>
          <p:cNvPr id="7" name="TextBox 6"/>
          <p:cNvSpPr txBox="1"/>
          <p:nvPr/>
        </p:nvSpPr>
        <p:spPr>
          <a:xfrm>
            <a:off x="594360" y="1078992"/>
            <a:ext cx="11018520" cy="100584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On a curved path, average velocity points along the straight displacement from the start to the end. Instantaneous velocity points along the tangent at that moment.</a:t>
            </a:r>
          </a:p>
        </p:txBody>
      </p:sp>
      <p:cxnSp>
        <p:nvCxnSpPr>
          <p:cNvPr id="8" name="Connector 7"/>
          <p:cNvCxnSpPr/>
          <p:nvPr/>
        </p:nvCxnSpPr>
        <p:spPr>
          <a:xfrm flipV="1">
            <a:off x="2011680" y="3108960"/>
            <a:ext cx="1280160" cy="1645920"/>
          </a:xfrm>
          <a:prstGeom prst="line">
            <a:avLst/>
          </a:prstGeom>
          <a:ln w="3302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291840" y="2743200"/>
            <a:ext cx="1645920" cy="365760"/>
          </a:xfrm>
          <a:prstGeom prst="line">
            <a:avLst/>
          </a:prstGeom>
          <a:ln w="3302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37760" y="2743200"/>
            <a:ext cx="1645920" cy="1097280"/>
          </a:xfrm>
          <a:prstGeom prst="line">
            <a:avLst/>
          </a:prstGeom>
          <a:ln w="3302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11680" y="3840480"/>
            <a:ext cx="4572000" cy="914400"/>
          </a:xfrm>
          <a:prstGeom prst="line">
            <a:avLst/>
          </a:prstGeom>
          <a:ln w="33020">
            <a:solidFill>
              <a:srgbClr val="5AD68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840480"/>
            <a:ext cx="1280160" cy="1005840"/>
          </a:xfrm>
          <a:prstGeom prst="line">
            <a:avLst/>
          </a:prstGeom>
          <a:ln w="30480">
            <a:solidFill>
              <a:srgbClr val="FFD646"/>
            </a:solidFill>
            <a:tailEnd type="triangle"/>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970532" y="4713732"/>
            <a:ext cx="82296" cy="8229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42532" y="3799332"/>
            <a:ext cx="82296" cy="8229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920" y="4892040"/>
            <a:ext cx="365760" cy="228600"/>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FFFFFF"/>
                </a:solidFill>
                <a:latin typeface="Aptos"/>
              </a:rPr>
              <a:t>A</a:t>
            </a:r>
          </a:p>
        </p:txBody>
      </p:sp>
      <p:sp>
        <p:nvSpPr>
          <p:cNvPr id="16" name="TextBox 15"/>
          <p:cNvSpPr txBox="1"/>
          <p:nvPr/>
        </p:nvSpPr>
        <p:spPr>
          <a:xfrm>
            <a:off x="6675120" y="3520440"/>
            <a:ext cx="365760" cy="228600"/>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FFFFFF"/>
                </a:solidFill>
                <a:latin typeface="Aptos"/>
              </a:rPr>
              <a:t>B</a:t>
            </a:r>
          </a:p>
        </p:txBody>
      </p:sp>
      <p:sp>
        <p:nvSpPr>
          <p:cNvPr id="17" name="TextBox 16"/>
          <p:cNvSpPr txBox="1"/>
          <p:nvPr/>
        </p:nvSpPr>
        <p:spPr>
          <a:xfrm>
            <a:off x="3840480" y="4480560"/>
            <a:ext cx="1097280" cy="256032"/>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5AD680"/>
                </a:solidFill>
                <a:latin typeface="Aptos"/>
              </a:rPr>
              <a:t>vₐvg</a:t>
            </a:r>
          </a:p>
        </p:txBody>
      </p:sp>
      <p:sp>
        <p:nvSpPr>
          <p:cNvPr id="18" name="TextBox 17"/>
          <p:cNvSpPr txBox="1"/>
          <p:nvPr/>
        </p:nvSpPr>
        <p:spPr>
          <a:xfrm>
            <a:off x="7772400" y="4892040"/>
            <a:ext cx="1097280" cy="256032"/>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FFD646"/>
                </a:solidFill>
                <a:latin typeface="Aptos"/>
              </a:rPr>
              <a:t>v at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Same end-points, same average velocity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17</a:t>
            </a:r>
          </a:p>
        </p:txBody>
      </p:sp>
      <p:sp>
        <p:nvSpPr>
          <p:cNvPr id="7" name="TextBox 6"/>
          <p:cNvSpPr txBox="1"/>
          <p:nvPr/>
        </p:nvSpPr>
        <p:spPr>
          <a:xfrm>
            <a:off x="594360" y="1078992"/>
            <a:ext cx="11018520" cy="118872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Average velocity uses only the displacement and the time taken. Two different x–t curves that start together and finish together have the same average velocity, even if one is straight and one bends.</a:t>
            </a:r>
          </a:p>
        </p:txBody>
      </p:sp>
      <p:cxnSp>
        <p:nvCxnSpPr>
          <p:cNvPr id="8" name="Connector 7"/>
          <p:cNvCxnSpPr/>
          <p:nvPr/>
        </p:nvCxnSpPr>
        <p:spPr>
          <a:xfrm>
            <a:off x="1463040" y="5486400"/>
            <a:ext cx="9144000"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463040" y="2560320"/>
            <a:ext cx="0" cy="292608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442448" y="5532120"/>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11" name="TextBox 10"/>
          <p:cNvSpPr txBox="1"/>
          <p:nvPr/>
        </p:nvSpPr>
        <p:spPr>
          <a:xfrm>
            <a:off x="1527048" y="256032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x</a:t>
            </a:r>
          </a:p>
        </p:txBody>
      </p:sp>
      <p:cxnSp>
        <p:nvCxnSpPr>
          <p:cNvPr id="12" name="Connector 11"/>
          <p:cNvCxnSpPr/>
          <p:nvPr/>
        </p:nvCxnSpPr>
        <p:spPr>
          <a:xfrm flipV="1">
            <a:off x="1463040" y="3291839"/>
            <a:ext cx="6858000" cy="2194561"/>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463040" y="4023360"/>
            <a:ext cx="2285999" cy="1463040"/>
          </a:xfrm>
          <a:prstGeom prst="line">
            <a:avLst/>
          </a:prstGeom>
          <a:ln w="2794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749039" y="4023360"/>
            <a:ext cx="2286001" cy="292608"/>
          </a:xfrm>
          <a:prstGeom prst="line">
            <a:avLst/>
          </a:prstGeom>
          <a:ln w="2794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035040" y="3291839"/>
            <a:ext cx="2286000" cy="1024129"/>
          </a:xfrm>
          <a:prstGeom prst="line">
            <a:avLst/>
          </a:prstGeom>
          <a:ln w="2794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463040" y="5047488"/>
            <a:ext cx="2285999" cy="438912"/>
          </a:xfrm>
          <a:prstGeom prst="line">
            <a:avLst/>
          </a:prstGeom>
          <a:ln w="27940">
            <a:solidFill>
              <a:srgbClr val="5AD68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749039" y="3840480"/>
            <a:ext cx="2286001" cy="1207008"/>
          </a:xfrm>
          <a:prstGeom prst="line">
            <a:avLst/>
          </a:prstGeom>
          <a:ln w="27940">
            <a:solidFill>
              <a:srgbClr val="5AD6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035040" y="3291839"/>
            <a:ext cx="2286000" cy="548641"/>
          </a:xfrm>
          <a:prstGeom prst="line">
            <a:avLst/>
          </a:prstGeom>
          <a:ln w="27940">
            <a:solidFill>
              <a:srgbClr val="5AD68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91947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Same Δx and same Δt  →  same average velocity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Average velocity in a plane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19</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At t = 0 the position is (2, 3) m. At t = 5 s the position is (13, 14) m. A point recorded at t = 2 s is not needed.</a:t>
            </a:r>
          </a:p>
        </p:txBody>
      </p:sp>
      <p:sp>
        <p:nvSpPr>
          <p:cNvPr id="8" name="TextBox 7"/>
          <p:cNvSpPr txBox="1"/>
          <p:nvPr/>
        </p:nvSpPr>
        <p:spPr>
          <a:xfrm>
            <a:off x="594360" y="22219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Δr = (13 − 2)î + (14 − 3)ĵ = 11î + 11ĵ</a:t>
            </a:r>
          </a:p>
        </p:txBody>
      </p:sp>
      <p:sp>
        <p:nvSpPr>
          <p:cNvPr id="9" name="TextBox 8"/>
          <p:cNvSpPr txBox="1"/>
          <p:nvPr/>
        </p:nvSpPr>
        <p:spPr>
          <a:xfrm>
            <a:off x="594360" y="27706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vₐvg = Δr / 5 = (11/5)î + (11/5)ĵ</a:t>
            </a:r>
          </a:p>
        </p:txBody>
      </p:sp>
      <p:sp>
        <p:nvSpPr>
          <p:cNvPr id="10" name="TextBox 9"/>
          <p:cNvSpPr txBox="1"/>
          <p:nvPr/>
        </p:nvSpPr>
        <p:spPr>
          <a:xfrm>
            <a:off x="594360" y="363931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vₐvg = (11/5)(î + ĵ) 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Slope ratio on x–t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20</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Two straight x–t lines leave the origin. Line A makes 45° with the time axis. Line B makes 30° with the time axis. Velocity is the slope.</a:t>
            </a:r>
          </a:p>
        </p:txBody>
      </p:sp>
      <p:sp>
        <p:nvSpPr>
          <p:cNvPr id="8" name="TextBox 7"/>
          <p:cNvSpPr txBox="1"/>
          <p:nvPr/>
        </p:nvSpPr>
        <p:spPr>
          <a:xfrm>
            <a:off x="594360" y="22219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v</a:t>
            </a:r>
            <a:r>
              <a:rPr sz="1530" b="1">
                <a:solidFill>
                  <a:srgbClr val="5AC8FF"/>
                </a:solidFill>
                <a:latin typeface="Aptos"/>
                <a:baseline val="-25000"/>
              </a:rPr>
              <a:t>A</a:t>
            </a:r>
            <a:r>
              <a:rPr sz="1530" b="1">
                <a:solidFill>
                  <a:srgbClr val="5AC8FF"/>
                </a:solidFill>
                <a:latin typeface="Aptos"/>
              </a:rPr>
              <a:t> / v</a:t>
            </a:r>
            <a:r>
              <a:rPr sz="1530" b="1">
                <a:solidFill>
                  <a:srgbClr val="5AC8FF"/>
                </a:solidFill>
                <a:latin typeface="Aptos"/>
                <a:baseline val="-25000"/>
              </a:rPr>
              <a:t>B</a:t>
            </a:r>
            <a:r>
              <a:rPr sz="1530" b="1">
                <a:solidFill>
                  <a:srgbClr val="5AC8FF"/>
                </a:solidFill>
                <a:latin typeface="Aptos"/>
              </a:rPr>
              <a:t> = tan 45° / tan 30°</a:t>
            </a:r>
          </a:p>
        </p:txBody>
      </p:sp>
      <p:sp>
        <p:nvSpPr>
          <p:cNvPr id="9" name="TextBox 8"/>
          <p:cNvSpPr txBox="1"/>
          <p:nvPr/>
        </p:nvSpPr>
        <p:spPr>
          <a:xfrm>
            <a:off x="594360" y="27706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 = 1 / (1/√3) = √3</a:t>
            </a:r>
          </a:p>
        </p:txBody>
      </p:sp>
      <p:cxnSp>
        <p:nvCxnSpPr>
          <p:cNvPr id="10" name="Connector 9"/>
          <p:cNvCxnSpPr/>
          <p:nvPr/>
        </p:nvCxnSpPr>
        <p:spPr>
          <a:xfrm>
            <a:off x="6949440" y="5394960"/>
            <a:ext cx="4389119"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49440" y="3017520"/>
            <a:ext cx="0" cy="237744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173967" y="5440680"/>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13" name="TextBox 12"/>
          <p:cNvSpPr txBox="1"/>
          <p:nvPr/>
        </p:nvSpPr>
        <p:spPr>
          <a:xfrm>
            <a:off x="7013448" y="301752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x</a:t>
            </a:r>
          </a:p>
        </p:txBody>
      </p:sp>
      <p:cxnSp>
        <p:nvCxnSpPr>
          <p:cNvPr id="14" name="Connector 13"/>
          <p:cNvCxnSpPr/>
          <p:nvPr/>
        </p:nvCxnSpPr>
        <p:spPr>
          <a:xfrm flipV="1">
            <a:off x="6949440" y="4126992"/>
            <a:ext cx="2340864" cy="1267968"/>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949440" y="4434100"/>
            <a:ext cx="3072384" cy="960860"/>
          </a:xfrm>
          <a:prstGeom prst="line">
            <a:avLst/>
          </a:prstGeom>
          <a:ln w="27940">
            <a:solidFill>
              <a:srgbClr val="FF9E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558784" y="4364736"/>
            <a:ext cx="640080" cy="228600"/>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FFD646"/>
                </a:solidFill>
                <a:latin typeface="Aptos"/>
              </a:rPr>
              <a:t>45°</a:t>
            </a:r>
          </a:p>
        </p:txBody>
      </p:sp>
      <p:sp>
        <p:nvSpPr>
          <p:cNvPr id="17" name="TextBox 16"/>
          <p:cNvSpPr txBox="1"/>
          <p:nvPr/>
        </p:nvSpPr>
        <p:spPr>
          <a:xfrm>
            <a:off x="9290304" y="4919472"/>
            <a:ext cx="640080" cy="228600"/>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FF9E40"/>
                </a:solidFill>
                <a:latin typeface="Aptos"/>
              </a:rPr>
              <a:t>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MCQ — half a circle at steady speed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21</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Uniform speed v on a circle. After half a circle, the change in velocity and the change in speed are</a:t>
            </a:r>
          </a:p>
        </p:txBody>
      </p:sp>
      <p:sp>
        <p:nvSpPr>
          <p:cNvPr id="8" name="Oval 7"/>
          <p:cNvSpPr/>
          <p:nvPr/>
        </p:nvSpPr>
        <p:spPr>
          <a:xfrm>
            <a:off x="594360" y="20939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122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75688"/>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zero , zero</a:t>
            </a:r>
          </a:p>
        </p:txBody>
      </p:sp>
      <p:sp>
        <p:nvSpPr>
          <p:cNvPr id="11" name="Oval 10"/>
          <p:cNvSpPr/>
          <p:nvPr/>
        </p:nvSpPr>
        <p:spPr>
          <a:xfrm>
            <a:off x="594360" y="25694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877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51176"/>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2v , zero</a:t>
            </a:r>
          </a:p>
        </p:txBody>
      </p:sp>
      <p:sp>
        <p:nvSpPr>
          <p:cNvPr id="14" name="Oval 13"/>
          <p:cNvSpPr/>
          <p:nvPr/>
        </p:nvSpPr>
        <p:spPr>
          <a:xfrm>
            <a:off x="594360" y="30449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632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026664"/>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2v , 2v</a:t>
            </a:r>
          </a:p>
        </p:txBody>
      </p:sp>
      <p:sp>
        <p:nvSpPr>
          <p:cNvPr id="17" name="Oval 16"/>
          <p:cNvSpPr/>
          <p:nvPr/>
        </p:nvSpPr>
        <p:spPr>
          <a:xfrm>
            <a:off x="594360" y="35204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387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02152"/>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zero , 2v</a:t>
            </a:r>
          </a:p>
        </p:txBody>
      </p:sp>
      <p:cxnSp>
        <p:nvCxnSpPr>
          <p:cNvPr id="20" name="Connector 19"/>
          <p:cNvCxnSpPr/>
          <p:nvPr/>
        </p:nvCxnSpPr>
        <p:spPr>
          <a:xfrm flipH="1" flipV="1">
            <a:off x="10310739" y="3997114"/>
            <a:ext cx="21980" cy="209126"/>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245760" y="3797128"/>
            <a:ext cx="64979" cy="199986"/>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140621" y="3615022"/>
            <a:ext cx="105139" cy="182106"/>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9999918" y="3458755"/>
            <a:ext cx="140703" cy="156267"/>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9829800" y="3335157"/>
            <a:ext cx="170118" cy="123598"/>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9637701" y="3249629"/>
            <a:ext cx="192099" cy="85528"/>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9432018" y="3205910"/>
            <a:ext cx="205683" cy="43719"/>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9221741" y="3205910"/>
            <a:ext cx="210277" cy="0"/>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9016058" y="3205910"/>
            <a:ext cx="205683" cy="43719"/>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8823959" y="3249629"/>
            <a:ext cx="192099" cy="85528"/>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8653841" y="3335157"/>
            <a:ext cx="170118" cy="123598"/>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513138" y="3458755"/>
            <a:ext cx="140703" cy="156267"/>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8407999" y="3615022"/>
            <a:ext cx="105139" cy="182106"/>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8343020" y="3797128"/>
            <a:ext cx="64979" cy="199986"/>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8321040" y="3997114"/>
            <a:ext cx="21980" cy="209126"/>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332719" y="3566159"/>
            <a:ext cx="0" cy="640081"/>
          </a:xfrm>
          <a:prstGeom prst="line">
            <a:avLst/>
          </a:prstGeom>
          <a:ln w="25400">
            <a:solidFill>
              <a:srgbClr val="FFD646"/>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321040" y="4206240"/>
            <a:ext cx="0" cy="640080"/>
          </a:xfrm>
          <a:prstGeom prst="line">
            <a:avLst/>
          </a:prstGeom>
          <a:ln w="25400">
            <a:solidFill>
              <a:srgbClr val="5AD68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MCQ — half a circle at steady speed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22</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the two velocity arrows have the same size and opposite direction, so their difference has size 2v. Speed never changed.</a:t>
            </a:r>
          </a:p>
        </p:txBody>
      </p:sp>
      <p:sp>
        <p:nvSpPr>
          <p:cNvPr id="8" name="TextBox 7"/>
          <p:cNvSpPr txBox="1"/>
          <p:nvPr/>
        </p:nvSpPr>
        <p:spPr>
          <a:xfrm>
            <a:off x="594360" y="208483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Answer: 2v , zero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 half that is itself an average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23</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First half of the distance at 5 m/s. The second half is covered in two equal times, at 15 m/s and at 25 m/s.</a:t>
            </a:r>
          </a:p>
        </p:txBody>
      </p:sp>
      <p:sp>
        <p:nvSpPr>
          <p:cNvPr id="8" name="TextBox 7"/>
          <p:cNvSpPr txBox="1"/>
          <p:nvPr/>
        </p:nvSpPr>
        <p:spPr>
          <a:xfrm>
            <a:off x="594360" y="22219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On the second half, × are equal:  (15 + 25) / 2 = 20 m/s</a:t>
            </a:r>
          </a:p>
        </p:txBody>
      </p:sp>
      <p:sp>
        <p:nvSpPr>
          <p:cNvPr id="9" name="TextBox 8"/>
          <p:cNvSpPr txBox="1"/>
          <p:nvPr/>
        </p:nvSpPr>
        <p:spPr>
          <a:xfrm>
            <a:off x="594360" y="27706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Whole trip: equal distances at 5 m/s and 20 m/s</a:t>
            </a:r>
          </a:p>
        </p:txBody>
      </p:sp>
      <p:sp>
        <p:nvSpPr>
          <p:cNvPr id="10" name="TextBox 9"/>
          <p:cNvSpPr txBox="1"/>
          <p:nvPr/>
        </p:nvSpPr>
        <p:spPr>
          <a:xfrm>
            <a:off x="594360" y="3319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average = 2 × 5 × 20 / (5 + 20) = 8 m/s</a:t>
            </a:r>
          </a:p>
        </p:txBody>
      </p:sp>
      <p:sp>
        <p:nvSpPr>
          <p:cNvPr id="11" name="TextBox 10"/>
          <p:cNvSpPr txBox="1"/>
          <p:nvPr/>
        </p:nvSpPr>
        <p:spPr>
          <a:xfrm>
            <a:off x="594360" y="4096511"/>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8 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An average that cannot exist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25</a:t>
            </a:r>
          </a:p>
        </p:txBody>
      </p:sp>
      <p:sp>
        <p:nvSpPr>
          <p:cNvPr id="7" name="TextBox 6"/>
          <p:cNvSpPr txBox="1"/>
          <p:nvPr/>
        </p:nvSpPr>
        <p:spPr>
          <a:xfrm>
            <a:off x="594360" y="1078992"/>
            <a:ext cx="11018520" cy="10058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Equal distances. First half at 100 m/s. Someone claims the average for the whole trip is 200 m/s. Find the speed on the second half.</a:t>
            </a:r>
          </a:p>
        </p:txBody>
      </p:sp>
      <p:sp>
        <p:nvSpPr>
          <p:cNvPr id="8" name="TextBox 7"/>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2 × 100 × v / (100 + v) = 200</a:t>
            </a:r>
          </a:p>
        </p:txBody>
      </p:sp>
      <p:sp>
        <p:nvSpPr>
          <p:cNvPr id="9" name="TextBox 8"/>
          <p:cNvSpPr txBox="1"/>
          <p:nvPr/>
        </p:nvSpPr>
        <p:spPr>
          <a:xfrm>
            <a:off x="594360" y="2816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100 v = 100(100 + v)</a:t>
            </a:r>
          </a:p>
        </p:txBody>
      </p:sp>
      <p:sp>
        <p:nvSpPr>
          <p:cNvPr id="10" name="TextBox 9"/>
          <p:cNvSpPr txBox="1"/>
          <p:nvPr/>
        </p:nvSpPr>
        <p:spPr>
          <a:xfrm>
            <a:off x="594360" y="33649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0 = 100     →     no real speed v</a:t>
            </a:r>
          </a:p>
        </p:txBody>
      </p:sp>
      <p:sp>
        <p:nvSpPr>
          <p:cNvPr id="11" name="TextBox 10"/>
          <p:cNvSpPr txBox="1"/>
          <p:nvPr/>
        </p:nvSpPr>
        <p:spPr>
          <a:xfrm>
            <a:off x="594360" y="4096511"/>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Average speed on equal distances always lies between the two speeds. 200 cannot sit above both if one of them is 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LOCK LINES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Only today’s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26</a:t>
            </a:r>
          </a:p>
        </p:txBody>
      </p:sp>
      <p:sp>
        <p:nvSpPr>
          <p:cNvPr id="7" name="TextBox 6"/>
          <p:cNvSpPr txBox="1"/>
          <p:nvPr/>
        </p:nvSpPr>
        <p:spPr>
          <a:xfrm>
            <a:off x="594360" y="1078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v = dx/dt. Speed at that instant is |v|.</a:t>
            </a:r>
          </a:p>
        </p:txBody>
      </p:sp>
      <p:sp>
        <p:nvSpPr>
          <p:cNvPr id="8" name="TextBox 7"/>
          <p:cNvSpPr txBox="1"/>
          <p:nvPr/>
        </p:nvSpPr>
        <p:spPr>
          <a:xfrm>
            <a:off x="594360" y="158191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|average velocity| ≤ average speed.</a:t>
            </a:r>
          </a:p>
        </p:txBody>
      </p:sp>
      <p:sp>
        <p:nvSpPr>
          <p:cNvPr id="9" name="TextBox 8"/>
          <p:cNvSpPr txBox="1"/>
          <p:nvPr/>
        </p:nvSpPr>
        <p:spPr>
          <a:xfrm>
            <a:off x="594360" y="208483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Constant speed can still have a changing velocity.</a:t>
            </a:r>
          </a:p>
        </p:txBody>
      </p:sp>
      <p:sp>
        <p:nvSpPr>
          <p:cNvPr id="10" name="TextBox 9"/>
          <p:cNvSpPr txBox="1"/>
          <p:nvPr/>
        </p:nvSpPr>
        <p:spPr>
          <a:xfrm>
            <a:off x="594360" y="2587752"/>
            <a:ext cx="11018520" cy="475488"/>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On v–t, direction changes only where the graph crosses zero.</a:t>
            </a:r>
          </a:p>
        </p:txBody>
      </p:sp>
      <p:sp>
        <p:nvSpPr>
          <p:cNvPr id="11" name="TextBox 10"/>
          <p:cNvSpPr txBox="1"/>
          <p:nvPr/>
        </p:nvSpPr>
        <p:spPr>
          <a:xfrm>
            <a:off x="594360" y="309067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v = 0 with no sign change is not a U-turn.</a:t>
            </a:r>
          </a:p>
        </p:txBody>
      </p:sp>
      <p:sp>
        <p:nvSpPr>
          <p:cNvPr id="12" name="TextBox 11"/>
          <p:cNvSpPr txBox="1"/>
          <p:nvPr/>
        </p:nvSpPr>
        <p:spPr>
          <a:xfrm>
            <a:off x="594360" y="359359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Average velocity follows the displacement chord, not the bend of the path.</a:t>
            </a:r>
          </a:p>
        </p:txBody>
      </p:sp>
      <p:sp>
        <p:nvSpPr>
          <p:cNvPr id="13" name="TextBox 12"/>
          <p:cNvSpPr txBox="1"/>
          <p:nvPr/>
        </p:nvSpPr>
        <p:spPr>
          <a:xfrm>
            <a:off x="594360" y="41422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FFFF"/>
                </a:solidFill>
                <a:latin typeface="Aptos"/>
              </a:rPr>
              <a:t>•  Area under a speed–time curve, divided by time, is average speed.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END</a:t>
            </a:r>
          </a:p>
        </p:txBody>
      </p:sp>
      <p:sp>
        <p:nvSpPr>
          <p:cNvPr id="4" name="TextBox 3"/>
          <p:cNvSpPr txBox="1"/>
          <p:nvPr/>
        </p:nvSpPr>
        <p:spPr>
          <a:xfrm>
            <a:off x="635508" y="2235708"/>
            <a:ext cx="11018520" cy="914400"/>
          </a:xfrm>
          <a:prstGeom prst="rect">
            <a:avLst/>
          </a:prstGeom>
          <a:noFill/>
        </p:spPr>
        <p:txBody>
          <a:bodyPr wrap="square" lIns="0" rIns="0" tIns="0" bIns="0" anchor="t">
            <a:spAutoFit/>
          </a:bodyPr>
          <a:lstStyle/>
          <a:p>
            <a:pPr algn="ctr">
              <a:lnSpc>
                <a:spcPct val="110000"/>
              </a:lnSpc>
              <a:spcBef>
                <a:spcPts val="0"/>
              </a:spcBef>
              <a:spcAft>
                <a:spcPts val="0"/>
              </a:spcAft>
            </a:pPr>
            <a:r>
              <a:rPr sz="4800" b="1">
                <a:solidFill>
                  <a:srgbClr val="787882"/>
                </a:solidFill>
                <a:latin typeface="Arial Black"/>
              </a:rPr>
              <a:t>Thank you</a:t>
            </a:r>
          </a:p>
        </p:txBody>
      </p:sp>
      <p:sp>
        <p:nvSpPr>
          <p:cNvPr id="5" name="TextBox 4"/>
          <p:cNvSpPr txBox="1"/>
          <p:nvPr/>
        </p:nvSpPr>
        <p:spPr>
          <a:xfrm>
            <a:off x="594360" y="2194560"/>
            <a:ext cx="11018520" cy="914400"/>
          </a:xfrm>
          <a:prstGeom prst="rect">
            <a:avLst/>
          </a:prstGeom>
          <a:noFill/>
        </p:spPr>
        <p:txBody>
          <a:bodyPr wrap="square" lIns="0" rIns="0" tIns="0" bIns="0" anchor="t">
            <a:spAutoFit/>
          </a:bodyPr>
          <a:lstStyle/>
          <a:p>
            <a:pPr algn="ctr">
              <a:lnSpc>
                <a:spcPct val="110000"/>
              </a:lnSpc>
              <a:spcBef>
                <a:spcPts val="0"/>
              </a:spcBef>
              <a:spcAft>
                <a:spcPts val="0"/>
              </a:spcAft>
            </a:pPr>
            <a:r>
              <a:rPr sz="4800" b="1">
                <a:solidFill>
                  <a:srgbClr val="FFD646"/>
                </a:solidFill>
                <a:latin typeface="Arial Black"/>
              </a:rPr>
              <a:t>Thank you</a:t>
            </a:r>
          </a:p>
        </p:txBody>
      </p:sp>
      <p:sp>
        <p:nvSpPr>
          <p:cNvPr id="6" name="TextBox 5"/>
          <p:cNvSpPr txBox="1"/>
          <p:nvPr/>
        </p:nvSpPr>
        <p:spPr>
          <a:xfrm>
            <a:off x="594360" y="3383280"/>
            <a:ext cx="11018520" cy="411480"/>
          </a:xfrm>
          <a:prstGeom prst="rect">
            <a:avLst/>
          </a:prstGeom>
          <a:noFill/>
        </p:spPr>
        <p:txBody>
          <a:bodyPr wrap="square" lIns="0" rIns="0" tIns="0" bIns="0" anchor="t">
            <a:spAutoFit/>
          </a:bodyPr>
          <a:lstStyle/>
          <a:p>
            <a:pPr algn="ctr">
              <a:lnSpc>
                <a:spcPct val="110000"/>
              </a:lnSpc>
              <a:spcBef>
                <a:spcPts val="0"/>
              </a:spcBef>
              <a:spcAft>
                <a:spcPts val="0"/>
              </a:spcAft>
            </a:pPr>
            <a:r>
              <a:rPr sz="1500" b="1">
                <a:solidFill>
                  <a:srgbClr val="B0B6C0"/>
                </a:solidFill>
                <a:latin typeface="Aptos"/>
              </a:rPr>
              <a:t>Excellence  ·  Motion 04  ·  Velocity · v–t · averages that are new</a:t>
            </a:r>
          </a:p>
        </p:txBody>
      </p:sp>
      <p:sp>
        <p:nvSpPr>
          <p:cNvPr id="7" name="TextBox 6"/>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