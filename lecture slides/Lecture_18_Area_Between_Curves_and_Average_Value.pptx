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the calculus block with area between curves and average value.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Keep formulas short; sketch every region.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Empty board for extra working.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Empty board for extra working.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Empty board for extra working.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Empty board for extra working.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Empty board for extra working.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Empty board for extra working.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Empty board for extra working.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Empty board for extra working.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Empty board for extra working.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35508" y="516636"/>
            <a:ext cx="1101852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6200" b="1">
                <a:solidFill>
                  <a:srgbClr val="D2D2DC"/>
                </a:solidFill>
                <a:latin typeface="Arial Black"/>
              </a:rPr>
              <a:t>EXCELLENCE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475488"/>
            <a:ext cx="1101852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6200" b="1">
                <a:solidFill>
                  <a:srgbClr val="FFD646"/>
                </a:solidFill>
                <a:latin typeface="Arial Black"/>
              </a:rPr>
              <a:t>EXCELLENCE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5508" y="1540763"/>
            <a:ext cx="1101852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5A5A64"/>
                </a:solidFill>
                <a:latin typeface="Aptos"/>
              </a:rPr>
              <a:t>CLASS 11   -   2026-27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499616"/>
            <a:ext cx="1101852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Aptos"/>
              </a:rPr>
              <a:t>CLASS 11   -   2026-27</a:t>
            </a:r>
          </a:p>
        </p:txBody>
      </p:sp>
      <p:sp>
        <p:nvSpPr>
          <p:cNvPr id="6" name="Rectangle 5"/>
          <p:cNvSpPr/>
          <p:nvPr/>
        </p:nvSpPr>
        <p:spPr>
          <a:xfrm>
            <a:off x="3794760" y="2084831"/>
            <a:ext cx="4572000" cy="256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874519" y="2468880"/>
            <a:ext cx="841248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874519" y="3127248"/>
            <a:ext cx="8412480" cy="1490472"/>
          </a:xfrm>
          <a:prstGeom prst="roundRect">
            <a:avLst/>
          </a:prstGeom>
          <a:solidFill>
            <a:srgbClr val="000000"/>
          </a:solidFill>
          <a:ln w="15875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080759" y="2615184"/>
            <a:ext cx="16459" cy="384048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74519" y="2596896"/>
            <a:ext cx="4114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000000"/>
                </a:solidFill>
                <a:latin typeface="Aptos"/>
              </a:rPr>
              <a:t>Physics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80759" y="2596896"/>
            <a:ext cx="4206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000000"/>
                </a:solidFill>
                <a:latin typeface="Aptos"/>
              </a:rPr>
              <a:t>Lecture - 18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74519" y="3401568"/>
            <a:ext cx="84124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FFFFFF"/>
                </a:solidFill>
                <a:latin typeface="Georgia"/>
              </a:rPr>
              <a:t>Basic Maths and Calculus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74519" y="3950208"/>
            <a:ext cx="8412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D646"/>
                </a:solidFill>
                <a:latin typeface="Aptos"/>
              </a:rPr>
              <a:t>Area between Curves, Average Value and Revision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4828032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FFFFFF"/>
                </a:solidFill>
                <a:latin typeface="Aptos"/>
              </a:rPr>
              <a:t>By - Excellence Programme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5303520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B0B6C0"/>
                </a:solidFill>
                <a:latin typeface="Aptos"/>
              </a:rPr>
              <a:t>24 September 2026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1018520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FFD646"/>
                </a:solidFill>
                <a:latin typeface="Aptos"/>
              </a:rPr>
              <a:t>Topics to be covered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14400"/>
            <a:ext cx="3108960" cy="32004"/>
          </a:xfrm>
          <a:prstGeom prst="rect">
            <a:avLst/>
          </a:prstGeom>
          <a:solidFill>
            <a:srgbClr val="FFD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042415"/>
            <a:ext cx="640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FFD646"/>
                </a:solidFill>
                <a:latin typeface="Aptos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042415"/>
            <a:ext cx="1019556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5-minute substitution recap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737360"/>
            <a:ext cx="640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FFD646"/>
                </a:solidFill>
                <a:latin typeface="Aptos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20" y="1737360"/>
            <a:ext cx="1019556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Area between two curves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432304"/>
            <a:ext cx="640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FFD646"/>
                </a:solidFill>
                <a:latin typeface="Aptos"/>
              </a:rPr>
              <a:t>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2432304"/>
            <a:ext cx="1019556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Which curve is above?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127248"/>
            <a:ext cx="640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FFD646"/>
                </a:solidFill>
                <a:latin typeface="Aptos"/>
              </a:rPr>
              <a:t>04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3127248"/>
            <a:ext cx="1019556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Average value of a function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822191"/>
            <a:ext cx="640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FFD646"/>
                </a:solidFill>
                <a:latin typeface="Aptos"/>
              </a:rPr>
              <a:t>05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20" y="3822191"/>
            <a:ext cx="1019556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Physics average velocity / mean value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4517136"/>
            <a:ext cx="640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FFD646"/>
                </a:solidFill>
                <a:latin typeface="Aptos"/>
              </a:rPr>
              <a:t>06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4517136"/>
            <a:ext cx="1019556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Mixed indefinite + definite revision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5212080"/>
            <a:ext cx="640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FFD646"/>
                </a:solidFill>
                <a:latin typeface="Aptos"/>
              </a:rPr>
              <a:t>07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20" y="5212080"/>
            <a:ext cx="1019556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Lock lines for the calculus block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409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5-MINUTE RECAP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Substitution from last class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C8FF"/>
                </a:solidFill>
                <a:latin typeface="Aptos"/>
              </a:rPr>
              <a:t>Choose u, write du, rewrite the whole integral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27631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10" b="1">
                <a:solidFill>
                  <a:srgbClr val="5AC8FF"/>
                </a:solidFill>
                <a:latin typeface="Aptos"/>
              </a:rPr>
              <a:t>Definite: change both limits with 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7627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10" b="1">
                <a:solidFill>
                  <a:srgbClr val="5AC8FF"/>
                </a:solidFill>
                <a:latin typeface="Aptos"/>
              </a:rPr>
              <a:t>∫_a^b f = F(b) − F(a)     (no +C)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72491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10" b="1">
                <a:solidFill>
                  <a:srgbClr val="5AC8FF"/>
                </a:solidFill>
                <a:latin typeface="Aptos"/>
              </a:rPr>
              <a:t>Check by differentiating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Quick check: substitution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9E40"/>
                </a:solidFill>
                <a:latin typeface="Aptos"/>
              </a:rPr>
              <a:t>Find ∫ 2x cos(x²) dx.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Solution: Quick check: substitution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5AC8FF"/>
                </a:solidFill>
                <a:latin typeface="Aptos"/>
              </a:rPr>
              <a:t>Step 1:  u = x²  →  du = 2x dx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27631"/>
            <a:ext cx="110185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D680"/>
                </a:solidFill>
                <a:latin typeface="Aptos"/>
              </a:rPr>
              <a:t>sin(x²) + C.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B0B6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ROUGH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80" b="1">
                <a:solidFill>
                  <a:srgbClr val="FFD646"/>
                </a:solidFill>
                <a:latin typeface="Aptos"/>
              </a:rPr>
              <a:t>Rough work  /  extra 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NEW TOPIC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Area between two curves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When one curve lies above another from x = a to x = b, the area between them is the difference of integrals.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1947672"/>
            <a:ext cx="11018520" cy="960120"/>
          </a:xfrm>
          <a:prstGeom prst="rect">
            <a:avLst/>
          </a:prstGeom>
          <a:solidFill>
            <a:srgbClr val="FFF8E1"/>
          </a:solidFill>
          <a:ln w="19050">
            <a:solidFill>
              <a:srgbClr val="DA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" y="2093976"/>
            <a:ext cx="10689336" cy="6675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980" b="1">
                <a:solidFill>
                  <a:srgbClr val="081E3F"/>
                </a:solidFill>
                <a:latin typeface="Aptos"/>
              </a:rPr>
              <a:t>Area = ∫_a^b [y_upper − y_lower] dx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182111"/>
            <a:ext cx="110185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9E40"/>
                </a:solidFill>
                <a:latin typeface="Aptos"/>
              </a:rPr>
              <a:t>Always upper minus lower. Do not subtract in the wrong order.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Three board steps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10" b="1">
                <a:solidFill>
                  <a:srgbClr val="5AC8FF"/>
                </a:solidFill>
                <a:latin typeface="Aptos"/>
              </a:rPr>
              <a:t>1. Sketch both curves and mark a and 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27631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10" b="1">
                <a:solidFill>
                  <a:srgbClr val="5AC8FF"/>
                </a:solidFill>
                <a:latin typeface="Aptos"/>
              </a:rPr>
              <a:t>2. Decide which is upper on [a, b]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7627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10" b="1">
                <a:solidFill>
                  <a:srgbClr val="5AC8FF"/>
                </a:solidFill>
                <a:latin typeface="Aptos"/>
              </a:rPr>
              <a:t>3. Integrate (upper − lower) from a to 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724912"/>
            <a:ext cx="110185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If they cross, split the integral at the intersection.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EXACT GRAPH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Region between y = x and y = x²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49377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On [0, 1], the line y = x is above the parabola y = x².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1856231"/>
            <a:ext cx="4937760" cy="822960"/>
          </a:xfrm>
          <a:prstGeom prst="rect">
            <a:avLst/>
          </a:prstGeom>
          <a:solidFill>
            <a:srgbClr val="FFF8E1"/>
          </a:solidFill>
          <a:ln w="19050">
            <a:solidFill>
              <a:srgbClr val="DA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" y="2002536"/>
            <a:ext cx="4608576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081E3F"/>
                </a:solidFill>
                <a:latin typeface="Aptos"/>
              </a:rPr>
              <a:t>Area = ∫_0^1 (x − x²) dx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446520" y="4931664"/>
            <a:ext cx="4754880" cy="0"/>
          </a:xfrm>
          <a:prstGeom prst="line">
            <a:avLst/>
          </a:prstGeom>
          <a:ln w="17780">
            <a:solidFill>
              <a:srgbClr val="B0B6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080504" y="1325880"/>
            <a:ext cx="0" cy="4160520"/>
          </a:xfrm>
          <a:prstGeom prst="line">
            <a:avLst/>
          </a:prstGeom>
          <a:ln w="17780">
            <a:solidFill>
              <a:srgbClr val="B0B6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1036808" y="4977384"/>
            <a:ext cx="3200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B0B6C0"/>
                </a:solidFill>
                <a:latin typeface="Aptos"/>
              </a:rPr>
              <a:t>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44512" y="1325880"/>
            <a:ext cx="4114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B0B6C0"/>
                </a:solidFill>
                <a:latin typeface="Aptos"/>
              </a:rPr>
              <a:t>y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665464" y="4876800"/>
            <a:ext cx="0" cy="109728"/>
          </a:xfrm>
          <a:prstGeom prst="line">
            <a:avLst/>
          </a:prstGeom>
          <a:ln w="13970">
            <a:solidFill>
              <a:srgbClr val="B0B6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8500872" y="5004816"/>
            <a:ext cx="32918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B0B6C0"/>
                </a:solidFill>
                <a:latin typeface="Aptos"/>
              </a:rPr>
              <a:t>0.5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0250424" y="4876800"/>
            <a:ext cx="0" cy="109728"/>
          </a:xfrm>
          <a:prstGeom prst="line">
            <a:avLst/>
          </a:prstGeom>
          <a:ln w="13970">
            <a:solidFill>
              <a:srgbClr val="B0B6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0085832" y="5004816"/>
            <a:ext cx="32918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B0B6C0"/>
                </a:solidFill>
                <a:latin typeface="Aptos"/>
              </a:rPr>
              <a:t>1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025640" y="3544824"/>
            <a:ext cx="109727" cy="0"/>
          </a:xfrm>
          <a:prstGeom prst="line">
            <a:avLst/>
          </a:prstGeom>
          <a:ln w="13970">
            <a:solidFill>
              <a:srgbClr val="B0B6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6659880" y="3444240"/>
            <a:ext cx="34747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B0B6C0"/>
                </a:solidFill>
                <a:latin typeface="Aptos"/>
              </a:rPr>
              <a:t>0.5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025640" y="2157984"/>
            <a:ext cx="109727" cy="0"/>
          </a:xfrm>
          <a:prstGeom prst="line">
            <a:avLst/>
          </a:prstGeom>
          <a:ln w="13970">
            <a:solidFill>
              <a:srgbClr val="B0B6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659880" y="2057400"/>
            <a:ext cx="34747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B0B6C0"/>
                </a:solidFill>
                <a:latin typeface="Aptos"/>
              </a:rPr>
              <a:t>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87896" y="5004816"/>
            <a:ext cx="23774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B0B6C0"/>
                </a:solidFill>
                <a:latin typeface="Aptos"/>
              </a:rPr>
              <a:t>0</a:t>
            </a:r>
          </a:p>
        </p:txBody>
      </p:sp>
      <p:cxnSp>
        <p:nvCxnSpPr>
          <p:cNvPr id="23" name="Connector 22"/>
          <p:cNvCxnSpPr/>
          <p:nvPr/>
        </p:nvCxnSpPr>
        <p:spPr>
          <a:xfrm flipV="1">
            <a:off x="7080504" y="4862322"/>
            <a:ext cx="79248" cy="69342"/>
          </a:xfrm>
          <a:prstGeom prst="line">
            <a:avLst/>
          </a:prstGeom>
          <a:ln w="3175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7159752" y="4792980"/>
            <a:ext cx="79247" cy="69342"/>
          </a:xfrm>
          <a:prstGeom prst="line">
            <a:avLst/>
          </a:prstGeom>
          <a:ln w="3175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7238999" y="4723638"/>
            <a:ext cx="79249" cy="69342"/>
          </a:xfrm>
          <a:prstGeom prst="line">
            <a:avLst/>
          </a:prstGeom>
          <a:ln w="3175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7318248" y="4654296"/>
            <a:ext cx="79248" cy="69342"/>
          </a:xfrm>
          <a:prstGeom prst="line">
            <a:avLst/>
          </a:prstGeom>
          <a:ln w="3175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7397496" y="4584954"/>
            <a:ext cx="79247" cy="69342"/>
          </a:xfrm>
          <a:prstGeom prst="line">
            <a:avLst/>
          </a:prstGeom>
          <a:ln w="3175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7476743" y="4515612"/>
            <a:ext cx="79249" cy="69342"/>
          </a:xfrm>
          <a:prstGeom prst="line">
            <a:avLst/>
          </a:prstGeom>
          <a:ln w="3175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7555992" y="4446270"/>
            <a:ext cx="79248" cy="69342"/>
          </a:xfrm>
          <a:prstGeom prst="line">
            <a:avLst/>
          </a:prstGeom>
          <a:ln w="3175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V="1">
            <a:off x="7635240" y="4376928"/>
            <a:ext cx="79248" cy="69342"/>
          </a:xfrm>
          <a:prstGeom prst="line">
            <a:avLst/>
          </a:prstGeom>
          <a:ln w="3175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7714488" y="4307586"/>
            <a:ext cx="79248" cy="69342"/>
          </a:xfrm>
          <a:prstGeom prst="line">
            <a:avLst/>
          </a:prstGeom>
          <a:ln w="3175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V="1">
            <a:off x="7793736" y="4238244"/>
            <a:ext cx="79247" cy="69342"/>
          </a:xfrm>
          <a:prstGeom prst="line">
            <a:avLst/>
          </a:prstGeom>
          <a:ln w="3175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V="1">
            <a:off x="7872983" y="4168902"/>
            <a:ext cx="79249" cy="69342"/>
          </a:xfrm>
          <a:prstGeom prst="line">
            <a:avLst/>
          </a:prstGeom>
          <a:ln w="3175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V="1">
            <a:off x="7952232" y="4099560"/>
            <a:ext cx="79248" cy="69342"/>
          </a:xfrm>
          <a:prstGeom prst="line">
            <a:avLst/>
          </a:prstGeom>
          <a:ln w="3175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V="1">
            <a:off x="8031480" y="4030218"/>
            <a:ext cx="79248" cy="69342"/>
          </a:xfrm>
          <a:prstGeom prst="line">
            <a:avLst/>
          </a:prstGeom>
          <a:ln w="3175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8110728" y="3960876"/>
            <a:ext cx="79248" cy="69342"/>
          </a:xfrm>
          <a:prstGeom prst="line">
            <a:avLst/>
          </a:prstGeom>
          <a:ln w="3175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8189976" y="3891534"/>
            <a:ext cx="79248" cy="69342"/>
          </a:xfrm>
          <a:prstGeom prst="line">
            <a:avLst/>
          </a:prstGeom>
          <a:ln w="3175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8269224" y="3822191"/>
            <a:ext cx="79248" cy="69343"/>
          </a:xfrm>
          <a:prstGeom prst="line">
            <a:avLst/>
          </a:prstGeom>
          <a:ln w="3175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8348472" y="3752850"/>
            <a:ext cx="79248" cy="69341"/>
          </a:xfrm>
          <a:prstGeom prst="line">
            <a:avLst/>
          </a:prstGeom>
          <a:ln w="3175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8427720" y="3683508"/>
            <a:ext cx="79248" cy="69342"/>
          </a:xfrm>
          <a:prstGeom prst="line">
            <a:avLst/>
          </a:prstGeom>
          <a:ln w="3175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V="1">
            <a:off x="8506968" y="3614166"/>
            <a:ext cx="79248" cy="69342"/>
          </a:xfrm>
          <a:prstGeom prst="line">
            <a:avLst/>
          </a:prstGeom>
          <a:ln w="3175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V="1">
            <a:off x="8586216" y="3544824"/>
            <a:ext cx="79248" cy="69342"/>
          </a:xfrm>
          <a:prstGeom prst="line">
            <a:avLst/>
          </a:prstGeom>
          <a:ln w="3175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V="1">
            <a:off x="8665464" y="3475482"/>
            <a:ext cx="79248" cy="69342"/>
          </a:xfrm>
          <a:prstGeom prst="line">
            <a:avLst/>
          </a:prstGeom>
          <a:ln w="3175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8744712" y="3406140"/>
            <a:ext cx="79248" cy="69342"/>
          </a:xfrm>
          <a:prstGeom prst="line">
            <a:avLst/>
          </a:prstGeom>
          <a:ln w="3175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V="1">
            <a:off x="8823960" y="3336798"/>
            <a:ext cx="79248" cy="69342"/>
          </a:xfrm>
          <a:prstGeom prst="line">
            <a:avLst/>
          </a:prstGeom>
          <a:ln w="3175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8903208" y="3267456"/>
            <a:ext cx="79248" cy="69342"/>
          </a:xfrm>
          <a:prstGeom prst="line">
            <a:avLst/>
          </a:prstGeom>
          <a:ln w="3175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V="1">
            <a:off x="8982456" y="3198114"/>
            <a:ext cx="79248" cy="69342"/>
          </a:xfrm>
          <a:prstGeom prst="line">
            <a:avLst/>
          </a:prstGeom>
          <a:ln w="3175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V="1">
            <a:off x="9061704" y="3128772"/>
            <a:ext cx="79248" cy="69342"/>
          </a:xfrm>
          <a:prstGeom prst="line">
            <a:avLst/>
          </a:prstGeom>
          <a:ln w="3175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V="1">
            <a:off x="9140952" y="3059430"/>
            <a:ext cx="79247" cy="69342"/>
          </a:xfrm>
          <a:prstGeom prst="line">
            <a:avLst/>
          </a:prstGeom>
          <a:ln w="3175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V="1">
            <a:off x="9220199" y="2990088"/>
            <a:ext cx="79249" cy="69342"/>
          </a:xfrm>
          <a:prstGeom prst="line">
            <a:avLst/>
          </a:prstGeom>
          <a:ln w="3175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9299448" y="2920745"/>
            <a:ext cx="79248" cy="69343"/>
          </a:xfrm>
          <a:prstGeom prst="line">
            <a:avLst/>
          </a:prstGeom>
          <a:ln w="3175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9378696" y="2851404"/>
            <a:ext cx="79248" cy="69341"/>
          </a:xfrm>
          <a:prstGeom prst="line">
            <a:avLst/>
          </a:prstGeom>
          <a:ln w="3175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9457944" y="2782062"/>
            <a:ext cx="79248" cy="69342"/>
          </a:xfrm>
          <a:prstGeom prst="line">
            <a:avLst/>
          </a:prstGeom>
          <a:ln w="3175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9537192" y="2712720"/>
            <a:ext cx="79248" cy="69342"/>
          </a:xfrm>
          <a:prstGeom prst="line">
            <a:avLst/>
          </a:prstGeom>
          <a:ln w="3175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9616440" y="2643378"/>
            <a:ext cx="79248" cy="69342"/>
          </a:xfrm>
          <a:prstGeom prst="line">
            <a:avLst/>
          </a:prstGeom>
          <a:ln w="3175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9695688" y="2574036"/>
            <a:ext cx="79248" cy="69342"/>
          </a:xfrm>
          <a:prstGeom prst="line">
            <a:avLst/>
          </a:prstGeom>
          <a:ln w="3175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9774936" y="2504694"/>
            <a:ext cx="79248" cy="69342"/>
          </a:xfrm>
          <a:prstGeom prst="line">
            <a:avLst/>
          </a:prstGeom>
          <a:ln w="3175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V="1">
            <a:off x="9854184" y="2435352"/>
            <a:ext cx="79248" cy="69342"/>
          </a:xfrm>
          <a:prstGeom prst="line">
            <a:avLst/>
          </a:prstGeom>
          <a:ln w="3175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9933432" y="2366010"/>
            <a:ext cx="79248" cy="69342"/>
          </a:xfrm>
          <a:prstGeom prst="line">
            <a:avLst/>
          </a:prstGeom>
          <a:ln w="3175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10012680" y="2296668"/>
            <a:ext cx="79247" cy="69342"/>
          </a:xfrm>
          <a:prstGeom prst="line">
            <a:avLst/>
          </a:prstGeom>
          <a:ln w="3175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10091927" y="2227325"/>
            <a:ext cx="79249" cy="69343"/>
          </a:xfrm>
          <a:prstGeom prst="line">
            <a:avLst/>
          </a:prstGeom>
          <a:ln w="3175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10171176" y="2157984"/>
            <a:ext cx="79248" cy="69341"/>
          </a:xfrm>
          <a:prstGeom prst="line">
            <a:avLst/>
          </a:prstGeom>
          <a:ln w="3175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7080504" y="4931230"/>
            <a:ext cx="39624" cy="434"/>
          </a:xfrm>
          <a:prstGeom prst="line">
            <a:avLst/>
          </a:prstGeom>
          <a:ln w="3175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7120128" y="4929930"/>
            <a:ext cx="39624" cy="1300"/>
          </a:xfrm>
          <a:prstGeom prst="line">
            <a:avLst/>
          </a:prstGeom>
          <a:ln w="3175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7159752" y="4927763"/>
            <a:ext cx="39624" cy="2167"/>
          </a:xfrm>
          <a:prstGeom prst="line">
            <a:avLst/>
          </a:prstGeom>
          <a:ln w="3175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7199376" y="4924729"/>
            <a:ext cx="39623" cy="3034"/>
          </a:xfrm>
          <a:prstGeom prst="line">
            <a:avLst/>
          </a:prstGeom>
          <a:ln w="3175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7238999" y="4920829"/>
            <a:ext cx="39625" cy="3900"/>
          </a:xfrm>
          <a:prstGeom prst="line">
            <a:avLst/>
          </a:prstGeom>
          <a:ln w="3175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V="1">
            <a:off x="7278624" y="4916062"/>
            <a:ext cx="39624" cy="4767"/>
          </a:xfrm>
          <a:prstGeom prst="line">
            <a:avLst/>
          </a:prstGeom>
          <a:ln w="3175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7318248" y="4910428"/>
            <a:ext cx="39624" cy="5634"/>
          </a:xfrm>
          <a:prstGeom prst="line">
            <a:avLst/>
          </a:prstGeom>
          <a:ln w="3175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V="1">
            <a:off x="7357872" y="4903927"/>
            <a:ext cx="39624" cy="6501"/>
          </a:xfrm>
          <a:prstGeom prst="line">
            <a:avLst/>
          </a:prstGeom>
          <a:ln w="3175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7397496" y="4896559"/>
            <a:ext cx="39624" cy="7368"/>
          </a:xfrm>
          <a:prstGeom prst="line">
            <a:avLst/>
          </a:prstGeom>
          <a:ln w="3175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V="1">
            <a:off x="7437120" y="4888325"/>
            <a:ext cx="39623" cy="8234"/>
          </a:xfrm>
          <a:prstGeom prst="line">
            <a:avLst/>
          </a:prstGeom>
          <a:ln w="3175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V="1">
            <a:off x="7476743" y="4879224"/>
            <a:ext cx="39625" cy="9101"/>
          </a:xfrm>
          <a:prstGeom prst="line">
            <a:avLst/>
          </a:prstGeom>
          <a:ln w="3175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V="1">
            <a:off x="7516368" y="4869256"/>
            <a:ext cx="39624" cy="9968"/>
          </a:xfrm>
          <a:prstGeom prst="line">
            <a:avLst/>
          </a:prstGeom>
          <a:ln w="3175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V="1">
            <a:off x="7555992" y="4858421"/>
            <a:ext cx="39624" cy="10835"/>
          </a:xfrm>
          <a:prstGeom prst="line">
            <a:avLst/>
          </a:prstGeom>
          <a:ln w="3175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V="1">
            <a:off x="7595616" y="4846720"/>
            <a:ext cx="39624" cy="11701"/>
          </a:xfrm>
          <a:prstGeom prst="line">
            <a:avLst/>
          </a:prstGeom>
          <a:ln w="3175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V="1">
            <a:off x="7635240" y="4834151"/>
            <a:ext cx="39623" cy="12569"/>
          </a:xfrm>
          <a:prstGeom prst="line">
            <a:avLst/>
          </a:prstGeom>
          <a:ln w="3175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 flipV="1">
            <a:off x="7674863" y="4820716"/>
            <a:ext cx="39625" cy="13435"/>
          </a:xfrm>
          <a:prstGeom prst="line">
            <a:avLst/>
          </a:prstGeom>
          <a:ln w="3175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 flipV="1">
            <a:off x="7714488" y="4806415"/>
            <a:ext cx="39624" cy="14301"/>
          </a:xfrm>
          <a:prstGeom prst="line">
            <a:avLst/>
          </a:prstGeom>
          <a:ln w="3175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 flipV="1">
            <a:off x="7754112" y="4791246"/>
            <a:ext cx="39624" cy="15169"/>
          </a:xfrm>
          <a:prstGeom prst="line">
            <a:avLst/>
          </a:prstGeom>
          <a:ln w="3175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 flipV="1">
            <a:off x="7793736" y="4775211"/>
            <a:ext cx="39624" cy="16035"/>
          </a:xfrm>
          <a:prstGeom prst="line">
            <a:avLst/>
          </a:prstGeom>
          <a:ln w="3175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 flipV="1">
            <a:off x="7833360" y="4758309"/>
            <a:ext cx="39623" cy="16902"/>
          </a:xfrm>
          <a:prstGeom prst="line">
            <a:avLst/>
          </a:prstGeom>
          <a:ln w="3175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 flipV="1">
            <a:off x="7872983" y="4740540"/>
            <a:ext cx="39624" cy="17769"/>
          </a:xfrm>
          <a:prstGeom prst="line">
            <a:avLst/>
          </a:prstGeom>
          <a:ln w="3175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 flipV="1">
            <a:off x="7912607" y="4721904"/>
            <a:ext cx="39625" cy="18636"/>
          </a:xfrm>
          <a:prstGeom prst="line">
            <a:avLst/>
          </a:prstGeom>
          <a:ln w="3175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 flipV="1">
            <a:off x="7952232" y="4702402"/>
            <a:ext cx="39624" cy="19502"/>
          </a:xfrm>
          <a:prstGeom prst="line">
            <a:avLst/>
          </a:prstGeom>
          <a:ln w="3175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 flipV="1">
            <a:off x="7991856" y="4682032"/>
            <a:ext cx="39624" cy="20370"/>
          </a:xfrm>
          <a:prstGeom prst="line">
            <a:avLst/>
          </a:prstGeom>
          <a:ln w="3175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 flipV="1">
            <a:off x="8031480" y="4660796"/>
            <a:ext cx="39624" cy="21236"/>
          </a:xfrm>
          <a:prstGeom prst="line">
            <a:avLst/>
          </a:prstGeom>
          <a:ln w="3175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 flipV="1">
            <a:off x="8071104" y="4638694"/>
            <a:ext cx="39624" cy="22102"/>
          </a:xfrm>
          <a:prstGeom prst="line">
            <a:avLst/>
          </a:prstGeom>
          <a:ln w="3175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 flipV="1">
            <a:off x="8110728" y="4615724"/>
            <a:ext cx="39624" cy="22970"/>
          </a:xfrm>
          <a:prstGeom prst="line">
            <a:avLst/>
          </a:prstGeom>
          <a:ln w="3175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 flipV="1">
            <a:off x="8150352" y="4591888"/>
            <a:ext cx="39624" cy="23836"/>
          </a:xfrm>
          <a:prstGeom prst="line">
            <a:avLst/>
          </a:prstGeom>
          <a:ln w="3175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 flipV="1">
            <a:off x="8189976" y="4567185"/>
            <a:ext cx="39624" cy="24703"/>
          </a:xfrm>
          <a:prstGeom prst="line">
            <a:avLst/>
          </a:prstGeom>
          <a:ln w="3175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 flipV="1">
            <a:off x="8229600" y="4541615"/>
            <a:ext cx="39624" cy="25570"/>
          </a:xfrm>
          <a:prstGeom prst="line">
            <a:avLst/>
          </a:prstGeom>
          <a:ln w="3175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 flipV="1">
            <a:off x="8269224" y="4515178"/>
            <a:ext cx="39623" cy="26437"/>
          </a:xfrm>
          <a:prstGeom prst="line">
            <a:avLst/>
          </a:prstGeom>
          <a:ln w="3175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 flipV="1">
            <a:off x="8308847" y="4487875"/>
            <a:ext cx="39625" cy="27303"/>
          </a:xfrm>
          <a:prstGeom prst="line">
            <a:avLst/>
          </a:prstGeom>
          <a:ln w="3175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 flipV="1">
            <a:off x="8348472" y="4459705"/>
            <a:ext cx="39624" cy="28170"/>
          </a:xfrm>
          <a:prstGeom prst="line">
            <a:avLst/>
          </a:prstGeom>
          <a:ln w="3175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 flipV="1">
            <a:off x="8388096" y="4430668"/>
            <a:ext cx="39624" cy="29037"/>
          </a:xfrm>
          <a:prstGeom prst="line">
            <a:avLst/>
          </a:prstGeom>
          <a:ln w="3175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 flipV="1">
            <a:off x="8427720" y="4400764"/>
            <a:ext cx="39624" cy="29904"/>
          </a:xfrm>
          <a:prstGeom prst="line">
            <a:avLst/>
          </a:prstGeom>
          <a:ln w="3175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 flipV="1">
            <a:off x="8467344" y="4369993"/>
            <a:ext cx="39624" cy="30771"/>
          </a:xfrm>
          <a:prstGeom prst="line">
            <a:avLst/>
          </a:prstGeom>
          <a:ln w="3175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 flipV="1">
            <a:off x="8506968" y="4338356"/>
            <a:ext cx="39624" cy="31637"/>
          </a:xfrm>
          <a:prstGeom prst="line">
            <a:avLst/>
          </a:prstGeom>
          <a:ln w="3175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 flipV="1">
            <a:off x="8546592" y="4305852"/>
            <a:ext cx="39624" cy="32504"/>
          </a:xfrm>
          <a:prstGeom prst="line">
            <a:avLst/>
          </a:prstGeom>
          <a:ln w="3175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 flipV="1">
            <a:off x="8586216" y="4272481"/>
            <a:ext cx="39624" cy="33371"/>
          </a:xfrm>
          <a:prstGeom prst="line">
            <a:avLst/>
          </a:prstGeom>
          <a:ln w="3175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 flipV="1">
            <a:off x="8625840" y="4238244"/>
            <a:ext cx="39624" cy="34237"/>
          </a:xfrm>
          <a:prstGeom prst="line">
            <a:avLst/>
          </a:prstGeom>
          <a:ln w="3175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 flipV="1">
            <a:off x="8665464" y="4203139"/>
            <a:ext cx="39624" cy="35105"/>
          </a:xfrm>
          <a:prstGeom prst="line">
            <a:avLst/>
          </a:prstGeom>
          <a:ln w="3175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 flipV="1">
            <a:off x="8705088" y="4167168"/>
            <a:ext cx="39624" cy="35971"/>
          </a:xfrm>
          <a:prstGeom prst="line">
            <a:avLst/>
          </a:prstGeom>
          <a:ln w="3175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 flipV="1">
            <a:off x="8744712" y="4130330"/>
            <a:ext cx="39624" cy="36838"/>
          </a:xfrm>
          <a:prstGeom prst="line">
            <a:avLst/>
          </a:prstGeom>
          <a:ln w="3175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 flipV="1">
            <a:off x="8784336" y="4092625"/>
            <a:ext cx="39624" cy="37705"/>
          </a:xfrm>
          <a:prstGeom prst="line">
            <a:avLst/>
          </a:prstGeom>
          <a:ln w="3175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 flipV="1">
            <a:off x="8823960" y="4054054"/>
            <a:ext cx="39624" cy="38571"/>
          </a:xfrm>
          <a:prstGeom prst="line">
            <a:avLst/>
          </a:prstGeom>
          <a:ln w="3175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 flipV="1">
            <a:off x="8863584" y="4014616"/>
            <a:ext cx="39624" cy="39438"/>
          </a:xfrm>
          <a:prstGeom prst="line">
            <a:avLst/>
          </a:prstGeom>
          <a:ln w="3175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 flipV="1">
            <a:off x="8903208" y="3974311"/>
            <a:ext cx="39624" cy="40305"/>
          </a:xfrm>
          <a:prstGeom prst="line">
            <a:avLst/>
          </a:prstGeom>
          <a:ln w="3175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 109"/>
          <p:cNvCxnSpPr/>
          <p:nvPr/>
        </p:nvCxnSpPr>
        <p:spPr>
          <a:xfrm flipV="1">
            <a:off x="8942832" y="3933139"/>
            <a:ext cx="39624" cy="41172"/>
          </a:xfrm>
          <a:prstGeom prst="line">
            <a:avLst/>
          </a:prstGeom>
          <a:ln w="3175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 110"/>
          <p:cNvCxnSpPr/>
          <p:nvPr/>
        </p:nvCxnSpPr>
        <p:spPr>
          <a:xfrm flipV="1">
            <a:off x="8982456" y="3891100"/>
            <a:ext cx="39624" cy="42039"/>
          </a:xfrm>
          <a:prstGeom prst="line">
            <a:avLst/>
          </a:prstGeom>
          <a:ln w="3175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ctor 111"/>
          <p:cNvCxnSpPr/>
          <p:nvPr/>
        </p:nvCxnSpPr>
        <p:spPr>
          <a:xfrm flipV="1">
            <a:off x="9022080" y="3848195"/>
            <a:ext cx="39624" cy="42905"/>
          </a:xfrm>
          <a:prstGeom prst="line">
            <a:avLst/>
          </a:prstGeom>
          <a:ln w="3175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nector 112"/>
          <p:cNvCxnSpPr/>
          <p:nvPr/>
        </p:nvCxnSpPr>
        <p:spPr>
          <a:xfrm flipV="1">
            <a:off x="9061704" y="3804423"/>
            <a:ext cx="39624" cy="43772"/>
          </a:xfrm>
          <a:prstGeom prst="line">
            <a:avLst/>
          </a:prstGeom>
          <a:ln w="3175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Connector 113"/>
          <p:cNvCxnSpPr/>
          <p:nvPr/>
        </p:nvCxnSpPr>
        <p:spPr>
          <a:xfrm flipV="1">
            <a:off x="9101328" y="3759784"/>
            <a:ext cx="39624" cy="44639"/>
          </a:xfrm>
          <a:prstGeom prst="line">
            <a:avLst/>
          </a:prstGeom>
          <a:ln w="3175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Connector 114"/>
          <p:cNvCxnSpPr/>
          <p:nvPr/>
        </p:nvCxnSpPr>
        <p:spPr>
          <a:xfrm flipV="1">
            <a:off x="9140952" y="3714278"/>
            <a:ext cx="39624" cy="45506"/>
          </a:xfrm>
          <a:prstGeom prst="line">
            <a:avLst/>
          </a:prstGeom>
          <a:ln w="3175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Connector 115"/>
          <p:cNvCxnSpPr/>
          <p:nvPr/>
        </p:nvCxnSpPr>
        <p:spPr>
          <a:xfrm flipV="1">
            <a:off x="9180576" y="3667906"/>
            <a:ext cx="39623" cy="46372"/>
          </a:xfrm>
          <a:prstGeom prst="line">
            <a:avLst/>
          </a:prstGeom>
          <a:ln w="3175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Connector 116"/>
          <p:cNvCxnSpPr/>
          <p:nvPr/>
        </p:nvCxnSpPr>
        <p:spPr>
          <a:xfrm flipV="1">
            <a:off x="9220199" y="3620666"/>
            <a:ext cx="39625" cy="47240"/>
          </a:xfrm>
          <a:prstGeom prst="line">
            <a:avLst/>
          </a:prstGeom>
          <a:ln w="3175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Connector 117"/>
          <p:cNvCxnSpPr/>
          <p:nvPr/>
        </p:nvCxnSpPr>
        <p:spPr>
          <a:xfrm flipV="1">
            <a:off x="9259824" y="3572560"/>
            <a:ext cx="39624" cy="48106"/>
          </a:xfrm>
          <a:prstGeom prst="line">
            <a:avLst/>
          </a:prstGeom>
          <a:ln w="3175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 118"/>
          <p:cNvCxnSpPr/>
          <p:nvPr/>
        </p:nvCxnSpPr>
        <p:spPr>
          <a:xfrm flipV="1">
            <a:off x="9299448" y="3523588"/>
            <a:ext cx="39624" cy="48972"/>
          </a:xfrm>
          <a:prstGeom prst="line">
            <a:avLst/>
          </a:prstGeom>
          <a:ln w="3175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Connector 119"/>
          <p:cNvCxnSpPr/>
          <p:nvPr/>
        </p:nvCxnSpPr>
        <p:spPr>
          <a:xfrm flipV="1">
            <a:off x="9339072" y="3473748"/>
            <a:ext cx="39624" cy="49840"/>
          </a:xfrm>
          <a:prstGeom prst="line">
            <a:avLst/>
          </a:prstGeom>
          <a:ln w="3175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Connector 120"/>
          <p:cNvCxnSpPr/>
          <p:nvPr/>
        </p:nvCxnSpPr>
        <p:spPr>
          <a:xfrm flipV="1">
            <a:off x="9378696" y="3423042"/>
            <a:ext cx="39624" cy="50706"/>
          </a:xfrm>
          <a:prstGeom prst="line">
            <a:avLst/>
          </a:prstGeom>
          <a:ln w="3175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Connector 121"/>
          <p:cNvCxnSpPr/>
          <p:nvPr/>
        </p:nvCxnSpPr>
        <p:spPr>
          <a:xfrm flipV="1">
            <a:off x="9418320" y="3371469"/>
            <a:ext cx="39624" cy="51573"/>
          </a:xfrm>
          <a:prstGeom prst="line">
            <a:avLst/>
          </a:prstGeom>
          <a:ln w="3175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Connector 122"/>
          <p:cNvCxnSpPr/>
          <p:nvPr/>
        </p:nvCxnSpPr>
        <p:spPr>
          <a:xfrm flipV="1">
            <a:off x="9457944" y="3319029"/>
            <a:ext cx="39624" cy="52440"/>
          </a:xfrm>
          <a:prstGeom prst="line">
            <a:avLst/>
          </a:prstGeom>
          <a:ln w="3175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Connector 123"/>
          <p:cNvCxnSpPr/>
          <p:nvPr/>
        </p:nvCxnSpPr>
        <p:spPr>
          <a:xfrm flipV="1">
            <a:off x="9497568" y="3265722"/>
            <a:ext cx="39624" cy="53307"/>
          </a:xfrm>
          <a:prstGeom prst="line">
            <a:avLst/>
          </a:prstGeom>
          <a:ln w="3175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Connector 124"/>
          <p:cNvCxnSpPr/>
          <p:nvPr/>
        </p:nvCxnSpPr>
        <p:spPr>
          <a:xfrm flipV="1">
            <a:off x="9537192" y="3211549"/>
            <a:ext cx="39624" cy="54173"/>
          </a:xfrm>
          <a:prstGeom prst="line">
            <a:avLst/>
          </a:prstGeom>
          <a:ln w="3175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Connector 125"/>
          <p:cNvCxnSpPr/>
          <p:nvPr/>
        </p:nvCxnSpPr>
        <p:spPr>
          <a:xfrm flipV="1">
            <a:off x="9576816" y="3156508"/>
            <a:ext cx="39624" cy="55041"/>
          </a:xfrm>
          <a:prstGeom prst="line">
            <a:avLst/>
          </a:prstGeom>
          <a:ln w="3175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Connector 126"/>
          <p:cNvCxnSpPr/>
          <p:nvPr/>
        </p:nvCxnSpPr>
        <p:spPr>
          <a:xfrm flipV="1">
            <a:off x="9616440" y="3100601"/>
            <a:ext cx="39623" cy="55907"/>
          </a:xfrm>
          <a:prstGeom prst="line">
            <a:avLst/>
          </a:prstGeom>
          <a:ln w="3175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Connector 127"/>
          <p:cNvCxnSpPr/>
          <p:nvPr/>
        </p:nvCxnSpPr>
        <p:spPr>
          <a:xfrm flipV="1">
            <a:off x="9656063" y="3043828"/>
            <a:ext cx="39625" cy="56773"/>
          </a:xfrm>
          <a:prstGeom prst="line">
            <a:avLst/>
          </a:prstGeom>
          <a:ln w="3175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Connector 128"/>
          <p:cNvCxnSpPr/>
          <p:nvPr/>
        </p:nvCxnSpPr>
        <p:spPr>
          <a:xfrm flipV="1">
            <a:off x="9695688" y="2986187"/>
            <a:ext cx="39624" cy="57641"/>
          </a:xfrm>
          <a:prstGeom prst="line">
            <a:avLst/>
          </a:prstGeom>
          <a:ln w="3175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Connector 129"/>
          <p:cNvCxnSpPr/>
          <p:nvPr/>
        </p:nvCxnSpPr>
        <p:spPr>
          <a:xfrm flipV="1">
            <a:off x="9735312" y="2927680"/>
            <a:ext cx="39624" cy="58507"/>
          </a:xfrm>
          <a:prstGeom prst="line">
            <a:avLst/>
          </a:prstGeom>
          <a:ln w="3175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Connector 130"/>
          <p:cNvCxnSpPr/>
          <p:nvPr/>
        </p:nvCxnSpPr>
        <p:spPr>
          <a:xfrm flipV="1">
            <a:off x="9774936" y="2868306"/>
            <a:ext cx="39624" cy="59374"/>
          </a:xfrm>
          <a:prstGeom prst="line">
            <a:avLst/>
          </a:prstGeom>
          <a:ln w="3175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or 131"/>
          <p:cNvCxnSpPr/>
          <p:nvPr/>
        </p:nvCxnSpPr>
        <p:spPr>
          <a:xfrm flipV="1">
            <a:off x="9814560" y="2808065"/>
            <a:ext cx="39624" cy="60241"/>
          </a:xfrm>
          <a:prstGeom prst="line">
            <a:avLst/>
          </a:prstGeom>
          <a:ln w="3175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Connector 132"/>
          <p:cNvCxnSpPr/>
          <p:nvPr/>
        </p:nvCxnSpPr>
        <p:spPr>
          <a:xfrm flipV="1">
            <a:off x="9854184" y="2746957"/>
            <a:ext cx="39624" cy="61108"/>
          </a:xfrm>
          <a:prstGeom prst="line">
            <a:avLst/>
          </a:prstGeom>
          <a:ln w="3175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Connector 133"/>
          <p:cNvCxnSpPr/>
          <p:nvPr/>
        </p:nvCxnSpPr>
        <p:spPr>
          <a:xfrm flipV="1">
            <a:off x="9893808" y="2684983"/>
            <a:ext cx="39624" cy="61974"/>
          </a:xfrm>
          <a:prstGeom prst="line">
            <a:avLst/>
          </a:prstGeom>
          <a:ln w="3175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Connector 134"/>
          <p:cNvCxnSpPr/>
          <p:nvPr/>
        </p:nvCxnSpPr>
        <p:spPr>
          <a:xfrm flipV="1">
            <a:off x="9933432" y="2622142"/>
            <a:ext cx="39624" cy="62841"/>
          </a:xfrm>
          <a:prstGeom prst="line">
            <a:avLst/>
          </a:prstGeom>
          <a:ln w="3175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Connector 135"/>
          <p:cNvCxnSpPr/>
          <p:nvPr/>
        </p:nvCxnSpPr>
        <p:spPr>
          <a:xfrm flipV="1">
            <a:off x="9973056" y="2558434"/>
            <a:ext cx="39624" cy="63708"/>
          </a:xfrm>
          <a:prstGeom prst="line">
            <a:avLst/>
          </a:prstGeom>
          <a:ln w="3175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Connector 136"/>
          <p:cNvCxnSpPr/>
          <p:nvPr/>
        </p:nvCxnSpPr>
        <p:spPr>
          <a:xfrm flipV="1">
            <a:off x="10012680" y="2493859"/>
            <a:ext cx="39623" cy="64575"/>
          </a:xfrm>
          <a:prstGeom prst="line">
            <a:avLst/>
          </a:prstGeom>
          <a:ln w="3175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Connector 137"/>
          <p:cNvCxnSpPr/>
          <p:nvPr/>
        </p:nvCxnSpPr>
        <p:spPr>
          <a:xfrm flipV="1">
            <a:off x="10052303" y="2428417"/>
            <a:ext cx="39624" cy="65442"/>
          </a:xfrm>
          <a:prstGeom prst="line">
            <a:avLst/>
          </a:prstGeom>
          <a:ln w="3175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Connector 138"/>
          <p:cNvCxnSpPr/>
          <p:nvPr/>
        </p:nvCxnSpPr>
        <p:spPr>
          <a:xfrm flipV="1">
            <a:off x="10091927" y="2362109"/>
            <a:ext cx="39625" cy="66308"/>
          </a:xfrm>
          <a:prstGeom prst="line">
            <a:avLst/>
          </a:prstGeom>
          <a:ln w="3175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Connector 139"/>
          <p:cNvCxnSpPr/>
          <p:nvPr/>
        </p:nvCxnSpPr>
        <p:spPr>
          <a:xfrm flipV="1">
            <a:off x="10131552" y="2294934"/>
            <a:ext cx="39624" cy="67175"/>
          </a:xfrm>
          <a:prstGeom prst="line">
            <a:avLst/>
          </a:prstGeom>
          <a:ln w="3175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or 140"/>
          <p:cNvCxnSpPr/>
          <p:nvPr/>
        </p:nvCxnSpPr>
        <p:spPr>
          <a:xfrm flipV="1">
            <a:off x="10171176" y="2226892"/>
            <a:ext cx="39624" cy="68042"/>
          </a:xfrm>
          <a:prstGeom prst="line">
            <a:avLst/>
          </a:prstGeom>
          <a:ln w="3175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Connector 141"/>
          <p:cNvCxnSpPr/>
          <p:nvPr/>
        </p:nvCxnSpPr>
        <p:spPr>
          <a:xfrm flipV="1">
            <a:off x="10210800" y="2157984"/>
            <a:ext cx="39624" cy="68908"/>
          </a:xfrm>
          <a:prstGeom prst="line">
            <a:avLst/>
          </a:prstGeom>
          <a:ln w="3175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3" name="Oval 142"/>
          <p:cNvSpPr/>
          <p:nvPr/>
        </p:nvSpPr>
        <p:spPr>
          <a:xfrm>
            <a:off x="7030212" y="4881372"/>
            <a:ext cx="100584" cy="100584"/>
          </a:xfrm>
          <a:prstGeom prst="ellipse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TextBox 143"/>
          <p:cNvSpPr txBox="1"/>
          <p:nvPr/>
        </p:nvSpPr>
        <p:spPr>
          <a:xfrm>
            <a:off x="7153656" y="5023104"/>
            <a:ext cx="8229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5AD680"/>
                </a:solidFill>
                <a:latin typeface="Aptos"/>
              </a:rPr>
              <a:t>0</a:t>
            </a:r>
          </a:p>
        </p:txBody>
      </p:sp>
      <p:sp>
        <p:nvSpPr>
          <p:cNvPr id="145" name="Oval 144"/>
          <p:cNvSpPr/>
          <p:nvPr/>
        </p:nvSpPr>
        <p:spPr>
          <a:xfrm>
            <a:off x="10200132" y="2107691"/>
            <a:ext cx="100584" cy="100584"/>
          </a:xfrm>
          <a:prstGeom prst="ellipse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TextBox 145"/>
          <p:cNvSpPr txBox="1"/>
          <p:nvPr/>
        </p:nvSpPr>
        <p:spPr>
          <a:xfrm>
            <a:off x="10323576" y="1901952"/>
            <a:ext cx="8229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5AD680"/>
                </a:solidFill>
                <a:latin typeface="Aptos"/>
              </a:rPr>
              <a:t>(1, 1)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Area between line and parabola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FF9E40"/>
                </a:solidFill>
                <a:latin typeface="Aptos"/>
              </a:rPr>
              <a:t>Find the area between y = x and y = x² from x = 0 to x = 1.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Solution: Area between line and parabola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5AC8FF"/>
                </a:solidFill>
                <a:latin typeface="Aptos"/>
              </a:rPr>
              <a:t>Step 1:  Upper = x, lower = x²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27631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30" b="1">
                <a:solidFill>
                  <a:srgbClr val="5AC8FF"/>
                </a:solidFill>
                <a:latin typeface="Aptos"/>
              </a:rPr>
              <a:t>Step 2:  Area = ∫_0^1 (x − x²) dx = [x²/2 − x³/3]_0^1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7627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5AC8FF"/>
                </a:solidFill>
                <a:latin typeface="Aptos"/>
              </a:rPr>
              <a:t>Step 3: = 1/2 − 1/3 = 1/6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724912"/>
            <a:ext cx="110185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D680"/>
                </a:solidFill>
                <a:latin typeface="Aptos"/>
              </a:rPr>
              <a:t>Area = 1/6 square units.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B0B6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ROUGH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80" b="1">
                <a:solidFill>
                  <a:srgbClr val="FFD646"/>
                </a:solidFill>
                <a:latin typeface="Aptos"/>
              </a:rPr>
              <a:t>Rough work  /  extra 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Area between line and axis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9E40"/>
                </a:solidFill>
                <a:latin typeface="Aptos"/>
              </a:rPr>
              <a:t>Find the area between y = 2x and the x-axis from x = 1 to x = 3.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Solution: Area between line and axis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C8FF"/>
                </a:solidFill>
                <a:latin typeface="Aptos"/>
              </a:rPr>
              <a:t>Step 1:  This is still ∫_1Â³ 2x dx  (upper = 2x, lower = 0)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27631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5AC8FF"/>
                </a:solidFill>
                <a:latin typeface="Aptos"/>
              </a:rPr>
              <a:t>Step 2: = [x²]_1Â³ = 9 − 1 = 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76272"/>
            <a:ext cx="110185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D680"/>
                </a:solidFill>
                <a:latin typeface="Aptos"/>
              </a:rPr>
              <a:t>Area = 8 square units.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Area between two lines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FF9E40"/>
                </a:solidFill>
                <a:latin typeface="Aptos"/>
              </a:rPr>
              <a:t>Find the area between y = 4 and y = x from x = 1 to x = 3.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Solution: Area between two lines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10" b="1">
                <a:solidFill>
                  <a:srgbClr val="5AC8FF"/>
                </a:solidFill>
                <a:latin typeface="Aptos"/>
              </a:rPr>
              <a:t>Step 1:  On [1, 3], y = 4 is above y = 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27631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30" b="1">
                <a:solidFill>
                  <a:srgbClr val="5AC8FF"/>
                </a:solidFill>
                <a:latin typeface="Aptos"/>
              </a:rPr>
              <a:t>Step 2:  Area = ∫_1Â³ (4 − x) dx = [4x − x²/2]_1Â³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7627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5AC8FF"/>
                </a:solidFill>
                <a:latin typeface="Aptos"/>
              </a:rPr>
              <a:t>Step 3: = (12 − 9/2) − (4 − 1/2) = 15/2 − 7/2 = 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724912"/>
            <a:ext cx="110185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D680"/>
                </a:solidFill>
                <a:latin typeface="Aptos"/>
              </a:rPr>
              <a:t>Area = 4 square units.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Find intersection first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FF9E40"/>
                </a:solidFill>
                <a:latin typeface="Aptos"/>
              </a:rPr>
              <a:t>Find the area between y = x² and y = 4x − x².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Solution: Find intersection first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5AC8FF"/>
                </a:solidFill>
                <a:latin typeface="Aptos"/>
              </a:rPr>
              <a:t>Step 1:  Intersection: x² = 4x − x²  →  2x² − 4x = 0  →  2x(x − 2) = 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27631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30" b="1">
                <a:solidFill>
                  <a:srgbClr val="5AC8FF"/>
                </a:solidFill>
                <a:latin typeface="Aptos"/>
              </a:rPr>
              <a:t>Step 2:  x = 0 or x = 2.  On [0, 2], upper = 4x − x²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7627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5AC8FF"/>
                </a:solidFill>
                <a:latin typeface="Aptos"/>
              </a:rPr>
              <a:t>Step 3:  Area = ∫_0Â² [(4x − x²) − x²] dx = ∫_0Â² (4x − 2x²) dx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72491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30" b="1">
                <a:solidFill>
                  <a:srgbClr val="5AC8FF"/>
                </a:solidFill>
                <a:latin typeface="Aptos"/>
              </a:rPr>
              <a:t>Step 4: = [2x² − (2/3)x³]_0Â² = 8 − 16/3 = 8/3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273552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D680"/>
                </a:solidFill>
                <a:latin typeface="Aptos"/>
              </a:rPr>
              <a:t>Area = 8/3 square units.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B0B6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ROUGH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80" b="1">
                <a:solidFill>
                  <a:srgbClr val="FFD646"/>
                </a:solidFill>
                <a:latin typeface="Aptos"/>
              </a:rPr>
              <a:t>Rough work  /  extra 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NEW TOPIC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Average value of a function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The average height of y = f(x) on [a, b] is the area under the curve divided by the width.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1901952"/>
            <a:ext cx="11018520" cy="960120"/>
          </a:xfrm>
          <a:prstGeom prst="rect">
            <a:avLst/>
          </a:prstGeom>
          <a:solidFill>
            <a:srgbClr val="FFF8E1"/>
          </a:solidFill>
          <a:ln w="19050">
            <a:solidFill>
              <a:srgbClr val="DA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" y="2048256"/>
            <a:ext cx="10689336" cy="6675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980" b="1">
                <a:solidFill>
                  <a:srgbClr val="081E3F"/>
                </a:solidFill>
                <a:latin typeface="Aptos"/>
              </a:rPr>
              <a:t>f_avg = (1/(b − a)) ∫_a^b f(x) dx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090672"/>
            <a:ext cx="110185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This is the mean value of f on that interval.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822191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9E40"/>
                </a:solidFill>
                <a:latin typeface="Aptos"/>
              </a:rPr>
              <a:t>Do not forget to divide by (b − a).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Why this formula?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21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Area under f equals the area of a rectangle of width (b − a) and height f_avg.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1901952"/>
            <a:ext cx="11018520" cy="914400"/>
          </a:xfrm>
          <a:prstGeom prst="rect">
            <a:avLst/>
          </a:prstGeom>
          <a:solidFill>
            <a:srgbClr val="FFF8E1"/>
          </a:solidFill>
          <a:ln w="19050">
            <a:solidFill>
              <a:srgbClr val="DA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" y="2048256"/>
            <a:ext cx="10689336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81E3F"/>
                </a:solidFill>
                <a:latin typeface="Aptos"/>
              </a:rPr>
              <a:t>∫_a^b f(x) dx = f_avg · (b − a)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090672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Solve for f_avg to get the formula.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Average of a 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22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FF9E40"/>
                </a:solidFill>
                <a:latin typeface="Aptos"/>
              </a:rPr>
              <a:t>Find the average value of f(x) = 2x on [0, 4].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Solution: Average of a 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C8FF"/>
                </a:solidFill>
                <a:latin typeface="Aptos"/>
              </a:rPr>
              <a:t>Step 1:  f_avg = (1/4) ∫_0â´ 2x dx = (1/4)[x²]_0â´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27631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5AC8FF"/>
                </a:solidFill>
                <a:latin typeface="Aptos"/>
              </a:rPr>
              <a:t>Step 2: = (1/4)(16) = 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76272"/>
            <a:ext cx="110185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D680"/>
                </a:solidFill>
                <a:latin typeface="Aptos"/>
              </a:rPr>
              <a:t>Average value = 4.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B0B6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ROUGH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80" b="1">
                <a:solidFill>
                  <a:srgbClr val="FFD646"/>
                </a:solidFill>
                <a:latin typeface="Aptos"/>
              </a:rPr>
              <a:t>Rough work  /  extra 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Average of a parabola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FF9E40"/>
                </a:solidFill>
                <a:latin typeface="Aptos"/>
              </a:rPr>
              <a:t>Find the average value of f(x) = x² on [0, 3].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Solution: Average of a parabola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C8FF"/>
                </a:solidFill>
                <a:latin typeface="Aptos"/>
              </a:rPr>
              <a:t>Step 1:  f_avg = (1/3) ∫_0Â³ x² dx = (1/3)[x³/3]_0Â³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27631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5AC8FF"/>
                </a:solidFill>
                <a:latin typeface="Aptos"/>
              </a:rPr>
              <a:t>Step 2: = (1/3)(9) =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76272"/>
            <a:ext cx="110185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D680"/>
                </a:solidFill>
                <a:latin typeface="Aptos"/>
              </a:rPr>
              <a:t>Average value = 3.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Average of cosine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27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9E40"/>
                </a:solidFill>
                <a:latin typeface="Aptos"/>
              </a:rPr>
              <a:t>Find the average value of f(x) = cos x on [0, π/2].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Solution: Average of cosine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28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10" b="1">
                <a:solidFill>
                  <a:srgbClr val="5AC8FF"/>
                </a:solidFill>
                <a:latin typeface="Aptos"/>
              </a:rPr>
              <a:t>Step 1:  Width = π/2 − 0 = π/2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27631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5AC8FF"/>
                </a:solidFill>
                <a:latin typeface="Aptos"/>
              </a:rPr>
              <a:t>Step 2:  f_avg = (2/π) ∫_0^{π/2} cos x dx = (2/π)[sin x]_0^{π/2}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7627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5AC8FF"/>
                </a:solidFill>
                <a:latin typeface="Aptos"/>
              </a:rPr>
              <a:t>Step 3: = (2/π)(1) = 2/π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724912"/>
            <a:ext cx="110185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D680"/>
                </a:solidFill>
                <a:latin typeface="Aptos"/>
              </a:rPr>
              <a:t>Average value = 2/π.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NEW TOPIC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Physics: average velocity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29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If v(t) is given, the average velocity over [t₁, t₂] is the mean value of v.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1901952"/>
            <a:ext cx="11018520" cy="960120"/>
          </a:xfrm>
          <a:prstGeom prst="rect">
            <a:avLst/>
          </a:prstGeom>
          <a:solidFill>
            <a:srgbClr val="FFF8E1"/>
          </a:solidFill>
          <a:ln w="19050">
            <a:solidFill>
              <a:srgbClr val="DA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" y="2048256"/>
            <a:ext cx="10689336" cy="6675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081E3F"/>
                </a:solidFill>
                <a:latin typeface="Aptos"/>
              </a:rPr>
              <a:t>v_avg = (1/(t₂ − t₁)) ∫_{t₁}^{t₂} v(t) dt = Δx / Δt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136391"/>
            <a:ext cx="110185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Same formula as average value — now with time as the variable.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B0B6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ROUGH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80" b="1">
                <a:solidFill>
                  <a:srgbClr val="FFD646"/>
                </a:solidFill>
                <a:latin typeface="Aptos"/>
              </a:rPr>
              <a:t>Rough work  /  extra 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Average velocity from v(t)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31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9E40"/>
                </a:solidFill>
                <a:latin typeface="Aptos"/>
              </a:rPr>
              <a:t>If v = 2t (m s⁻¹) from t = 0 to t = 4 s, find average velocity.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Solution: Average velocity from v(t)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32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30" b="1">
                <a:solidFill>
                  <a:srgbClr val="5AC8FF"/>
                </a:solidFill>
                <a:latin typeface="Aptos"/>
              </a:rPr>
              <a:t>Step 1:  v_avg = (1/4) ∫_0â´ 2t dt = (1/4)[t²]_0â´ =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27631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30" b="1">
                <a:solidFill>
                  <a:srgbClr val="5AC8FF"/>
                </a:solidFill>
                <a:latin typeface="Aptos"/>
              </a:rPr>
              <a:t>Step 2:  Check: Δx = 16 m, Δt = 4 s → v_avg = 4 m s⁻¹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76272"/>
            <a:ext cx="110185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D680"/>
                </a:solidFill>
                <a:latin typeface="Aptos"/>
              </a:rPr>
              <a:t>v_avg = 4 m s⁻¹.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Average of constant acceleration speed-up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33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FF9E40"/>
                </a:solidFill>
                <a:latin typeface="Aptos"/>
              </a:rPr>
              <a:t>If v = 3 + 2t from t = 0 to t = 3, find v_avg.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Solution: Average of constant acceleration speed-up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34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5AC8FF"/>
                </a:solidFill>
                <a:latin typeface="Aptos"/>
              </a:rPr>
              <a:t>Step 1:  v_avg = (1/3) ∫_0Â³ (3 + 2t) dt = (1/3)[3t + t²]_0Â³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27631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5AC8FF"/>
                </a:solidFill>
                <a:latin typeface="Aptos"/>
              </a:rPr>
              <a:t>Step 2: = (1/3)(9 + 9) = 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76272"/>
            <a:ext cx="110185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D680"/>
                </a:solidFill>
                <a:latin typeface="Aptos"/>
              </a:rPr>
              <a:t>v_avg = 6 m s⁻¹.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Mean of a linear a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35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FF9E40"/>
                </a:solidFill>
                <a:latin typeface="Aptos"/>
              </a:rPr>
              <a:t>If a = 4t from t = 1 to t = 3, find average acceleration.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Solution: Mean of a linear a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36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30" b="1">
                <a:solidFill>
                  <a:srgbClr val="5AC8FF"/>
                </a:solidFill>
                <a:latin typeface="Aptos"/>
              </a:rPr>
              <a:t>Step 1:  a_avg = (1/2) ∫_1Â³ 4t dt = (1/2)[2t²]_1Â³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27631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5AC8FF"/>
                </a:solidFill>
                <a:latin typeface="Aptos"/>
              </a:rPr>
              <a:t>Step 2: = (1/2)(18 − 2) = 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76272"/>
            <a:ext cx="110185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D680"/>
                </a:solidFill>
                <a:latin typeface="Aptos"/>
              </a:rPr>
              <a:t>a_avg = 8 m s⁻².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B0B6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ROUGH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80" b="1">
                <a:solidFill>
                  <a:srgbClr val="FFD646"/>
                </a:solidFill>
                <a:latin typeface="Aptos"/>
              </a:rPr>
              <a:t>Rough work  /  extra 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37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REVISION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Indefinite integral lock lines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38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30" b="1">
                <a:solidFill>
                  <a:srgbClr val="5AC8FF"/>
                </a:solidFill>
                <a:latin typeface="Aptos"/>
              </a:rPr>
              <a:t>∫ xâ¿ dx = xâ¿âºÂ¹/(n+1) + C     (n ≠ −1)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27631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5AC8FF"/>
                </a:solidFill>
                <a:latin typeface="Aptos"/>
              </a:rPr>
              <a:t>∫ sin x dx = −cos x + C     ·     ∫ cos x dx = sin x + 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7627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5AC8FF"/>
                </a:solidFill>
                <a:latin typeface="Aptos"/>
              </a:rPr>
              <a:t>∫ eË£ dx = eË£ + C     ·     ∫ dx/x = ln|x| + 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72491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C8FF"/>
                </a:solidFill>
                <a:latin typeface="Aptos"/>
              </a:rPr>
              <a:t>Substitution undoes the chain rule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Revision: indefinite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39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FF9E40"/>
                </a:solidFill>
                <a:latin typeface="Aptos"/>
              </a:rPr>
              <a:t>Find ∫ (4x³ − 1/x) dx  for x &gt; 0.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Solution: Revision: indefinite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5AC8FF"/>
                </a:solidFill>
                <a:latin typeface="Aptos"/>
              </a:rPr>
              <a:t>Step 1:  ∫ 4x³ dx = x⁴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27631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5AC8FF"/>
                </a:solidFill>
                <a:latin typeface="Aptos"/>
              </a:rPr>
              <a:t>Step 2:  ∫ −1/x dx = −ln 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76272"/>
            <a:ext cx="110185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D680"/>
                </a:solidFill>
                <a:latin typeface="Aptos"/>
              </a:rPr>
              <a:t>x⁴ − ln x + C.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Revision: definite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FF9E40"/>
                </a:solidFill>
                <a:latin typeface="Aptos"/>
              </a:rPr>
              <a:t>Evaluate ∫_0^{π/4} cos(2x) · 2 dx.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Solution: Revision: definite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42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C8FF"/>
                </a:solidFill>
                <a:latin typeface="Aptos"/>
              </a:rPr>
              <a:t>Step 1:  u = 2x  →  du = 2 dx;   limits 0 → π/2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27631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5AC8FF"/>
                </a:solidFill>
                <a:latin typeface="Aptos"/>
              </a:rPr>
              <a:t>Step 2:  ∫_0^{π/2} cos u du =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76272"/>
            <a:ext cx="110185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D680"/>
                </a:solidFill>
                <a:latin typeface="Aptos"/>
              </a:rPr>
              <a:t>1.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B0B6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ROUGH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80" b="1">
                <a:solidFill>
                  <a:srgbClr val="FFD646"/>
                </a:solidFill>
                <a:latin typeface="Aptos"/>
              </a:rPr>
              <a:t>Rough work  /  extra 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43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Revision: area between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44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9E40"/>
                </a:solidFill>
                <a:latin typeface="Aptos"/>
              </a:rPr>
              <a:t>Find the area between y = √x and y = x from x = 0 to x = 1.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Solution: Revision: area between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45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5AC8FF"/>
                </a:solidFill>
                <a:latin typeface="Aptos"/>
              </a:rPr>
              <a:t>Step 1:  On [0, 1], √x ≥ 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27631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5AC8FF"/>
                </a:solidFill>
                <a:latin typeface="Aptos"/>
              </a:rPr>
              <a:t>Step 2:  Area = ∫_0^1 (√x − x) dx = [ (2/3)xÂ³áŸÂ² − x²/2 ]_0^1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7627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5AC8FF"/>
                </a:solidFill>
                <a:latin typeface="Aptos"/>
              </a:rPr>
              <a:t>Step 3: = 2/3 − 1/2 = 1/6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724912"/>
            <a:ext cx="110185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D680"/>
                </a:solidFill>
                <a:latin typeface="Aptos"/>
              </a:rPr>
              <a:t>Area = 1/6 square units.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Revision: average value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46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FF9E40"/>
                </a:solidFill>
                <a:latin typeface="Aptos"/>
              </a:rPr>
              <a:t>Find the average value of f(x) = 3x² on [1, 2].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Solution: Revision: average value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47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30" b="1">
                <a:solidFill>
                  <a:srgbClr val="5AC8FF"/>
                </a:solidFill>
                <a:latin typeface="Aptos"/>
              </a:rPr>
              <a:t>Step 1:  f_avg = (1/1) ∫_1Â² 3x² dx = [x³]_1Â² = 8 − 1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27631"/>
            <a:ext cx="110185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D680"/>
                </a:solidFill>
                <a:latin typeface="Aptos"/>
              </a:rPr>
              <a:t>Average value = 7.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B0B6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ROUGH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80" b="1">
                <a:solidFill>
                  <a:srgbClr val="FFD646"/>
                </a:solidFill>
                <a:latin typeface="Aptos"/>
              </a:rPr>
              <a:t>Rough work  /  extra 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48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Homework: between curves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49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9E40"/>
                </a:solidFill>
                <a:latin typeface="Aptos"/>
              </a:rPr>
              <a:t>Find the area between y = 6 − x and y = x from x = 1 to x = 2.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Solution: Homework: between curves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50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10" b="1">
                <a:solidFill>
                  <a:srgbClr val="5AC8FF"/>
                </a:solidFill>
                <a:latin typeface="Aptos"/>
              </a:rPr>
              <a:t>Step 1:  Upper = 6 − x on this interval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27631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5AC8FF"/>
                </a:solidFill>
                <a:latin typeface="Aptos"/>
              </a:rPr>
              <a:t>Step 2:  Area = ∫_1Â² (6 − x − x) dx = ∫_1Â² (6 − 2x) dx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7627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5AC8FF"/>
                </a:solidFill>
                <a:latin typeface="Aptos"/>
              </a:rPr>
              <a:t>Step 3: = [6x − x²]_1Â² = (12 − 4) − (6 − 1) = 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724912"/>
            <a:ext cx="110185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D680"/>
                </a:solidFill>
                <a:latin typeface="Aptos"/>
              </a:rPr>
              <a:t>Area = 3 square units.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Homework: average velocity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51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FF9E40"/>
                </a:solidFill>
                <a:latin typeface="Aptos"/>
              </a:rPr>
              <a:t>If v = t² from t = 0 to t = 3, find v_avg.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Solution: Homework: average velocity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52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30" b="1">
                <a:solidFill>
                  <a:srgbClr val="5AC8FF"/>
                </a:solidFill>
                <a:latin typeface="Aptos"/>
              </a:rPr>
              <a:t>Step 1:  v_avg = (1/3) ∫_0Â³ t² dt = (1/3)[t³/3]_0Â³ =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27631"/>
            <a:ext cx="110185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D680"/>
                </a:solidFill>
                <a:latin typeface="Aptos"/>
              </a:rPr>
              <a:t>v_avg = 3 m s⁻¹.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CLASS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Calculus block lock lines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53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C8FF"/>
                </a:solidFill>
                <a:latin typeface="Aptos"/>
              </a:rPr>
              <a:t>Area between curves: ∫ (upper − lower) dx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27631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30" b="1">
                <a:solidFill>
                  <a:srgbClr val="5AC8FF"/>
                </a:solidFill>
                <a:latin typeface="Aptos"/>
              </a:rPr>
              <a:t>Average value: f_avg = (1/(b−a)) ∫_a^b f dx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7627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C8FF"/>
                </a:solidFill>
                <a:latin typeface="Aptos"/>
              </a:rPr>
              <a:t>v_avg = (1/Δt) ∫ v dt = Δx/Δt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72491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30" b="1">
                <a:solidFill>
                  <a:srgbClr val="5AC8FF"/>
                </a:solidFill>
                <a:latin typeface="Aptos"/>
              </a:rPr>
              <a:t>Differentiation ↔ Integration are reverse operations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B0B6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ROUGH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80" b="1">
                <a:solidFill>
                  <a:srgbClr val="FFD646"/>
                </a:solidFill>
                <a:latin typeface="Aptos"/>
              </a:rPr>
              <a:t>Rough work  /  extra 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54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CC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AFTER CLASS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Practice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55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1. Sketch every area-between-curves question before integrating.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37360"/>
            <a:ext cx="110185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2. Memorise the average-value formula with (b − a) in the denominator.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395728"/>
            <a:ext cx="110185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3. Redo one substitution + one definite + one average question.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054096"/>
            <a:ext cx="110185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4. Write a one-page summary of the whole calculus block.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822191"/>
            <a:ext cx="110185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9E40"/>
                </a:solidFill>
                <a:latin typeface="Aptos"/>
              </a:rPr>
              <a:t>Next chapter after this block: Vectors.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