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Five-minute recap, then circle and new topics.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recap to five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Empty board for extra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Empty board for extra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Empty board for extra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Empty board for extra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Empty board for extra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Empty board for extra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Empty board for extra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Empty board for extra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Empty board for extra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35508" y="516636"/>
            <a:ext cx="110185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6200" b="1">
                <a:solidFill>
                  <a:srgbClr val="D2D2DC"/>
                </a:solidFill>
                <a:latin typeface="Arial Black"/>
              </a:rPr>
              <a:t>EXCELLENCE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475488"/>
            <a:ext cx="110185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6200" b="1">
                <a:solidFill>
                  <a:srgbClr val="FFD646"/>
                </a:solidFill>
                <a:latin typeface="Arial Black"/>
              </a:rPr>
              <a:t>EXCELLENCE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5508" y="1540763"/>
            <a:ext cx="1101852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5A5A64"/>
                </a:solidFill>
                <a:latin typeface="Aptos"/>
              </a:rPr>
              <a:t>CLASS 11   -   2026-27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499616"/>
            <a:ext cx="1101852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Aptos"/>
              </a:rPr>
              <a:t>CLASS 11   -   2026-27</a:t>
            </a:r>
          </a:p>
        </p:txBody>
      </p:sp>
      <p:sp>
        <p:nvSpPr>
          <p:cNvPr id="6" name="Rectangle 5"/>
          <p:cNvSpPr/>
          <p:nvPr/>
        </p:nvSpPr>
        <p:spPr>
          <a:xfrm>
            <a:off x="3794760" y="2084831"/>
            <a:ext cx="4572000" cy="25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874519" y="2468880"/>
            <a:ext cx="841248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874519" y="3127248"/>
            <a:ext cx="8412480" cy="1490472"/>
          </a:xfrm>
          <a:prstGeom prst="roundRect">
            <a:avLst/>
          </a:prstGeom>
          <a:solidFill>
            <a:srgbClr val="000000"/>
          </a:solidFill>
          <a:ln w="15875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080759" y="2615184"/>
            <a:ext cx="16459" cy="384048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74519" y="2596896"/>
            <a:ext cx="4114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00000"/>
                </a:solidFill>
                <a:latin typeface="Aptos"/>
              </a:rPr>
              <a:t>Physics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59" y="2596896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00000"/>
                </a:solidFill>
                <a:latin typeface="Aptos"/>
              </a:rPr>
              <a:t>Lecture - 09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3401568"/>
            <a:ext cx="84124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Georgia"/>
              </a:rPr>
              <a:t>Basic Maths and Calculus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3950208"/>
            <a:ext cx="8412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D646"/>
                </a:solidFill>
                <a:latin typeface="Aptos"/>
              </a:rPr>
              <a:t>Circle, Ellipse, Exponential and Differentiation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4828032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FFFFFF"/>
                </a:solidFill>
                <a:latin typeface="Aptos"/>
              </a:rPr>
              <a:t>By - Excellence Programme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5303520"/>
            <a:ext cx="11018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B0B6C0"/>
                </a:solidFill>
                <a:latin typeface="Aptos"/>
              </a:rPr>
              <a:t>14 September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1018520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FD646"/>
                </a:solidFill>
                <a:latin typeface="Aptos"/>
              </a:rPr>
              <a:t>Topics to be covered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14400"/>
            <a:ext cx="3108960" cy="32004"/>
          </a:xfrm>
          <a:prstGeom prst="rect">
            <a:avLst/>
          </a:prstGeom>
          <a:solidFill>
            <a:srgbClr val="FFD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078992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FFD646"/>
                </a:solidFill>
                <a:latin typeface="Aptos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078992"/>
            <a:ext cx="10195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5-minute graph recap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792224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FFD646"/>
                </a:solidFill>
                <a:latin typeface="Aptos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1792224"/>
            <a:ext cx="10195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Circle: equation, centre, radius and exact graph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505456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FFD646"/>
                </a:solidFill>
                <a:latin typeface="Aptos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2505456"/>
            <a:ext cx="10195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Ellipse: standard equation, axes and exact graph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218687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FFD646"/>
                </a:solidFill>
                <a:latin typeface="Aptos"/>
              </a:rPr>
              <a:t>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3218687"/>
            <a:ext cx="10195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S.H.M. speed-position ellipse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931920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FFD646"/>
                </a:solidFill>
                <a:latin typeface="Aptos"/>
              </a:rPr>
              <a:t>05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3931920"/>
            <a:ext cx="10195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Exponential functions and their graphs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4645152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FFD646"/>
                </a:solidFill>
                <a:latin typeface="Aptos"/>
              </a:rPr>
              <a:t>06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4645152"/>
            <a:ext cx="10195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Differentiation, turning points and quadratic practice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409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5-MINUTE RECAP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Graph-shape formula 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30" b="1">
                <a:solidFill>
                  <a:srgbClr val="5AC8FF"/>
                </a:solidFill>
                <a:latin typeface="Aptos"/>
              </a:rPr>
              <a:t>Modulus y = |x|: V-shape     inverse graph y = 1/x: rectangular hyperbola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Parabola y = x²     square-root graph y = √(x)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30" b="1">
                <a:solidFill>
                  <a:srgbClr val="5AC8FF"/>
                </a:solidFill>
                <a:latin typeface="Aptos"/>
              </a:rPr>
              <a:t>Kinetic energy K ∝ v²     pendulum period T ∝ √(L)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72491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Orbital period T ∝ R³ᐟ²     at fixed p, kinetic energy K ∝ 1/m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409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5-MINUTE RECAP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How to draw any graph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1. Put the dependent quantity on the y-axis and independent quantity on the x-axis.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2. Check the domain (allowed values), intercepts, symmetry and turning points.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3. Mark enough exact points; draw the appropriate smooth curve or straight segments.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724912"/>
            <a:ext cx="1101852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4. Label both axes and important points.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NEW TOPIC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Circle: exact graph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5303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A circle is the locus of points in a plane at a fixed distance R from a fixed point called the centre.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856231"/>
            <a:ext cx="5303520" cy="868680"/>
          </a:xfrm>
          <a:prstGeom prst="rect">
            <a:avLst/>
          </a:prstGeom>
          <a:solidFill>
            <a:srgbClr val="FFF8E1"/>
          </a:solidFill>
          <a:ln w="19050">
            <a:solidFill>
              <a:srgbClr val="DA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2002536"/>
            <a:ext cx="4974336" cy="5760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081E3F"/>
                </a:solidFill>
                <a:latin typeface="Aptos"/>
              </a:rPr>
              <a:t>x² + y² = R²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907791"/>
            <a:ext cx="530352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Shown here: R = 3 and centre = (0, 0).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537960" y="3474719"/>
            <a:ext cx="4389120" cy="0"/>
          </a:xfrm>
          <a:prstGeom prst="line">
            <a:avLst/>
          </a:prstGeom>
          <a:ln w="1778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732520" y="1280160"/>
            <a:ext cx="0" cy="4389119"/>
          </a:xfrm>
          <a:prstGeom prst="line">
            <a:avLst/>
          </a:prstGeom>
          <a:ln w="1778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0762488" y="3520439"/>
            <a:ext cx="320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B0B6C0"/>
                </a:solidFill>
                <a:latin typeface="Aptos"/>
              </a:rPr>
              <a:t>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96528" y="1280160"/>
            <a:ext cx="411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B0B6C0"/>
                </a:solidFill>
                <a:latin typeface="Aptos"/>
              </a:rPr>
              <a:t>y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086600" y="3419855"/>
            <a:ext cx="0" cy="109728"/>
          </a:xfrm>
          <a:prstGeom prst="line">
            <a:avLst/>
          </a:prstGeom>
          <a:ln w="1397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922008" y="3547871"/>
            <a:ext cx="32918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0B6C0"/>
                </a:solidFill>
                <a:latin typeface="Aptos"/>
              </a:rPr>
              <a:t>-3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0378440" y="3419855"/>
            <a:ext cx="0" cy="109728"/>
          </a:xfrm>
          <a:prstGeom prst="line">
            <a:avLst/>
          </a:prstGeom>
          <a:ln w="1397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0213848" y="3547871"/>
            <a:ext cx="32918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0B6C0"/>
                </a:solidFill>
                <a:latin typeface="Aptos"/>
              </a:rPr>
              <a:t>3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677656" y="5120640"/>
            <a:ext cx="109728" cy="0"/>
          </a:xfrm>
          <a:prstGeom prst="line">
            <a:avLst/>
          </a:prstGeom>
          <a:ln w="1397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311896" y="5020055"/>
            <a:ext cx="3474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0B6C0"/>
                </a:solidFill>
                <a:latin typeface="Aptos"/>
              </a:rPr>
              <a:t>-3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677656" y="1828799"/>
            <a:ext cx="109728" cy="0"/>
          </a:xfrm>
          <a:prstGeom prst="line">
            <a:avLst/>
          </a:prstGeom>
          <a:ln w="1397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8311896" y="1728215"/>
            <a:ext cx="3474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0B6C0"/>
                </a:solidFill>
                <a:latin typeface="Aptos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39912" y="3547871"/>
            <a:ext cx="23774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0B6C0"/>
                </a:solidFill>
                <a:latin typeface="Aptos"/>
              </a:rPr>
              <a:t>0</a:t>
            </a:r>
          </a:p>
        </p:txBody>
      </p:sp>
      <p:sp>
        <p:nvSpPr>
          <p:cNvPr id="24" name="Oval 23"/>
          <p:cNvSpPr/>
          <p:nvPr/>
        </p:nvSpPr>
        <p:spPr>
          <a:xfrm>
            <a:off x="7086600" y="1828799"/>
            <a:ext cx="3291840" cy="3291840"/>
          </a:xfrm>
          <a:prstGeom prst="ellipse">
            <a:avLst/>
          </a:prstGeom>
          <a:noFill/>
          <a:ln w="30480">
            <a:solidFill>
              <a:srgbClr val="FFD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682228" y="3424427"/>
            <a:ext cx="100584" cy="100584"/>
          </a:xfrm>
          <a:prstGeom prst="ellipse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23960" y="3566159"/>
            <a:ext cx="822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5AD680"/>
                </a:solidFill>
                <a:latin typeface="Aptos"/>
              </a:rPr>
              <a:t>O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732520" y="3474719"/>
            <a:ext cx="1645920" cy="0"/>
          </a:xfrm>
          <a:prstGeom prst="line">
            <a:avLst/>
          </a:prstGeom>
          <a:ln w="2032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9336024" y="3182111"/>
            <a:ext cx="640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8B4BE"/>
                </a:solidFill>
                <a:latin typeface="Aptos"/>
              </a:rPr>
              <a:t>R = 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B0B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ROUGH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80" b="1">
                <a:solidFill>
                  <a:srgbClr val="FFD646"/>
                </a:solidFill>
                <a:latin typeface="Aptos"/>
              </a:rPr>
              <a:t>Rough work  /  extra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Equation of a circle: how it is formed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If the centre is C(h, k) and P(x, y) lies on the circle, then CP = 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45919"/>
            <a:ext cx="110185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10" b="1">
                <a:solidFill>
                  <a:srgbClr val="5AC8FF"/>
                </a:solidFill>
                <a:latin typeface="Aptos"/>
              </a:rPr>
              <a:t>Distance formula:  √[(x-h)²+(y-k)²] = R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2249424"/>
            <a:ext cx="11018520" cy="1005840"/>
          </a:xfrm>
          <a:prstGeom prst="rect">
            <a:avLst/>
          </a:prstGeom>
          <a:solidFill>
            <a:srgbClr val="FFF8E1"/>
          </a:solidFill>
          <a:ln w="19050">
            <a:solidFill>
              <a:srgbClr val="DA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2395728"/>
            <a:ext cx="10689336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081E3F"/>
                </a:solidFill>
                <a:latin typeface="Aptos"/>
              </a:rPr>
              <a:t>(x-h)² + (y-k)² = R²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474720"/>
            <a:ext cx="110185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80" b="1">
                <a:solidFill>
                  <a:srgbClr val="5AC8FF"/>
                </a:solidFill>
                <a:latin typeface="Aptos"/>
              </a:rPr>
              <a:t>centre = (h, k)          radius = 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4096511"/>
            <a:ext cx="110185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9E40"/>
                </a:solidFill>
                <a:latin typeface="Aptos"/>
              </a:rPr>
              <a:t>Signs inside brackets are opposite: (x+3)² means h = -3.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LEARN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Important points on a circle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For (x-h)²+(y-k)² = R²: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45919"/>
            <a:ext cx="110185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5AC8FF"/>
                </a:solidFill>
                <a:latin typeface="Aptos"/>
              </a:rPr>
              <a:t>right = (h+R, k)          left = (h-R, k)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267712"/>
            <a:ext cx="110185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5AC8FF"/>
                </a:solidFill>
                <a:latin typeface="Aptos"/>
              </a:rPr>
              <a:t>top = (h, k+R)          bottom = (h, k-R)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907791"/>
            <a:ext cx="1101852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These four points fix the exact width and height before drawing the circle.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Circle: x²+y² = 49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9E40"/>
                </a:solidFill>
                <a:latin typeface="Aptos"/>
              </a:rPr>
              <a:t>Find the centre and radius, then draw the exact graph.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Circle: x²+y² = 49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5303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10" b="1">
                <a:solidFill>
                  <a:srgbClr val="5AC8FF"/>
                </a:solidFill>
                <a:latin typeface="Aptos"/>
              </a:rPr>
              <a:t>Step 1:  Compare with x²+y² = R²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5303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10" b="1">
                <a:solidFill>
                  <a:srgbClr val="5AC8FF"/>
                </a:solidFill>
                <a:latin typeface="Aptos"/>
              </a:rPr>
              <a:t>Step 2:  R² = 49, so R = 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5303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5AD680"/>
                </a:solidFill>
                <a:latin typeface="Aptos"/>
              </a:rPr>
              <a:t>Centre = (0, 0), radius = 7.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537960" y="3474719"/>
            <a:ext cx="4389120" cy="0"/>
          </a:xfrm>
          <a:prstGeom prst="line">
            <a:avLst/>
          </a:prstGeom>
          <a:ln w="1778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8732520" y="1280160"/>
            <a:ext cx="0" cy="4389119"/>
          </a:xfrm>
          <a:prstGeom prst="line">
            <a:avLst/>
          </a:prstGeom>
          <a:ln w="1778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0762488" y="3520439"/>
            <a:ext cx="320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B0B6C0"/>
                </a:solidFill>
                <a:latin typeface="Aptos"/>
              </a:rPr>
              <a:t>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96528" y="1280160"/>
            <a:ext cx="411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B0B6C0"/>
                </a:solidFill>
                <a:latin typeface="Aptos"/>
              </a:rPr>
              <a:t>y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812280" y="3419855"/>
            <a:ext cx="0" cy="109728"/>
          </a:xfrm>
          <a:prstGeom prst="line">
            <a:avLst/>
          </a:prstGeom>
          <a:ln w="1397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647688" y="3547871"/>
            <a:ext cx="32918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0B6C0"/>
                </a:solidFill>
                <a:latin typeface="Aptos"/>
              </a:rPr>
              <a:t>-7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635240" y="3419855"/>
            <a:ext cx="0" cy="109728"/>
          </a:xfrm>
          <a:prstGeom prst="line">
            <a:avLst/>
          </a:prstGeom>
          <a:ln w="1397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7470648" y="3547871"/>
            <a:ext cx="32918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0B6C0"/>
                </a:solidFill>
                <a:latin typeface="Aptos"/>
              </a:rPr>
              <a:t>-4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829800" y="3419855"/>
            <a:ext cx="0" cy="109728"/>
          </a:xfrm>
          <a:prstGeom prst="line">
            <a:avLst/>
          </a:prstGeom>
          <a:ln w="1397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9665208" y="3547871"/>
            <a:ext cx="32918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0B6C0"/>
                </a:solidFill>
                <a:latin typeface="Aptos"/>
              </a:rPr>
              <a:t>4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0652760" y="3419855"/>
            <a:ext cx="0" cy="109728"/>
          </a:xfrm>
          <a:prstGeom prst="line">
            <a:avLst/>
          </a:prstGeom>
          <a:ln w="1397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0488168" y="3547871"/>
            <a:ext cx="32918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0B6C0"/>
                </a:solidFill>
                <a:latin typeface="Aptos"/>
              </a:rPr>
              <a:t>7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677656" y="5394959"/>
            <a:ext cx="109728" cy="0"/>
          </a:xfrm>
          <a:prstGeom prst="line">
            <a:avLst/>
          </a:prstGeom>
          <a:ln w="1397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8311896" y="5294375"/>
            <a:ext cx="3474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0B6C0"/>
                </a:solidFill>
                <a:latin typeface="Aptos"/>
              </a:rPr>
              <a:t>-7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677656" y="4571999"/>
            <a:ext cx="109728" cy="0"/>
          </a:xfrm>
          <a:prstGeom prst="line">
            <a:avLst/>
          </a:prstGeom>
          <a:ln w="1397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8311896" y="4471415"/>
            <a:ext cx="3474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0B6C0"/>
                </a:solidFill>
                <a:latin typeface="Aptos"/>
              </a:rPr>
              <a:t>-4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677656" y="2377439"/>
            <a:ext cx="109728" cy="0"/>
          </a:xfrm>
          <a:prstGeom prst="line">
            <a:avLst/>
          </a:prstGeom>
          <a:ln w="1397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8311896" y="2276856"/>
            <a:ext cx="3474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0B6C0"/>
                </a:solidFill>
                <a:latin typeface="Aptos"/>
              </a:rPr>
              <a:t>4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8677656" y="1554479"/>
            <a:ext cx="109728" cy="0"/>
          </a:xfrm>
          <a:prstGeom prst="line">
            <a:avLst/>
          </a:prstGeom>
          <a:ln w="1397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8311896" y="1453895"/>
            <a:ext cx="3474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0B6C0"/>
                </a:solidFill>
                <a:latin typeface="Aptos"/>
              </a:rPr>
              <a:t>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39912" y="3547871"/>
            <a:ext cx="23774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0B6C0"/>
                </a:solidFill>
                <a:latin typeface="Aptos"/>
              </a:rPr>
              <a:t>0</a:t>
            </a:r>
          </a:p>
        </p:txBody>
      </p:sp>
      <p:sp>
        <p:nvSpPr>
          <p:cNvPr id="31" name="Oval 30"/>
          <p:cNvSpPr/>
          <p:nvPr/>
        </p:nvSpPr>
        <p:spPr>
          <a:xfrm>
            <a:off x="6812280" y="1554479"/>
            <a:ext cx="3840480" cy="3840480"/>
          </a:xfrm>
          <a:prstGeom prst="ellipse">
            <a:avLst/>
          </a:prstGeom>
          <a:noFill/>
          <a:ln w="30480">
            <a:solidFill>
              <a:srgbClr val="FFD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2" name="Connector 31"/>
          <p:cNvCxnSpPr/>
          <p:nvPr/>
        </p:nvCxnSpPr>
        <p:spPr>
          <a:xfrm>
            <a:off x="8732520" y="3474719"/>
            <a:ext cx="1920240" cy="0"/>
          </a:xfrm>
          <a:prstGeom prst="line">
            <a:avLst/>
          </a:prstGeom>
          <a:ln w="2032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9473184" y="3182111"/>
            <a:ext cx="640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8B4BE"/>
                </a:solidFill>
                <a:latin typeface="Aptos"/>
              </a:rPr>
              <a:t>R = 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Circle: shifted centre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9E40"/>
                </a:solidFill>
                <a:latin typeface="Aptos"/>
              </a:rPr>
              <a:t>For (x-4)²+(y-3)² = 25, find the centre and radius.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Circle: shifted centre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5303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1:  Compare with (x-h)²+(y-k)² = R²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5303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2:  h = 4, k = 3 and R = √(25) = 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5303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5AD680"/>
                </a:solidFill>
                <a:latin typeface="Aptos"/>
              </a:rPr>
              <a:t>Centre = (4, 3), radius = 5.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537960" y="4571999"/>
            <a:ext cx="4389120" cy="0"/>
          </a:xfrm>
          <a:prstGeom prst="line">
            <a:avLst/>
          </a:prstGeom>
          <a:ln w="1778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269480" y="1280160"/>
            <a:ext cx="0" cy="4389119"/>
          </a:xfrm>
          <a:prstGeom prst="line">
            <a:avLst/>
          </a:prstGeom>
          <a:ln w="1778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0762488" y="4617719"/>
            <a:ext cx="320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B0B6C0"/>
                </a:solidFill>
                <a:latin typeface="Aptos"/>
              </a:rPr>
              <a:t>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33488" y="1280160"/>
            <a:ext cx="411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B0B6C0"/>
                </a:solidFill>
                <a:latin typeface="Aptos"/>
              </a:rPr>
              <a:t>y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903720" y="4517136"/>
            <a:ext cx="0" cy="109727"/>
          </a:xfrm>
          <a:prstGeom prst="line">
            <a:avLst/>
          </a:prstGeom>
          <a:ln w="1397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739128" y="4645151"/>
            <a:ext cx="32918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0B6C0"/>
                </a:solidFill>
                <a:latin typeface="Aptos"/>
              </a:rPr>
              <a:t>-1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732520" y="4517136"/>
            <a:ext cx="0" cy="109727"/>
          </a:xfrm>
          <a:prstGeom prst="line">
            <a:avLst/>
          </a:prstGeom>
          <a:ln w="1397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567928" y="4645151"/>
            <a:ext cx="32918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0B6C0"/>
                </a:solidFill>
                <a:latin typeface="Aptos"/>
              </a:rPr>
              <a:t>4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0561320" y="4517136"/>
            <a:ext cx="0" cy="109727"/>
          </a:xfrm>
          <a:prstGeom prst="line">
            <a:avLst/>
          </a:prstGeom>
          <a:ln w="1397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0396728" y="4645151"/>
            <a:ext cx="32918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0B6C0"/>
                </a:solidFill>
                <a:latin typeface="Aptos"/>
              </a:rPr>
              <a:t>9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214616" y="5303519"/>
            <a:ext cx="109728" cy="0"/>
          </a:xfrm>
          <a:prstGeom prst="line">
            <a:avLst/>
          </a:prstGeom>
          <a:ln w="1397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848856" y="5202935"/>
            <a:ext cx="3474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0B6C0"/>
                </a:solidFill>
                <a:latin typeface="Aptos"/>
              </a:rPr>
              <a:t>-2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214616" y="3474719"/>
            <a:ext cx="109728" cy="0"/>
          </a:xfrm>
          <a:prstGeom prst="line">
            <a:avLst/>
          </a:prstGeom>
          <a:ln w="1397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848856" y="3374135"/>
            <a:ext cx="3474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0B6C0"/>
                </a:solidFill>
                <a:latin typeface="Aptos"/>
              </a:rPr>
              <a:t>3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214616" y="1645919"/>
            <a:ext cx="109728" cy="0"/>
          </a:xfrm>
          <a:prstGeom prst="line">
            <a:avLst/>
          </a:prstGeom>
          <a:ln w="1397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848856" y="1545335"/>
            <a:ext cx="3474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0B6C0"/>
                </a:solidFill>
                <a:latin typeface="Aptos"/>
              </a:rPr>
              <a:t>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76872" y="4645151"/>
            <a:ext cx="23774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0B6C0"/>
                </a:solidFill>
                <a:latin typeface="Aptos"/>
              </a:rPr>
              <a:t>0</a:t>
            </a:r>
          </a:p>
        </p:txBody>
      </p:sp>
      <p:sp>
        <p:nvSpPr>
          <p:cNvPr id="27" name="Oval 26"/>
          <p:cNvSpPr/>
          <p:nvPr/>
        </p:nvSpPr>
        <p:spPr>
          <a:xfrm>
            <a:off x="6903720" y="1645919"/>
            <a:ext cx="3657600" cy="3657599"/>
          </a:xfrm>
          <a:prstGeom prst="ellipse">
            <a:avLst/>
          </a:prstGeom>
          <a:noFill/>
          <a:ln w="30480">
            <a:solidFill>
              <a:srgbClr val="28B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682228" y="3424427"/>
            <a:ext cx="100584" cy="100584"/>
          </a:xfrm>
          <a:prstGeom prst="ellipse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823960" y="3236975"/>
            <a:ext cx="822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5AD680"/>
                </a:solidFill>
                <a:latin typeface="Aptos"/>
              </a:rPr>
              <a:t>C(4, 3)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8732520" y="3474719"/>
            <a:ext cx="1828800" cy="0"/>
          </a:xfrm>
          <a:prstGeom prst="line">
            <a:avLst/>
          </a:prstGeom>
          <a:ln w="1905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9390888" y="3200399"/>
            <a:ext cx="640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D646"/>
                </a:solidFill>
                <a:latin typeface="Aptos"/>
              </a:rPr>
              <a:t>R = 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B0B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ROUGH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80" b="1">
                <a:solidFill>
                  <a:srgbClr val="FFD646"/>
                </a:solidFill>
                <a:latin typeface="Aptos"/>
              </a:rPr>
              <a:t>Rough work  /  extra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Circle: negative centre coordinate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9E40"/>
                </a:solidFill>
                <a:latin typeface="Aptos"/>
              </a:rPr>
              <a:t>For (x+3)²+(y-4)² = 36, find the centre and radius.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Circle: negative centre coordinate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5303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10" b="1">
                <a:solidFill>
                  <a:srgbClr val="5AC8FF"/>
                </a:solidFill>
                <a:latin typeface="Aptos"/>
              </a:rPr>
              <a:t>Step 1:  Write x+3 as x-(-3)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5303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10" b="1">
                <a:solidFill>
                  <a:srgbClr val="5AC8FF"/>
                </a:solidFill>
                <a:latin typeface="Aptos"/>
              </a:rPr>
              <a:t>Step 2:  h = -3, k = 4 and R = √(36) =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5303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5AD680"/>
                </a:solidFill>
                <a:latin typeface="Aptos"/>
              </a:rPr>
              <a:t>Centre = (-3, 4), radius = 6.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537960" y="4728754"/>
            <a:ext cx="4389120" cy="0"/>
          </a:xfrm>
          <a:prstGeom prst="line">
            <a:avLst/>
          </a:prstGeom>
          <a:ln w="1778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9673045" y="1280160"/>
            <a:ext cx="0" cy="4389119"/>
          </a:xfrm>
          <a:prstGeom prst="line">
            <a:avLst/>
          </a:prstGeom>
          <a:ln w="1778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0762488" y="4774474"/>
            <a:ext cx="320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B0B6C0"/>
                </a:solidFill>
                <a:latin typeface="Aptos"/>
              </a:rPr>
              <a:t>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37053" y="1280160"/>
            <a:ext cx="411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B0B6C0"/>
                </a:solidFill>
                <a:latin typeface="Aptos"/>
              </a:rPr>
              <a:t>y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851468" y="4673890"/>
            <a:ext cx="0" cy="109728"/>
          </a:xfrm>
          <a:prstGeom prst="line">
            <a:avLst/>
          </a:prstGeom>
          <a:ln w="1397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686876" y="4801906"/>
            <a:ext cx="32918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0B6C0"/>
                </a:solidFill>
                <a:latin typeface="Aptos"/>
              </a:rPr>
              <a:t>-9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732520" y="4673890"/>
            <a:ext cx="0" cy="109728"/>
          </a:xfrm>
          <a:prstGeom prst="line">
            <a:avLst/>
          </a:prstGeom>
          <a:ln w="1397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567928" y="4801906"/>
            <a:ext cx="32918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0B6C0"/>
                </a:solidFill>
                <a:latin typeface="Aptos"/>
              </a:rPr>
              <a:t>-3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0613571" y="4673890"/>
            <a:ext cx="0" cy="109728"/>
          </a:xfrm>
          <a:prstGeom prst="line">
            <a:avLst/>
          </a:prstGeom>
          <a:ln w="1397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0448979" y="4801906"/>
            <a:ext cx="32918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0B6C0"/>
                </a:solidFill>
                <a:latin typeface="Aptos"/>
              </a:rPr>
              <a:t>3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618181" y="5355771"/>
            <a:ext cx="109728" cy="0"/>
          </a:xfrm>
          <a:prstGeom prst="line">
            <a:avLst/>
          </a:prstGeom>
          <a:ln w="1397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9252421" y="5255187"/>
            <a:ext cx="3474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0B6C0"/>
                </a:solidFill>
                <a:latin typeface="Aptos"/>
              </a:rPr>
              <a:t>-2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618181" y="3474719"/>
            <a:ext cx="109728" cy="0"/>
          </a:xfrm>
          <a:prstGeom prst="line">
            <a:avLst/>
          </a:prstGeom>
          <a:ln w="1397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9252421" y="3374135"/>
            <a:ext cx="3474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0B6C0"/>
                </a:solidFill>
                <a:latin typeface="Aptos"/>
              </a:rPr>
              <a:t>4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618181" y="1593668"/>
            <a:ext cx="109728" cy="0"/>
          </a:xfrm>
          <a:prstGeom prst="line">
            <a:avLst/>
          </a:prstGeom>
          <a:ln w="1397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9252421" y="1493084"/>
            <a:ext cx="3474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0B6C0"/>
                </a:solidFill>
                <a:latin typeface="Aptos"/>
              </a:rPr>
              <a:t>10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80437" y="4801906"/>
            <a:ext cx="23774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0B6C0"/>
                </a:solidFill>
                <a:latin typeface="Aptos"/>
              </a:rPr>
              <a:t>0</a:t>
            </a:r>
          </a:p>
        </p:txBody>
      </p:sp>
      <p:sp>
        <p:nvSpPr>
          <p:cNvPr id="27" name="Oval 26"/>
          <p:cNvSpPr/>
          <p:nvPr/>
        </p:nvSpPr>
        <p:spPr>
          <a:xfrm>
            <a:off x="6851468" y="1593668"/>
            <a:ext cx="3762102" cy="3762102"/>
          </a:xfrm>
          <a:prstGeom prst="ellipse">
            <a:avLst/>
          </a:prstGeom>
          <a:noFill/>
          <a:ln w="30480">
            <a:solidFill>
              <a:srgbClr val="5AD6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682228" y="3424427"/>
            <a:ext cx="100584" cy="100584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823960" y="3236975"/>
            <a:ext cx="822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8B4BE"/>
                </a:solidFill>
                <a:latin typeface="Aptos"/>
              </a:rPr>
              <a:t>C(-3, 4)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EXTENSION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General equation of a circle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After expanding, a circle may appear as: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627631"/>
            <a:ext cx="11018520" cy="868680"/>
          </a:xfrm>
          <a:prstGeom prst="rect">
            <a:avLst/>
          </a:prstGeom>
          <a:solidFill>
            <a:srgbClr val="FFF8E1"/>
          </a:solidFill>
          <a:ln w="19050">
            <a:solidFill>
              <a:srgbClr val="DA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1773935"/>
            <a:ext cx="10689336" cy="5760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980" b="1">
                <a:solidFill>
                  <a:srgbClr val="081E3F"/>
                </a:solidFill>
                <a:latin typeface="Aptos"/>
              </a:rPr>
              <a:t>x²+y²+2gx+2fy+c = 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980944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89" b="1">
                <a:solidFill>
                  <a:srgbClr val="5AC8FF"/>
                </a:solidFill>
                <a:latin typeface="Aptos"/>
              </a:rPr>
              <a:t>centre = (-g, -f)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529584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89" b="1">
                <a:solidFill>
                  <a:srgbClr val="5AC8FF"/>
                </a:solidFill>
                <a:latin typeface="Aptos"/>
              </a:rPr>
              <a:t>radius = √(g²+f²-c)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General circle equation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9E40"/>
                </a:solidFill>
                <a:latin typeface="Aptos"/>
              </a:rPr>
              <a:t>Find the centre and radius of x²+y²-6x+4y-12 = 0.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General circle equation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1:  2g = -6 gives g = -3; 2f = 4 gives f =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10" b="1">
                <a:solidFill>
                  <a:srgbClr val="5AC8FF"/>
                </a:solidFill>
                <a:latin typeface="Aptos"/>
              </a:rPr>
              <a:t>Step 2:  Centre = (-g, -f) = (3, -2)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3:  R = √[(-3)²+2²-(-12)] = √(25) = 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724912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89" b="1">
                <a:solidFill>
                  <a:srgbClr val="5AD680"/>
                </a:solidFill>
                <a:latin typeface="Aptos"/>
              </a:rPr>
              <a:t>Centre = (3, -2), radius = 5.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B0B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ROUGH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80" b="1">
                <a:solidFill>
                  <a:srgbClr val="FFD646"/>
                </a:solidFill>
                <a:latin typeface="Aptos"/>
              </a:rPr>
              <a:t>Rough work  /  extra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NEW TOPIC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Ellipse: exact graph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5303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An ellipse is the locus of points whose total distance from two fixed points is constant.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856231"/>
            <a:ext cx="5303520" cy="868680"/>
          </a:xfrm>
          <a:prstGeom prst="rect">
            <a:avLst/>
          </a:prstGeom>
          <a:solidFill>
            <a:srgbClr val="FFF8E1"/>
          </a:solidFill>
          <a:ln w="19050">
            <a:solidFill>
              <a:srgbClr val="DA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2002536"/>
            <a:ext cx="4974336" cy="5760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160" b="1">
                <a:solidFill>
                  <a:srgbClr val="081E3F"/>
                </a:solidFill>
                <a:latin typeface="Aptos"/>
              </a:rPr>
              <a:t>x²/a² + y²/b² =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907791"/>
            <a:ext cx="53035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Shown here: a = 4 horizontally and b = 2 vertically.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537960" y="3474719"/>
            <a:ext cx="4389120" cy="0"/>
          </a:xfrm>
          <a:prstGeom prst="line">
            <a:avLst/>
          </a:prstGeom>
          <a:ln w="1778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732520" y="1280160"/>
            <a:ext cx="0" cy="4389119"/>
          </a:xfrm>
          <a:prstGeom prst="line">
            <a:avLst/>
          </a:prstGeom>
          <a:ln w="1778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0762488" y="3520439"/>
            <a:ext cx="320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B0B6C0"/>
                </a:solidFill>
                <a:latin typeface="Aptos"/>
              </a:rPr>
              <a:t>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96528" y="1280160"/>
            <a:ext cx="411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B0B6C0"/>
                </a:solidFill>
                <a:latin typeface="Aptos"/>
              </a:rPr>
              <a:t>y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976872" y="3419855"/>
            <a:ext cx="0" cy="109728"/>
          </a:xfrm>
          <a:prstGeom prst="line">
            <a:avLst/>
          </a:prstGeom>
          <a:ln w="1397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812280" y="3547871"/>
            <a:ext cx="32918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0B6C0"/>
                </a:solidFill>
                <a:latin typeface="Aptos"/>
              </a:rPr>
              <a:t>-4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0488167" y="3419855"/>
            <a:ext cx="0" cy="109728"/>
          </a:xfrm>
          <a:prstGeom prst="line">
            <a:avLst/>
          </a:prstGeom>
          <a:ln w="1397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0323576" y="3547871"/>
            <a:ext cx="32918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0B6C0"/>
                </a:solidFill>
                <a:latin typeface="Aptos"/>
              </a:rPr>
              <a:t>4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677656" y="4352544"/>
            <a:ext cx="109728" cy="0"/>
          </a:xfrm>
          <a:prstGeom prst="line">
            <a:avLst/>
          </a:prstGeom>
          <a:ln w="1397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311896" y="4251959"/>
            <a:ext cx="3474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0B6C0"/>
                </a:solidFill>
                <a:latin typeface="Aptos"/>
              </a:rPr>
              <a:t>-2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677656" y="2596895"/>
            <a:ext cx="109728" cy="0"/>
          </a:xfrm>
          <a:prstGeom prst="line">
            <a:avLst/>
          </a:prstGeom>
          <a:ln w="1397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8311896" y="2496311"/>
            <a:ext cx="3474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0B6C0"/>
                </a:solidFill>
                <a:latin typeface="Aptos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39912" y="3547871"/>
            <a:ext cx="23774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0B6C0"/>
                </a:solidFill>
                <a:latin typeface="Aptos"/>
              </a:rPr>
              <a:t>0</a:t>
            </a:r>
          </a:p>
        </p:txBody>
      </p:sp>
      <p:sp>
        <p:nvSpPr>
          <p:cNvPr id="24" name="Oval 23"/>
          <p:cNvSpPr/>
          <p:nvPr/>
        </p:nvSpPr>
        <p:spPr>
          <a:xfrm>
            <a:off x="6976872" y="2596895"/>
            <a:ext cx="3511295" cy="1755648"/>
          </a:xfrm>
          <a:prstGeom prst="ellipse">
            <a:avLst/>
          </a:prstGeom>
          <a:noFill/>
          <a:ln w="30480">
            <a:solidFill>
              <a:srgbClr val="FFD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" name="Connector 24"/>
          <p:cNvCxnSpPr/>
          <p:nvPr/>
        </p:nvCxnSpPr>
        <p:spPr>
          <a:xfrm>
            <a:off x="8732520" y="3474719"/>
            <a:ext cx="1755647" cy="0"/>
          </a:xfrm>
          <a:prstGeom prst="line">
            <a:avLst/>
          </a:prstGeom>
          <a:ln w="1905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9346996" y="3200399"/>
            <a:ext cx="685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8B4BE"/>
                </a:solidFill>
                <a:latin typeface="Aptos"/>
              </a:rPr>
              <a:t>a = 4</a:t>
            </a:r>
          </a:p>
        </p:txBody>
      </p:sp>
      <p:cxnSp>
        <p:nvCxnSpPr>
          <p:cNvPr id="27" name="Connector 26"/>
          <p:cNvCxnSpPr/>
          <p:nvPr/>
        </p:nvCxnSpPr>
        <p:spPr>
          <a:xfrm flipV="1">
            <a:off x="8732520" y="2596895"/>
            <a:ext cx="0" cy="877824"/>
          </a:xfrm>
          <a:prstGeom prst="line">
            <a:avLst/>
          </a:prstGeom>
          <a:ln w="19050">
            <a:solidFill>
              <a:srgbClr val="5A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8823960" y="2838297"/>
            <a:ext cx="685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5AD680"/>
                </a:solidFill>
                <a:latin typeface="Aptos"/>
              </a:rPr>
              <a:t>b = 2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Standard ellipse: how to read it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For an ellipse centred at the origin: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645919"/>
            <a:ext cx="11018520" cy="960120"/>
          </a:xfrm>
          <a:prstGeom prst="rect">
            <a:avLst/>
          </a:prstGeom>
          <a:solidFill>
            <a:srgbClr val="FFF8E1"/>
          </a:solidFill>
          <a:ln w="19050">
            <a:solidFill>
              <a:srgbClr val="DA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1792223"/>
            <a:ext cx="10689336" cy="6675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160" b="1">
                <a:solidFill>
                  <a:srgbClr val="081E3F"/>
                </a:solidFill>
                <a:latin typeface="Aptos"/>
              </a:rPr>
              <a:t>x²/a² + y²/b² =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816352"/>
            <a:ext cx="110185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5AC8FF"/>
                </a:solidFill>
                <a:latin typeface="Aptos"/>
              </a:rPr>
              <a:t>x-intercepts = (±a, 0)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419856"/>
            <a:ext cx="110185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5AC8FF"/>
                </a:solidFill>
                <a:latin typeface="Aptos"/>
              </a:rPr>
              <a:t>y-intercepts = (0, ±b)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4041648"/>
            <a:ext cx="110185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The larger denominator gives the longer semi-axis.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LEARN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Horizontal and vertical ellipses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078992"/>
            <a:ext cx="493776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D646"/>
                </a:solidFill>
                <a:latin typeface="Aptos"/>
              </a:rPr>
              <a:t>a² &gt; b²: horizontal major axis (a, b &gt; 0)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234440" y="3616452"/>
            <a:ext cx="3977639" cy="0"/>
          </a:xfrm>
          <a:prstGeom prst="line">
            <a:avLst/>
          </a:prstGeom>
          <a:ln w="1778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223260" y="1627632"/>
            <a:ext cx="0" cy="3977640"/>
          </a:xfrm>
          <a:prstGeom prst="line">
            <a:avLst/>
          </a:prstGeom>
          <a:ln w="1778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047488" y="3662172"/>
            <a:ext cx="320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B0B6C0"/>
                </a:solidFill>
                <a:latin typeface="Aptos"/>
              </a:rPr>
              <a:t>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87268" y="1627632"/>
            <a:ext cx="411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B0B6C0"/>
                </a:solidFill>
                <a:latin typeface="Aptos"/>
              </a:rPr>
              <a:t>y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632204" y="3561588"/>
            <a:ext cx="0" cy="109727"/>
          </a:xfrm>
          <a:prstGeom prst="line">
            <a:avLst/>
          </a:prstGeom>
          <a:ln w="1397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467612" y="3689604"/>
            <a:ext cx="32918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0B6C0"/>
                </a:solidFill>
                <a:latin typeface="Aptos"/>
              </a:rPr>
              <a:t>-4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814316" y="3561588"/>
            <a:ext cx="0" cy="109727"/>
          </a:xfrm>
          <a:prstGeom prst="line">
            <a:avLst/>
          </a:prstGeom>
          <a:ln w="1397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649724" y="3689604"/>
            <a:ext cx="32918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0B6C0"/>
                </a:solidFill>
                <a:latin typeface="Aptos"/>
              </a:rPr>
              <a:t>4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168396" y="4411980"/>
            <a:ext cx="109728" cy="0"/>
          </a:xfrm>
          <a:prstGeom prst="line">
            <a:avLst/>
          </a:prstGeom>
          <a:ln w="1397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2802636" y="4311396"/>
            <a:ext cx="3474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0B6C0"/>
                </a:solidFill>
                <a:latin typeface="Aptos"/>
              </a:rPr>
              <a:t>-2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168396" y="2820924"/>
            <a:ext cx="109728" cy="0"/>
          </a:xfrm>
          <a:prstGeom prst="line">
            <a:avLst/>
          </a:prstGeom>
          <a:ln w="1397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2802636" y="2720340"/>
            <a:ext cx="3474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0B6C0"/>
                </a:solidFill>
                <a:latin typeface="Aptos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30652" y="3689604"/>
            <a:ext cx="23774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0B6C0"/>
                </a:solidFill>
                <a:latin typeface="Aptos"/>
              </a:rPr>
              <a:t>0</a:t>
            </a:r>
          </a:p>
        </p:txBody>
      </p:sp>
      <p:sp>
        <p:nvSpPr>
          <p:cNvPr id="21" name="Oval 20"/>
          <p:cNvSpPr/>
          <p:nvPr/>
        </p:nvSpPr>
        <p:spPr>
          <a:xfrm>
            <a:off x="1632204" y="2820924"/>
            <a:ext cx="3182112" cy="1591055"/>
          </a:xfrm>
          <a:prstGeom prst="ellipse">
            <a:avLst/>
          </a:prstGeom>
          <a:noFill/>
          <a:ln w="30480">
            <a:solidFill>
              <a:srgbClr val="FFD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1078992"/>
            <a:ext cx="493776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8B4BE"/>
                </a:solidFill>
                <a:latin typeface="Aptos"/>
              </a:rPr>
              <a:t>b² &gt; a²: vertical major axis (a, b &gt; 0)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903720" y="3616452"/>
            <a:ext cx="3977639" cy="0"/>
          </a:xfrm>
          <a:prstGeom prst="line">
            <a:avLst/>
          </a:prstGeom>
          <a:ln w="1778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8892540" y="1627632"/>
            <a:ext cx="0" cy="3977640"/>
          </a:xfrm>
          <a:prstGeom prst="line">
            <a:avLst/>
          </a:prstGeom>
          <a:ln w="1778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10716767" y="3662172"/>
            <a:ext cx="320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B0B6C0"/>
                </a:solidFill>
                <a:latin typeface="Aptos"/>
              </a:rPr>
              <a:t>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56548" y="1627632"/>
            <a:ext cx="411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B0B6C0"/>
                </a:solidFill>
                <a:latin typeface="Aptos"/>
              </a:rPr>
              <a:t>y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097012" y="3561588"/>
            <a:ext cx="0" cy="109727"/>
          </a:xfrm>
          <a:prstGeom prst="line">
            <a:avLst/>
          </a:prstGeom>
          <a:ln w="1397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7932420" y="3689604"/>
            <a:ext cx="32918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0B6C0"/>
                </a:solidFill>
                <a:latin typeface="Aptos"/>
              </a:rPr>
              <a:t>-2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688067" y="3561588"/>
            <a:ext cx="0" cy="109727"/>
          </a:xfrm>
          <a:prstGeom prst="line">
            <a:avLst/>
          </a:prstGeom>
          <a:ln w="1397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9523476" y="3689604"/>
            <a:ext cx="32918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0B6C0"/>
                </a:solidFill>
                <a:latin typeface="Aptos"/>
              </a:rPr>
              <a:t>2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8837676" y="5207508"/>
            <a:ext cx="109728" cy="0"/>
          </a:xfrm>
          <a:prstGeom prst="line">
            <a:avLst/>
          </a:prstGeom>
          <a:ln w="1397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8471915" y="5106924"/>
            <a:ext cx="3474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0B6C0"/>
                </a:solidFill>
                <a:latin typeface="Aptos"/>
              </a:rPr>
              <a:t>-4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8837676" y="2025395"/>
            <a:ext cx="109728" cy="0"/>
          </a:xfrm>
          <a:prstGeom prst="line">
            <a:avLst/>
          </a:prstGeom>
          <a:ln w="1397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8471915" y="1924812"/>
            <a:ext cx="3474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0B6C0"/>
                </a:solidFill>
                <a:latin typeface="Aptos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99932" y="3689604"/>
            <a:ext cx="23774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0B6C0"/>
                </a:solidFill>
                <a:latin typeface="Aptos"/>
              </a:rPr>
              <a:t>0</a:t>
            </a:r>
          </a:p>
        </p:txBody>
      </p:sp>
      <p:sp>
        <p:nvSpPr>
          <p:cNvPr id="36" name="Oval 35"/>
          <p:cNvSpPr/>
          <p:nvPr/>
        </p:nvSpPr>
        <p:spPr>
          <a:xfrm>
            <a:off x="8097012" y="2025395"/>
            <a:ext cx="1591055" cy="3182112"/>
          </a:xfrm>
          <a:prstGeom prst="ellipse">
            <a:avLst/>
          </a:prstGeom>
          <a:noFill/>
          <a:ln w="30480">
            <a:solidFill>
              <a:srgbClr val="28B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Draw x²/4 + y²/9 = 1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9E40"/>
                </a:solidFill>
                <a:latin typeface="Aptos"/>
              </a:rPr>
              <a:t>Find the intercepts and draw the exact ellipse.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Draw x²/4 + y²/9 = 1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5303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10" b="1">
                <a:solidFill>
                  <a:srgbClr val="5AC8FF"/>
                </a:solidFill>
                <a:latin typeface="Aptos"/>
              </a:rPr>
              <a:t>Step 1:  x²/2² + y²/3² =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5303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2:  x-intercepts = (+2, 0), (-2, 0)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5303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3:  y-intercepts = (0, +3), (0, -3)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724912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Vertical ellipse: semi-major axis = 3.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537960" y="3474719"/>
            <a:ext cx="4389120" cy="0"/>
          </a:xfrm>
          <a:prstGeom prst="line">
            <a:avLst/>
          </a:prstGeom>
          <a:ln w="1778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732520" y="1280160"/>
            <a:ext cx="0" cy="4389119"/>
          </a:xfrm>
          <a:prstGeom prst="line">
            <a:avLst/>
          </a:prstGeom>
          <a:ln w="1778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0762488" y="3520439"/>
            <a:ext cx="320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B0B6C0"/>
                </a:solidFill>
                <a:latin typeface="Aptos"/>
              </a:rPr>
              <a:t>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96528" y="1280160"/>
            <a:ext cx="411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B0B6C0"/>
                </a:solidFill>
                <a:latin typeface="Aptos"/>
              </a:rPr>
              <a:t>y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35240" y="3419855"/>
            <a:ext cx="0" cy="109728"/>
          </a:xfrm>
          <a:prstGeom prst="line">
            <a:avLst/>
          </a:prstGeom>
          <a:ln w="1397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470648" y="3547871"/>
            <a:ext cx="32918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0B6C0"/>
                </a:solidFill>
                <a:latin typeface="Aptos"/>
              </a:rPr>
              <a:t>-2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9829800" y="3419855"/>
            <a:ext cx="0" cy="109728"/>
          </a:xfrm>
          <a:prstGeom prst="line">
            <a:avLst/>
          </a:prstGeom>
          <a:ln w="1397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9665208" y="3547871"/>
            <a:ext cx="32918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0B6C0"/>
                </a:solidFill>
                <a:latin typeface="Aptos"/>
              </a:rPr>
              <a:t>2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677656" y="5120640"/>
            <a:ext cx="109728" cy="0"/>
          </a:xfrm>
          <a:prstGeom prst="line">
            <a:avLst/>
          </a:prstGeom>
          <a:ln w="1397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311896" y="5020055"/>
            <a:ext cx="3474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0B6C0"/>
                </a:solidFill>
                <a:latin typeface="Aptos"/>
              </a:rPr>
              <a:t>-3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677656" y="1828799"/>
            <a:ext cx="109728" cy="0"/>
          </a:xfrm>
          <a:prstGeom prst="line">
            <a:avLst/>
          </a:prstGeom>
          <a:ln w="1397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8311896" y="1728215"/>
            <a:ext cx="3474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0B6C0"/>
                </a:solidFill>
                <a:latin typeface="Aptos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39912" y="3547871"/>
            <a:ext cx="23774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0B6C0"/>
                </a:solidFill>
                <a:latin typeface="Aptos"/>
              </a:rPr>
              <a:t>0</a:t>
            </a:r>
          </a:p>
        </p:txBody>
      </p:sp>
      <p:sp>
        <p:nvSpPr>
          <p:cNvPr id="24" name="Oval 23"/>
          <p:cNvSpPr/>
          <p:nvPr/>
        </p:nvSpPr>
        <p:spPr>
          <a:xfrm>
            <a:off x="7635240" y="1828799"/>
            <a:ext cx="2194560" cy="3291840"/>
          </a:xfrm>
          <a:prstGeom prst="ellipse">
            <a:avLst/>
          </a:prstGeom>
          <a:noFill/>
          <a:ln w="30480">
            <a:solidFill>
              <a:srgbClr val="28B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B0B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ROUGH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80" b="1">
                <a:solidFill>
                  <a:srgbClr val="FFD646"/>
                </a:solidFill>
                <a:latin typeface="Aptos"/>
              </a:rPr>
              <a:t>Rough work  /  extra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Shifted ellipse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9E40"/>
                </a:solidFill>
                <a:latin typeface="Aptos"/>
              </a:rPr>
              <a:t>For (x-2)²/16 + (y+1)²/4 = 1, find centre and semi-axes.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Shifted ellipse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5303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5AC8FF"/>
                </a:solidFill>
                <a:latin typeface="Aptos"/>
              </a:rPr>
              <a:t>Step 1:  Centre = (2, -1)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5303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2:  Horizontal semi-axis = √(16) =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5303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3:  Vertical semi-axis = √(4) =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724912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10" b="1">
                <a:solidFill>
                  <a:srgbClr val="5AD680"/>
                </a:solidFill>
                <a:latin typeface="Aptos"/>
              </a:rPr>
              <a:t>Horizontal ellipse centred at (2, -1).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537960" y="3035807"/>
            <a:ext cx="4389120" cy="0"/>
          </a:xfrm>
          <a:prstGeom prst="line">
            <a:avLst/>
          </a:prstGeom>
          <a:ln w="1778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854696" y="1280160"/>
            <a:ext cx="0" cy="4389119"/>
          </a:xfrm>
          <a:prstGeom prst="line">
            <a:avLst/>
          </a:prstGeom>
          <a:ln w="1778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0762488" y="3081527"/>
            <a:ext cx="320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B0B6C0"/>
                </a:solidFill>
                <a:latin typeface="Aptos"/>
              </a:rPr>
              <a:t>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18704" y="1280160"/>
            <a:ext cx="411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B0B6C0"/>
                </a:solidFill>
                <a:latin typeface="Aptos"/>
              </a:rPr>
              <a:t>y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976872" y="2980943"/>
            <a:ext cx="0" cy="109728"/>
          </a:xfrm>
          <a:prstGeom prst="line">
            <a:avLst/>
          </a:prstGeom>
          <a:ln w="1397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812280" y="3108959"/>
            <a:ext cx="32918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0B6C0"/>
                </a:solidFill>
                <a:latin typeface="Aptos"/>
              </a:rPr>
              <a:t>-2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732520" y="2980943"/>
            <a:ext cx="0" cy="109728"/>
          </a:xfrm>
          <a:prstGeom prst="line">
            <a:avLst/>
          </a:prstGeom>
          <a:ln w="1397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567928" y="3108959"/>
            <a:ext cx="32918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0B6C0"/>
                </a:solidFill>
                <a:latin typeface="Aptos"/>
              </a:rPr>
              <a:t>2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0488167" y="2980943"/>
            <a:ext cx="0" cy="109728"/>
          </a:xfrm>
          <a:prstGeom prst="line">
            <a:avLst/>
          </a:prstGeom>
          <a:ln w="1397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0323576" y="3108959"/>
            <a:ext cx="32918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0B6C0"/>
                </a:solidFill>
                <a:latin typeface="Aptos"/>
              </a:rPr>
              <a:t>6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799831" y="4352544"/>
            <a:ext cx="109729" cy="0"/>
          </a:xfrm>
          <a:prstGeom prst="line">
            <a:avLst/>
          </a:prstGeom>
          <a:ln w="1397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7434071" y="4251959"/>
            <a:ext cx="3474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0B6C0"/>
                </a:solidFill>
                <a:latin typeface="Aptos"/>
              </a:rPr>
              <a:t>-3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799831" y="3474719"/>
            <a:ext cx="109729" cy="0"/>
          </a:xfrm>
          <a:prstGeom prst="line">
            <a:avLst/>
          </a:prstGeom>
          <a:ln w="1397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7434071" y="3374135"/>
            <a:ext cx="3474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0B6C0"/>
                </a:solidFill>
                <a:latin typeface="Aptos"/>
              </a:rPr>
              <a:t>-1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799831" y="2596895"/>
            <a:ext cx="109729" cy="0"/>
          </a:xfrm>
          <a:prstGeom prst="line">
            <a:avLst/>
          </a:prstGeom>
          <a:ln w="1397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7434071" y="2496311"/>
            <a:ext cx="3474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0B6C0"/>
                </a:solidFill>
                <a:latin typeface="Aptos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62088" y="3108959"/>
            <a:ext cx="23774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0B6C0"/>
                </a:solidFill>
                <a:latin typeface="Aptos"/>
              </a:rPr>
              <a:t>0</a:t>
            </a:r>
          </a:p>
        </p:txBody>
      </p:sp>
      <p:sp>
        <p:nvSpPr>
          <p:cNvPr id="28" name="Oval 27"/>
          <p:cNvSpPr/>
          <p:nvPr/>
        </p:nvSpPr>
        <p:spPr>
          <a:xfrm>
            <a:off x="6976872" y="2596895"/>
            <a:ext cx="3511295" cy="1755648"/>
          </a:xfrm>
          <a:prstGeom prst="ellipse">
            <a:avLst/>
          </a:prstGeom>
          <a:noFill/>
          <a:ln w="30480">
            <a:solidFill>
              <a:srgbClr val="5AD6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682228" y="3424427"/>
            <a:ext cx="100584" cy="100584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823960" y="3236975"/>
            <a:ext cx="822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8B4BE"/>
                </a:solidFill>
                <a:latin typeface="Aptos"/>
              </a:rPr>
              <a:t>C(2, -1)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PHYSICS APPLICATION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S.H.M. speed-position graph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28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530352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For displacement x in simple harmonic motion: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627631"/>
            <a:ext cx="5303520" cy="868680"/>
          </a:xfrm>
          <a:prstGeom prst="rect">
            <a:avLst/>
          </a:prstGeom>
          <a:solidFill>
            <a:srgbClr val="FFF8E1"/>
          </a:solidFill>
          <a:ln w="19050">
            <a:solidFill>
              <a:srgbClr val="DA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1773935"/>
            <a:ext cx="4974336" cy="5760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81E3F"/>
                </a:solidFill>
                <a:latin typeface="Aptos"/>
              </a:rPr>
              <a:t>|v| = ω √(A²-x²)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980944"/>
            <a:ext cx="530352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The speed-position graph is the upper half of an ellipse.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400800" y="5669279"/>
            <a:ext cx="4663440" cy="0"/>
          </a:xfrm>
          <a:prstGeom prst="line">
            <a:avLst/>
          </a:prstGeom>
          <a:ln w="1778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732520" y="1280160"/>
            <a:ext cx="0" cy="4389119"/>
          </a:xfrm>
          <a:prstGeom prst="line">
            <a:avLst/>
          </a:prstGeom>
          <a:ln w="1778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0899648" y="5714999"/>
            <a:ext cx="320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B0B6C0"/>
                </a:solidFill>
                <a:latin typeface="Aptos"/>
              </a:rPr>
              <a:t>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96528" y="1280160"/>
            <a:ext cx="411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B0B6C0"/>
                </a:solidFill>
                <a:latin typeface="Aptos"/>
              </a:rPr>
              <a:t>v</a:t>
            </a:r>
          </a:p>
        </p:txBody>
      </p:sp>
      <p:cxnSp>
        <p:nvCxnSpPr>
          <p:cNvPr id="15" name="Connector 14"/>
          <p:cNvCxnSpPr/>
          <p:nvPr/>
        </p:nvCxnSpPr>
        <p:spPr>
          <a:xfrm flipH="1" flipV="1">
            <a:off x="10675324" y="5605446"/>
            <a:ext cx="296" cy="63833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 flipV="1">
            <a:off x="10674436" y="5541631"/>
            <a:ext cx="888" cy="63815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 flipV="1">
            <a:off x="10672957" y="5477856"/>
            <a:ext cx="1479" cy="63775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 flipV="1">
            <a:off x="10670886" y="5414138"/>
            <a:ext cx="2071" cy="63718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 flipV="1">
            <a:off x="10668225" y="5350499"/>
            <a:ext cx="2661" cy="63639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 flipV="1">
            <a:off x="10664975" y="5286956"/>
            <a:ext cx="3250" cy="63543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 flipV="1">
            <a:off x="10661136" y="5223530"/>
            <a:ext cx="3839" cy="63426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 flipV="1">
            <a:off x="10656709" y="5160240"/>
            <a:ext cx="4427" cy="63290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 flipV="1">
            <a:off x="10651697" y="5097105"/>
            <a:ext cx="5012" cy="63135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 flipV="1">
            <a:off x="10646099" y="5034144"/>
            <a:ext cx="5598" cy="62961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 flipV="1">
            <a:off x="10639919" y="4971377"/>
            <a:ext cx="6180" cy="62767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 flipV="1">
            <a:off x="10633158" y="4908822"/>
            <a:ext cx="6761" cy="62555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 flipV="1">
            <a:off x="10625818" y="4846499"/>
            <a:ext cx="7340" cy="62323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 flipV="1">
            <a:off x="10617901" y="4784426"/>
            <a:ext cx="7917" cy="62073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H="1" flipV="1">
            <a:off x="10609410" y="4722623"/>
            <a:ext cx="8491" cy="61803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H="1" flipV="1">
            <a:off x="10600347" y="4661108"/>
            <a:ext cx="9063" cy="61515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H="1" flipV="1">
            <a:off x="10590715" y="4599901"/>
            <a:ext cx="9632" cy="61207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H="1" flipV="1">
            <a:off x="10580517" y="4539019"/>
            <a:ext cx="10198" cy="60882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H="1" flipV="1">
            <a:off x="10569757" y="4478481"/>
            <a:ext cx="10760" cy="60538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H="1" flipV="1">
            <a:off x="10558436" y="4418307"/>
            <a:ext cx="11321" cy="60174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H="1" flipV="1">
            <a:off x="10546560" y="4358513"/>
            <a:ext cx="11876" cy="59794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H="1" flipV="1">
            <a:off x="10534130" y="4299118"/>
            <a:ext cx="12430" cy="59395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H="1" flipV="1">
            <a:off x="10521152" y="4240141"/>
            <a:ext cx="12978" cy="58977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H="1" flipV="1">
            <a:off x="10507630" y="4181600"/>
            <a:ext cx="13522" cy="58541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H="1" flipV="1">
            <a:off x="10493566" y="4123511"/>
            <a:ext cx="14064" cy="58089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H="1" flipV="1">
            <a:off x="10478966" y="4065893"/>
            <a:ext cx="14600" cy="57618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H="1" flipV="1">
            <a:off x="10463834" y="4008764"/>
            <a:ext cx="15132" cy="57129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H="1" flipV="1">
            <a:off x="10448175" y="3952140"/>
            <a:ext cx="15659" cy="56624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H="1" flipV="1">
            <a:off x="10431993" y="3896040"/>
            <a:ext cx="16182" cy="56100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H="1" flipV="1">
            <a:off x="10415293" y="3840479"/>
            <a:ext cx="16700" cy="55561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H="1" flipV="1">
            <a:off x="10398081" y="3785476"/>
            <a:ext cx="17212" cy="55003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H="1" flipV="1">
            <a:off x="10380362" y="3731047"/>
            <a:ext cx="17719" cy="54429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H="1" flipV="1">
            <a:off x="10362140" y="3677208"/>
            <a:ext cx="18222" cy="53839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H="1" flipV="1">
            <a:off x="10343422" y="3623976"/>
            <a:ext cx="18718" cy="53232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H="1" flipV="1">
            <a:off x="10324214" y="3571366"/>
            <a:ext cx="19208" cy="52610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H="1" flipV="1">
            <a:off x="10304520" y="3519396"/>
            <a:ext cx="19694" cy="51970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H="1" flipV="1">
            <a:off x="10284348" y="3468081"/>
            <a:ext cx="20172" cy="51315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H="1" flipV="1">
            <a:off x="10263703" y="3417436"/>
            <a:ext cx="20645" cy="50645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H="1" flipV="1">
            <a:off x="10242592" y="3367477"/>
            <a:ext cx="21111" cy="49959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H="1" flipV="1">
            <a:off x="10221020" y="3318220"/>
            <a:ext cx="21572" cy="49257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H="1" flipV="1">
            <a:off x="10198996" y="3269678"/>
            <a:ext cx="22024" cy="48542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H="1" flipV="1">
            <a:off x="10176524" y="3221867"/>
            <a:ext cx="22472" cy="47811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H="1" flipV="1">
            <a:off x="10153613" y="3174802"/>
            <a:ext cx="22911" cy="47065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H="1" flipV="1">
            <a:off x="10130269" y="3128497"/>
            <a:ext cx="23344" cy="46305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H="1" flipV="1">
            <a:off x="10106499" y="3082966"/>
            <a:ext cx="23770" cy="45531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H="1" flipV="1">
            <a:off x="10082310" y="3038222"/>
            <a:ext cx="24189" cy="44744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H="1" flipV="1">
            <a:off x="10057711" y="2994280"/>
            <a:ext cx="24599" cy="43942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H="1" flipV="1">
            <a:off x="10032707" y="2951153"/>
            <a:ext cx="25004" cy="43127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H="1" flipV="1">
            <a:off x="10007308" y="2908854"/>
            <a:ext cx="25399" cy="42299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H="1" flipV="1">
            <a:off x="9981520" y="2867395"/>
            <a:ext cx="25788" cy="41459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H="1" flipV="1">
            <a:off x="9955352" y="2826790"/>
            <a:ext cx="26168" cy="40605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H="1" flipV="1">
            <a:off x="9928811" y="2787051"/>
            <a:ext cx="26541" cy="39739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H="1" flipV="1">
            <a:off x="9901906" y="2748190"/>
            <a:ext cx="26905" cy="38861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H="1" flipV="1">
            <a:off x="9874645" y="2710219"/>
            <a:ext cx="27261" cy="37971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H="1" flipV="1">
            <a:off x="9847036" y="2673149"/>
            <a:ext cx="27609" cy="37070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H="1" flipV="1">
            <a:off x="9819087" y="2636992"/>
            <a:ext cx="27949" cy="36157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H="1" flipV="1">
            <a:off x="9790808" y="2601758"/>
            <a:ext cx="28279" cy="35234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H="1" flipV="1">
            <a:off x="9762206" y="2567459"/>
            <a:ext cx="28602" cy="34299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H="1" flipV="1">
            <a:off x="9733290" y="2534104"/>
            <a:ext cx="28916" cy="33355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H="1" flipV="1">
            <a:off x="9704070" y="2501705"/>
            <a:ext cx="29220" cy="32399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H="1" flipV="1">
            <a:off x="9674553" y="2470270"/>
            <a:ext cx="29517" cy="31435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H="1" flipV="1">
            <a:off x="9644750" y="2439810"/>
            <a:ext cx="29803" cy="30460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H="1" flipV="1">
            <a:off x="9614668" y="2410334"/>
            <a:ext cx="30082" cy="29476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H="1" flipV="1">
            <a:off x="9584318" y="2381850"/>
            <a:ext cx="30350" cy="28484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H="1" flipV="1">
            <a:off x="9553709" y="2354368"/>
            <a:ext cx="30609" cy="27482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H="1" flipV="1">
            <a:off x="9522849" y="2327896"/>
            <a:ext cx="30860" cy="26472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H="1" flipV="1">
            <a:off x="9491749" y="2302441"/>
            <a:ext cx="31100" cy="25455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H="1" flipV="1">
            <a:off x="9460418" y="2278012"/>
            <a:ext cx="31331" cy="24429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H="1" flipV="1">
            <a:off x="9428864" y="2254616"/>
            <a:ext cx="31554" cy="23396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H="1" flipV="1">
            <a:off x="9397099" y="2232260"/>
            <a:ext cx="31765" cy="22356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H="1" flipV="1">
            <a:off x="9365131" y="2210951"/>
            <a:ext cx="31968" cy="21309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H="1" flipV="1">
            <a:off x="9332970" y="2190695"/>
            <a:ext cx="32161" cy="20256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H="1" flipV="1">
            <a:off x="9300627" y="2171499"/>
            <a:ext cx="32343" cy="19196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 flipH="1" flipV="1">
            <a:off x="9268110" y="2153369"/>
            <a:ext cx="32517" cy="18130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 flipH="1" flipV="1">
            <a:off x="9235431" y="2136309"/>
            <a:ext cx="32679" cy="17060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 flipH="1" flipV="1">
            <a:off x="9202598" y="2120326"/>
            <a:ext cx="32833" cy="15983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 flipH="1" flipV="1">
            <a:off x="9169622" y="2105424"/>
            <a:ext cx="32976" cy="14902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 flipH="1" flipV="1">
            <a:off x="9136513" y="2091607"/>
            <a:ext cx="33109" cy="13817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 flipH="1" flipV="1">
            <a:off x="9103280" y="2078880"/>
            <a:ext cx="33233" cy="12727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 flipH="1" flipV="1">
            <a:off x="9069935" y="2067247"/>
            <a:ext cx="33345" cy="11633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 flipH="1" flipV="1">
            <a:off x="9036487" y="2056711"/>
            <a:ext cx="33448" cy="10536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 flipH="1" flipV="1">
            <a:off x="9002947" y="2047275"/>
            <a:ext cx="33540" cy="9436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 flipH="1" flipV="1">
            <a:off x="8969324" y="2038943"/>
            <a:ext cx="33623" cy="8332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 flipH="1" flipV="1">
            <a:off x="8935629" y="2031716"/>
            <a:ext cx="33695" cy="7227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H="1" flipV="1">
            <a:off x="8901872" y="2025598"/>
            <a:ext cx="33757" cy="6118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H="1" flipV="1">
            <a:off x="8868063" y="2020589"/>
            <a:ext cx="33809" cy="5009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H="1" flipV="1">
            <a:off x="8834213" y="2016692"/>
            <a:ext cx="33850" cy="3897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H="1" flipV="1">
            <a:off x="8800333" y="2013908"/>
            <a:ext cx="33880" cy="2784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H="1" flipV="1">
            <a:off x="8766431" y="2012237"/>
            <a:ext cx="33902" cy="1671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H="1" flipV="1">
            <a:off x="8732520" y="2011679"/>
            <a:ext cx="33911" cy="558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H="1">
            <a:off x="8698608" y="2011679"/>
            <a:ext cx="33912" cy="558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H="1">
            <a:off x="8664706" y="2012237"/>
            <a:ext cx="33902" cy="1671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H="1">
            <a:off x="8630826" y="2013908"/>
            <a:ext cx="33880" cy="2784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H="1">
            <a:off x="8596976" y="2016692"/>
            <a:ext cx="33850" cy="3897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 flipH="1">
            <a:off x="8563167" y="2020589"/>
            <a:ext cx="33809" cy="5009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 flipH="1">
            <a:off x="8529410" y="2025598"/>
            <a:ext cx="33757" cy="6118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 flipH="1">
            <a:off x="8495715" y="2031716"/>
            <a:ext cx="33695" cy="7227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 flipH="1">
            <a:off x="8462092" y="2038943"/>
            <a:ext cx="33623" cy="8332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 flipH="1">
            <a:off x="8428552" y="2047275"/>
            <a:ext cx="33540" cy="9436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 flipH="1">
            <a:off x="8395104" y="2056711"/>
            <a:ext cx="33448" cy="10536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 flipH="1">
            <a:off x="8361759" y="2067247"/>
            <a:ext cx="33345" cy="11633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 flipH="1">
            <a:off x="8328526" y="2078880"/>
            <a:ext cx="33233" cy="12727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 flipH="1">
            <a:off x="8295417" y="2091607"/>
            <a:ext cx="33109" cy="13817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 flipH="1">
            <a:off x="8262441" y="2105424"/>
            <a:ext cx="32976" cy="14902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 flipH="1">
            <a:off x="8229608" y="2120326"/>
            <a:ext cx="32833" cy="15983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 flipH="1">
            <a:off x="8196929" y="2136309"/>
            <a:ext cx="32679" cy="17060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 flipH="1">
            <a:off x="8164412" y="2153369"/>
            <a:ext cx="32517" cy="18130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 flipH="1">
            <a:off x="8132069" y="2171499"/>
            <a:ext cx="32343" cy="19196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 flipH="1">
            <a:off x="8099908" y="2190695"/>
            <a:ext cx="32161" cy="20256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 flipH="1">
            <a:off x="8067940" y="2210951"/>
            <a:ext cx="31968" cy="21309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 flipH="1">
            <a:off x="8036175" y="2232260"/>
            <a:ext cx="31765" cy="22356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 flipH="1">
            <a:off x="8004621" y="2254616"/>
            <a:ext cx="31554" cy="23396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 flipH="1">
            <a:off x="7973290" y="2278012"/>
            <a:ext cx="31331" cy="24429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 flipH="1">
            <a:off x="7942190" y="2302441"/>
            <a:ext cx="31100" cy="25455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 flipH="1">
            <a:off x="7911330" y="2327896"/>
            <a:ext cx="30860" cy="26472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 flipH="1">
            <a:off x="7880721" y="2354368"/>
            <a:ext cx="30609" cy="27482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 flipH="1">
            <a:off x="7850371" y="2381850"/>
            <a:ext cx="30350" cy="28484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 flipH="1">
            <a:off x="7820289" y="2410334"/>
            <a:ext cx="30082" cy="29476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 flipH="1">
            <a:off x="7790486" y="2439810"/>
            <a:ext cx="29803" cy="30460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 flipH="1">
            <a:off x="7760970" y="2470270"/>
            <a:ext cx="29516" cy="31435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 flipH="1">
            <a:off x="7731749" y="2501705"/>
            <a:ext cx="29221" cy="32399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 flipH="1">
            <a:off x="7702833" y="2534104"/>
            <a:ext cx="28916" cy="33355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 flipH="1">
            <a:off x="7674231" y="2567459"/>
            <a:ext cx="28602" cy="34299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 flipH="1">
            <a:off x="7645952" y="2601758"/>
            <a:ext cx="28279" cy="35234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 flipH="1">
            <a:off x="7618003" y="2636992"/>
            <a:ext cx="27949" cy="36157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 flipH="1">
            <a:off x="7590394" y="2673149"/>
            <a:ext cx="27609" cy="37070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 flipH="1">
            <a:off x="7563133" y="2710219"/>
            <a:ext cx="27261" cy="37971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 flipH="1">
            <a:off x="7536228" y="2748190"/>
            <a:ext cx="26905" cy="38861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 flipH="1">
            <a:off x="7509687" y="2787051"/>
            <a:ext cx="26541" cy="39739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 flipH="1">
            <a:off x="7483519" y="2826790"/>
            <a:ext cx="26168" cy="40605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 flipH="1">
            <a:off x="7457731" y="2867395"/>
            <a:ext cx="25788" cy="41459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 flipH="1">
            <a:off x="7432332" y="2908854"/>
            <a:ext cx="25399" cy="42299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 flipH="1">
            <a:off x="7407328" y="2951153"/>
            <a:ext cx="25004" cy="43127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 flipH="1">
            <a:off x="7382729" y="2994280"/>
            <a:ext cx="24599" cy="43942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 flipH="1">
            <a:off x="7358540" y="3038222"/>
            <a:ext cx="24189" cy="44744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 flipH="1">
            <a:off x="7334770" y="3082966"/>
            <a:ext cx="23770" cy="45531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 flipH="1">
            <a:off x="7311426" y="3128497"/>
            <a:ext cx="23344" cy="46305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 flipH="1">
            <a:off x="7288515" y="3174802"/>
            <a:ext cx="22911" cy="47065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 152"/>
          <p:cNvCxnSpPr/>
          <p:nvPr/>
        </p:nvCxnSpPr>
        <p:spPr>
          <a:xfrm flipH="1">
            <a:off x="7266043" y="3221867"/>
            <a:ext cx="22472" cy="47811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 flipH="1">
            <a:off x="7244019" y="3269678"/>
            <a:ext cx="22024" cy="48542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 flipH="1">
            <a:off x="7222447" y="3318220"/>
            <a:ext cx="21572" cy="49257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 flipH="1">
            <a:off x="7201336" y="3367477"/>
            <a:ext cx="21111" cy="49959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 156"/>
          <p:cNvCxnSpPr/>
          <p:nvPr/>
        </p:nvCxnSpPr>
        <p:spPr>
          <a:xfrm flipH="1">
            <a:off x="7180691" y="3417436"/>
            <a:ext cx="20645" cy="50645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or 157"/>
          <p:cNvCxnSpPr/>
          <p:nvPr/>
        </p:nvCxnSpPr>
        <p:spPr>
          <a:xfrm flipH="1">
            <a:off x="7160519" y="3468081"/>
            <a:ext cx="20172" cy="51315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Connector 158"/>
          <p:cNvCxnSpPr/>
          <p:nvPr/>
        </p:nvCxnSpPr>
        <p:spPr>
          <a:xfrm flipH="1">
            <a:off x="7140825" y="3519396"/>
            <a:ext cx="19694" cy="51970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 159"/>
          <p:cNvCxnSpPr/>
          <p:nvPr/>
        </p:nvCxnSpPr>
        <p:spPr>
          <a:xfrm flipH="1">
            <a:off x="7121617" y="3571366"/>
            <a:ext cx="19208" cy="52610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Connector 160"/>
          <p:cNvCxnSpPr/>
          <p:nvPr/>
        </p:nvCxnSpPr>
        <p:spPr>
          <a:xfrm flipH="1">
            <a:off x="7102899" y="3623976"/>
            <a:ext cx="18718" cy="53232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Connector 161"/>
          <p:cNvCxnSpPr/>
          <p:nvPr/>
        </p:nvCxnSpPr>
        <p:spPr>
          <a:xfrm flipH="1">
            <a:off x="7084677" y="3677208"/>
            <a:ext cx="18222" cy="53839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Connector 162"/>
          <p:cNvCxnSpPr/>
          <p:nvPr/>
        </p:nvCxnSpPr>
        <p:spPr>
          <a:xfrm flipH="1">
            <a:off x="7066958" y="3731047"/>
            <a:ext cx="17719" cy="54429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Connector 163"/>
          <p:cNvCxnSpPr/>
          <p:nvPr/>
        </p:nvCxnSpPr>
        <p:spPr>
          <a:xfrm flipH="1">
            <a:off x="7049746" y="3785476"/>
            <a:ext cx="17212" cy="55003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 164"/>
          <p:cNvCxnSpPr/>
          <p:nvPr/>
        </p:nvCxnSpPr>
        <p:spPr>
          <a:xfrm flipH="1">
            <a:off x="7033046" y="3840479"/>
            <a:ext cx="16700" cy="55561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Connector 165"/>
          <p:cNvCxnSpPr/>
          <p:nvPr/>
        </p:nvCxnSpPr>
        <p:spPr>
          <a:xfrm flipH="1">
            <a:off x="7016864" y="3896040"/>
            <a:ext cx="16182" cy="56100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Connector 166"/>
          <p:cNvCxnSpPr/>
          <p:nvPr/>
        </p:nvCxnSpPr>
        <p:spPr>
          <a:xfrm flipH="1">
            <a:off x="7001205" y="3952140"/>
            <a:ext cx="15659" cy="56624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Connector 167"/>
          <p:cNvCxnSpPr/>
          <p:nvPr/>
        </p:nvCxnSpPr>
        <p:spPr>
          <a:xfrm flipH="1">
            <a:off x="6986073" y="4008764"/>
            <a:ext cx="15132" cy="57129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Connector 168"/>
          <p:cNvCxnSpPr/>
          <p:nvPr/>
        </p:nvCxnSpPr>
        <p:spPr>
          <a:xfrm flipH="1">
            <a:off x="6971473" y="4065893"/>
            <a:ext cx="14600" cy="57618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Connector 169"/>
          <p:cNvCxnSpPr/>
          <p:nvPr/>
        </p:nvCxnSpPr>
        <p:spPr>
          <a:xfrm flipH="1">
            <a:off x="6957409" y="4123511"/>
            <a:ext cx="14064" cy="58089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Connector 170"/>
          <p:cNvCxnSpPr/>
          <p:nvPr/>
        </p:nvCxnSpPr>
        <p:spPr>
          <a:xfrm flipH="1">
            <a:off x="6943887" y="4181600"/>
            <a:ext cx="13522" cy="58541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Connector 171"/>
          <p:cNvCxnSpPr/>
          <p:nvPr/>
        </p:nvCxnSpPr>
        <p:spPr>
          <a:xfrm flipH="1">
            <a:off x="6930909" y="4240141"/>
            <a:ext cx="12978" cy="58977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Connector 172"/>
          <p:cNvCxnSpPr/>
          <p:nvPr/>
        </p:nvCxnSpPr>
        <p:spPr>
          <a:xfrm flipH="1">
            <a:off x="6918479" y="4299118"/>
            <a:ext cx="12430" cy="59395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Connector 173"/>
          <p:cNvCxnSpPr/>
          <p:nvPr/>
        </p:nvCxnSpPr>
        <p:spPr>
          <a:xfrm flipH="1">
            <a:off x="6906603" y="4358513"/>
            <a:ext cx="11876" cy="59794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Connector 174"/>
          <p:cNvCxnSpPr/>
          <p:nvPr/>
        </p:nvCxnSpPr>
        <p:spPr>
          <a:xfrm flipH="1">
            <a:off x="6895282" y="4418307"/>
            <a:ext cx="11321" cy="60174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Connector 175"/>
          <p:cNvCxnSpPr/>
          <p:nvPr/>
        </p:nvCxnSpPr>
        <p:spPr>
          <a:xfrm flipH="1">
            <a:off x="6884522" y="4478481"/>
            <a:ext cx="10760" cy="60538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Connector 176"/>
          <p:cNvCxnSpPr/>
          <p:nvPr/>
        </p:nvCxnSpPr>
        <p:spPr>
          <a:xfrm flipH="1">
            <a:off x="6874324" y="4539019"/>
            <a:ext cx="10198" cy="60882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Connector 177"/>
          <p:cNvCxnSpPr/>
          <p:nvPr/>
        </p:nvCxnSpPr>
        <p:spPr>
          <a:xfrm flipH="1">
            <a:off x="6864692" y="4599901"/>
            <a:ext cx="9632" cy="61207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Connector 178"/>
          <p:cNvCxnSpPr/>
          <p:nvPr/>
        </p:nvCxnSpPr>
        <p:spPr>
          <a:xfrm flipH="1">
            <a:off x="6855629" y="4661108"/>
            <a:ext cx="9063" cy="61515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Connector 179"/>
          <p:cNvCxnSpPr/>
          <p:nvPr/>
        </p:nvCxnSpPr>
        <p:spPr>
          <a:xfrm flipH="1">
            <a:off x="6847138" y="4722623"/>
            <a:ext cx="8491" cy="61803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Connector 180"/>
          <p:cNvCxnSpPr/>
          <p:nvPr/>
        </p:nvCxnSpPr>
        <p:spPr>
          <a:xfrm flipH="1">
            <a:off x="6839221" y="4784426"/>
            <a:ext cx="7917" cy="62073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Connector 181"/>
          <p:cNvCxnSpPr/>
          <p:nvPr/>
        </p:nvCxnSpPr>
        <p:spPr>
          <a:xfrm flipH="1">
            <a:off x="6831881" y="4846499"/>
            <a:ext cx="7340" cy="62323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Connector 182"/>
          <p:cNvCxnSpPr/>
          <p:nvPr/>
        </p:nvCxnSpPr>
        <p:spPr>
          <a:xfrm flipH="1">
            <a:off x="6825120" y="4908822"/>
            <a:ext cx="6761" cy="62555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Connector 183"/>
          <p:cNvCxnSpPr/>
          <p:nvPr/>
        </p:nvCxnSpPr>
        <p:spPr>
          <a:xfrm flipH="1">
            <a:off x="6818940" y="4971377"/>
            <a:ext cx="6180" cy="62767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Connector 184"/>
          <p:cNvCxnSpPr/>
          <p:nvPr/>
        </p:nvCxnSpPr>
        <p:spPr>
          <a:xfrm flipH="1">
            <a:off x="6813342" y="5034144"/>
            <a:ext cx="5598" cy="62961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Connector 185"/>
          <p:cNvCxnSpPr/>
          <p:nvPr/>
        </p:nvCxnSpPr>
        <p:spPr>
          <a:xfrm flipH="1">
            <a:off x="6808330" y="5097105"/>
            <a:ext cx="5012" cy="63135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Connector 186"/>
          <p:cNvCxnSpPr/>
          <p:nvPr/>
        </p:nvCxnSpPr>
        <p:spPr>
          <a:xfrm flipH="1">
            <a:off x="6803903" y="5160240"/>
            <a:ext cx="4427" cy="63290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Connector 187"/>
          <p:cNvCxnSpPr/>
          <p:nvPr/>
        </p:nvCxnSpPr>
        <p:spPr>
          <a:xfrm flipH="1">
            <a:off x="6800064" y="5223530"/>
            <a:ext cx="3839" cy="63426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Connector 188"/>
          <p:cNvCxnSpPr/>
          <p:nvPr/>
        </p:nvCxnSpPr>
        <p:spPr>
          <a:xfrm flipH="1">
            <a:off x="6796814" y="5286956"/>
            <a:ext cx="3250" cy="63543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Connector 189"/>
          <p:cNvCxnSpPr/>
          <p:nvPr/>
        </p:nvCxnSpPr>
        <p:spPr>
          <a:xfrm flipH="1">
            <a:off x="6794153" y="5350499"/>
            <a:ext cx="2661" cy="63639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" name="Connector 190"/>
          <p:cNvCxnSpPr/>
          <p:nvPr/>
        </p:nvCxnSpPr>
        <p:spPr>
          <a:xfrm flipH="1">
            <a:off x="6792082" y="5414138"/>
            <a:ext cx="2071" cy="63718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" name="Connector 191"/>
          <p:cNvCxnSpPr/>
          <p:nvPr/>
        </p:nvCxnSpPr>
        <p:spPr>
          <a:xfrm flipH="1">
            <a:off x="6790603" y="5477856"/>
            <a:ext cx="1479" cy="63775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" name="Connector 192"/>
          <p:cNvCxnSpPr/>
          <p:nvPr/>
        </p:nvCxnSpPr>
        <p:spPr>
          <a:xfrm flipH="1">
            <a:off x="6789715" y="5541631"/>
            <a:ext cx="888" cy="63815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Connector 193"/>
          <p:cNvCxnSpPr/>
          <p:nvPr/>
        </p:nvCxnSpPr>
        <p:spPr>
          <a:xfrm flipH="1">
            <a:off x="6789420" y="5605446"/>
            <a:ext cx="295" cy="63833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Connector 194"/>
          <p:cNvCxnSpPr/>
          <p:nvPr/>
        </p:nvCxnSpPr>
        <p:spPr>
          <a:xfrm>
            <a:off x="6789420" y="5614416"/>
            <a:ext cx="0" cy="109727"/>
          </a:xfrm>
          <a:prstGeom prst="line">
            <a:avLst/>
          </a:prstGeom>
          <a:ln w="1397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" name="Connector 195"/>
          <p:cNvCxnSpPr/>
          <p:nvPr/>
        </p:nvCxnSpPr>
        <p:spPr>
          <a:xfrm>
            <a:off x="10675620" y="5614416"/>
            <a:ext cx="0" cy="109727"/>
          </a:xfrm>
          <a:prstGeom prst="line">
            <a:avLst/>
          </a:prstGeom>
          <a:ln w="1397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" name="Connector 196"/>
          <p:cNvCxnSpPr/>
          <p:nvPr/>
        </p:nvCxnSpPr>
        <p:spPr>
          <a:xfrm>
            <a:off x="8677656" y="2011679"/>
            <a:ext cx="109728" cy="0"/>
          </a:xfrm>
          <a:prstGeom prst="line">
            <a:avLst/>
          </a:prstGeom>
          <a:ln w="1397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8" name="TextBox 197"/>
          <p:cNvSpPr txBox="1"/>
          <p:nvPr/>
        </p:nvSpPr>
        <p:spPr>
          <a:xfrm>
            <a:off x="6624828" y="5742431"/>
            <a:ext cx="32918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B0B6C0"/>
                </a:solidFill>
                <a:latin typeface="Aptos"/>
              </a:rPr>
              <a:t>-A</a:t>
            </a:r>
          </a:p>
        </p:txBody>
      </p:sp>
      <p:sp>
        <p:nvSpPr>
          <p:cNvPr id="199" name="TextBox 198"/>
          <p:cNvSpPr txBox="1"/>
          <p:nvPr/>
        </p:nvSpPr>
        <p:spPr>
          <a:xfrm>
            <a:off x="10511028" y="5742431"/>
            <a:ext cx="32918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B0B6C0"/>
                </a:solidFill>
                <a:latin typeface="Aptos"/>
              </a:rPr>
              <a:t>A</a:t>
            </a:r>
          </a:p>
        </p:txBody>
      </p:sp>
      <p:sp>
        <p:nvSpPr>
          <p:cNvPr id="200" name="TextBox 199"/>
          <p:cNvSpPr txBox="1"/>
          <p:nvPr/>
        </p:nvSpPr>
        <p:spPr>
          <a:xfrm>
            <a:off x="8293608" y="1920239"/>
            <a:ext cx="3657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B0B6C0"/>
                </a:solidFill>
                <a:latin typeface="Aptos"/>
              </a:rPr>
              <a:t>ωA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Theory of the S.H.M. ellipse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29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10" b="1">
                <a:solidFill>
                  <a:srgbClr val="5AC8FF"/>
                </a:solidFill>
                <a:latin typeface="Aptos"/>
              </a:rPr>
              <a:t>v² = ω²(A²-x²)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10" b="1">
                <a:solidFill>
                  <a:srgbClr val="5AC8FF"/>
                </a:solidFill>
                <a:latin typeface="Aptos"/>
              </a:rPr>
              <a:t>x²/A² + v²/(ω A)² =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At x = 0, speed is maximum: vₘₐₓ = ω 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724912"/>
            <a:ext cx="1101852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At x = +A or -A, speed is zero because the particle turns back.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273552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9E40"/>
                </a:solidFill>
                <a:latin typeface="Aptos"/>
              </a:rPr>
              <a:t>Velocity can be positive or negative; speed is only the upper half.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B0B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ROUGH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80" b="1">
                <a:solidFill>
                  <a:srgbClr val="FFD646"/>
                </a:solidFill>
                <a:latin typeface="Aptos"/>
              </a:rPr>
              <a:t>Rough work  /  extra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NEW TOPIC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Exponential graph: y = eˣ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31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530352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The variable x appears in the power.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5303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5AC8FF"/>
                </a:solidFill>
                <a:latin typeface="Aptos"/>
              </a:rPr>
              <a:t>e is approximately 2.718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530352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The graph passes through (0, 1) and rises rapidly.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400800" y="5411096"/>
            <a:ext cx="4663440" cy="0"/>
          </a:xfrm>
          <a:prstGeom prst="line">
            <a:avLst/>
          </a:prstGeom>
          <a:ln w="1778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9198863" y="1280160"/>
            <a:ext cx="0" cy="4389119"/>
          </a:xfrm>
          <a:prstGeom prst="line">
            <a:avLst/>
          </a:prstGeom>
          <a:ln w="1778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0899648" y="5456816"/>
            <a:ext cx="320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B0B6C0"/>
                </a:solidFill>
                <a:latin typeface="Aptos"/>
              </a:rPr>
              <a:t>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62872" y="1280160"/>
            <a:ext cx="411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B0B6C0"/>
                </a:solidFill>
                <a:latin typeface="Aptos"/>
              </a:rPr>
              <a:t>y</a:t>
            </a:r>
          </a:p>
        </p:txBody>
      </p:sp>
      <p:cxnSp>
        <p:nvCxnSpPr>
          <p:cNvPr id="14" name="Connector 13"/>
          <p:cNvCxnSpPr/>
          <p:nvPr/>
        </p:nvCxnSpPr>
        <p:spPr>
          <a:xfrm flipV="1">
            <a:off x="6400800" y="5384571"/>
            <a:ext cx="29146" cy="81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6429946" y="5383730"/>
            <a:ext cx="29147" cy="84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6459093" y="5382861"/>
            <a:ext cx="29146" cy="86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6488239" y="5381965"/>
            <a:ext cx="29147" cy="896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6517386" y="5381040"/>
            <a:ext cx="29146" cy="925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6546532" y="5380086"/>
            <a:ext cx="29147" cy="954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6575679" y="5379101"/>
            <a:ext cx="29146" cy="985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6604825" y="5378086"/>
            <a:ext cx="29147" cy="1015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6633972" y="5377038"/>
            <a:ext cx="29146" cy="104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6663118" y="5375957"/>
            <a:ext cx="29147" cy="108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6692265" y="5374841"/>
            <a:ext cx="29146" cy="1116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6721411" y="5373690"/>
            <a:ext cx="29147" cy="115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6750558" y="5372503"/>
            <a:ext cx="29146" cy="118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6779704" y="5371278"/>
            <a:ext cx="29147" cy="1225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6808851" y="5370014"/>
            <a:ext cx="29146" cy="1264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6837997" y="5368710"/>
            <a:ext cx="29147" cy="1304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6867144" y="5367365"/>
            <a:ext cx="29146" cy="1345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6896290" y="5365976"/>
            <a:ext cx="29147" cy="138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6925437" y="5364544"/>
            <a:ext cx="29146" cy="143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6954583" y="5363066"/>
            <a:ext cx="29147" cy="147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6983730" y="5361542"/>
            <a:ext cx="29146" cy="1524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7012876" y="5359969"/>
            <a:ext cx="29147" cy="1573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7042023" y="5358346"/>
            <a:ext cx="29146" cy="1623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7071169" y="5356671"/>
            <a:ext cx="29147" cy="1675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7100316" y="5354944"/>
            <a:ext cx="29146" cy="172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7129462" y="5353161"/>
            <a:ext cx="29147" cy="1783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7158609" y="5351322"/>
            <a:ext cx="29146" cy="183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7187755" y="5349425"/>
            <a:ext cx="29147" cy="189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7216902" y="5347467"/>
            <a:ext cx="29146" cy="195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7246048" y="5345447"/>
            <a:ext cx="29147" cy="2020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7275195" y="5343363"/>
            <a:ext cx="29146" cy="2084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7304341" y="5341213"/>
            <a:ext cx="29147" cy="2150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7333488" y="5338995"/>
            <a:ext cx="29146" cy="221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7362634" y="5336706"/>
            <a:ext cx="29147" cy="228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7391781" y="5334345"/>
            <a:ext cx="29146" cy="236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7420927" y="5331909"/>
            <a:ext cx="29147" cy="2436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7450074" y="5329395"/>
            <a:ext cx="29146" cy="2514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7479220" y="5326801"/>
            <a:ext cx="29147" cy="2594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7508367" y="5324126"/>
            <a:ext cx="29146" cy="2675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7537513" y="5321365"/>
            <a:ext cx="29147" cy="276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7566660" y="5318516"/>
            <a:ext cx="29146" cy="284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7595806" y="5315578"/>
            <a:ext cx="29146" cy="293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7624952" y="5312546"/>
            <a:ext cx="29147" cy="303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7654099" y="5309417"/>
            <a:ext cx="29147" cy="312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7683246" y="5306190"/>
            <a:ext cx="29146" cy="322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7712392" y="5302860"/>
            <a:ext cx="29147" cy="3330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7741539" y="5299424"/>
            <a:ext cx="29146" cy="3436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7770685" y="5295879"/>
            <a:ext cx="29146" cy="3545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7799831" y="5292222"/>
            <a:ext cx="29147" cy="365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7828978" y="5288448"/>
            <a:ext cx="29147" cy="3774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7858125" y="5284555"/>
            <a:ext cx="29146" cy="3893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7887271" y="5280538"/>
            <a:ext cx="29147" cy="401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7916418" y="5276394"/>
            <a:ext cx="29146" cy="4144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7945564" y="5272118"/>
            <a:ext cx="29147" cy="4276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7974711" y="5267706"/>
            <a:ext cx="29146" cy="441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8003857" y="5263154"/>
            <a:ext cx="29147" cy="455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8033004" y="5258458"/>
            <a:ext cx="29146" cy="4696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8062150" y="5253613"/>
            <a:ext cx="29146" cy="4845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8091296" y="5248614"/>
            <a:ext cx="29147" cy="499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8120443" y="5243456"/>
            <a:ext cx="29147" cy="515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8149590" y="5238135"/>
            <a:ext cx="29146" cy="532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8178736" y="5232644"/>
            <a:ext cx="29147" cy="549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8207883" y="5226980"/>
            <a:ext cx="29146" cy="5664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8237029" y="5221135"/>
            <a:ext cx="29146" cy="5845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8266175" y="5215105"/>
            <a:ext cx="29147" cy="6030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8295322" y="5208884"/>
            <a:ext cx="29147" cy="622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8324469" y="5202465"/>
            <a:ext cx="29146" cy="641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8353615" y="5195842"/>
            <a:ext cx="29147" cy="6623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V="1">
            <a:off x="8382762" y="5189009"/>
            <a:ext cx="29146" cy="6833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V="1">
            <a:off x="8411908" y="5181959"/>
            <a:ext cx="29147" cy="7050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V="1">
            <a:off x="8441055" y="5174686"/>
            <a:ext cx="29146" cy="7273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V="1">
            <a:off x="8470201" y="5167181"/>
            <a:ext cx="29147" cy="7505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V="1">
            <a:off x="8499348" y="5159439"/>
            <a:ext cx="29146" cy="774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V="1">
            <a:off x="8528494" y="5151450"/>
            <a:ext cx="29147" cy="798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 flipV="1">
            <a:off x="8557641" y="5143208"/>
            <a:ext cx="29146" cy="824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 flipV="1">
            <a:off x="8586787" y="5134705"/>
            <a:ext cx="29147" cy="8503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 flipV="1">
            <a:off x="8615934" y="5125931"/>
            <a:ext cx="29146" cy="8774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 flipV="1">
            <a:off x="8645080" y="5116879"/>
            <a:ext cx="29147" cy="905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 flipV="1">
            <a:off x="8674227" y="5107539"/>
            <a:ext cx="29146" cy="9340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 flipV="1">
            <a:off x="8703373" y="5097904"/>
            <a:ext cx="29147" cy="9635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 flipV="1">
            <a:off x="8732520" y="5087962"/>
            <a:ext cx="29146" cy="994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 flipV="1">
            <a:off x="8761666" y="5077704"/>
            <a:ext cx="29147" cy="1025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 flipV="1">
            <a:off x="8790813" y="5067121"/>
            <a:ext cx="29146" cy="10583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 flipV="1">
            <a:off x="8819959" y="5056202"/>
            <a:ext cx="29147" cy="1091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 flipV="1">
            <a:off x="8849106" y="5044937"/>
            <a:ext cx="29146" cy="11265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V="1">
            <a:off x="8878252" y="5033314"/>
            <a:ext cx="29147" cy="11623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V="1">
            <a:off x="8907399" y="5021322"/>
            <a:ext cx="29146" cy="1199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V="1">
            <a:off x="8936545" y="5008949"/>
            <a:ext cx="29147" cy="12373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V="1">
            <a:off x="8965692" y="4996183"/>
            <a:ext cx="29146" cy="12766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V="1">
            <a:off x="8994838" y="4983013"/>
            <a:ext cx="29146" cy="13170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V="1">
            <a:off x="9023984" y="4969424"/>
            <a:ext cx="29147" cy="1358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V="1">
            <a:off x="9053131" y="4955404"/>
            <a:ext cx="29147" cy="14020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9082278" y="4940938"/>
            <a:ext cx="29146" cy="14466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9111424" y="4926014"/>
            <a:ext cx="29147" cy="14924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9140571" y="4910616"/>
            <a:ext cx="29146" cy="1539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 flipV="1">
            <a:off x="9169717" y="4894729"/>
            <a:ext cx="29146" cy="1588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 flipV="1">
            <a:off x="9198863" y="4878338"/>
            <a:ext cx="29147" cy="1639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 flipV="1">
            <a:off x="9228010" y="4861426"/>
            <a:ext cx="29147" cy="1691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 flipV="1">
            <a:off x="9257157" y="4843978"/>
            <a:ext cx="29146" cy="1744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 flipV="1">
            <a:off x="9286303" y="4825975"/>
            <a:ext cx="29147" cy="18003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 flipV="1">
            <a:off x="9315450" y="4807402"/>
            <a:ext cx="29146" cy="18573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 flipV="1">
            <a:off x="9344596" y="4788238"/>
            <a:ext cx="29146" cy="19164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 flipV="1">
            <a:off x="9373742" y="4768467"/>
            <a:ext cx="29147" cy="1977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 flipV="1">
            <a:off x="9402889" y="4748068"/>
            <a:ext cx="29147" cy="2039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 flipV="1">
            <a:off x="9432036" y="4727021"/>
            <a:ext cx="29146" cy="2104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 flipV="1">
            <a:off x="9461182" y="4705306"/>
            <a:ext cx="29147" cy="21715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 flipV="1">
            <a:off x="9490329" y="4682902"/>
            <a:ext cx="29146" cy="22404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 flipV="1">
            <a:off x="9519475" y="4659786"/>
            <a:ext cx="29147" cy="23116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 flipV="1">
            <a:off x="9548622" y="4635937"/>
            <a:ext cx="29146" cy="2384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 flipV="1">
            <a:off x="9577768" y="4611331"/>
            <a:ext cx="29147" cy="24606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 flipV="1">
            <a:off x="9606915" y="4585944"/>
            <a:ext cx="29146" cy="2538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 flipV="1">
            <a:off x="9636061" y="4559751"/>
            <a:ext cx="29147" cy="26193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 flipV="1">
            <a:off x="9665208" y="4532726"/>
            <a:ext cx="29146" cy="27025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 flipV="1">
            <a:off x="9694354" y="4504844"/>
            <a:ext cx="29147" cy="2788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 flipV="1">
            <a:off x="9723501" y="4476076"/>
            <a:ext cx="29146" cy="2876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 flipV="1">
            <a:off x="9752647" y="4446395"/>
            <a:ext cx="29147" cy="2968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 flipV="1">
            <a:off x="9781794" y="4415772"/>
            <a:ext cx="29146" cy="30623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 flipV="1">
            <a:off x="9810940" y="4384177"/>
            <a:ext cx="29147" cy="31595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 flipV="1">
            <a:off x="9840087" y="4351580"/>
            <a:ext cx="29146" cy="3259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 flipV="1">
            <a:off x="9869233" y="4317947"/>
            <a:ext cx="29147" cy="33633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 flipV="1">
            <a:off x="9898380" y="4283247"/>
            <a:ext cx="29146" cy="34700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 flipV="1">
            <a:off x="9927526" y="4247445"/>
            <a:ext cx="29147" cy="3580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 flipV="1">
            <a:off x="9956673" y="4210507"/>
            <a:ext cx="29146" cy="3693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 flipV="1">
            <a:off x="9985819" y="4172396"/>
            <a:ext cx="29147" cy="3811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 flipV="1">
            <a:off x="10014966" y="4133075"/>
            <a:ext cx="29146" cy="3932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 flipV="1">
            <a:off x="10044112" y="4092506"/>
            <a:ext cx="29147" cy="4056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 flipV="1">
            <a:off x="10073259" y="4050650"/>
            <a:ext cx="29146" cy="41856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 flipV="1">
            <a:off x="10102405" y="4007465"/>
            <a:ext cx="29147" cy="43185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 flipV="1">
            <a:off x="10131552" y="3962909"/>
            <a:ext cx="29146" cy="44556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 flipV="1">
            <a:off x="10160698" y="3916938"/>
            <a:ext cx="29147" cy="4597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 flipV="1">
            <a:off x="10189845" y="3869509"/>
            <a:ext cx="29146" cy="4742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 flipV="1">
            <a:off x="10218991" y="3820573"/>
            <a:ext cx="29147" cy="48936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 flipV="1">
            <a:off x="10248138" y="3770085"/>
            <a:ext cx="29146" cy="5048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 flipV="1">
            <a:off x="10277284" y="3717994"/>
            <a:ext cx="29147" cy="5209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 flipV="1">
            <a:off x="10306431" y="3664249"/>
            <a:ext cx="29146" cy="53745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 flipV="1">
            <a:off x="10335577" y="3608798"/>
            <a:ext cx="29147" cy="5545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 flipV="1">
            <a:off x="10364724" y="3551587"/>
            <a:ext cx="29146" cy="5721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 flipV="1">
            <a:off x="10393870" y="3492560"/>
            <a:ext cx="29147" cy="5902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 flipV="1">
            <a:off x="10423017" y="3431659"/>
            <a:ext cx="29146" cy="6090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 152"/>
          <p:cNvCxnSpPr/>
          <p:nvPr/>
        </p:nvCxnSpPr>
        <p:spPr>
          <a:xfrm flipV="1">
            <a:off x="10452163" y="3368825"/>
            <a:ext cx="29147" cy="62834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 flipV="1">
            <a:off x="10481310" y="3303996"/>
            <a:ext cx="29146" cy="6482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 flipV="1">
            <a:off x="10510456" y="3237109"/>
            <a:ext cx="29147" cy="6688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 flipV="1">
            <a:off x="10539603" y="3168100"/>
            <a:ext cx="29146" cy="6900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 156"/>
          <p:cNvCxnSpPr/>
          <p:nvPr/>
        </p:nvCxnSpPr>
        <p:spPr>
          <a:xfrm flipV="1">
            <a:off x="10568749" y="3096899"/>
            <a:ext cx="29147" cy="7120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or 157"/>
          <p:cNvCxnSpPr/>
          <p:nvPr/>
        </p:nvCxnSpPr>
        <p:spPr>
          <a:xfrm flipV="1">
            <a:off x="10597896" y="3023439"/>
            <a:ext cx="29146" cy="73460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Connector 158"/>
          <p:cNvCxnSpPr/>
          <p:nvPr/>
        </p:nvCxnSpPr>
        <p:spPr>
          <a:xfrm flipV="1">
            <a:off x="10627042" y="2947647"/>
            <a:ext cx="29146" cy="7579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 159"/>
          <p:cNvCxnSpPr/>
          <p:nvPr/>
        </p:nvCxnSpPr>
        <p:spPr>
          <a:xfrm flipV="1">
            <a:off x="10656188" y="2869448"/>
            <a:ext cx="29147" cy="7819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Connector 160"/>
          <p:cNvCxnSpPr/>
          <p:nvPr/>
        </p:nvCxnSpPr>
        <p:spPr>
          <a:xfrm flipV="1">
            <a:off x="10685335" y="2788768"/>
            <a:ext cx="29147" cy="80680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Connector 161"/>
          <p:cNvCxnSpPr/>
          <p:nvPr/>
        </p:nvCxnSpPr>
        <p:spPr>
          <a:xfrm flipV="1">
            <a:off x="10714482" y="2705526"/>
            <a:ext cx="29146" cy="8324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Connector 162"/>
          <p:cNvCxnSpPr/>
          <p:nvPr/>
        </p:nvCxnSpPr>
        <p:spPr>
          <a:xfrm flipV="1">
            <a:off x="10743628" y="2619642"/>
            <a:ext cx="29147" cy="85884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Connector 163"/>
          <p:cNvCxnSpPr/>
          <p:nvPr/>
        </p:nvCxnSpPr>
        <p:spPr>
          <a:xfrm flipV="1">
            <a:off x="10772775" y="2531032"/>
            <a:ext cx="29146" cy="88610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 164"/>
          <p:cNvCxnSpPr/>
          <p:nvPr/>
        </p:nvCxnSpPr>
        <p:spPr>
          <a:xfrm flipV="1">
            <a:off x="10801921" y="2439609"/>
            <a:ext cx="29146" cy="91423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Connector 165"/>
          <p:cNvCxnSpPr/>
          <p:nvPr/>
        </p:nvCxnSpPr>
        <p:spPr>
          <a:xfrm flipV="1">
            <a:off x="10831067" y="2345284"/>
            <a:ext cx="29147" cy="94325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Connector 166"/>
          <p:cNvCxnSpPr/>
          <p:nvPr/>
        </p:nvCxnSpPr>
        <p:spPr>
          <a:xfrm flipV="1">
            <a:off x="10860214" y="2247964"/>
            <a:ext cx="29147" cy="97320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Connector 167"/>
          <p:cNvCxnSpPr/>
          <p:nvPr/>
        </p:nvCxnSpPr>
        <p:spPr>
          <a:xfrm flipV="1">
            <a:off x="10889361" y="2147556"/>
            <a:ext cx="29146" cy="10040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Connector 168"/>
          <p:cNvCxnSpPr/>
          <p:nvPr/>
        </p:nvCxnSpPr>
        <p:spPr>
          <a:xfrm flipV="1">
            <a:off x="10918507" y="2043960"/>
            <a:ext cx="29147" cy="103596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Connector 169"/>
          <p:cNvCxnSpPr/>
          <p:nvPr/>
        </p:nvCxnSpPr>
        <p:spPr>
          <a:xfrm flipV="1">
            <a:off x="10947654" y="1937075"/>
            <a:ext cx="29146" cy="106885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Connector 170"/>
          <p:cNvCxnSpPr/>
          <p:nvPr/>
        </p:nvCxnSpPr>
        <p:spPr>
          <a:xfrm flipV="1">
            <a:off x="10976800" y="1826798"/>
            <a:ext cx="29147" cy="11027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Connector 171"/>
          <p:cNvCxnSpPr/>
          <p:nvPr/>
        </p:nvCxnSpPr>
        <p:spPr>
          <a:xfrm flipV="1">
            <a:off x="11005947" y="1713020"/>
            <a:ext cx="29146" cy="11377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Connector 172"/>
          <p:cNvCxnSpPr/>
          <p:nvPr/>
        </p:nvCxnSpPr>
        <p:spPr>
          <a:xfrm flipV="1">
            <a:off x="11035093" y="1595631"/>
            <a:ext cx="29147" cy="11738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Connector 173"/>
          <p:cNvCxnSpPr/>
          <p:nvPr/>
        </p:nvCxnSpPr>
        <p:spPr>
          <a:xfrm>
            <a:off x="8266175" y="5356232"/>
            <a:ext cx="0" cy="109728"/>
          </a:xfrm>
          <a:prstGeom prst="line">
            <a:avLst/>
          </a:prstGeom>
          <a:ln w="1397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5" name="TextBox 174"/>
          <p:cNvSpPr txBox="1"/>
          <p:nvPr/>
        </p:nvSpPr>
        <p:spPr>
          <a:xfrm>
            <a:off x="8101583" y="5484248"/>
            <a:ext cx="32918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0B6C0"/>
                </a:solidFill>
                <a:latin typeface="Aptos"/>
              </a:rPr>
              <a:t>-1</a:t>
            </a:r>
          </a:p>
        </p:txBody>
      </p:sp>
      <p:cxnSp>
        <p:nvCxnSpPr>
          <p:cNvPr id="176" name="Connector 175"/>
          <p:cNvCxnSpPr/>
          <p:nvPr/>
        </p:nvCxnSpPr>
        <p:spPr>
          <a:xfrm>
            <a:off x="10131552" y="5356232"/>
            <a:ext cx="0" cy="109728"/>
          </a:xfrm>
          <a:prstGeom prst="line">
            <a:avLst/>
          </a:prstGeom>
          <a:ln w="1397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7" name="TextBox 176"/>
          <p:cNvSpPr txBox="1"/>
          <p:nvPr/>
        </p:nvSpPr>
        <p:spPr>
          <a:xfrm>
            <a:off x="9966960" y="5484248"/>
            <a:ext cx="32918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0B6C0"/>
                </a:solidFill>
                <a:latin typeface="Aptos"/>
              </a:rPr>
              <a:t>1</a:t>
            </a:r>
          </a:p>
        </p:txBody>
      </p:sp>
      <p:cxnSp>
        <p:nvCxnSpPr>
          <p:cNvPr id="178" name="Connector 177"/>
          <p:cNvCxnSpPr/>
          <p:nvPr/>
        </p:nvCxnSpPr>
        <p:spPr>
          <a:xfrm>
            <a:off x="9143999" y="4894729"/>
            <a:ext cx="109729" cy="0"/>
          </a:xfrm>
          <a:prstGeom prst="line">
            <a:avLst/>
          </a:prstGeom>
          <a:ln w="1397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9" name="TextBox 178"/>
          <p:cNvSpPr txBox="1"/>
          <p:nvPr/>
        </p:nvSpPr>
        <p:spPr>
          <a:xfrm>
            <a:off x="8778239" y="4794145"/>
            <a:ext cx="3474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0B6C0"/>
                </a:solidFill>
                <a:latin typeface="Aptos"/>
              </a:rPr>
              <a:t>1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8906255" y="5484248"/>
            <a:ext cx="23774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0B6C0"/>
                </a:solidFill>
                <a:latin typeface="Aptos"/>
              </a:rPr>
              <a:t>0</a:t>
            </a:r>
          </a:p>
        </p:txBody>
      </p:sp>
      <p:sp>
        <p:nvSpPr>
          <p:cNvPr id="181" name="Oval 180"/>
          <p:cNvSpPr/>
          <p:nvPr/>
        </p:nvSpPr>
        <p:spPr>
          <a:xfrm>
            <a:off x="9148572" y="4844437"/>
            <a:ext cx="100584" cy="100584"/>
          </a:xfrm>
          <a:prstGeom prst="ellipse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TextBox 181"/>
          <p:cNvSpPr txBox="1"/>
          <p:nvPr/>
        </p:nvSpPr>
        <p:spPr>
          <a:xfrm>
            <a:off x="9290303" y="4638697"/>
            <a:ext cx="822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5AD680"/>
                </a:solidFill>
                <a:latin typeface="Aptos"/>
              </a:rPr>
              <a:t>(0, 1)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Properties of y = eˣ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10" b="1">
                <a:solidFill>
                  <a:srgbClr val="5AC8FF"/>
                </a:solidFill>
                <a:latin typeface="Aptos"/>
              </a:rPr>
              <a:t>e⁰ = 1, so y-intercept = (0, 1)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eˣ is positive for every real x, so the graph never crosses the x-axis.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As x increases, eˣ grows rapidly. As x becomes very negative, eˣ approaches zero.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72491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10" b="1">
                <a:solidFill>
                  <a:srgbClr val="5AC8FF"/>
                </a:solidFill>
                <a:latin typeface="Aptos"/>
              </a:rPr>
              <a:t>domain: all real x     range: y &gt; 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273552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5AD680"/>
                </a:solidFill>
                <a:latin typeface="Aptos"/>
              </a:rPr>
              <a:t>Horizontal asymptote: y = 0.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COMPARE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y = eˣ and y = e⁻ˣ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33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Gold: eˣ     Teal: e⁻ˣ. Both pass through (0, 1).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097280" y="5645075"/>
            <a:ext cx="9875520" cy="0"/>
          </a:xfrm>
          <a:prstGeom prst="line">
            <a:avLst/>
          </a:prstGeom>
          <a:ln w="1778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6035040" y="1600200"/>
            <a:ext cx="0" cy="4297680"/>
          </a:xfrm>
          <a:prstGeom prst="line">
            <a:avLst/>
          </a:prstGeom>
          <a:ln w="1778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808208" y="5690795"/>
            <a:ext cx="320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B0B6C0"/>
                </a:solidFill>
                <a:latin typeface="Aptos"/>
              </a:rPr>
              <a:t>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9048" y="1600200"/>
            <a:ext cx="411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B0B6C0"/>
                </a:solidFill>
                <a:latin typeface="Aptos"/>
              </a:rPr>
              <a:t>y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1097280" y="5618940"/>
            <a:ext cx="61722" cy="96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159002" y="5617941"/>
            <a:ext cx="61722" cy="99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220724" y="5616905"/>
            <a:ext cx="61721" cy="1036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282445" y="5615828"/>
            <a:ext cx="61722" cy="107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344167" y="5614711"/>
            <a:ext cx="61723" cy="111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405890" y="5613550"/>
            <a:ext cx="61722" cy="116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467612" y="5612346"/>
            <a:ext cx="61722" cy="1204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1529334" y="5611095"/>
            <a:ext cx="61721" cy="125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1591055" y="5609797"/>
            <a:ext cx="61722" cy="129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1652777" y="5608449"/>
            <a:ext cx="61723" cy="134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1714500" y="5607049"/>
            <a:ext cx="61722" cy="1400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1776222" y="5605596"/>
            <a:ext cx="61722" cy="1453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1837944" y="5604087"/>
            <a:ext cx="61721" cy="150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1899665" y="5602521"/>
            <a:ext cx="61722" cy="1566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1961387" y="5600895"/>
            <a:ext cx="61723" cy="1626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2023110" y="5599207"/>
            <a:ext cx="61722" cy="168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2084832" y="5597454"/>
            <a:ext cx="61722" cy="1753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2146554" y="5595635"/>
            <a:ext cx="61721" cy="181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2208275" y="5593745"/>
            <a:ext cx="61723" cy="1890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2269998" y="5591784"/>
            <a:ext cx="61722" cy="196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2331720" y="5589748"/>
            <a:ext cx="61722" cy="2036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2393442" y="5587633"/>
            <a:ext cx="61722" cy="2115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2455164" y="5585438"/>
            <a:ext cx="61722" cy="2195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2516886" y="5583160"/>
            <a:ext cx="61722" cy="227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2578608" y="5580794"/>
            <a:ext cx="61722" cy="2366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2640330" y="5578337"/>
            <a:ext cx="61722" cy="245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2702052" y="5575787"/>
            <a:ext cx="61722" cy="2550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2763774" y="5573140"/>
            <a:ext cx="61722" cy="264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2825496" y="5570391"/>
            <a:ext cx="61722" cy="274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2887218" y="5567537"/>
            <a:ext cx="61721" cy="2854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2948939" y="5564574"/>
            <a:ext cx="61723" cy="2963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3010662" y="5561498"/>
            <a:ext cx="61722" cy="3076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3072384" y="5558304"/>
            <a:ext cx="61722" cy="3194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3134106" y="5554989"/>
            <a:ext cx="61722" cy="3315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3195828" y="5551546"/>
            <a:ext cx="61722" cy="3443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3257550" y="5547973"/>
            <a:ext cx="61722" cy="3573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3319272" y="5544262"/>
            <a:ext cx="61722" cy="371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3380994" y="5540410"/>
            <a:ext cx="61722" cy="385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3442716" y="5536410"/>
            <a:ext cx="61721" cy="4000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3504437" y="5532258"/>
            <a:ext cx="61723" cy="415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3566160" y="5527947"/>
            <a:ext cx="61722" cy="431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3627882" y="5523471"/>
            <a:ext cx="61722" cy="4476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3689604" y="5518825"/>
            <a:ext cx="61722" cy="4646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3751326" y="5514000"/>
            <a:ext cx="61722" cy="4825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3813048" y="5508992"/>
            <a:ext cx="61722" cy="500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3874770" y="5503792"/>
            <a:ext cx="61722" cy="5200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3936492" y="5498393"/>
            <a:ext cx="61721" cy="539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3998213" y="5492788"/>
            <a:ext cx="61723" cy="5605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4059936" y="5486969"/>
            <a:ext cx="61721" cy="581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4121657" y="5480927"/>
            <a:ext cx="61723" cy="604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4183380" y="5474655"/>
            <a:ext cx="61722" cy="627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4245102" y="5468143"/>
            <a:ext cx="61722" cy="651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4306824" y="5461382"/>
            <a:ext cx="61722" cy="676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4368546" y="5454363"/>
            <a:ext cx="61722" cy="701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4430268" y="5447075"/>
            <a:ext cx="61722" cy="728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4491990" y="5439509"/>
            <a:ext cx="61722" cy="7566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4553712" y="5431654"/>
            <a:ext cx="61722" cy="7855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4615434" y="5423499"/>
            <a:ext cx="61721" cy="8155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4677155" y="5415032"/>
            <a:ext cx="61723" cy="846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4738878" y="5406242"/>
            <a:ext cx="61722" cy="8790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4800600" y="5397116"/>
            <a:ext cx="61722" cy="9126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4862322" y="5387641"/>
            <a:ext cx="61722" cy="9475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4924044" y="5377803"/>
            <a:ext cx="61722" cy="983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4985766" y="5367590"/>
            <a:ext cx="61722" cy="10213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5047488" y="5356987"/>
            <a:ext cx="61722" cy="10603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5109210" y="5345979"/>
            <a:ext cx="61722" cy="1100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5170932" y="5334550"/>
            <a:ext cx="61722" cy="1142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5232654" y="5322684"/>
            <a:ext cx="61722" cy="11866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5294376" y="5310365"/>
            <a:ext cx="61722" cy="1231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5356098" y="5297575"/>
            <a:ext cx="61722" cy="12790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V="1">
            <a:off x="5417820" y="5284296"/>
            <a:ext cx="61722" cy="1327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V="1">
            <a:off x="5479542" y="5270510"/>
            <a:ext cx="61722" cy="13786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V="1">
            <a:off x="5541264" y="5256197"/>
            <a:ext cx="61722" cy="14313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V="1">
            <a:off x="5602986" y="5241337"/>
            <a:ext cx="61722" cy="14860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V="1">
            <a:off x="5664708" y="5225910"/>
            <a:ext cx="61722" cy="1542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V="1">
            <a:off x="5726430" y="5209893"/>
            <a:ext cx="61722" cy="1601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 flipV="1">
            <a:off x="5788152" y="5193264"/>
            <a:ext cx="61722" cy="1662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 flipV="1">
            <a:off x="5849874" y="5175999"/>
            <a:ext cx="61722" cy="17265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 flipV="1">
            <a:off x="5911596" y="5158075"/>
            <a:ext cx="61722" cy="17924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 flipV="1">
            <a:off x="5973318" y="5139465"/>
            <a:ext cx="61722" cy="18610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 flipV="1">
            <a:off x="6035040" y="5120145"/>
            <a:ext cx="61722" cy="19320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 flipV="1">
            <a:off x="6096762" y="5100086"/>
            <a:ext cx="61722" cy="2005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 flipV="1">
            <a:off x="6158484" y="5079261"/>
            <a:ext cx="61722" cy="20825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 flipV="1">
            <a:off x="6220206" y="5057640"/>
            <a:ext cx="61722" cy="2162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 flipV="1">
            <a:off x="6281928" y="5035193"/>
            <a:ext cx="61722" cy="2244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 flipV="1">
            <a:off x="6343650" y="5011889"/>
            <a:ext cx="61722" cy="23304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 flipV="1">
            <a:off x="6405372" y="4987693"/>
            <a:ext cx="61722" cy="24196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V="1">
            <a:off x="6467094" y="4962573"/>
            <a:ext cx="61722" cy="25120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V="1">
            <a:off x="6528816" y="4936494"/>
            <a:ext cx="61722" cy="2607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V="1">
            <a:off x="6590538" y="4909417"/>
            <a:ext cx="61722" cy="2707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V="1">
            <a:off x="6652260" y="4881307"/>
            <a:ext cx="61722" cy="28110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V="1">
            <a:off x="6713982" y="4852121"/>
            <a:ext cx="61722" cy="29186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V="1">
            <a:off x="6775704" y="4821821"/>
            <a:ext cx="61722" cy="30300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V="1">
            <a:off x="6837426" y="4790363"/>
            <a:ext cx="61722" cy="3145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6899148" y="4757703"/>
            <a:ext cx="61722" cy="32660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6960870" y="4723794"/>
            <a:ext cx="61722" cy="3390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7022592" y="4688590"/>
            <a:ext cx="61722" cy="35204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 flipV="1">
            <a:off x="7084314" y="4652041"/>
            <a:ext cx="61722" cy="3654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 flipV="1">
            <a:off x="7146036" y="4614095"/>
            <a:ext cx="61722" cy="37946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 flipV="1">
            <a:off x="7207758" y="4574700"/>
            <a:ext cx="61722" cy="39395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 flipV="1">
            <a:off x="7269480" y="4533798"/>
            <a:ext cx="61722" cy="4090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 flipV="1">
            <a:off x="7331202" y="4491334"/>
            <a:ext cx="61722" cy="42464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 flipV="1">
            <a:off x="7392924" y="4447248"/>
            <a:ext cx="61722" cy="44086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 flipV="1">
            <a:off x="7454646" y="4401476"/>
            <a:ext cx="61722" cy="4577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 flipV="1">
            <a:off x="7516368" y="4353956"/>
            <a:ext cx="61722" cy="47520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 flipV="1">
            <a:off x="7578090" y="4304620"/>
            <a:ext cx="61722" cy="49336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 flipV="1">
            <a:off x="7639812" y="4253398"/>
            <a:ext cx="61722" cy="5122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 flipV="1">
            <a:off x="7701534" y="4200219"/>
            <a:ext cx="61722" cy="5317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 flipV="1">
            <a:off x="7763256" y="4145009"/>
            <a:ext cx="61722" cy="55210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 flipV="1">
            <a:off x="7824978" y="4087688"/>
            <a:ext cx="61722" cy="5732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 flipV="1">
            <a:off x="7886700" y="4028177"/>
            <a:ext cx="61721" cy="5951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 flipV="1">
            <a:off x="7948421" y="3966392"/>
            <a:ext cx="61723" cy="61785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 flipV="1">
            <a:off x="8010144" y="3902247"/>
            <a:ext cx="61722" cy="64145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 flipV="1">
            <a:off x="8071866" y="3835650"/>
            <a:ext cx="61722" cy="6659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 flipV="1">
            <a:off x="8133588" y="3766508"/>
            <a:ext cx="61722" cy="6914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 flipV="1">
            <a:off x="8195310" y="3694724"/>
            <a:ext cx="61721" cy="71784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 flipV="1">
            <a:off x="8257031" y="3620197"/>
            <a:ext cx="61723" cy="7452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 flipV="1">
            <a:off x="8318754" y="3542823"/>
            <a:ext cx="61721" cy="77374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 flipV="1">
            <a:off x="8380475" y="3462491"/>
            <a:ext cx="61723" cy="8033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 flipV="1">
            <a:off x="8442198" y="3379091"/>
            <a:ext cx="61721" cy="83400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 flipV="1">
            <a:off x="8503919" y="3292503"/>
            <a:ext cx="61723" cy="8658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 flipV="1">
            <a:off x="8565642" y="3202606"/>
            <a:ext cx="61722" cy="8989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 flipV="1">
            <a:off x="8627364" y="3109275"/>
            <a:ext cx="61722" cy="9333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 flipV="1">
            <a:off x="8689086" y="3012377"/>
            <a:ext cx="61722" cy="9689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 flipV="1">
            <a:off x="8750808" y="2911776"/>
            <a:ext cx="61722" cy="10060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 flipV="1">
            <a:off x="8812530" y="2807331"/>
            <a:ext cx="61722" cy="104445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 flipV="1">
            <a:off x="8874252" y="2698895"/>
            <a:ext cx="61722" cy="108436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 flipV="1">
            <a:off x="8935974" y="2586316"/>
            <a:ext cx="61722" cy="11257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 flipV="1">
            <a:off x="8997696" y="2469435"/>
            <a:ext cx="61722" cy="11688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 flipV="1">
            <a:off x="9059418" y="2348087"/>
            <a:ext cx="61722" cy="12134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 flipV="1">
            <a:off x="9121140" y="2222103"/>
            <a:ext cx="61721" cy="125984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 flipV="1">
            <a:off x="9182861" y="2091304"/>
            <a:ext cx="61723" cy="13079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 flipV="1">
            <a:off x="9244584" y="1955508"/>
            <a:ext cx="61722" cy="135796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 flipV="1">
            <a:off x="9306306" y="1814522"/>
            <a:ext cx="61722" cy="140986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 flipV="1">
            <a:off x="9368028" y="1668149"/>
            <a:ext cx="61722" cy="146373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>
            <a:off x="2640330" y="1668149"/>
            <a:ext cx="61722" cy="146373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>
            <a:off x="2702052" y="1814522"/>
            <a:ext cx="61722" cy="140986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>
            <a:off x="2763774" y="1955508"/>
            <a:ext cx="61722" cy="135796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>
            <a:off x="2825496" y="2091304"/>
            <a:ext cx="61722" cy="130799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>
            <a:off x="2887218" y="2222103"/>
            <a:ext cx="61721" cy="125984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>
            <a:off x="2948939" y="2348087"/>
            <a:ext cx="61723" cy="121348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 152"/>
          <p:cNvCxnSpPr/>
          <p:nvPr/>
        </p:nvCxnSpPr>
        <p:spPr>
          <a:xfrm>
            <a:off x="3010662" y="2469435"/>
            <a:ext cx="61722" cy="116881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>
            <a:off x="3072384" y="2586316"/>
            <a:ext cx="61722" cy="112579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>
            <a:off x="3134106" y="2698895"/>
            <a:ext cx="61722" cy="108436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>
            <a:off x="3195828" y="2807331"/>
            <a:ext cx="61722" cy="104445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 156"/>
          <p:cNvCxnSpPr/>
          <p:nvPr/>
        </p:nvCxnSpPr>
        <p:spPr>
          <a:xfrm>
            <a:off x="3257550" y="2911776"/>
            <a:ext cx="61722" cy="100601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or 157"/>
          <p:cNvCxnSpPr/>
          <p:nvPr/>
        </p:nvCxnSpPr>
        <p:spPr>
          <a:xfrm>
            <a:off x="3319272" y="3012377"/>
            <a:ext cx="61722" cy="96898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Connector 158"/>
          <p:cNvCxnSpPr/>
          <p:nvPr/>
        </p:nvCxnSpPr>
        <p:spPr>
          <a:xfrm>
            <a:off x="3380994" y="3109275"/>
            <a:ext cx="61722" cy="93331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 159"/>
          <p:cNvCxnSpPr/>
          <p:nvPr/>
        </p:nvCxnSpPr>
        <p:spPr>
          <a:xfrm>
            <a:off x="3442716" y="3202606"/>
            <a:ext cx="61721" cy="89897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Connector 160"/>
          <p:cNvCxnSpPr/>
          <p:nvPr/>
        </p:nvCxnSpPr>
        <p:spPr>
          <a:xfrm>
            <a:off x="3504437" y="3292503"/>
            <a:ext cx="61723" cy="86588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Connector 161"/>
          <p:cNvCxnSpPr/>
          <p:nvPr/>
        </p:nvCxnSpPr>
        <p:spPr>
          <a:xfrm>
            <a:off x="3566160" y="3379091"/>
            <a:ext cx="61722" cy="83400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Connector 162"/>
          <p:cNvCxnSpPr/>
          <p:nvPr/>
        </p:nvCxnSpPr>
        <p:spPr>
          <a:xfrm>
            <a:off x="3627882" y="3462491"/>
            <a:ext cx="61722" cy="80332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Connector 163"/>
          <p:cNvCxnSpPr/>
          <p:nvPr/>
        </p:nvCxnSpPr>
        <p:spPr>
          <a:xfrm>
            <a:off x="3689604" y="3542823"/>
            <a:ext cx="61722" cy="77374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 164"/>
          <p:cNvCxnSpPr/>
          <p:nvPr/>
        </p:nvCxnSpPr>
        <p:spPr>
          <a:xfrm>
            <a:off x="3751326" y="3620197"/>
            <a:ext cx="61722" cy="74527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Connector 165"/>
          <p:cNvCxnSpPr/>
          <p:nvPr/>
        </p:nvCxnSpPr>
        <p:spPr>
          <a:xfrm>
            <a:off x="3813048" y="3694724"/>
            <a:ext cx="61722" cy="71784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Connector 166"/>
          <p:cNvCxnSpPr/>
          <p:nvPr/>
        </p:nvCxnSpPr>
        <p:spPr>
          <a:xfrm>
            <a:off x="3874770" y="3766508"/>
            <a:ext cx="61722" cy="69142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Connector 167"/>
          <p:cNvCxnSpPr/>
          <p:nvPr/>
        </p:nvCxnSpPr>
        <p:spPr>
          <a:xfrm>
            <a:off x="3936492" y="3835650"/>
            <a:ext cx="61721" cy="66597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Connector 168"/>
          <p:cNvCxnSpPr/>
          <p:nvPr/>
        </p:nvCxnSpPr>
        <p:spPr>
          <a:xfrm>
            <a:off x="3998213" y="3902247"/>
            <a:ext cx="61723" cy="64145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Connector 169"/>
          <p:cNvCxnSpPr/>
          <p:nvPr/>
        </p:nvCxnSpPr>
        <p:spPr>
          <a:xfrm>
            <a:off x="4059936" y="3966392"/>
            <a:ext cx="61721" cy="61785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Connector 170"/>
          <p:cNvCxnSpPr/>
          <p:nvPr/>
        </p:nvCxnSpPr>
        <p:spPr>
          <a:xfrm>
            <a:off x="4121657" y="4028177"/>
            <a:ext cx="61723" cy="59511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Connector 171"/>
          <p:cNvCxnSpPr/>
          <p:nvPr/>
        </p:nvCxnSpPr>
        <p:spPr>
          <a:xfrm>
            <a:off x="4183380" y="4087688"/>
            <a:ext cx="61722" cy="57321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Connector 172"/>
          <p:cNvCxnSpPr/>
          <p:nvPr/>
        </p:nvCxnSpPr>
        <p:spPr>
          <a:xfrm>
            <a:off x="4245102" y="4145009"/>
            <a:ext cx="61722" cy="55210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Connector 173"/>
          <p:cNvCxnSpPr/>
          <p:nvPr/>
        </p:nvCxnSpPr>
        <p:spPr>
          <a:xfrm>
            <a:off x="4306824" y="4200219"/>
            <a:ext cx="61722" cy="53179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Connector 174"/>
          <p:cNvCxnSpPr/>
          <p:nvPr/>
        </p:nvCxnSpPr>
        <p:spPr>
          <a:xfrm>
            <a:off x="4368546" y="4253398"/>
            <a:ext cx="61722" cy="51222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Connector 175"/>
          <p:cNvCxnSpPr/>
          <p:nvPr/>
        </p:nvCxnSpPr>
        <p:spPr>
          <a:xfrm>
            <a:off x="4430268" y="4304620"/>
            <a:ext cx="61722" cy="49336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Connector 176"/>
          <p:cNvCxnSpPr/>
          <p:nvPr/>
        </p:nvCxnSpPr>
        <p:spPr>
          <a:xfrm>
            <a:off x="4491990" y="4353956"/>
            <a:ext cx="61722" cy="47520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Connector 177"/>
          <p:cNvCxnSpPr/>
          <p:nvPr/>
        </p:nvCxnSpPr>
        <p:spPr>
          <a:xfrm>
            <a:off x="4553712" y="4401476"/>
            <a:ext cx="61722" cy="45772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Connector 178"/>
          <p:cNvCxnSpPr/>
          <p:nvPr/>
        </p:nvCxnSpPr>
        <p:spPr>
          <a:xfrm>
            <a:off x="4615434" y="4447248"/>
            <a:ext cx="61721" cy="44086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Connector 179"/>
          <p:cNvCxnSpPr/>
          <p:nvPr/>
        </p:nvCxnSpPr>
        <p:spPr>
          <a:xfrm>
            <a:off x="4677155" y="4491334"/>
            <a:ext cx="61723" cy="42464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Connector 180"/>
          <p:cNvCxnSpPr/>
          <p:nvPr/>
        </p:nvCxnSpPr>
        <p:spPr>
          <a:xfrm>
            <a:off x="4738878" y="4533798"/>
            <a:ext cx="61722" cy="40902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Connector 181"/>
          <p:cNvCxnSpPr/>
          <p:nvPr/>
        </p:nvCxnSpPr>
        <p:spPr>
          <a:xfrm>
            <a:off x="4800600" y="4574700"/>
            <a:ext cx="61722" cy="39395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Connector 182"/>
          <p:cNvCxnSpPr/>
          <p:nvPr/>
        </p:nvCxnSpPr>
        <p:spPr>
          <a:xfrm>
            <a:off x="4862322" y="4614095"/>
            <a:ext cx="61722" cy="37946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Connector 183"/>
          <p:cNvCxnSpPr/>
          <p:nvPr/>
        </p:nvCxnSpPr>
        <p:spPr>
          <a:xfrm>
            <a:off x="4924044" y="4652041"/>
            <a:ext cx="61722" cy="36549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Connector 184"/>
          <p:cNvCxnSpPr/>
          <p:nvPr/>
        </p:nvCxnSpPr>
        <p:spPr>
          <a:xfrm>
            <a:off x="4985766" y="4688590"/>
            <a:ext cx="61722" cy="35204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Connector 185"/>
          <p:cNvCxnSpPr/>
          <p:nvPr/>
        </p:nvCxnSpPr>
        <p:spPr>
          <a:xfrm>
            <a:off x="5047488" y="4723794"/>
            <a:ext cx="61722" cy="33909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Connector 186"/>
          <p:cNvCxnSpPr/>
          <p:nvPr/>
        </p:nvCxnSpPr>
        <p:spPr>
          <a:xfrm>
            <a:off x="5109210" y="4757703"/>
            <a:ext cx="61722" cy="32660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Connector 187"/>
          <p:cNvCxnSpPr/>
          <p:nvPr/>
        </p:nvCxnSpPr>
        <p:spPr>
          <a:xfrm>
            <a:off x="5170932" y="4790363"/>
            <a:ext cx="61722" cy="31458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Connector 188"/>
          <p:cNvCxnSpPr/>
          <p:nvPr/>
        </p:nvCxnSpPr>
        <p:spPr>
          <a:xfrm>
            <a:off x="5232654" y="4821821"/>
            <a:ext cx="61722" cy="30300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Connector 189"/>
          <p:cNvCxnSpPr/>
          <p:nvPr/>
        </p:nvCxnSpPr>
        <p:spPr>
          <a:xfrm>
            <a:off x="5294376" y="4852121"/>
            <a:ext cx="61722" cy="29186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" name="Connector 190"/>
          <p:cNvCxnSpPr/>
          <p:nvPr/>
        </p:nvCxnSpPr>
        <p:spPr>
          <a:xfrm>
            <a:off x="5356098" y="4881307"/>
            <a:ext cx="61722" cy="28110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" name="Connector 191"/>
          <p:cNvCxnSpPr/>
          <p:nvPr/>
        </p:nvCxnSpPr>
        <p:spPr>
          <a:xfrm>
            <a:off x="5417820" y="4909417"/>
            <a:ext cx="61722" cy="27077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" name="Connector 192"/>
          <p:cNvCxnSpPr/>
          <p:nvPr/>
        </p:nvCxnSpPr>
        <p:spPr>
          <a:xfrm>
            <a:off x="5479542" y="4936494"/>
            <a:ext cx="61722" cy="26079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Connector 193"/>
          <p:cNvCxnSpPr/>
          <p:nvPr/>
        </p:nvCxnSpPr>
        <p:spPr>
          <a:xfrm>
            <a:off x="5541264" y="4962573"/>
            <a:ext cx="61722" cy="25120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Connector 194"/>
          <p:cNvCxnSpPr/>
          <p:nvPr/>
        </p:nvCxnSpPr>
        <p:spPr>
          <a:xfrm>
            <a:off x="5602986" y="4987693"/>
            <a:ext cx="61722" cy="24196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" name="Connector 195"/>
          <p:cNvCxnSpPr/>
          <p:nvPr/>
        </p:nvCxnSpPr>
        <p:spPr>
          <a:xfrm>
            <a:off x="5664708" y="5011889"/>
            <a:ext cx="61722" cy="23304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" name="Connector 196"/>
          <p:cNvCxnSpPr/>
          <p:nvPr/>
        </p:nvCxnSpPr>
        <p:spPr>
          <a:xfrm>
            <a:off x="5726430" y="5035193"/>
            <a:ext cx="61722" cy="22447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Connector 197"/>
          <p:cNvCxnSpPr/>
          <p:nvPr/>
        </p:nvCxnSpPr>
        <p:spPr>
          <a:xfrm>
            <a:off x="5788152" y="5057640"/>
            <a:ext cx="61722" cy="21621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Connector 198"/>
          <p:cNvCxnSpPr/>
          <p:nvPr/>
        </p:nvCxnSpPr>
        <p:spPr>
          <a:xfrm>
            <a:off x="5849874" y="5079261"/>
            <a:ext cx="61722" cy="20825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" name="Connector 199"/>
          <p:cNvCxnSpPr/>
          <p:nvPr/>
        </p:nvCxnSpPr>
        <p:spPr>
          <a:xfrm>
            <a:off x="5911596" y="5100086"/>
            <a:ext cx="61722" cy="20059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1" name="Connector 200"/>
          <p:cNvCxnSpPr/>
          <p:nvPr/>
        </p:nvCxnSpPr>
        <p:spPr>
          <a:xfrm>
            <a:off x="5973318" y="5120145"/>
            <a:ext cx="61722" cy="19320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2" name="Connector 201"/>
          <p:cNvCxnSpPr/>
          <p:nvPr/>
        </p:nvCxnSpPr>
        <p:spPr>
          <a:xfrm>
            <a:off x="6035040" y="5139465"/>
            <a:ext cx="61722" cy="18610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3" name="Connector 202"/>
          <p:cNvCxnSpPr/>
          <p:nvPr/>
        </p:nvCxnSpPr>
        <p:spPr>
          <a:xfrm>
            <a:off x="6096762" y="5158075"/>
            <a:ext cx="61722" cy="17924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4" name="Connector 203"/>
          <p:cNvCxnSpPr/>
          <p:nvPr/>
        </p:nvCxnSpPr>
        <p:spPr>
          <a:xfrm>
            <a:off x="6158484" y="5175999"/>
            <a:ext cx="61722" cy="17265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5" name="Connector 204"/>
          <p:cNvCxnSpPr/>
          <p:nvPr/>
        </p:nvCxnSpPr>
        <p:spPr>
          <a:xfrm>
            <a:off x="6220206" y="5193264"/>
            <a:ext cx="61722" cy="16629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6" name="Connector 205"/>
          <p:cNvCxnSpPr/>
          <p:nvPr/>
        </p:nvCxnSpPr>
        <p:spPr>
          <a:xfrm>
            <a:off x="6281928" y="5209893"/>
            <a:ext cx="61722" cy="16017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7" name="Connector 206"/>
          <p:cNvCxnSpPr/>
          <p:nvPr/>
        </p:nvCxnSpPr>
        <p:spPr>
          <a:xfrm>
            <a:off x="6343650" y="5225910"/>
            <a:ext cx="61722" cy="15427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8" name="Connector 207"/>
          <p:cNvCxnSpPr/>
          <p:nvPr/>
        </p:nvCxnSpPr>
        <p:spPr>
          <a:xfrm>
            <a:off x="6405372" y="5241337"/>
            <a:ext cx="61722" cy="14860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9" name="Connector 208"/>
          <p:cNvCxnSpPr/>
          <p:nvPr/>
        </p:nvCxnSpPr>
        <p:spPr>
          <a:xfrm>
            <a:off x="6467094" y="5256197"/>
            <a:ext cx="61722" cy="14313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0" name="Connector 209"/>
          <p:cNvCxnSpPr/>
          <p:nvPr/>
        </p:nvCxnSpPr>
        <p:spPr>
          <a:xfrm>
            <a:off x="6528816" y="5270510"/>
            <a:ext cx="61722" cy="13786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1" name="Connector 210"/>
          <p:cNvCxnSpPr/>
          <p:nvPr/>
        </p:nvCxnSpPr>
        <p:spPr>
          <a:xfrm>
            <a:off x="6590538" y="5284296"/>
            <a:ext cx="61722" cy="13279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2" name="Connector 211"/>
          <p:cNvCxnSpPr/>
          <p:nvPr/>
        </p:nvCxnSpPr>
        <p:spPr>
          <a:xfrm>
            <a:off x="6652260" y="5297575"/>
            <a:ext cx="61722" cy="12790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3" name="Connector 212"/>
          <p:cNvCxnSpPr/>
          <p:nvPr/>
        </p:nvCxnSpPr>
        <p:spPr>
          <a:xfrm>
            <a:off x="6713982" y="5310365"/>
            <a:ext cx="61722" cy="12319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4" name="Connector 213"/>
          <p:cNvCxnSpPr/>
          <p:nvPr/>
        </p:nvCxnSpPr>
        <p:spPr>
          <a:xfrm>
            <a:off x="6775704" y="5322684"/>
            <a:ext cx="61722" cy="11866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5" name="Connector 214"/>
          <p:cNvCxnSpPr/>
          <p:nvPr/>
        </p:nvCxnSpPr>
        <p:spPr>
          <a:xfrm>
            <a:off x="6837426" y="5334550"/>
            <a:ext cx="61722" cy="11429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6" name="Connector 215"/>
          <p:cNvCxnSpPr/>
          <p:nvPr/>
        </p:nvCxnSpPr>
        <p:spPr>
          <a:xfrm>
            <a:off x="6899148" y="5345979"/>
            <a:ext cx="61722" cy="11008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7" name="Connector 216"/>
          <p:cNvCxnSpPr/>
          <p:nvPr/>
        </p:nvCxnSpPr>
        <p:spPr>
          <a:xfrm>
            <a:off x="6960870" y="5356987"/>
            <a:ext cx="61722" cy="10603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8" name="Connector 217"/>
          <p:cNvCxnSpPr/>
          <p:nvPr/>
        </p:nvCxnSpPr>
        <p:spPr>
          <a:xfrm>
            <a:off x="7022592" y="5367590"/>
            <a:ext cx="61722" cy="10213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9" name="Connector 218"/>
          <p:cNvCxnSpPr/>
          <p:nvPr/>
        </p:nvCxnSpPr>
        <p:spPr>
          <a:xfrm>
            <a:off x="7084314" y="5377803"/>
            <a:ext cx="61722" cy="9838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0" name="Connector 219"/>
          <p:cNvCxnSpPr/>
          <p:nvPr/>
        </p:nvCxnSpPr>
        <p:spPr>
          <a:xfrm>
            <a:off x="7146036" y="5387641"/>
            <a:ext cx="61722" cy="9475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1" name="Connector 220"/>
          <p:cNvCxnSpPr/>
          <p:nvPr/>
        </p:nvCxnSpPr>
        <p:spPr>
          <a:xfrm>
            <a:off x="7207758" y="5397116"/>
            <a:ext cx="61722" cy="9126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2" name="Connector 221"/>
          <p:cNvCxnSpPr/>
          <p:nvPr/>
        </p:nvCxnSpPr>
        <p:spPr>
          <a:xfrm>
            <a:off x="7269480" y="5406242"/>
            <a:ext cx="61722" cy="8790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3" name="Connector 222"/>
          <p:cNvCxnSpPr/>
          <p:nvPr/>
        </p:nvCxnSpPr>
        <p:spPr>
          <a:xfrm>
            <a:off x="7331202" y="5415032"/>
            <a:ext cx="61722" cy="8467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4" name="Connector 223"/>
          <p:cNvCxnSpPr/>
          <p:nvPr/>
        </p:nvCxnSpPr>
        <p:spPr>
          <a:xfrm>
            <a:off x="7392924" y="5423499"/>
            <a:ext cx="61722" cy="8155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5" name="Connector 224"/>
          <p:cNvCxnSpPr/>
          <p:nvPr/>
        </p:nvCxnSpPr>
        <p:spPr>
          <a:xfrm>
            <a:off x="7454646" y="5431654"/>
            <a:ext cx="61722" cy="7855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6" name="Connector 225"/>
          <p:cNvCxnSpPr/>
          <p:nvPr/>
        </p:nvCxnSpPr>
        <p:spPr>
          <a:xfrm>
            <a:off x="7516368" y="5439509"/>
            <a:ext cx="61722" cy="7566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7" name="Connector 226"/>
          <p:cNvCxnSpPr/>
          <p:nvPr/>
        </p:nvCxnSpPr>
        <p:spPr>
          <a:xfrm>
            <a:off x="7578090" y="5447075"/>
            <a:ext cx="61722" cy="7288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8" name="Connector 227"/>
          <p:cNvCxnSpPr/>
          <p:nvPr/>
        </p:nvCxnSpPr>
        <p:spPr>
          <a:xfrm>
            <a:off x="7639812" y="5454363"/>
            <a:ext cx="61722" cy="7019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9" name="Connector 228"/>
          <p:cNvCxnSpPr/>
          <p:nvPr/>
        </p:nvCxnSpPr>
        <p:spPr>
          <a:xfrm>
            <a:off x="7701534" y="5461382"/>
            <a:ext cx="61722" cy="6761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0" name="Connector 229"/>
          <p:cNvCxnSpPr/>
          <p:nvPr/>
        </p:nvCxnSpPr>
        <p:spPr>
          <a:xfrm>
            <a:off x="7763256" y="5468143"/>
            <a:ext cx="61722" cy="6512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1" name="Connector 230"/>
          <p:cNvCxnSpPr/>
          <p:nvPr/>
        </p:nvCxnSpPr>
        <p:spPr>
          <a:xfrm>
            <a:off x="7824978" y="5474655"/>
            <a:ext cx="61722" cy="6272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2" name="Connector 231"/>
          <p:cNvCxnSpPr/>
          <p:nvPr/>
        </p:nvCxnSpPr>
        <p:spPr>
          <a:xfrm>
            <a:off x="7886700" y="5480927"/>
            <a:ext cx="61721" cy="6042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3" name="Connector 232"/>
          <p:cNvCxnSpPr/>
          <p:nvPr/>
        </p:nvCxnSpPr>
        <p:spPr>
          <a:xfrm>
            <a:off x="7948421" y="5486969"/>
            <a:ext cx="61723" cy="5819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4" name="Connector 233"/>
          <p:cNvCxnSpPr/>
          <p:nvPr/>
        </p:nvCxnSpPr>
        <p:spPr>
          <a:xfrm>
            <a:off x="8010144" y="5492788"/>
            <a:ext cx="61722" cy="5605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5" name="Connector 234"/>
          <p:cNvCxnSpPr/>
          <p:nvPr/>
        </p:nvCxnSpPr>
        <p:spPr>
          <a:xfrm>
            <a:off x="8071866" y="5498393"/>
            <a:ext cx="61722" cy="5399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6" name="Connector 235"/>
          <p:cNvCxnSpPr/>
          <p:nvPr/>
        </p:nvCxnSpPr>
        <p:spPr>
          <a:xfrm>
            <a:off x="8133588" y="5503792"/>
            <a:ext cx="61722" cy="5200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7" name="Connector 236"/>
          <p:cNvCxnSpPr/>
          <p:nvPr/>
        </p:nvCxnSpPr>
        <p:spPr>
          <a:xfrm>
            <a:off x="8195310" y="5508992"/>
            <a:ext cx="61721" cy="5008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8" name="Connector 237"/>
          <p:cNvCxnSpPr/>
          <p:nvPr/>
        </p:nvCxnSpPr>
        <p:spPr>
          <a:xfrm>
            <a:off x="8257031" y="5514000"/>
            <a:ext cx="61723" cy="4825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9" name="Connector 238"/>
          <p:cNvCxnSpPr/>
          <p:nvPr/>
        </p:nvCxnSpPr>
        <p:spPr>
          <a:xfrm>
            <a:off x="8318754" y="5518825"/>
            <a:ext cx="61721" cy="4646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0" name="Connector 239"/>
          <p:cNvCxnSpPr/>
          <p:nvPr/>
        </p:nvCxnSpPr>
        <p:spPr>
          <a:xfrm>
            <a:off x="8380475" y="5523471"/>
            <a:ext cx="61723" cy="4476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1" name="Connector 240"/>
          <p:cNvCxnSpPr/>
          <p:nvPr/>
        </p:nvCxnSpPr>
        <p:spPr>
          <a:xfrm>
            <a:off x="8442198" y="5527947"/>
            <a:ext cx="61721" cy="4311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2" name="Connector 241"/>
          <p:cNvCxnSpPr/>
          <p:nvPr/>
        </p:nvCxnSpPr>
        <p:spPr>
          <a:xfrm>
            <a:off x="8503919" y="5532258"/>
            <a:ext cx="61723" cy="4152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3" name="Connector 242"/>
          <p:cNvCxnSpPr/>
          <p:nvPr/>
        </p:nvCxnSpPr>
        <p:spPr>
          <a:xfrm>
            <a:off x="8565642" y="5536410"/>
            <a:ext cx="61722" cy="4000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4" name="Connector 243"/>
          <p:cNvCxnSpPr/>
          <p:nvPr/>
        </p:nvCxnSpPr>
        <p:spPr>
          <a:xfrm>
            <a:off x="8627364" y="5540410"/>
            <a:ext cx="61722" cy="3852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5" name="Connector 244"/>
          <p:cNvCxnSpPr/>
          <p:nvPr/>
        </p:nvCxnSpPr>
        <p:spPr>
          <a:xfrm>
            <a:off x="8689086" y="5544262"/>
            <a:ext cx="61722" cy="3711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6" name="Connector 245"/>
          <p:cNvCxnSpPr/>
          <p:nvPr/>
        </p:nvCxnSpPr>
        <p:spPr>
          <a:xfrm>
            <a:off x="8750808" y="5547973"/>
            <a:ext cx="61722" cy="3573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7" name="Connector 246"/>
          <p:cNvCxnSpPr/>
          <p:nvPr/>
        </p:nvCxnSpPr>
        <p:spPr>
          <a:xfrm>
            <a:off x="8812530" y="5551546"/>
            <a:ext cx="61722" cy="3443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8" name="Connector 247"/>
          <p:cNvCxnSpPr/>
          <p:nvPr/>
        </p:nvCxnSpPr>
        <p:spPr>
          <a:xfrm>
            <a:off x="8874252" y="5554989"/>
            <a:ext cx="61722" cy="3315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9" name="Connector 248"/>
          <p:cNvCxnSpPr/>
          <p:nvPr/>
        </p:nvCxnSpPr>
        <p:spPr>
          <a:xfrm>
            <a:off x="8935974" y="5558304"/>
            <a:ext cx="61722" cy="3194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0" name="Connector 249"/>
          <p:cNvCxnSpPr/>
          <p:nvPr/>
        </p:nvCxnSpPr>
        <p:spPr>
          <a:xfrm>
            <a:off x="8997696" y="5561498"/>
            <a:ext cx="61722" cy="3076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1" name="Connector 250"/>
          <p:cNvCxnSpPr/>
          <p:nvPr/>
        </p:nvCxnSpPr>
        <p:spPr>
          <a:xfrm>
            <a:off x="9059418" y="5564574"/>
            <a:ext cx="61722" cy="2963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2" name="Connector 251"/>
          <p:cNvCxnSpPr/>
          <p:nvPr/>
        </p:nvCxnSpPr>
        <p:spPr>
          <a:xfrm>
            <a:off x="9121140" y="5567537"/>
            <a:ext cx="61721" cy="2854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3" name="Connector 252"/>
          <p:cNvCxnSpPr/>
          <p:nvPr/>
        </p:nvCxnSpPr>
        <p:spPr>
          <a:xfrm>
            <a:off x="9182861" y="5570391"/>
            <a:ext cx="61723" cy="2749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4" name="Connector 253"/>
          <p:cNvCxnSpPr/>
          <p:nvPr/>
        </p:nvCxnSpPr>
        <p:spPr>
          <a:xfrm>
            <a:off x="9244584" y="5573140"/>
            <a:ext cx="61722" cy="2647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5" name="Connector 254"/>
          <p:cNvCxnSpPr/>
          <p:nvPr/>
        </p:nvCxnSpPr>
        <p:spPr>
          <a:xfrm>
            <a:off x="9306306" y="5575787"/>
            <a:ext cx="61722" cy="2550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6" name="Connector 255"/>
          <p:cNvCxnSpPr/>
          <p:nvPr/>
        </p:nvCxnSpPr>
        <p:spPr>
          <a:xfrm>
            <a:off x="9368028" y="5578337"/>
            <a:ext cx="61722" cy="2457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7" name="Connector 256"/>
          <p:cNvCxnSpPr/>
          <p:nvPr/>
        </p:nvCxnSpPr>
        <p:spPr>
          <a:xfrm>
            <a:off x="9429750" y="5580794"/>
            <a:ext cx="61722" cy="2366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8" name="Connector 257"/>
          <p:cNvCxnSpPr/>
          <p:nvPr/>
        </p:nvCxnSpPr>
        <p:spPr>
          <a:xfrm>
            <a:off x="9491472" y="5583160"/>
            <a:ext cx="61722" cy="2278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9" name="Connector 258"/>
          <p:cNvCxnSpPr/>
          <p:nvPr/>
        </p:nvCxnSpPr>
        <p:spPr>
          <a:xfrm>
            <a:off x="9553194" y="5585438"/>
            <a:ext cx="61721" cy="2195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0" name="Connector 259"/>
          <p:cNvCxnSpPr/>
          <p:nvPr/>
        </p:nvCxnSpPr>
        <p:spPr>
          <a:xfrm>
            <a:off x="9614915" y="5587633"/>
            <a:ext cx="61723" cy="2115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1" name="Connector 260"/>
          <p:cNvCxnSpPr/>
          <p:nvPr/>
        </p:nvCxnSpPr>
        <p:spPr>
          <a:xfrm>
            <a:off x="9676638" y="5589748"/>
            <a:ext cx="61722" cy="2036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2" name="Connector 261"/>
          <p:cNvCxnSpPr/>
          <p:nvPr/>
        </p:nvCxnSpPr>
        <p:spPr>
          <a:xfrm>
            <a:off x="9738360" y="5591784"/>
            <a:ext cx="61722" cy="1961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3" name="Connector 262"/>
          <p:cNvCxnSpPr/>
          <p:nvPr/>
        </p:nvCxnSpPr>
        <p:spPr>
          <a:xfrm>
            <a:off x="9800082" y="5593745"/>
            <a:ext cx="61722" cy="1890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4" name="Connector 263"/>
          <p:cNvCxnSpPr/>
          <p:nvPr/>
        </p:nvCxnSpPr>
        <p:spPr>
          <a:xfrm>
            <a:off x="9861804" y="5595635"/>
            <a:ext cx="61722" cy="1819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5" name="Connector 264"/>
          <p:cNvCxnSpPr/>
          <p:nvPr/>
        </p:nvCxnSpPr>
        <p:spPr>
          <a:xfrm>
            <a:off x="9923526" y="5597454"/>
            <a:ext cx="61722" cy="1753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6" name="Connector 265"/>
          <p:cNvCxnSpPr/>
          <p:nvPr/>
        </p:nvCxnSpPr>
        <p:spPr>
          <a:xfrm>
            <a:off x="9985248" y="5599207"/>
            <a:ext cx="61721" cy="1688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7" name="Connector 266"/>
          <p:cNvCxnSpPr/>
          <p:nvPr/>
        </p:nvCxnSpPr>
        <p:spPr>
          <a:xfrm>
            <a:off x="10046969" y="5600895"/>
            <a:ext cx="61723" cy="1626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8" name="Connector 267"/>
          <p:cNvCxnSpPr/>
          <p:nvPr/>
        </p:nvCxnSpPr>
        <p:spPr>
          <a:xfrm>
            <a:off x="10108692" y="5602521"/>
            <a:ext cx="61722" cy="1566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9" name="Connector 268"/>
          <p:cNvCxnSpPr/>
          <p:nvPr/>
        </p:nvCxnSpPr>
        <p:spPr>
          <a:xfrm>
            <a:off x="10170414" y="5604087"/>
            <a:ext cx="61722" cy="1509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0" name="Connector 269"/>
          <p:cNvCxnSpPr/>
          <p:nvPr/>
        </p:nvCxnSpPr>
        <p:spPr>
          <a:xfrm>
            <a:off x="10232136" y="5605596"/>
            <a:ext cx="61722" cy="1453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1" name="Connector 270"/>
          <p:cNvCxnSpPr/>
          <p:nvPr/>
        </p:nvCxnSpPr>
        <p:spPr>
          <a:xfrm>
            <a:off x="10293858" y="5607049"/>
            <a:ext cx="61722" cy="1400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2" name="Connector 271"/>
          <p:cNvCxnSpPr/>
          <p:nvPr/>
        </p:nvCxnSpPr>
        <p:spPr>
          <a:xfrm>
            <a:off x="10355580" y="5608449"/>
            <a:ext cx="61722" cy="1348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3" name="Connector 272"/>
          <p:cNvCxnSpPr/>
          <p:nvPr/>
        </p:nvCxnSpPr>
        <p:spPr>
          <a:xfrm>
            <a:off x="10417302" y="5609797"/>
            <a:ext cx="61722" cy="1298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4" name="Connector 273"/>
          <p:cNvCxnSpPr/>
          <p:nvPr/>
        </p:nvCxnSpPr>
        <p:spPr>
          <a:xfrm>
            <a:off x="10479024" y="5611095"/>
            <a:ext cx="61722" cy="1251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5" name="Connector 274"/>
          <p:cNvCxnSpPr/>
          <p:nvPr/>
        </p:nvCxnSpPr>
        <p:spPr>
          <a:xfrm>
            <a:off x="10540746" y="5612346"/>
            <a:ext cx="61722" cy="1204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6" name="Connector 275"/>
          <p:cNvCxnSpPr/>
          <p:nvPr/>
        </p:nvCxnSpPr>
        <p:spPr>
          <a:xfrm>
            <a:off x="10602468" y="5613550"/>
            <a:ext cx="61722" cy="1161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7" name="Connector 276"/>
          <p:cNvCxnSpPr/>
          <p:nvPr/>
        </p:nvCxnSpPr>
        <p:spPr>
          <a:xfrm>
            <a:off x="10664190" y="5614711"/>
            <a:ext cx="61721" cy="1117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8" name="Connector 277"/>
          <p:cNvCxnSpPr/>
          <p:nvPr/>
        </p:nvCxnSpPr>
        <p:spPr>
          <a:xfrm>
            <a:off x="10725911" y="5615828"/>
            <a:ext cx="61723" cy="1077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9" name="Connector 278"/>
          <p:cNvCxnSpPr/>
          <p:nvPr/>
        </p:nvCxnSpPr>
        <p:spPr>
          <a:xfrm>
            <a:off x="10787634" y="5616905"/>
            <a:ext cx="61722" cy="1036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0" name="Connector 279"/>
          <p:cNvCxnSpPr/>
          <p:nvPr/>
        </p:nvCxnSpPr>
        <p:spPr>
          <a:xfrm>
            <a:off x="10849356" y="5617941"/>
            <a:ext cx="61722" cy="999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1" name="Connector 280"/>
          <p:cNvCxnSpPr/>
          <p:nvPr/>
        </p:nvCxnSpPr>
        <p:spPr>
          <a:xfrm>
            <a:off x="10911078" y="5618940"/>
            <a:ext cx="61722" cy="962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2" name="Connector 281"/>
          <p:cNvCxnSpPr/>
          <p:nvPr/>
        </p:nvCxnSpPr>
        <p:spPr>
          <a:xfrm>
            <a:off x="4389120" y="5590211"/>
            <a:ext cx="0" cy="109728"/>
          </a:xfrm>
          <a:prstGeom prst="line">
            <a:avLst/>
          </a:prstGeom>
          <a:ln w="1397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3" name="TextBox 282"/>
          <p:cNvSpPr txBox="1"/>
          <p:nvPr/>
        </p:nvSpPr>
        <p:spPr>
          <a:xfrm>
            <a:off x="4224528" y="5718227"/>
            <a:ext cx="32918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0B6C0"/>
                </a:solidFill>
                <a:latin typeface="Aptos"/>
              </a:rPr>
              <a:t>-1</a:t>
            </a:r>
          </a:p>
        </p:txBody>
      </p:sp>
      <p:cxnSp>
        <p:nvCxnSpPr>
          <p:cNvPr id="284" name="Connector 283"/>
          <p:cNvCxnSpPr/>
          <p:nvPr/>
        </p:nvCxnSpPr>
        <p:spPr>
          <a:xfrm>
            <a:off x="7680960" y="5590211"/>
            <a:ext cx="0" cy="109728"/>
          </a:xfrm>
          <a:prstGeom prst="line">
            <a:avLst/>
          </a:prstGeom>
          <a:ln w="1397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5" name="TextBox 284"/>
          <p:cNvSpPr txBox="1"/>
          <p:nvPr/>
        </p:nvSpPr>
        <p:spPr>
          <a:xfrm>
            <a:off x="7516368" y="5718227"/>
            <a:ext cx="32918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0B6C0"/>
                </a:solidFill>
                <a:latin typeface="Aptos"/>
              </a:rPr>
              <a:t>1</a:t>
            </a:r>
          </a:p>
        </p:txBody>
      </p:sp>
      <p:cxnSp>
        <p:nvCxnSpPr>
          <p:cNvPr id="286" name="Connector 285"/>
          <p:cNvCxnSpPr/>
          <p:nvPr/>
        </p:nvCxnSpPr>
        <p:spPr>
          <a:xfrm>
            <a:off x="5980176" y="5139465"/>
            <a:ext cx="109728" cy="0"/>
          </a:xfrm>
          <a:prstGeom prst="line">
            <a:avLst/>
          </a:prstGeom>
          <a:ln w="1397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7" name="TextBox 286"/>
          <p:cNvSpPr txBox="1"/>
          <p:nvPr/>
        </p:nvSpPr>
        <p:spPr>
          <a:xfrm>
            <a:off x="5614416" y="5038881"/>
            <a:ext cx="3474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0B6C0"/>
                </a:solidFill>
                <a:latin typeface="Aptos"/>
              </a:rPr>
              <a:t>1</a:t>
            </a:r>
          </a:p>
        </p:txBody>
      </p:sp>
      <p:sp>
        <p:nvSpPr>
          <p:cNvPr id="288" name="TextBox 287"/>
          <p:cNvSpPr txBox="1"/>
          <p:nvPr/>
        </p:nvSpPr>
        <p:spPr>
          <a:xfrm>
            <a:off x="5742432" y="5718227"/>
            <a:ext cx="23774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0B6C0"/>
                </a:solidFill>
                <a:latin typeface="Aptos"/>
              </a:rPr>
              <a:t>0</a:t>
            </a:r>
          </a:p>
        </p:txBody>
      </p:sp>
      <p:sp>
        <p:nvSpPr>
          <p:cNvPr id="289" name="Oval 288"/>
          <p:cNvSpPr/>
          <p:nvPr/>
        </p:nvSpPr>
        <p:spPr>
          <a:xfrm>
            <a:off x="5984748" y="5089173"/>
            <a:ext cx="100584" cy="100584"/>
          </a:xfrm>
          <a:prstGeom prst="ellipse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" name="TextBox 289"/>
          <p:cNvSpPr txBox="1"/>
          <p:nvPr/>
        </p:nvSpPr>
        <p:spPr>
          <a:xfrm>
            <a:off x="6126480" y="4883433"/>
            <a:ext cx="822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5AD680"/>
                </a:solidFill>
                <a:latin typeface="Aptos"/>
              </a:rPr>
              <a:t>(0, 1)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Exponential values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34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9E40"/>
                </a:solidFill>
                <a:latin typeface="Aptos"/>
              </a:rPr>
              <a:t>For y = eˣ, find y at x = 0, x = 1 and x = -1.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Exponential values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35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5AC8FF"/>
                </a:solidFill>
                <a:latin typeface="Aptos"/>
              </a:rPr>
              <a:t>Step 1:  x = 0: y = e⁰ =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5AC8FF"/>
                </a:solidFill>
                <a:latin typeface="Aptos"/>
              </a:rPr>
              <a:t>Step 2:  x = 1: y = 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5AC8FF"/>
                </a:solidFill>
                <a:latin typeface="Aptos"/>
              </a:rPr>
              <a:t>Step 3:  x = -1: y = e⁻¹ = 1/e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724912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89" b="1">
                <a:solidFill>
                  <a:srgbClr val="5AD680"/>
                </a:solidFill>
                <a:latin typeface="Aptos"/>
              </a:rPr>
              <a:t>Points: (0, 1), (1, e), (-1, 1/e).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B0B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ROUGH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80" b="1">
                <a:solidFill>
                  <a:srgbClr val="FFD646"/>
                </a:solidFill>
                <a:latin typeface="Aptos"/>
              </a:rPr>
              <a:t>Rough work  /  extra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NEW TOPIC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Differentiation: slope at a point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37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530352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A curve has a different slope at different points.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530352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The slope at one point is the slope of the tangent there.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0" y="4693920"/>
            <a:ext cx="4663440" cy="0"/>
          </a:xfrm>
          <a:prstGeom prst="line">
            <a:avLst/>
          </a:prstGeom>
          <a:ln w="1778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266175" y="1280160"/>
            <a:ext cx="0" cy="4389119"/>
          </a:xfrm>
          <a:prstGeom prst="line">
            <a:avLst/>
          </a:prstGeom>
          <a:ln w="1778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0899648" y="4739639"/>
            <a:ext cx="320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B0B6C0"/>
                </a:solidFill>
                <a:latin typeface="Aptos"/>
              </a:rPr>
              <a:t>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30183" y="1280160"/>
            <a:ext cx="411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B0B6C0"/>
                </a:solidFill>
                <a:latin typeface="Aptos"/>
              </a:rPr>
              <a:t>y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400800" y="2743199"/>
            <a:ext cx="29146" cy="60484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429946" y="2803683"/>
            <a:ext cx="29147" cy="5953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459093" y="2863214"/>
            <a:ext cx="29146" cy="5857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6488239" y="2921793"/>
            <a:ext cx="29147" cy="57626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517386" y="2979419"/>
            <a:ext cx="29146" cy="56674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546532" y="3036093"/>
            <a:ext cx="29147" cy="5572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575679" y="3091814"/>
            <a:ext cx="29146" cy="5476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604825" y="3146583"/>
            <a:ext cx="29147" cy="53816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6633972" y="3200399"/>
            <a:ext cx="29146" cy="52864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6663118" y="3253263"/>
            <a:ext cx="29147" cy="5191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6692265" y="3305174"/>
            <a:ext cx="29146" cy="5095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6721411" y="3356133"/>
            <a:ext cx="29147" cy="50006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6750558" y="3406139"/>
            <a:ext cx="29146" cy="49054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6779704" y="3455193"/>
            <a:ext cx="29147" cy="4810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6808851" y="3503294"/>
            <a:ext cx="29146" cy="4714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6837997" y="3550443"/>
            <a:ext cx="29147" cy="46196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6867144" y="3596639"/>
            <a:ext cx="29146" cy="45244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896290" y="3641883"/>
            <a:ext cx="29147" cy="4429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6925437" y="3686174"/>
            <a:ext cx="29146" cy="4333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6954583" y="3729513"/>
            <a:ext cx="29147" cy="42386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6983730" y="3771899"/>
            <a:ext cx="29146" cy="41434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7012876" y="3813333"/>
            <a:ext cx="29147" cy="4048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7042023" y="3853814"/>
            <a:ext cx="29146" cy="3952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7071169" y="3893343"/>
            <a:ext cx="29147" cy="3857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7100316" y="3931920"/>
            <a:ext cx="29146" cy="37623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7129462" y="3969543"/>
            <a:ext cx="29147" cy="3667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7158609" y="4006214"/>
            <a:ext cx="29146" cy="3571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7187755" y="4041933"/>
            <a:ext cx="29147" cy="34766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7216902" y="4076699"/>
            <a:ext cx="29146" cy="33814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7246048" y="4110513"/>
            <a:ext cx="29147" cy="3286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7275195" y="4143374"/>
            <a:ext cx="29146" cy="3190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7304341" y="4175283"/>
            <a:ext cx="29147" cy="3095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7333488" y="4206240"/>
            <a:ext cx="29146" cy="30003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7362634" y="4236243"/>
            <a:ext cx="29147" cy="2905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7391781" y="4265295"/>
            <a:ext cx="29146" cy="2809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7420927" y="4293393"/>
            <a:ext cx="29147" cy="2714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7450074" y="4320540"/>
            <a:ext cx="29146" cy="26193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7479220" y="4346733"/>
            <a:ext cx="29147" cy="2524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7508367" y="4371974"/>
            <a:ext cx="29146" cy="2428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7537513" y="4396263"/>
            <a:ext cx="29147" cy="2333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7566660" y="4419600"/>
            <a:ext cx="29146" cy="22383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7595806" y="4441983"/>
            <a:ext cx="29146" cy="2143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7624952" y="4463415"/>
            <a:ext cx="29147" cy="2047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7654099" y="4483893"/>
            <a:ext cx="29147" cy="19526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7683246" y="4503419"/>
            <a:ext cx="29146" cy="18574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7712392" y="4521993"/>
            <a:ext cx="29147" cy="1762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7741539" y="4539614"/>
            <a:ext cx="29146" cy="1666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7770685" y="4556283"/>
            <a:ext cx="29146" cy="15716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7799831" y="4571999"/>
            <a:ext cx="29147" cy="14764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7828978" y="4586763"/>
            <a:ext cx="29147" cy="1381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7858125" y="4600574"/>
            <a:ext cx="29146" cy="1285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7887271" y="4613433"/>
            <a:ext cx="29147" cy="11906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7916418" y="4625339"/>
            <a:ext cx="29146" cy="10954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7945564" y="4636293"/>
            <a:ext cx="29147" cy="1000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7974711" y="4646294"/>
            <a:ext cx="29146" cy="904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8003857" y="4655343"/>
            <a:ext cx="29147" cy="809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8033004" y="4663440"/>
            <a:ext cx="29146" cy="7143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8062150" y="4670583"/>
            <a:ext cx="29146" cy="619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8091296" y="4676775"/>
            <a:ext cx="29147" cy="523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8120443" y="4682013"/>
            <a:ext cx="29147" cy="4286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8149590" y="4686299"/>
            <a:ext cx="29146" cy="3334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8178736" y="4689633"/>
            <a:ext cx="29147" cy="238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8207883" y="4692015"/>
            <a:ext cx="29146" cy="142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8237029" y="4693443"/>
            <a:ext cx="29146" cy="47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8266175" y="4693443"/>
            <a:ext cx="29147" cy="47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8295322" y="4692015"/>
            <a:ext cx="29147" cy="142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8324469" y="4689633"/>
            <a:ext cx="29146" cy="238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8353615" y="4686299"/>
            <a:ext cx="29147" cy="3334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8382762" y="4682013"/>
            <a:ext cx="29146" cy="4286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V="1">
            <a:off x="8411908" y="4676775"/>
            <a:ext cx="29147" cy="523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V="1">
            <a:off x="8441055" y="4670583"/>
            <a:ext cx="29146" cy="619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V="1">
            <a:off x="8470201" y="4663440"/>
            <a:ext cx="29147" cy="7143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V="1">
            <a:off x="8499348" y="4655343"/>
            <a:ext cx="29146" cy="809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V="1">
            <a:off x="8528494" y="4646294"/>
            <a:ext cx="29147" cy="904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V="1">
            <a:off x="8557641" y="4636293"/>
            <a:ext cx="29146" cy="1000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 flipV="1">
            <a:off x="8586787" y="4625339"/>
            <a:ext cx="29147" cy="10954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 flipV="1">
            <a:off x="8615934" y="4613433"/>
            <a:ext cx="29146" cy="11906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 flipV="1">
            <a:off x="8645080" y="4600574"/>
            <a:ext cx="29147" cy="1285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 flipV="1">
            <a:off x="8674227" y="4586763"/>
            <a:ext cx="29146" cy="1381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 flipV="1">
            <a:off x="8703373" y="4571999"/>
            <a:ext cx="29147" cy="14764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 flipV="1">
            <a:off x="8732520" y="4556283"/>
            <a:ext cx="29146" cy="15716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 flipV="1">
            <a:off x="8761666" y="4539614"/>
            <a:ext cx="29147" cy="1666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 flipV="1">
            <a:off x="8790813" y="4521993"/>
            <a:ext cx="29146" cy="1762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 flipV="1">
            <a:off x="8819959" y="4503419"/>
            <a:ext cx="29147" cy="18574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 flipV="1">
            <a:off x="8849106" y="4483893"/>
            <a:ext cx="29146" cy="19526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 flipV="1">
            <a:off x="8878252" y="4463415"/>
            <a:ext cx="29147" cy="2047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V="1">
            <a:off x="8907399" y="4441983"/>
            <a:ext cx="29146" cy="2143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V="1">
            <a:off x="8936545" y="4419600"/>
            <a:ext cx="29147" cy="22383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V="1">
            <a:off x="8965692" y="4396263"/>
            <a:ext cx="29146" cy="2333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V="1">
            <a:off x="8994838" y="4371974"/>
            <a:ext cx="29146" cy="2428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V="1">
            <a:off x="9023984" y="4346733"/>
            <a:ext cx="29147" cy="2524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V="1">
            <a:off x="9053131" y="4320540"/>
            <a:ext cx="29147" cy="26193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V="1">
            <a:off x="9082278" y="4293393"/>
            <a:ext cx="29146" cy="2714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9111424" y="4265295"/>
            <a:ext cx="29147" cy="2809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9140571" y="4236243"/>
            <a:ext cx="29146" cy="2905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9169717" y="4206240"/>
            <a:ext cx="29146" cy="30003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 flipV="1">
            <a:off x="9198863" y="4175283"/>
            <a:ext cx="29147" cy="3095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 flipV="1">
            <a:off x="9228010" y="4143374"/>
            <a:ext cx="29147" cy="3190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 flipV="1">
            <a:off x="9257157" y="4110513"/>
            <a:ext cx="29146" cy="3286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 flipV="1">
            <a:off x="9286303" y="4076699"/>
            <a:ext cx="29147" cy="33814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 flipV="1">
            <a:off x="9315450" y="4041933"/>
            <a:ext cx="29146" cy="34766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 flipV="1">
            <a:off x="9344596" y="4006214"/>
            <a:ext cx="29146" cy="3571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 flipV="1">
            <a:off x="9373742" y="3969543"/>
            <a:ext cx="29147" cy="3667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 flipV="1">
            <a:off x="9402889" y="3931920"/>
            <a:ext cx="29147" cy="37623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 flipV="1">
            <a:off x="9432036" y="3893343"/>
            <a:ext cx="29146" cy="3857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 flipV="1">
            <a:off x="9461182" y="3853814"/>
            <a:ext cx="29147" cy="3952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 flipV="1">
            <a:off x="9490329" y="3813333"/>
            <a:ext cx="29146" cy="4048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 flipV="1">
            <a:off x="9519475" y="3771899"/>
            <a:ext cx="29147" cy="41434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 flipV="1">
            <a:off x="9548622" y="3729513"/>
            <a:ext cx="29146" cy="42386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 flipV="1">
            <a:off x="9577768" y="3686174"/>
            <a:ext cx="29147" cy="4333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 flipV="1">
            <a:off x="9606915" y="3641883"/>
            <a:ext cx="29146" cy="4429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 flipV="1">
            <a:off x="9636061" y="3596639"/>
            <a:ext cx="29147" cy="45244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 flipV="1">
            <a:off x="9665208" y="3550443"/>
            <a:ext cx="29146" cy="46196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 flipV="1">
            <a:off x="9694354" y="3503294"/>
            <a:ext cx="29147" cy="4714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 flipV="1">
            <a:off x="9723501" y="3455193"/>
            <a:ext cx="29146" cy="4810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 flipV="1">
            <a:off x="9752647" y="3406139"/>
            <a:ext cx="29147" cy="49054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 flipV="1">
            <a:off x="9781794" y="3356133"/>
            <a:ext cx="29146" cy="50006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 flipV="1">
            <a:off x="9810940" y="3305174"/>
            <a:ext cx="29147" cy="5095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 flipV="1">
            <a:off x="9840087" y="3253263"/>
            <a:ext cx="29146" cy="5191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 flipV="1">
            <a:off x="9869233" y="3200399"/>
            <a:ext cx="29147" cy="52864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 flipV="1">
            <a:off x="9898380" y="3146583"/>
            <a:ext cx="29146" cy="53816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 flipV="1">
            <a:off x="9927526" y="3091814"/>
            <a:ext cx="29147" cy="5476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 flipV="1">
            <a:off x="9956673" y="3036093"/>
            <a:ext cx="29146" cy="5572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 flipV="1">
            <a:off x="9985819" y="2979419"/>
            <a:ext cx="29147" cy="56674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 flipV="1">
            <a:off x="10014966" y="2921793"/>
            <a:ext cx="29146" cy="57626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 flipV="1">
            <a:off x="10044112" y="2863214"/>
            <a:ext cx="29147" cy="5857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 flipV="1">
            <a:off x="10073259" y="2803683"/>
            <a:ext cx="29146" cy="5953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 flipV="1">
            <a:off x="10102405" y="2743199"/>
            <a:ext cx="29147" cy="60484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 flipV="1">
            <a:off x="10131552" y="2681763"/>
            <a:ext cx="29146" cy="61436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 flipV="1">
            <a:off x="10160698" y="2619374"/>
            <a:ext cx="29147" cy="6238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 flipV="1">
            <a:off x="10189845" y="2556033"/>
            <a:ext cx="29146" cy="6334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 flipV="1">
            <a:off x="10218991" y="2491739"/>
            <a:ext cx="29147" cy="64294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 flipV="1">
            <a:off x="10248138" y="2426493"/>
            <a:ext cx="29146" cy="65246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 flipV="1">
            <a:off x="10277284" y="2360294"/>
            <a:ext cx="29147" cy="6619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 flipV="1">
            <a:off x="10306431" y="2293143"/>
            <a:ext cx="29146" cy="6715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 flipV="1">
            <a:off x="10335577" y="2225039"/>
            <a:ext cx="29147" cy="68104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 flipV="1">
            <a:off x="10364724" y="2155983"/>
            <a:ext cx="29146" cy="69056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 flipV="1">
            <a:off x="10393870" y="2085974"/>
            <a:ext cx="29147" cy="7000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 flipV="1">
            <a:off x="10423017" y="2015013"/>
            <a:ext cx="29146" cy="7096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 flipV="1">
            <a:off x="10452163" y="1943100"/>
            <a:ext cx="29147" cy="71913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 152"/>
          <p:cNvCxnSpPr/>
          <p:nvPr/>
        </p:nvCxnSpPr>
        <p:spPr>
          <a:xfrm flipV="1">
            <a:off x="10481310" y="1870233"/>
            <a:ext cx="29146" cy="7286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 flipV="1">
            <a:off x="10510456" y="1796414"/>
            <a:ext cx="29147" cy="7381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 flipV="1">
            <a:off x="10539603" y="1721643"/>
            <a:ext cx="29146" cy="7477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 flipV="1">
            <a:off x="10568749" y="1645919"/>
            <a:ext cx="29147" cy="75724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 156"/>
          <p:cNvCxnSpPr/>
          <p:nvPr/>
        </p:nvCxnSpPr>
        <p:spPr>
          <a:xfrm flipV="1">
            <a:off x="10597896" y="1569243"/>
            <a:ext cx="29146" cy="76676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or 157"/>
          <p:cNvCxnSpPr/>
          <p:nvPr/>
        </p:nvCxnSpPr>
        <p:spPr>
          <a:xfrm flipV="1">
            <a:off x="10627042" y="1491614"/>
            <a:ext cx="29146" cy="7762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Connector 158"/>
          <p:cNvCxnSpPr/>
          <p:nvPr/>
        </p:nvCxnSpPr>
        <p:spPr>
          <a:xfrm flipV="1">
            <a:off x="10656188" y="1413033"/>
            <a:ext cx="29147" cy="7858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 159"/>
          <p:cNvCxnSpPr/>
          <p:nvPr/>
        </p:nvCxnSpPr>
        <p:spPr>
          <a:xfrm flipV="1">
            <a:off x="10685335" y="1333499"/>
            <a:ext cx="29147" cy="79534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Connector 160"/>
          <p:cNvCxnSpPr/>
          <p:nvPr/>
        </p:nvCxnSpPr>
        <p:spPr>
          <a:xfrm flipV="1">
            <a:off x="7799831" y="5638799"/>
            <a:ext cx="29147" cy="30480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Connector 161"/>
          <p:cNvCxnSpPr/>
          <p:nvPr/>
        </p:nvCxnSpPr>
        <p:spPr>
          <a:xfrm flipV="1">
            <a:off x="7828978" y="5608320"/>
            <a:ext cx="29147" cy="30479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Connector 162"/>
          <p:cNvCxnSpPr/>
          <p:nvPr/>
        </p:nvCxnSpPr>
        <p:spPr>
          <a:xfrm flipV="1">
            <a:off x="7858125" y="5577840"/>
            <a:ext cx="29146" cy="30480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Connector 163"/>
          <p:cNvCxnSpPr/>
          <p:nvPr/>
        </p:nvCxnSpPr>
        <p:spPr>
          <a:xfrm flipV="1">
            <a:off x="7887271" y="5547359"/>
            <a:ext cx="29147" cy="30481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 164"/>
          <p:cNvCxnSpPr/>
          <p:nvPr/>
        </p:nvCxnSpPr>
        <p:spPr>
          <a:xfrm flipV="1">
            <a:off x="7916418" y="5516879"/>
            <a:ext cx="29146" cy="30480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Connector 165"/>
          <p:cNvCxnSpPr/>
          <p:nvPr/>
        </p:nvCxnSpPr>
        <p:spPr>
          <a:xfrm flipV="1">
            <a:off x="7945564" y="5486399"/>
            <a:ext cx="29147" cy="30480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Connector 166"/>
          <p:cNvCxnSpPr/>
          <p:nvPr/>
        </p:nvCxnSpPr>
        <p:spPr>
          <a:xfrm flipV="1">
            <a:off x="7974711" y="5455919"/>
            <a:ext cx="29146" cy="30480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Connector 167"/>
          <p:cNvCxnSpPr/>
          <p:nvPr/>
        </p:nvCxnSpPr>
        <p:spPr>
          <a:xfrm flipV="1">
            <a:off x="8003857" y="5425439"/>
            <a:ext cx="29147" cy="30480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Connector 168"/>
          <p:cNvCxnSpPr/>
          <p:nvPr/>
        </p:nvCxnSpPr>
        <p:spPr>
          <a:xfrm flipV="1">
            <a:off x="8033004" y="5394959"/>
            <a:ext cx="29146" cy="30480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Connector 169"/>
          <p:cNvCxnSpPr/>
          <p:nvPr/>
        </p:nvCxnSpPr>
        <p:spPr>
          <a:xfrm flipV="1">
            <a:off x="8062150" y="5364480"/>
            <a:ext cx="29146" cy="30479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Connector 170"/>
          <p:cNvCxnSpPr/>
          <p:nvPr/>
        </p:nvCxnSpPr>
        <p:spPr>
          <a:xfrm flipV="1">
            <a:off x="8091296" y="5334000"/>
            <a:ext cx="29147" cy="30480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Connector 171"/>
          <p:cNvCxnSpPr/>
          <p:nvPr/>
        </p:nvCxnSpPr>
        <p:spPr>
          <a:xfrm flipV="1">
            <a:off x="8120443" y="5303519"/>
            <a:ext cx="29147" cy="30481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Connector 172"/>
          <p:cNvCxnSpPr/>
          <p:nvPr/>
        </p:nvCxnSpPr>
        <p:spPr>
          <a:xfrm flipV="1">
            <a:off x="8149590" y="5273039"/>
            <a:ext cx="29146" cy="30480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Connector 173"/>
          <p:cNvCxnSpPr/>
          <p:nvPr/>
        </p:nvCxnSpPr>
        <p:spPr>
          <a:xfrm flipV="1">
            <a:off x="8178736" y="5242559"/>
            <a:ext cx="29147" cy="30480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Connector 174"/>
          <p:cNvCxnSpPr/>
          <p:nvPr/>
        </p:nvCxnSpPr>
        <p:spPr>
          <a:xfrm flipV="1">
            <a:off x="8207883" y="5212079"/>
            <a:ext cx="29146" cy="30480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Connector 175"/>
          <p:cNvCxnSpPr/>
          <p:nvPr/>
        </p:nvCxnSpPr>
        <p:spPr>
          <a:xfrm flipV="1">
            <a:off x="8237029" y="5181599"/>
            <a:ext cx="29146" cy="30480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Connector 176"/>
          <p:cNvCxnSpPr/>
          <p:nvPr/>
        </p:nvCxnSpPr>
        <p:spPr>
          <a:xfrm flipV="1">
            <a:off x="8266175" y="5151120"/>
            <a:ext cx="29147" cy="30479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Connector 177"/>
          <p:cNvCxnSpPr/>
          <p:nvPr/>
        </p:nvCxnSpPr>
        <p:spPr>
          <a:xfrm flipV="1">
            <a:off x="8295322" y="5120640"/>
            <a:ext cx="29147" cy="30480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Connector 178"/>
          <p:cNvCxnSpPr/>
          <p:nvPr/>
        </p:nvCxnSpPr>
        <p:spPr>
          <a:xfrm flipV="1">
            <a:off x="8324469" y="5090160"/>
            <a:ext cx="29146" cy="30480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Connector 179"/>
          <p:cNvCxnSpPr/>
          <p:nvPr/>
        </p:nvCxnSpPr>
        <p:spPr>
          <a:xfrm flipV="1">
            <a:off x="8353615" y="5059679"/>
            <a:ext cx="29147" cy="30481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Connector 180"/>
          <p:cNvCxnSpPr/>
          <p:nvPr/>
        </p:nvCxnSpPr>
        <p:spPr>
          <a:xfrm flipV="1">
            <a:off x="8382762" y="5029199"/>
            <a:ext cx="29146" cy="30480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Connector 181"/>
          <p:cNvCxnSpPr/>
          <p:nvPr/>
        </p:nvCxnSpPr>
        <p:spPr>
          <a:xfrm flipV="1">
            <a:off x="8411908" y="4998719"/>
            <a:ext cx="29147" cy="30480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Connector 182"/>
          <p:cNvCxnSpPr/>
          <p:nvPr/>
        </p:nvCxnSpPr>
        <p:spPr>
          <a:xfrm flipV="1">
            <a:off x="8441055" y="4968239"/>
            <a:ext cx="29146" cy="30480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Connector 183"/>
          <p:cNvCxnSpPr/>
          <p:nvPr/>
        </p:nvCxnSpPr>
        <p:spPr>
          <a:xfrm flipV="1">
            <a:off x="8470201" y="4937759"/>
            <a:ext cx="29147" cy="30480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Connector 184"/>
          <p:cNvCxnSpPr/>
          <p:nvPr/>
        </p:nvCxnSpPr>
        <p:spPr>
          <a:xfrm flipV="1">
            <a:off x="8499348" y="4907280"/>
            <a:ext cx="29146" cy="30479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Connector 185"/>
          <p:cNvCxnSpPr/>
          <p:nvPr/>
        </p:nvCxnSpPr>
        <p:spPr>
          <a:xfrm flipV="1">
            <a:off x="8528494" y="4876799"/>
            <a:ext cx="29147" cy="30481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Connector 186"/>
          <p:cNvCxnSpPr/>
          <p:nvPr/>
        </p:nvCxnSpPr>
        <p:spPr>
          <a:xfrm flipV="1">
            <a:off x="8557641" y="4846319"/>
            <a:ext cx="29146" cy="30480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Connector 187"/>
          <p:cNvCxnSpPr/>
          <p:nvPr/>
        </p:nvCxnSpPr>
        <p:spPr>
          <a:xfrm flipV="1">
            <a:off x="8586787" y="4815839"/>
            <a:ext cx="29147" cy="30480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Connector 188"/>
          <p:cNvCxnSpPr/>
          <p:nvPr/>
        </p:nvCxnSpPr>
        <p:spPr>
          <a:xfrm flipV="1">
            <a:off x="8615934" y="4785359"/>
            <a:ext cx="29146" cy="30480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Connector 189"/>
          <p:cNvCxnSpPr/>
          <p:nvPr/>
        </p:nvCxnSpPr>
        <p:spPr>
          <a:xfrm flipV="1">
            <a:off x="8645080" y="4754879"/>
            <a:ext cx="29147" cy="30480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" name="Connector 190"/>
          <p:cNvCxnSpPr/>
          <p:nvPr/>
        </p:nvCxnSpPr>
        <p:spPr>
          <a:xfrm flipV="1">
            <a:off x="8674227" y="4724399"/>
            <a:ext cx="29146" cy="30480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" name="Connector 191"/>
          <p:cNvCxnSpPr/>
          <p:nvPr/>
        </p:nvCxnSpPr>
        <p:spPr>
          <a:xfrm flipV="1">
            <a:off x="8703373" y="4693920"/>
            <a:ext cx="29147" cy="30479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" name="Connector 192"/>
          <p:cNvCxnSpPr/>
          <p:nvPr/>
        </p:nvCxnSpPr>
        <p:spPr>
          <a:xfrm flipV="1">
            <a:off x="8732520" y="4663440"/>
            <a:ext cx="29146" cy="30480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Connector 193"/>
          <p:cNvCxnSpPr/>
          <p:nvPr/>
        </p:nvCxnSpPr>
        <p:spPr>
          <a:xfrm flipV="1">
            <a:off x="8761666" y="4632960"/>
            <a:ext cx="29147" cy="30480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Connector 194"/>
          <p:cNvCxnSpPr/>
          <p:nvPr/>
        </p:nvCxnSpPr>
        <p:spPr>
          <a:xfrm flipV="1">
            <a:off x="8790813" y="4602479"/>
            <a:ext cx="29146" cy="30481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" name="Connector 195"/>
          <p:cNvCxnSpPr/>
          <p:nvPr/>
        </p:nvCxnSpPr>
        <p:spPr>
          <a:xfrm flipV="1">
            <a:off x="8819959" y="4571999"/>
            <a:ext cx="29147" cy="30480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" name="Connector 196"/>
          <p:cNvCxnSpPr/>
          <p:nvPr/>
        </p:nvCxnSpPr>
        <p:spPr>
          <a:xfrm flipV="1">
            <a:off x="8849106" y="4541519"/>
            <a:ext cx="29146" cy="30480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Connector 197"/>
          <p:cNvCxnSpPr/>
          <p:nvPr/>
        </p:nvCxnSpPr>
        <p:spPr>
          <a:xfrm flipV="1">
            <a:off x="8878252" y="4511039"/>
            <a:ext cx="29147" cy="30480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Connector 198"/>
          <p:cNvCxnSpPr/>
          <p:nvPr/>
        </p:nvCxnSpPr>
        <p:spPr>
          <a:xfrm flipV="1">
            <a:off x="8907399" y="4480559"/>
            <a:ext cx="29146" cy="30480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" name="Connector 199"/>
          <p:cNvCxnSpPr/>
          <p:nvPr/>
        </p:nvCxnSpPr>
        <p:spPr>
          <a:xfrm flipV="1">
            <a:off x="8936545" y="4450080"/>
            <a:ext cx="29147" cy="30479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1" name="Connector 200"/>
          <p:cNvCxnSpPr/>
          <p:nvPr/>
        </p:nvCxnSpPr>
        <p:spPr>
          <a:xfrm flipV="1">
            <a:off x="8965692" y="4419600"/>
            <a:ext cx="29146" cy="30480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2" name="Connector 201"/>
          <p:cNvCxnSpPr/>
          <p:nvPr/>
        </p:nvCxnSpPr>
        <p:spPr>
          <a:xfrm flipV="1">
            <a:off x="8994838" y="4389119"/>
            <a:ext cx="29146" cy="30481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3" name="Connector 202"/>
          <p:cNvCxnSpPr/>
          <p:nvPr/>
        </p:nvCxnSpPr>
        <p:spPr>
          <a:xfrm flipV="1">
            <a:off x="9023984" y="4358639"/>
            <a:ext cx="29147" cy="30480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4" name="Connector 203"/>
          <p:cNvCxnSpPr/>
          <p:nvPr/>
        </p:nvCxnSpPr>
        <p:spPr>
          <a:xfrm flipV="1">
            <a:off x="9053131" y="4328159"/>
            <a:ext cx="29147" cy="30480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5" name="Connector 204"/>
          <p:cNvCxnSpPr/>
          <p:nvPr/>
        </p:nvCxnSpPr>
        <p:spPr>
          <a:xfrm flipV="1">
            <a:off x="9082278" y="4297679"/>
            <a:ext cx="29146" cy="30480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6" name="Connector 205"/>
          <p:cNvCxnSpPr/>
          <p:nvPr/>
        </p:nvCxnSpPr>
        <p:spPr>
          <a:xfrm flipV="1">
            <a:off x="9111424" y="4267199"/>
            <a:ext cx="29147" cy="30480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7" name="Connector 206"/>
          <p:cNvCxnSpPr/>
          <p:nvPr/>
        </p:nvCxnSpPr>
        <p:spPr>
          <a:xfrm flipV="1">
            <a:off x="9140571" y="4236720"/>
            <a:ext cx="29146" cy="30479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8" name="Connector 207"/>
          <p:cNvCxnSpPr/>
          <p:nvPr/>
        </p:nvCxnSpPr>
        <p:spPr>
          <a:xfrm flipV="1">
            <a:off x="9169717" y="4206240"/>
            <a:ext cx="29146" cy="30480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9" name="Connector 208"/>
          <p:cNvCxnSpPr/>
          <p:nvPr/>
        </p:nvCxnSpPr>
        <p:spPr>
          <a:xfrm flipV="1">
            <a:off x="9198863" y="4175760"/>
            <a:ext cx="29147" cy="30480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0" name="Connector 209"/>
          <p:cNvCxnSpPr/>
          <p:nvPr/>
        </p:nvCxnSpPr>
        <p:spPr>
          <a:xfrm flipV="1">
            <a:off x="9228010" y="4145279"/>
            <a:ext cx="29147" cy="30481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1" name="Connector 210"/>
          <p:cNvCxnSpPr/>
          <p:nvPr/>
        </p:nvCxnSpPr>
        <p:spPr>
          <a:xfrm flipV="1">
            <a:off x="9257157" y="4114799"/>
            <a:ext cx="29146" cy="30480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2" name="Connector 211"/>
          <p:cNvCxnSpPr/>
          <p:nvPr/>
        </p:nvCxnSpPr>
        <p:spPr>
          <a:xfrm flipV="1">
            <a:off x="9286303" y="4084319"/>
            <a:ext cx="29147" cy="30480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3" name="Connector 212"/>
          <p:cNvCxnSpPr/>
          <p:nvPr/>
        </p:nvCxnSpPr>
        <p:spPr>
          <a:xfrm flipV="1">
            <a:off x="9315450" y="4053839"/>
            <a:ext cx="29146" cy="30480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4" name="Connector 213"/>
          <p:cNvCxnSpPr/>
          <p:nvPr/>
        </p:nvCxnSpPr>
        <p:spPr>
          <a:xfrm flipV="1">
            <a:off x="9344596" y="4023359"/>
            <a:ext cx="29146" cy="30480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5" name="Connector 214"/>
          <p:cNvCxnSpPr/>
          <p:nvPr/>
        </p:nvCxnSpPr>
        <p:spPr>
          <a:xfrm flipV="1">
            <a:off x="9373742" y="3992879"/>
            <a:ext cx="29147" cy="30480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6" name="Connector 215"/>
          <p:cNvCxnSpPr/>
          <p:nvPr/>
        </p:nvCxnSpPr>
        <p:spPr>
          <a:xfrm flipV="1">
            <a:off x="9402889" y="3962399"/>
            <a:ext cx="29147" cy="30480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7" name="Connector 216"/>
          <p:cNvCxnSpPr/>
          <p:nvPr/>
        </p:nvCxnSpPr>
        <p:spPr>
          <a:xfrm flipV="1">
            <a:off x="9432036" y="3931920"/>
            <a:ext cx="29146" cy="30479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8" name="Connector 217"/>
          <p:cNvCxnSpPr/>
          <p:nvPr/>
        </p:nvCxnSpPr>
        <p:spPr>
          <a:xfrm flipV="1">
            <a:off x="9461182" y="3901439"/>
            <a:ext cx="29147" cy="30481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9" name="Connector 218"/>
          <p:cNvCxnSpPr/>
          <p:nvPr/>
        </p:nvCxnSpPr>
        <p:spPr>
          <a:xfrm flipV="1">
            <a:off x="9490329" y="3870959"/>
            <a:ext cx="29146" cy="30480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0" name="Connector 219"/>
          <p:cNvCxnSpPr/>
          <p:nvPr/>
        </p:nvCxnSpPr>
        <p:spPr>
          <a:xfrm flipV="1">
            <a:off x="9519475" y="3840479"/>
            <a:ext cx="29147" cy="30480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1" name="Connector 220"/>
          <p:cNvCxnSpPr/>
          <p:nvPr/>
        </p:nvCxnSpPr>
        <p:spPr>
          <a:xfrm flipV="1">
            <a:off x="9548622" y="3809999"/>
            <a:ext cx="29146" cy="30480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2" name="Connector 221"/>
          <p:cNvCxnSpPr/>
          <p:nvPr/>
        </p:nvCxnSpPr>
        <p:spPr>
          <a:xfrm flipV="1">
            <a:off x="9577768" y="3779519"/>
            <a:ext cx="29147" cy="30480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3" name="Connector 222"/>
          <p:cNvCxnSpPr/>
          <p:nvPr/>
        </p:nvCxnSpPr>
        <p:spPr>
          <a:xfrm flipV="1">
            <a:off x="9606915" y="3749039"/>
            <a:ext cx="29146" cy="30480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4" name="Connector 223"/>
          <p:cNvCxnSpPr/>
          <p:nvPr/>
        </p:nvCxnSpPr>
        <p:spPr>
          <a:xfrm flipV="1">
            <a:off x="9636061" y="3718560"/>
            <a:ext cx="29147" cy="30479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5" name="Connector 224"/>
          <p:cNvCxnSpPr/>
          <p:nvPr/>
        </p:nvCxnSpPr>
        <p:spPr>
          <a:xfrm flipV="1">
            <a:off x="9665208" y="3688080"/>
            <a:ext cx="29146" cy="30480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6" name="Connector 225"/>
          <p:cNvCxnSpPr/>
          <p:nvPr/>
        </p:nvCxnSpPr>
        <p:spPr>
          <a:xfrm flipV="1">
            <a:off x="9694354" y="3657599"/>
            <a:ext cx="29147" cy="30481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7" name="Connector 226"/>
          <p:cNvCxnSpPr/>
          <p:nvPr/>
        </p:nvCxnSpPr>
        <p:spPr>
          <a:xfrm flipV="1">
            <a:off x="9723501" y="3627119"/>
            <a:ext cx="29146" cy="30480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8" name="Connector 227"/>
          <p:cNvCxnSpPr/>
          <p:nvPr/>
        </p:nvCxnSpPr>
        <p:spPr>
          <a:xfrm flipV="1">
            <a:off x="9752647" y="3596639"/>
            <a:ext cx="29147" cy="30480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9" name="Connector 228"/>
          <p:cNvCxnSpPr/>
          <p:nvPr/>
        </p:nvCxnSpPr>
        <p:spPr>
          <a:xfrm flipV="1">
            <a:off x="9781794" y="3566159"/>
            <a:ext cx="29146" cy="30480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0" name="Connector 229"/>
          <p:cNvCxnSpPr/>
          <p:nvPr/>
        </p:nvCxnSpPr>
        <p:spPr>
          <a:xfrm flipV="1">
            <a:off x="9810940" y="3535679"/>
            <a:ext cx="29147" cy="30480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1" name="Connector 230"/>
          <p:cNvCxnSpPr/>
          <p:nvPr/>
        </p:nvCxnSpPr>
        <p:spPr>
          <a:xfrm flipV="1">
            <a:off x="9840087" y="3505199"/>
            <a:ext cx="29146" cy="30480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2" name="Connector 231"/>
          <p:cNvCxnSpPr/>
          <p:nvPr/>
        </p:nvCxnSpPr>
        <p:spPr>
          <a:xfrm flipV="1">
            <a:off x="9869233" y="3474719"/>
            <a:ext cx="29147" cy="30480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3" name="Connector 232"/>
          <p:cNvCxnSpPr/>
          <p:nvPr/>
        </p:nvCxnSpPr>
        <p:spPr>
          <a:xfrm flipV="1">
            <a:off x="9898380" y="3444239"/>
            <a:ext cx="29146" cy="30480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4" name="Connector 233"/>
          <p:cNvCxnSpPr/>
          <p:nvPr/>
        </p:nvCxnSpPr>
        <p:spPr>
          <a:xfrm flipV="1">
            <a:off x="9927526" y="3413759"/>
            <a:ext cx="29147" cy="30480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5" name="Connector 234"/>
          <p:cNvCxnSpPr/>
          <p:nvPr/>
        </p:nvCxnSpPr>
        <p:spPr>
          <a:xfrm flipV="1">
            <a:off x="9956673" y="3383279"/>
            <a:ext cx="29146" cy="30480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6" name="Connector 235"/>
          <p:cNvCxnSpPr/>
          <p:nvPr/>
        </p:nvCxnSpPr>
        <p:spPr>
          <a:xfrm flipV="1">
            <a:off x="9985819" y="3352799"/>
            <a:ext cx="29147" cy="30480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7" name="Connector 236"/>
          <p:cNvCxnSpPr/>
          <p:nvPr/>
        </p:nvCxnSpPr>
        <p:spPr>
          <a:xfrm flipV="1">
            <a:off x="10014966" y="3322319"/>
            <a:ext cx="29146" cy="30480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8" name="Connector 237"/>
          <p:cNvCxnSpPr/>
          <p:nvPr/>
        </p:nvCxnSpPr>
        <p:spPr>
          <a:xfrm flipV="1">
            <a:off x="10044112" y="3291839"/>
            <a:ext cx="29147" cy="30480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9" name="Connector 238"/>
          <p:cNvCxnSpPr/>
          <p:nvPr/>
        </p:nvCxnSpPr>
        <p:spPr>
          <a:xfrm flipV="1">
            <a:off x="10073259" y="3261359"/>
            <a:ext cx="29146" cy="30480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0" name="Connector 239"/>
          <p:cNvCxnSpPr/>
          <p:nvPr/>
        </p:nvCxnSpPr>
        <p:spPr>
          <a:xfrm flipV="1">
            <a:off x="10102405" y="3230879"/>
            <a:ext cx="29147" cy="30480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1" name="Connector 240"/>
          <p:cNvCxnSpPr/>
          <p:nvPr/>
        </p:nvCxnSpPr>
        <p:spPr>
          <a:xfrm flipV="1">
            <a:off x="10131552" y="3200399"/>
            <a:ext cx="29146" cy="30480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2" name="Connector 241"/>
          <p:cNvCxnSpPr/>
          <p:nvPr/>
        </p:nvCxnSpPr>
        <p:spPr>
          <a:xfrm flipV="1">
            <a:off x="10160698" y="3169919"/>
            <a:ext cx="29147" cy="30480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3" name="Connector 242"/>
          <p:cNvCxnSpPr/>
          <p:nvPr/>
        </p:nvCxnSpPr>
        <p:spPr>
          <a:xfrm flipV="1">
            <a:off x="10189845" y="3139439"/>
            <a:ext cx="29146" cy="30480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4" name="Connector 243"/>
          <p:cNvCxnSpPr/>
          <p:nvPr/>
        </p:nvCxnSpPr>
        <p:spPr>
          <a:xfrm flipV="1">
            <a:off x="10218991" y="3108959"/>
            <a:ext cx="29147" cy="30480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5" name="Connector 244"/>
          <p:cNvCxnSpPr/>
          <p:nvPr/>
        </p:nvCxnSpPr>
        <p:spPr>
          <a:xfrm flipV="1">
            <a:off x="10248138" y="3078479"/>
            <a:ext cx="29146" cy="30480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6" name="Connector 245"/>
          <p:cNvCxnSpPr/>
          <p:nvPr/>
        </p:nvCxnSpPr>
        <p:spPr>
          <a:xfrm flipV="1">
            <a:off x="10277284" y="3047999"/>
            <a:ext cx="29147" cy="30480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7" name="Connector 246"/>
          <p:cNvCxnSpPr/>
          <p:nvPr/>
        </p:nvCxnSpPr>
        <p:spPr>
          <a:xfrm flipV="1">
            <a:off x="10306431" y="3017519"/>
            <a:ext cx="29146" cy="30480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8" name="Connector 247"/>
          <p:cNvCxnSpPr/>
          <p:nvPr/>
        </p:nvCxnSpPr>
        <p:spPr>
          <a:xfrm flipV="1">
            <a:off x="10335577" y="2987039"/>
            <a:ext cx="29147" cy="30480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9" name="Connector 248"/>
          <p:cNvCxnSpPr/>
          <p:nvPr/>
        </p:nvCxnSpPr>
        <p:spPr>
          <a:xfrm flipV="1">
            <a:off x="10364724" y="2956559"/>
            <a:ext cx="29146" cy="30480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0" name="Connector 249"/>
          <p:cNvCxnSpPr/>
          <p:nvPr/>
        </p:nvCxnSpPr>
        <p:spPr>
          <a:xfrm flipV="1">
            <a:off x="10393870" y="2926079"/>
            <a:ext cx="29147" cy="30480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1" name="Connector 250"/>
          <p:cNvCxnSpPr/>
          <p:nvPr/>
        </p:nvCxnSpPr>
        <p:spPr>
          <a:xfrm flipV="1">
            <a:off x="10423017" y="2895599"/>
            <a:ext cx="29146" cy="30480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2" name="Connector 251"/>
          <p:cNvCxnSpPr/>
          <p:nvPr/>
        </p:nvCxnSpPr>
        <p:spPr>
          <a:xfrm flipV="1">
            <a:off x="10452163" y="2865119"/>
            <a:ext cx="29147" cy="30480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3" name="Connector 252"/>
          <p:cNvCxnSpPr/>
          <p:nvPr/>
        </p:nvCxnSpPr>
        <p:spPr>
          <a:xfrm flipV="1">
            <a:off x="10481310" y="2834639"/>
            <a:ext cx="29146" cy="30480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4" name="Connector 253"/>
          <p:cNvCxnSpPr/>
          <p:nvPr/>
        </p:nvCxnSpPr>
        <p:spPr>
          <a:xfrm flipV="1">
            <a:off x="10510456" y="2804159"/>
            <a:ext cx="29147" cy="30480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5" name="Connector 254"/>
          <p:cNvCxnSpPr/>
          <p:nvPr/>
        </p:nvCxnSpPr>
        <p:spPr>
          <a:xfrm flipV="1">
            <a:off x="10539603" y="2773679"/>
            <a:ext cx="29146" cy="30480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6" name="Connector 255"/>
          <p:cNvCxnSpPr/>
          <p:nvPr/>
        </p:nvCxnSpPr>
        <p:spPr>
          <a:xfrm flipV="1">
            <a:off x="10568749" y="2743199"/>
            <a:ext cx="29147" cy="30480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7" name="Connector 256"/>
          <p:cNvCxnSpPr/>
          <p:nvPr/>
        </p:nvCxnSpPr>
        <p:spPr>
          <a:xfrm flipV="1">
            <a:off x="10597896" y="2712719"/>
            <a:ext cx="29146" cy="30480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8" name="Connector 257"/>
          <p:cNvCxnSpPr/>
          <p:nvPr/>
        </p:nvCxnSpPr>
        <p:spPr>
          <a:xfrm flipV="1">
            <a:off x="10627042" y="2682239"/>
            <a:ext cx="29146" cy="30480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9" name="Connector 258"/>
          <p:cNvCxnSpPr/>
          <p:nvPr/>
        </p:nvCxnSpPr>
        <p:spPr>
          <a:xfrm flipV="1">
            <a:off x="10656188" y="2651759"/>
            <a:ext cx="29147" cy="30480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0" name="Connector 259"/>
          <p:cNvCxnSpPr/>
          <p:nvPr/>
        </p:nvCxnSpPr>
        <p:spPr>
          <a:xfrm flipV="1">
            <a:off x="10685335" y="2621279"/>
            <a:ext cx="29147" cy="30480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1" name="Connector 260"/>
          <p:cNvCxnSpPr/>
          <p:nvPr/>
        </p:nvCxnSpPr>
        <p:spPr>
          <a:xfrm flipV="1">
            <a:off x="10714482" y="2590799"/>
            <a:ext cx="29146" cy="30480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2" name="Connector 261"/>
          <p:cNvCxnSpPr/>
          <p:nvPr/>
        </p:nvCxnSpPr>
        <p:spPr>
          <a:xfrm flipV="1">
            <a:off x="10743628" y="2560319"/>
            <a:ext cx="29147" cy="30480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3" name="Connector 262"/>
          <p:cNvCxnSpPr/>
          <p:nvPr/>
        </p:nvCxnSpPr>
        <p:spPr>
          <a:xfrm flipV="1">
            <a:off x="10772775" y="2529839"/>
            <a:ext cx="29146" cy="30480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4" name="Connector 263"/>
          <p:cNvCxnSpPr/>
          <p:nvPr/>
        </p:nvCxnSpPr>
        <p:spPr>
          <a:xfrm flipV="1">
            <a:off x="10801921" y="2499359"/>
            <a:ext cx="29146" cy="30480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5" name="Connector 264"/>
          <p:cNvCxnSpPr/>
          <p:nvPr/>
        </p:nvCxnSpPr>
        <p:spPr>
          <a:xfrm flipV="1">
            <a:off x="10831067" y="2468879"/>
            <a:ext cx="29147" cy="30480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6" name="Connector 265"/>
          <p:cNvCxnSpPr/>
          <p:nvPr/>
        </p:nvCxnSpPr>
        <p:spPr>
          <a:xfrm flipV="1">
            <a:off x="10860214" y="2438399"/>
            <a:ext cx="29147" cy="30480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7" name="Connector 266"/>
          <p:cNvCxnSpPr/>
          <p:nvPr/>
        </p:nvCxnSpPr>
        <p:spPr>
          <a:xfrm flipV="1">
            <a:off x="10889361" y="2407919"/>
            <a:ext cx="29146" cy="30480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8" name="Connector 267"/>
          <p:cNvCxnSpPr/>
          <p:nvPr/>
        </p:nvCxnSpPr>
        <p:spPr>
          <a:xfrm flipV="1">
            <a:off x="10918507" y="2377439"/>
            <a:ext cx="29147" cy="30480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9" name="Connector 268"/>
          <p:cNvCxnSpPr/>
          <p:nvPr/>
        </p:nvCxnSpPr>
        <p:spPr>
          <a:xfrm flipV="1">
            <a:off x="10947654" y="2346960"/>
            <a:ext cx="29146" cy="30479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0" name="Connector 269"/>
          <p:cNvCxnSpPr/>
          <p:nvPr/>
        </p:nvCxnSpPr>
        <p:spPr>
          <a:xfrm flipV="1">
            <a:off x="10976800" y="2316479"/>
            <a:ext cx="29147" cy="30481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1" name="Connector 270"/>
          <p:cNvCxnSpPr/>
          <p:nvPr/>
        </p:nvCxnSpPr>
        <p:spPr>
          <a:xfrm flipV="1">
            <a:off x="11005947" y="2285999"/>
            <a:ext cx="29146" cy="30480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2" name="Connector 271"/>
          <p:cNvCxnSpPr/>
          <p:nvPr/>
        </p:nvCxnSpPr>
        <p:spPr>
          <a:xfrm flipV="1">
            <a:off x="11035093" y="2255519"/>
            <a:ext cx="29147" cy="30480"/>
          </a:xfrm>
          <a:prstGeom prst="line">
            <a:avLst/>
          </a:prstGeom>
          <a:ln w="2794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3" name="TextBox 272"/>
          <p:cNvSpPr txBox="1"/>
          <p:nvPr/>
        </p:nvSpPr>
        <p:spPr>
          <a:xfrm>
            <a:off x="8412480" y="1874519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1">
                <a:solidFill>
                  <a:srgbClr val="28B4BE"/>
                </a:solidFill>
                <a:latin typeface="Aptos"/>
              </a:rPr>
              <a:t>tangent at x = 1</a:t>
            </a:r>
          </a:p>
        </p:txBody>
      </p:sp>
      <p:cxnSp>
        <p:nvCxnSpPr>
          <p:cNvPr id="274" name="Connector 273"/>
          <p:cNvCxnSpPr/>
          <p:nvPr/>
        </p:nvCxnSpPr>
        <p:spPr>
          <a:xfrm>
            <a:off x="7333488" y="4639056"/>
            <a:ext cx="0" cy="109727"/>
          </a:xfrm>
          <a:prstGeom prst="line">
            <a:avLst/>
          </a:prstGeom>
          <a:ln w="1397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5" name="TextBox 274"/>
          <p:cNvSpPr txBox="1"/>
          <p:nvPr/>
        </p:nvSpPr>
        <p:spPr>
          <a:xfrm>
            <a:off x="7168896" y="4767072"/>
            <a:ext cx="32918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0B6C0"/>
                </a:solidFill>
                <a:latin typeface="Aptos"/>
              </a:rPr>
              <a:t>-1</a:t>
            </a:r>
          </a:p>
        </p:txBody>
      </p:sp>
      <p:cxnSp>
        <p:nvCxnSpPr>
          <p:cNvPr id="276" name="Connector 275"/>
          <p:cNvCxnSpPr/>
          <p:nvPr/>
        </p:nvCxnSpPr>
        <p:spPr>
          <a:xfrm>
            <a:off x="9198863" y="4639056"/>
            <a:ext cx="0" cy="109727"/>
          </a:xfrm>
          <a:prstGeom prst="line">
            <a:avLst/>
          </a:prstGeom>
          <a:ln w="1397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7" name="TextBox 276"/>
          <p:cNvSpPr txBox="1"/>
          <p:nvPr/>
        </p:nvSpPr>
        <p:spPr>
          <a:xfrm>
            <a:off x="9034272" y="4767072"/>
            <a:ext cx="32918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0B6C0"/>
                </a:solidFill>
                <a:latin typeface="Aptos"/>
              </a:rPr>
              <a:t>1</a:t>
            </a:r>
          </a:p>
        </p:txBody>
      </p:sp>
      <p:cxnSp>
        <p:nvCxnSpPr>
          <p:cNvPr id="278" name="Connector 277"/>
          <p:cNvCxnSpPr/>
          <p:nvPr/>
        </p:nvCxnSpPr>
        <p:spPr>
          <a:xfrm>
            <a:off x="10131552" y="4639056"/>
            <a:ext cx="0" cy="109727"/>
          </a:xfrm>
          <a:prstGeom prst="line">
            <a:avLst/>
          </a:prstGeom>
          <a:ln w="1397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9" name="TextBox 278"/>
          <p:cNvSpPr txBox="1"/>
          <p:nvPr/>
        </p:nvSpPr>
        <p:spPr>
          <a:xfrm>
            <a:off x="9966960" y="4767072"/>
            <a:ext cx="32918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0B6C0"/>
                </a:solidFill>
                <a:latin typeface="Aptos"/>
              </a:rPr>
              <a:t>2</a:t>
            </a:r>
          </a:p>
        </p:txBody>
      </p:sp>
      <p:cxnSp>
        <p:nvCxnSpPr>
          <p:cNvPr id="280" name="Connector 279"/>
          <p:cNvCxnSpPr/>
          <p:nvPr/>
        </p:nvCxnSpPr>
        <p:spPr>
          <a:xfrm>
            <a:off x="8211311" y="4206240"/>
            <a:ext cx="109729" cy="0"/>
          </a:xfrm>
          <a:prstGeom prst="line">
            <a:avLst/>
          </a:prstGeom>
          <a:ln w="1397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1" name="TextBox 280"/>
          <p:cNvSpPr txBox="1"/>
          <p:nvPr/>
        </p:nvSpPr>
        <p:spPr>
          <a:xfrm>
            <a:off x="7845551" y="4105655"/>
            <a:ext cx="3474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0B6C0"/>
                </a:solidFill>
                <a:latin typeface="Aptos"/>
              </a:rPr>
              <a:t>1</a:t>
            </a:r>
          </a:p>
        </p:txBody>
      </p:sp>
      <p:cxnSp>
        <p:nvCxnSpPr>
          <p:cNvPr id="282" name="Connector 281"/>
          <p:cNvCxnSpPr/>
          <p:nvPr/>
        </p:nvCxnSpPr>
        <p:spPr>
          <a:xfrm>
            <a:off x="8211311" y="2743199"/>
            <a:ext cx="109729" cy="0"/>
          </a:xfrm>
          <a:prstGeom prst="line">
            <a:avLst/>
          </a:prstGeom>
          <a:ln w="1397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3" name="TextBox 282"/>
          <p:cNvSpPr txBox="1"/>
          <p:nvPr/>
        </p:nvSpPr>
        <p:spPr>
          <a:xfrm>
            <a:off x="7845551" y="2642615"/>
            <a:ext cx="3474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0B6C0"/>
                </a:solidFill>
                <a:latin typeface="Aptos"/>
              </a:rPr>
              <a:t>4</a:t>
            </a:r>
          </a:p>
        </p:txBody>
      </p:sp>
      <p:sp>
        <p:nvSpPr>
          <p:cNvPr id="284" name="TextBox 283"/>
          <p:cNvSpPr txBox="1"/>
          <p:nvPr/>
        </p:nvSpPr>
        <p:spPr>
          <a:xfrm>
            <a:off x="7973567" y="4767072"/>
            <a:ext cx="23774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0B6C0"/>
                </a:solidFill>
                <a:latin typeface="Aptos"/>
              </a:rPr>
              <a:t>0</a:t>
            </a:r>
          </a:p>
        </p:txBody>
      </p:sp>
      <p:sp>
        <p:nvSpPr>
          <p:cNvPr id="285" name="Oval 284"/>
          <p:cNvSpPr/>
          <p:nvPr/>
        </p:nvSpPr>
        <p:spPr>
          <a:xfrm>
            <a:off x="9148572" y="4155948"/>
            <a:ext cx="100584" cy="100584"/>
          </a:xfrm>
          <a:prstGeom prst="ellipse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TextBox 285"/>
          <p:cNvSpPr txBox="1"/>
          <p:nvPr/>
        </p:nvSpPr>
        <p:spPr>
          <a:xfrm>
            <a:off x="9290303" y="3950207"/>
            <a:ext cx="822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5AD680"/>
                </a:solidFill>
                <a:latin typeface="Aptos"/>
              </a:rPr>
              <a:t>P(1, 1)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How a derivative gives slope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38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Take two nearby points on a curve. Their joining line is a secant.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10" b="1">
                <a:solidFill>
                  <a:srgbClr val="5AC8FF"/>
                </a:solidFill>
                <a:latin typeface="Aptos"/>
              </a:rPr>
              <a:t>average slope = change in y / change in 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Move the second point closer to the first. The secant becomes the tangent.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2724912"/>
            <a:ext cx="11018520" cy="960120"/>
          </a:xfrm>
          <a:prstGeom prst="rect">
            <a:avLst/>
          </a:prstGeom>
          <a:solidFill>
            <a:srgbClr val="FFF8E1"/>
          </a:solidFill>
          <a:ln w="19050">
            <a:solidFill>
              <a:srgbClr val="DA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" y="2871216"/>
            <a:ext cx="10689336" cy="6675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980" b="1">
                <a:solidFill>
                  <a:srgbClr val="081E3F"/>
                </a:solidFill>
                <a:latin typeface="Aptos"/>
              </a:rPr>
              <a:t>dy/dx = lim(Δx→0)  Δy/Δx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4142232"/>
            <a:ext cx="1101852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The derivative tells the instantaneous rate of change.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NOTATION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Ways to write a derivative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160" b="1">
                <a:solidFill>
                  <a:srgbClr val="5AC8FF"/>
                </a:solidFill>
                <a:latin typeface="Aptos"/>
              </a:rPr>
              <a:t>dy/dx     f'(x)     y'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All three mean the derivative of y with respect to x.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10" b="1">
                <a:solidFill>
                  <a:srgbClr val="5AC8FF"/>
                </a:solidFill>
                <a:latin typeface="Aptos"/>
              </a:rPr>
              <a:t>units of derivative = units of y / units of 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724912"/>
            <a:ext cx="1101852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Example: slope of a position-time graph has unit metre per second (m s⁻¹) and represents velocity.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LEARN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Sign of the derivative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40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078992"/>
            <a:ext cx="3657600" cy="658368"/>
          </a:xfrm>
          <a:prstGeom prst="rect">
            <a:avLst/>
          </a:prstGeom>
          <a:solidFill>
            <a:srgbClr val="1C2434"/>
          </a:solidFill>
          <a:ln>
            <a:solidFill>
              <a:srgbClr val="1C2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" y="1078992"/>
            <a:ext cx="3584448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curve behaviour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1960" y="1078992"/>
            <a:ext cx="3657600" cy="658368"/>
          </a:xfrm>
          <a:prstGeom prst="rect">
            <a:avLst/>
          </a:prstGeom>
          <a:solidFill>
            <a:srgbClr val="1C2434"/>
          </a:solidFill>
          <a:ln>
            <a:solidFill>
              <a:srgbClr val="1C2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88536" y="1078992"/>
            <a:ext cx="3584448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tangent slope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09560" y="1078992"/>
            <a:ext cx="3657600" cy="658368"/>
          </a:xfrm>
          <a:prstGeom prst="rect">
            <a:avLst/>
          </a:prstGeom>
          <a:solidFill>
            <a:srgbClr val="1C2434"/>
          </a:solidFill>
          <a:ln>
            <a:solidFill>
              <a:srgbClr val="1C2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46136" y="1078992"/>
            <a:ext cx="3584448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derivative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1737360"/>
            <a:ext cx="3657600" cy="658368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" y="1737360"/>
            <a:ext cx="3584448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5AC8FF"/>
                </a:solidFill>
                <a:latin typeface="Aptos"/>
              </a:rPr>
              <a:t>rising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51960" y="1737360"/>
            <a:ext cx="3657600" cy="658368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88536" y="1737360"/>
            <a:ext cx="3584448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positive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09560" y="1737360"/>
            <a:ext cx="3657600" cy="658368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46136" y="1737360"/>
            <a:ext cx="3584448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dy/dx &gt; 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2395728"/>
            <a:ext cx="3657600" cy="658368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6" y="2395728"/>
            <a:ext cx="3584448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5AC8FF"/>
                </a:solidFill>
                <a:latin typeface="Aptos"/>
              </a:rPr>
              <a:t>falling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51960" y="2395728"/>
            <a:ext cx="3657600" cy="658368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88536" y="2395728"/>
            <a:ext cx="3584448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negative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909560" y="2395728"/>
            <a:ext cx="3657600" cy="658368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46136" y="2395728"/>
            <a:ext cx="3584448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dy/dx &lt; 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" y="3054096"/>
            <a:ext cx="3657600" cy="658368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0936" y="3054096"/>
            <a:ext cx="3584448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5AC8FF"/>
                </a:solidFill>
                <a:latin typeface="Aptos"/>
              </a:rPr>
              <a:t>horizontal tangent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51960" y="3054096"/>
            <a:ext cx="3657600" cy="658368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88536" y="3054096"/>
            <a:ext cx="3584448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zero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909560" y="3054096"/>
            <a:ext cx="3657600" cy="658368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946136" y="3054096"/>
            <a:ext cx="3584448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dy/dx = 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EXACT GRAPHS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Positive, zero and negative slope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Gold curve: y = x². Left side falls, vertex has zero slope, right side rises.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097280" y="5360670"/>
            <a:ext cx="9875520" cy="0"/>
          </a:xfrm>
          <a:prstGeom prst="line">
            <a:avLst/>
          </a:prstGeom>
          <a:ln w="1778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6035040" y="1600200"/>
            <a:ext cx="0" cy="4297680"/>
          </a:xfrm>
          <a:prstGeom prst="line">
            <a:avLst/>
          </a:prstGeom>
          <a:ln w="1778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808208" y="5406390"/>
            <a:ext cx="320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B0B6C0"/>
                </a:solidFill>
                <a:latin typeface="Aptos"/>
              </a:rPr>
              <a:t>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9048" y="1600200"/>
            <a:ext cx="411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B0B6C0"/>
                </a:solidFill>
                <a:latin typeface="Aptos"/>
              </a:rPr>
              <a:t>y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714500" y="1658957"/>
            <a:ext cx="61722" cy="10500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776222" y="1763965"/>
            <a:ext cx="61722" cy="103496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837944" y="1867461"/>
            <a:ext cx="61721" cy="101986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899665" y="1969447"/>
            <a:ext cx="61722" cy="100475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961387" y="2069922"/>
            <a:ext cx="61723" cy="98965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2023110" y="2168887"/>
            <a:ext cx="61722" cy="97453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2084832" y="2266340"/>
            <a:ext cx="61722" cy="9594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2146554" y="2362282"/>
            <a:ext cx="61721" cy="9443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2208275" y="2456714"/>
            <a:ext cx="61723" cy="92920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2269998" y="2549634"/>
            <a:ext cx="61722" cy="91410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2331720" y="2641044"/>
            <a:ext cx="61722" cy="8989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393442" y="2730943"/>
            <a:ext cx="61722" cy="8838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455164" y="2819330"/>
            <a:ext cx="61722" cy="8687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2516886" y="2906207"/>
            <a:ext cx="61722" cy="85366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2578608" y="2991573"/>
            <a:ext cx="61722" cy="83856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2640330" y="3075429"/>
            <a:ext cx="61722" cy="82344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702052" y="3157773"/>
            <a:ext cx="61722" cy="80833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763774" y="3238606"/>
            <a:ext cx="61722" cy="7932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2825496" y="3317928"/>
            <a:ext cx="61722" cy="7781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2887218" y="3395740"/>
            <a:ext cx="61721" cy="7630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2948939" y="3472041"/>
            <a:ext cx="61723" cy="7478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3010662" y="3546830"/>
            <a:ext cx="61722" cy="7327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3072384" y="3620109"/>
            <a:ext cx="61722" cy="7176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3134106" y="3691877"/>
            <a:ext cx="61722" cy="7025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3195828" y="3762134"/>
            <a:ext cx="61722" cy="68746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3257550" y="3830880"/>
            <a:ext cx="61722" cy="67235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3319272" y="3898115"/>
            <a:ext cx="61722" cy="65725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3380994" y="3963840"/>
            <a:ext cx="61722" cy="64213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3442716" y="4028053"/>
            <a:ext cx="61721" cy="6270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3504437" y="4090755"/>
            <a:ext cx="61723" cy="6119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3566160" y="4151947"/>
            <a:ext cx="61722" cy="5968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3627882" y="4211628"/>
            <a:ext cx="61722" cy="5816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3689604" y="4269797"/>
            <a:ext cx="61722" cy="5665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3751326" y="4326456"/>
            <a:ext cx="61722" cy="5514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3813048" y="4381604"/>
            <a:ext cx="61722" cy="5363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3874770" y="4435241"/>
            <a:ext cx="61722" cy="52126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3936492" y="4487367"/>
            <a:ext cx="61721" cy="50616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3998213" y="4537983"/>
            <a:ext cx="61723" cy="49104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4059936" y="4587087"/>
            <a:ext cx="61721" cy="47594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4121657" y="4634681"/>
            <a:ext cx="61723" cy="4608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4183380" y="4680763"/>
            <a:ext cx="61722" cy="4457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4245102" y="4725335"/>
            <a:ext cx="61722" cy="43060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4306824" y="4768395"/>
            <a:ext cx="61722" cy="41550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4368546" y="4809945"/>
            <a:ext cx="61722" cy="4003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4430268" y="4849984"/>
            <a:ext cx="61722" cy="3852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4491990" y="4888512"/>
            <a:ext cx="61722" cy="3701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4553712" y="4925529"/>
            <a:ext cx="61722" cy="3550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4615434" y="4961036"/>
            <a:ext cx="61721" cy="33995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4677155" y="4995031"/>
            <a:ext cx="61723" cy="32484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4738878" y="5027515"/>
            <a:ext cx="61722" cy="30974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4800600" y="5058489"/>
            <a:ext cx="61722" cy="2946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4862322" y="5087951"/>
            <a:ext cx="61722" cy="2795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4924044" y="5115903"/>
            <a:ext cx="61722" cy="2644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4985766" y="5142344"/>
            <a:ext cx="61722" cy="24930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5047488" y="5167274"/>
            <a:ext cx="61722" cy="2341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5109210" y="5190693"/>
            <a:ext cx="61722" cy="2190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5170932" y="5212601"/>
            <a:ext cx="61722" cy="2039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5232654" y="5232998"/>
            <a:ext cx="61722" cy="18886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5294376" y="5251884"/>
            <a:ext cx="61722" cy="17376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5356098" y="5269260"/>
            <a:ext cx="61722" cy="15864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5417820" y="5285124"/>
            <a:ext cx="61722" cy="14354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5479542" y="5299478"/>
            <a:ext cx="61722" cy="12843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5541264" y="5312321"/>
            <a:ext cx="61722" cy="1133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5602986" y="5323652"/>
            <a:ext cx="61722" cy="982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5664708" y="5333473"/>
            <a:ext cx="61722" cy="8310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5726430" y="5341783"/>
            <a:ext cx="61722" cy="679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5788152" y="5348582"/>
            <a:ext cx="61722" cy="528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5849874" y="5353870"/>
            <a:ext cx="61722" cy="377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5911596" y="5357648"/>
            <a:ext cx="61722" cy="2266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5973318" y="5359914"/>
            <a:ext cx="61722" cy="756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V="1">
            <a:off x="6035040" y="5359914"/>
            <a:ext cx="61722" cy="756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V="1">
            <a:off x="6096762" y="5357648"/>
            <a:ext cx="61722" cy="2266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V="1">
            <a:off x="6158484" y="5353870"/>
            <a:ext cx="61722" cy="377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V="1">
            <a:off x="6220206" y="5348582"/>
            <a:ext cx="61722" cy="528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V="1">
            <a:off x="6281928" y="5341783"/>
            <a:ext cx="61722" cy="679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V="1">
            <a:off x="6343650" y="5333473"/>
            <a:ext cx="61722" cy="8310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 flipV="1">
            <a:off x="6405372" y="5323652"/>
            <a:ext cx="61722" cy="982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 flipV="1">
            <a:off x="6467094" y="5312321"/>
            <a:ext cx="61722" cy="1133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 flipV="1">
            <a:off x="6528816" y="5299478"/>
            <a:ext cx="61722" cy="12843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 flipV="1">
            <a:off x="6590538" y="5285124"/>
            <a:ext cx="61722" cy="14354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 flipV="1">
            <a:off x="6652260" y="5269260"/>
            <a:ext cx="61722" cy="15864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 flipV="1">
            <a:off x="6713982" y="5251884"/>
            <a:ext cx="61722" cy="17376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 flipV="1">
            <a:off x="6775704" y="5232998"/>
            <a:ext cx="61722" cy="18886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 flipV="1">
            <a:off x="6837426" y="5212601"/>
            <a:ext cx="61722" cy="2039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 flipV="1">
            <a:off x="6899148" y="5190693"/>
            <a:ext cx="61722" cy="2190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 flipV="1">
            <a:off x="6960870" y="5167274"/>
            <a:ext cx="61722" cy="2341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 flipV="1">
            <a:off x="7022592" y="5142344"/>
            <a:ext cx="61722" cy="24930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V="1">
            <a:off x="7084314" y="5115903"/>
            <a:ext cx="61722" cy="2644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V="1">
            <a:off x="7146036" y="5087951"/>
            <a:ext cx="61722" cy="2795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V="1">
            <a:off x="7207758" y="5058489"/>
            <a:ext cx="61722" cy="2946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V="1">
            <a:off x="7269480" y="5027515"/>
            <a:ext cx="61722" cy="30974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V="1">
            <a:off x="7331202" y="4995031"/>
            <a:ext cx="61722" cy="32484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V="1">
            <a:off x="7392924" y="4961036"/>
            <a:ext cx="61722" cy="33995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V="1">
            <a:off x="7454646" y="4925529"/>
            <a:ext cx="61722" cy="3550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7516368" y="4888512"/>
            <a:ext cx="61722" cy="3701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7578090" y="4849984"/>
            <a:ext cx="61722" cy="3852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7639812" y="4809945"/>
            <a:ext cx="61722" cy="4003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 flipV="1">
            <a:off x="7701534" y="4768395"/>
            <a:ext cx="61722" cy="41550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 flipV="1">
            <a:off x="7763256" y="4725335"/>
            <a:ext cx="61722" cy="43060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 flipV="1">
            <a:off x="7824978" y="4680763"/>
            <a:ext cx="61722" cy="4457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 flipV="1">
            <a:off x="7886700" y="4634681"/>
            <a:ext cx="61721" cy="4608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 flipV="1">
            <a:off x="7948421" y="4587087"/>
            <a:ext cx="61723" cy="47594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 flipV="1">
            <a:off x="8010144" y="4537983"/>
            <a:ext cx="61722" cy="49104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 flipV="1">
            <a:off x="8071866" y="4487367"/>
            <a:ext cx="61722" cy="50616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 flipV="1">
            <a:off x="8133588" y="4435241"/>
            <a:ext cx="61722" cy="52126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 flipV="1">
            <a:off x="8195310" y="4381604"/>
            <a:ext cx="61721" cy="5363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 flipV="1">
            <a:off x="8257031" y="4326456"/>
            <a:ext cx="61723" cy="5514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 flipV="1">
            <a:off x="8318754" y="4269797"/>
            <a:ext cx="61721" cy="5665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 flipV="1">
            <a:off x="8380475" y="4211628"/>
            <a:ext cx="61723" cy="5816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 flipV="1">
            <a:off x="8442198" y="4151947"/>
            <a:ext cx="61721" cy="5968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 flipV="1">
            <a:off x="8503919" y="4090755"/>
            <a:ext cx="61723" cy="6119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 flipV="1">
            <a:off x="8565642" y="4028053"/>
            <a:ext cx="61722" cy="6270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 flipV="1">
            <a:off x="8627364" y="3963840"/>
            <a:ext cx="61722" cy="64213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 flipV="1">
            <a:off x="8689086" y="3898115"/>
            <a:ext cx="61722" cy="65725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 flipV="1">
            <a:off x="8750808" y="3830880"/>
            <a:ext cx="61722" cy="67235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 flipV="1">
            <a:off x="8812530" y="3762134"/>
            <a:ext cx="61722" cy="68746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 flipV="1">
            <a:off x="8874252" y="3691877"/>
            <a:ext cx="61722" cy="7025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 flipV="1">
            <a:off x="8935974" y="3620109"/>
            <a:ext cx="61722" cy="7176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 flipV="1">
            <a:off x="8997696" y="3546830"/>
            <a:ext cx="61722" cy="7327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 flipV="1">
            <a:off x="9059418" y="3472041"/>
            <a:ext cx="61722" cy="7478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 flipV="1">
            <a:off x="9121140" y="3395740"/>
            <a:ext cx="61721" cy="7630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 flipV="1">
            <a:off x="9182861" y="3317928"/>
            <a:ext cx="61723" cy="7781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 flipV="1">
            <a:off x="9244584" y="3238606"/>
            <a:ext cx="61722" cy="7932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 flipV="1">
            <a:off x="9306306" y="3157773"/>
            <a:ext cx="61722" cy="80833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 flipV="1">
            <a:off x="9368028" y="3075429"/>
            <a:ext cx="61722" cy="82344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 flipV="1">
            <a:off x="9429750" y="2991573"/>
            <a:ext cx="61722" cy="83856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 flipV="1">
            <a:off x="9491472" y="2906207"/>
            <a:ext cx="61722" cy="85366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 flipV="1">
            <a:off x="9553194" y="2819330"/>
            <a:ext cx="61721" cy="8687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 flipV="1">
            <a:off x="9614915" y="2730943"/>
            <a:ext cx="61723" cy="8838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 flipV="1">
            <a:off x="9676638" y="2641044"/>
            <a:ext cx="61722" cy="8989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 flipV="1">
            <a:off x="9738360" y="2549634"/>
            <a:ext cx="61722" cy="91410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 flipV="1">
            <a:off x="9800082" y="2456714"/>
            <a:ext cx="61722" cy="92920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 flipV="1">
            <a:off x="9861804" y="2362282"/>
            <a:ext cx="61722" cy="9443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 flipV="1">
            <a:off x="9923526" y="2266340"/>
            <a:ext cx="61722" cy="9594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 flipV="1">
            <a:off x="9985248" y="2168887"/>
            <a:ext cx="61721" cy="97453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 flipV="1">
            <a:off x="10046969" y="2069922"/>
            <a:ext cx="61723" cy="98965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 flipV="1">
            <a:off x="10108692" y="1969447"/>
            <a:ext cx="61722" cy="100475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 flipV="1">
            <a:off x="10170414" y="1867461"/>
            <a:ext cx="61722" cy="101986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 flipV="1">
            <a:off x="10232136" y="1763965"/>
            <a:ext cx="61722" cy="103496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 flipV="1">
            <a:off x="10293858" y="1658957"/>
            <a:ext cx="61722" cy="10500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2" name="TextBox 151"/>
          <p:cNvSpPr txBox="1"/>
          <p:nvPr/>
        </p:nvSpPr>
        <p:spPr>
          <a:xfrm>
            <a:off x="1645920" y="2743200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1">
                <a:solidFill>
                  <a:srgbClr val="FF6060"/>
                </a:solidFill>
                <a:latin typeface="Aptos"/>
              </a:rPr>
              <a:t>negative slope</a:t>
            </a:r>
          </a:p>
        </p:txBody>
      </p:sp>
      <p:sp>
        <p:nvSpPr>
          <p:cNvPr id="153" name="Oval 152"/>
          <p:cNvSpPr/>
          <p:nvPr/>
        </p:nvSpPr>
        <p:spPr>
          <a:xfrm>
            <a:off x="5984748" y="5310378"/>
            <a:ext cx="100584" cy="100584"/>
          </a:xfrm>
          <a:prstGeom prst="ellipse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6144768" y="5452109"/>
            <a:ext cx="822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5AD680"/>
                </a:solidFill>
                <a:latin typeface="Aptos"/>
              </a:rPr>
              <a:t>(0, 0)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5897880" y="4919472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1">
                <a:solidFill>
                  <a:srgbClr val="5AD680"/>
                </a:solidFill>
                <a:latin typeface="Aptos"/>
              </a:rPr>
              <a:t>slope = 0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8595360" y="2743200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1">
                <a:solidFill>
                  <a:srgbClr val="28B4BE"/>
                </a:solidFill>
                <a:latin typeface="Aptos"/>
              </a:rPr>
              <a:t>positive slope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B0B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ROUGH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80" b="1">
                <a:solidFill>
                  <a:srgbClr val="FFD646"/>
                </a:solidFill>
                <a:latin typeface="Aptos"/>
              </a:rPr>
              <a:t>Rough work  /  extra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TURNING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Maximum and minimum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43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At a smooth turning point, the tangent is horizontal.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627631"/>
            <a:ext cx="11018520" cy="868680"/>
          </a:xfrm>
          <a:prstGeom prst="rect">
            <a:avLst/>
          </a:prstGeom>
          <a:solidFill>
            <a:srgbClr val="FFF8E1"/>
          </a:solidFill>
          <a:ln w="19050">
            <a:solidFill>
              <a:srgbClr val="DA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1773935"/>
            <a:ext cx="10689336" cy="5760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70" b="1">
                <a:solidFill>
                  <a:srgbClr val="081E3F"/>
                </a:solidFill>
                <a:latin typeface="Aptos"/>
              </a:rPr>
              <a:t>At a stationary point: dy/dx = 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980944"/>
            <a:ext cx="1101852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Minimum: derivative changes from negative to positive.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529584"/>
            <a:ext cx="1101852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Maximum: derivative changes from positive to negative.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Match slope at points A, B, C and D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44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51206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9E40"/>
                </a:solidFill>
                <a:latin typeface="Aptos"/>
              </a:rPr>
              <a:t>State the sign of the slope at A, B, C and D.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400800" y="4415245"/>
            <a:ext cx="4663440" cy="0"/>
          </a:xfrm>
          <a:prstGeom prst="line">
            <a:avLst/>
          </a:prstGeom>
          <a:ln w="1778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8149590" y="1280160"/>
            <a:ext cx="0" cy="4389119"/>
          </a:xfrm>
          <a:prstGeom prst="line">
            <a:avLst/>
          </a:prstGeom>
          <a:ln w="1778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899648" y="4460965"/>
            <a:ext cx="320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B0B6C0"/>
                </a:solidFill>
                <a:latin typeface="Aptos"/>
              </a:rPr>
              <a:t>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13598" y="1280160"/>
            <a:ext cx="411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B0B6C0"/>
                </a:solidFill>
                <a:latin typeface="Aptos"/>
              </a:rPr>
              <a:t>y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6400800" y="4352935"/>
            <a:ext cx="29146" cy="62310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6429946" y="4291409"/>
            <a:ext cx="29147" cy="61526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6459093" y="4230667"/>
            <a:ext cx="29146" cy="6074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6488239" y="4170709"/>
            <a:ext cx="29147" cy="5995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6517386" y="4111534"/>
            <a:ext cx="29146" cy="59175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6546532" y="4053143"/>
            <a:ext cx="29147" cy="5839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6575679" y="3995536"/>
            <a:ext cx="29146" cy="5760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6604825" y="3938712"/>
            <a:ext cx="29147" cy="56824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6633972" y="3882673"/>
            <a:ext cx="29146" cy="5603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6663118" y="3827417"/>
            <a:ext cx="29147" cy="55256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6692265" y="3772945"/>
            <a:ext cx="29146" cy="5447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6721411" y="3719256"/>
            <a:ext cx="29147" cy="5368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6750558" y="3666352"/>
            <a:ext cx="29146" cy="52904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6779704" y="3614231"/>
            <a:ext cx="29147" cy="5212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6808851" y="3562894"/>
            <a:ext cx="29146" cy="5133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6837997" y="3512341"/>
            <a:ext cx="29147" cy="50553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6867144" y="3462571"/>
            <a:ext cx="29146" cy="49770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6896290" y="3413585"/>
            <a:ext cx="29147" cy="48986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6925437" y="3365383"/>
            <a:ext cx="29146" cy="4820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6954583" y="3317965"/>
            <a:ext cx="29147" cy="4741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6983730" y="3271331"/>
            <a:ext cx="29146" cy="46634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7012876" y="3225480"/>
            <a:ext cx="29147" cy="4585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7042023" y="3180413"/>
            <a:ext cx="29146" cy="4506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7071169" y="3136130"/>
            <a:ext cx="29147" cy="44283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7100316" y="3092631"/>
            <a:ext cx="29146" cy="4349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7129462" y="3049915"/>
            <a:ext cx="29147" cy="42716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7158609" y="3007984"/>
            <a:ext cx="29146" cy="4193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7187755" y="2966836"/>
            <a:ext cx="29147" cy="4114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7216902" y="2926471"/>
            <a:ext cx="29146" cy="40365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7246048" y="2886891"/>
            <a:ext cx="29147" cy="39580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7275195" y="2848094"/>
            <a:ext cx="29146" cy="3879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7304341" y="2810081"/>
            <a:ext cx="29147" cy="38013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7333488" y="2772852"/>
            <a:ext cx="29146" cy="3722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7362634" y="2736407"/>
            <a:ext cx="29147" cy="36445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7391781" y="2700745"/>
            <a:ext cx="29146" cy="3566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7420927" y="2665867"/>
            <a:ext cx="29147" cy="3487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7450074" y="2631773"/>
            <a:ext cx="29146" cy="34094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7479220" y="2598463"/>
            <a:ext cx="29147" cy="33310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7508367" y="2565937"/>
            <a:ext cx="29146" cy="32526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7537513" y="2534194"/>
            <a:ext cx="29147" cy="31743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7566660" y="2503235"/>
            <a:ext cx="29146" cy="3095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7595806" y="2473060"/>
            <a:ext cx="29146" cy="30175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7624952" y="2443668"/>
            <a:ext cx="29147" cy="2939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7654099" y="2415061"/>
            <a:ext cx="29147" cy="2860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7683246" y="2387237"/>
            <a:ext cx="29146" cy="27824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7712392" y="2360197"/>
            <a:ext cx="29147" cy="27040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7741539" y="2333940"/>
            <a:ext cx="29146" cy="2625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7770685" y="2308468"/>
            <a:ext cx="29146" cy="2547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7799831" y="2283779"/>
            <a:ext cx="29147" cy="2468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7828978" y="2259874"/>
            <a:ext cx="29147" cy="23905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7858125" y="2236753"/>
            <a:ext cx="29146" cy="2312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7887271" y="2214415"/>
            <a:ext cx="29147" cy="2233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7916418" y="2192861"/>
            <a:ext cx="29146" cy="21554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7945564" y="2172091"/>
            <a:ext cx="29147" cy="20770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7974711" y="2152105"/>
            <a:ext cx="29146" cy="19986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8003857" y="2132903"/>
            <a:ext cx="29147" cy="1920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8033004" y="2114484"/>
            <a:ext cx="29146" cy="1841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8062150" y="2096849"/>
            <a:ext cx="29146" cy="17635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8091296" y="2079998"/>
            <a:ext cx="29147" cy="1685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8120443" y="2063931"/>
            <a:ext cx="29147" cy="1606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8149590" y="2048647"/>
            <a:ext cx="29146" cy="15284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8178736" y="2034148"/>
            <a:ext cx="29147" cy="1449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8207883" y="2020432"/>
            <a:ext cx="29146" cy="13716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8237029" y="2007499"/>
            <a:ext cx="29146" cy="12933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8266175" y="1995351"/>
            <a:ext cx="29147" cy="1214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8295322" y="1983986"/>
            <a:ext cx="29147" cy="11365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8324469" y="1973405"/>
            <a:ext cx="29146" cy="1058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8353615" y="1963608"/>
            <a:ext cx="29147" cy="979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8382762" y="1954595"/>
            <a:ext cx="29146" cy="9013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8411908" y="1946365"/>
            <a:ext cx="29147" cy="8230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V="1">
            <a:off x="8441055" y="1938919"/>
            <a:ext cx="29146" cy="7446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V="1">
            <a:off x="8470201" y="1932257"/>
            <a:ext cx="29147" cy="666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V="1">
            <a:off x="8499348" y="1926379"/>
            <a:ext cx="29146" cy="587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V="1">
            <a:off x="8528494" y="1921285"/>
            <a:ext cx="29147" cy="5094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V="1">
            <a:off x="8557641" y="1916974"/>
            <a:ext cx="29146" cy="431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V="1">
            <a:off x="8586787" y="1913447"/>
            <a:ext cx="29147" cy="352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 flipV="1">
            <a:off x="8615934" y="1910704"/>
            <a:ext cx="29146" cy="2743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 flipV="1">
            <a:off x="8645080" y="1908744"/>
            <a:ext cx="29147" cy="1960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 flipV="1">
            <a:off x="8674227" y="1907569"/>
            <a:ext cx="29146" cy="1175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 flipV="1">
            <a:off x="8703373" y="1907177"/>
            <a:ext cx="29147" cy="39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8732520" y="1907177"/>
            <a:ext cx="29146" cy="39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8761666" y="1907569"/>
            <a:ext cx="29147" cy="1175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8790813" y="1908744"/>
            <a:ext cx="29146" cy="1960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8819959" y="1910704"/>
            <a:ext cx="29147" cy="2743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8849106" y="1913447"/>
            <a:ext cx="29146" cy="352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8878252" y="1916974"/>
            <a:ext cx="29147" cy="431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8907399" y="1921285"/>
            <a:ext cx="29146" cy="5094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8936545" y="1926379"/>
            <a:ext cx="29147" cy="587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8965692" y="1932257"/>
            <a:ext cx="29146" cy="666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>
            <a:off x="8994838" y="1938919"/>
            <a:ext cx="29147" cy="7446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9023985" y="1946365"/>
            <a:ext cx="29146" cy="8230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9053131" y="1954595"/>
            <a:ext cx="29147" cy="9013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>
            <a:off x="9082278" y="1963608"/>
            <a:ext cx="29146" cy="979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>
            <a:off x="9111424" y="1973405"/>
            <a:ext cx="29147" cy="1058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>
            <a:off x="9140571" y="1983986"/>
            <a:ext cx="29146" cy="11365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>
            <a:off x="9169717" y="1995351"/>
            <a:ext cx="29146" cy="1214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>
            <a:off x="9198863" y="2007499"/>
            <a:ext cx="29147" cy="12933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>
            <a:off x="9228010" y="2020432"/>
            <a:ext cx="29147" cy="13716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>
            <a:off x="9257157" y="2034148"/>
            <a:ext cx="29146" cy="1449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>
            <a:off x="9286303" y="2048647"/>
            <a:ext cx="29147" cy="15284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>
            <a:off x="9315450" y="2063931"/>
            <a:ext cx="29146" cy="1606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>
            <a:off x="9344596" y="2079998"/>
            <a:ext cx="29146" cy="1685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>
            <a:off x="9373742" y="2096849"/>
            <a:ext cx="29147" cy="17635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>
            <a:off x="9402889" y="2114484"/>
            <a:ext cx="29147" cy="1841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>
            <a:off x="9432036" y="2132903"/>
            <a:ext cx="29146" cy="1920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>
            <a:off x="9461182" y="2152105"/>
            <a:ext cx="29147" cy="19986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>
            <a:off x="9490329" y="2172091"/>
            <a:ext cx="29146" cy="20770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>
            <a:off x="9519475" y="2192861"/>
            <a:ext cx="29147" cy="21554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>
            <a:off x="9548622" y="2214415"/>
            <a:ext cx="29146" cy="2233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>
            <a:off x="9577768" y="2236753"/>
            <a:ext cx="29147" cy="2312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>
            <a:off x="9606915" y="2259874"/>
            <a:ext cx="29146" cy="23905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>
            <a:off x="9636061" y="2283779"/>
            <a:ext cx="29147" cy="2468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>
            <a:off x="9665208" y="2308468"/>
            <a:ext cx="29146" cy="2547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>
            <a:off x="9694354" y="2333940"/>
            <a:ext cx="29147" cy="2625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>
            <a:off x="9723501" y="2360197"/>
            <a:ext cx="29146" cy="27040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>
            <a:off x="9752647" y="2387237"/>
            <a:ext cx="29147" cy="27824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>
            <a:off x="9781794" y="2415061"/>
            <a:ext cx="29146" cy="2860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>
            <a:off x="9810940" y="2443668"/>
            <a:ext cx="29147" cy="2939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>
            <a:off x="9840087" y="2473060"/>
            <a:ext cx="29146" cy="30175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>
            <a:off x="9869233" y="2503235"/>
            <a:ext cx="29147" cy="3095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>
            <a:off x="9898380" y="2534194"/>
            <a:ext cx="29146" cy="31743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>
            <a:off x="9927526" y="2565937"/>
            <a:ext cx="29147" cy="32526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>
            <a:off x="9956673" y="2598463"/>
            <a:ext cx="29146" cy="33310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>
            <a:off x="9985819" y="2631773"/>
            <a:ext cx="29147" cy="34094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>
            <a:off x="10014966" y="2665867"/>
            <a:ext cx="29146" cy="3487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>
            <a:off x="10044112" y="2700745"/>
            <a:ext cx="29147" cy="3566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>
            <a:off x="10073259" y="2736407"/>
            <a:ext cx="29146" cy="36445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>
            <a:off x="10102405" y="2772852"/>
            <a:ext cx="29147" cy="3722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>
            <a:off x="10131552" y="2810081"/>
            <a:ext cx="29146" cy="38013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>
            <a:off x="10160698" y="2848094"/>
            <a:ext cx="29147" cy="3879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>
            <a:off x="10189845" y="2886891"/>
            <a:ext cx="29146" cy="39580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>
            <a:off x="10218991" y="2926471"/>
            <a:ext cx="29147" cy="40365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>
            <a:off x="10248138" y="2966836"/>
            <a:ext cx="29146" cy="4114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>
            <a:off x="10277284" y="3007984"/>
            <a:ext cx="29147" cy="4193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>
            <a:off x="10306431" y="3049915"/>
            <a:ext cx="29146" cy="42716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>
            <a:off x="10335577" y="3092631"/>
            <a:ext cx="29147" cy="4349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>
            <a:off x="10364724" y="3136130"/>
            <a:ext cx="29146" cy="44283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>
            <a:off x="10393870" y="3180413"/>
            <a:ext cx="29147" cy="4506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>
            <a:off x="10423017" y="3225480"/>
            <a:ext cx="29146" cy="4585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>
            <a:off x="10452163" y="3271331"/>
            <a:ext cx="29146" cy="46634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>
            <a:off x="10481309" y="3317965"/>
            <a:ext cx="29147" cy="4741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 152"/>
          <p:cNvCxnSpPr/>
          <p:nvPr/>
        </p:nvCxnSpPr>
        <p:spPr>
          <a:xfrm>
            <a:off x="10510456" y="3365383"/>
            <a:ext cx="29147" cy="4820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>
            <a:off x="10539603" y="3413585"/>
            <a:ext cx="29146" cy="48986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>
            <a:off x="10568749" y="3462571"/>
            <a:ext cx="29147" cy="49770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>
            <a:off x="10597896" y="3512341"/>
            <a:ext cx="29146" cy="50553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 156"/>
          <p:cNvCxnSpPr/>
          <p:nvPr/>
        </p:nvCxnSpPr>
        <p:spPr>
          <a:xfrm>
            <a:off x="10627042" y="3562894"/>
            <a:ext cx="29146" cy="5133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or 157"/>
          <p:cNvCxnSpPr/>
          <p:nvPr/>
        </p:nvCxnSpPr>
        <p:spPr>
          <a:xfrm>
            <a:off x="10656188" y="3614231"/>
            <a:ext cx="29147" cy="5212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Connector 158"/>
          <p:cNvCxnSpPr/>
          <p:nvPr/>
        </p:nvCxnSpPr>
        <p:spPr>
          <a:xfrm>
            <a:off x="10685335" y="3666352"/>
            <a:ext cx="29147" cy="52904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 159"/>
          <p:cNvCxnSpPr/>
          <p:nvPr/>
        </p:nvCxnSpPr>
        <p:spPr>
          <a:xfrm>
            <a:off x="10714482" y="3719256"/>
            <a:ext cx="29146" cy="5368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Connector 160"/>
          <p:cNvCxnSpPr/>
          <p:nvPr/>
        </p:nvCxnSpPr>
        <p:spPr>
          <a:xfrm>
            <a:off x="10743628" y="3772945"/>
            <a:ext cx="29147" cy="5447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Connector 161"/>
          <p:cNvCxnSpPr/>
          <p:nvPr/>
        </p:nvCxnSpPr>
        <p:spPr>
          <a:xfrm>
            <a:off x="10772775" y="3827417"/>
            <a:ext cx="29146" cy="55256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Connector 162"/>
          <p:cNvCxnSpPr/>
          <p:nvPr/>
        </p:nvCxnSpPr>
        <p:spPr>
          <a:xfrm>
            <a:off x="10801921" y="3882673"/>
            <a:ext cx="29146" cy="56039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Connector 163"/>
          <p:cNvCxnSpPr/>
          <p:nvPr/>
        </p:nvCxnSpPr>
        <p:spPr>
          <a:xfrm>
            <a:off x="10831067" y="3938712"/>
            <a:ext cx="29147" cy="56824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 164"/>
          <p:cNvCxnSpPr/>
          <p:nvPr/>
        </p:nvCxnSpPr>
        <p:spPr>
          <a:xfrm>
            <a:off x="10860214" y="3995536"/>
            <a:ext cx="29147" cy="57607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Connector 165"/>
          <p:cNvCxnSpPr/>
          <p:nvPr/>
        </p:nvCxnSpPr>
        <p:spPr>
          <a:xfrm>
            <a:off x="10889361" y="4053143"/>
            <a:ext cx="29146" cy="58391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Connector 166"/>
          <p:cNvCxnSpPr/>
          <p:nvPr/>
        </p:nvCxnSpPr>
        <p:spPr>
          <a:xfrm>
            <a:off x="10918507" y="4111534"/>
            <a:ext cx="29147" cy="59175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Connector 167"/>
          <p:cNvCxnSpPr/>
          <p:nvPr/>
        </p:nvCxnSpPr>
        <p:spPr>
          <a:xfrm>
            <a:off x="10947654" y="4170709"/>
            <a:ext cx="29146" cy="59958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Connector 168"/>
          <p:cNvCxnSpPr/>
          <p:nvPr/>
        </p:nvCxnSpPr>
        <p:spPr>
          <a:xfrm>
            <a:off x="10976800" y="4230667"/>
            <a:ext cx="29147" cy="60742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Connector 169"/>
          <p:cNvCxnSpPr/>
          <p:nvPr/>
        </p:nvCxnSpPr>
        <p:spPr>
          <a:xfrm>
            <a:off x="11005947" y="4291409"/>
            <a:ext cx="29146" cy="61526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Connector 170"/>
          <p:cNvCxnSpPr/>
          <p:nvPr/>
        </p:nvCxnSpPr>
        <p:spPr>
          <a:xfrm>
            <a:off x="11035093" y="4352935"/>
            <a:ext cx="29147" cy="62310"/>
          </a:xfrm>
          <a:prstGeom prst="line">
            <a:avLst/>
          </a:prstGeom>
          <a:ln w="27940">
            <a:solidFill>
              <a:srgbClr val="FFD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2" name="Oval 171"/>
          <p:cNvSpPr/>
          <p:nvPr/>
        </p:nvSpPr>
        <p:spPr>
          <a:xfrm>
            <a:off x="6933438" y="3267673"/>
            <a:ext cx="100584" cy="100584"/>
          </a:xfrm>
          <a:prstGeom prst="ellipse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TextBox 172"/>
          <p:cNvSpPr txBox="1"/>
          <p:nvPr/>
        </p:nvSpPr>
        <p:spPr>
          <a:xfrm>
            <a:off x="7075170" y="3080221"/>
            <a:ext cx="822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5AD680"/>
                </a:solidFill>
                <a:latin typeface="Aptos"/>
              </a:rPr>
              <a:t>A</a:t>
            </a:r>
          </a:p>
        </p:txBody>
      </p:sp>
      <p:sp>
        <p:nvSpPr>
          <p:cNvPr id="174" name="Oval 173"/>
          <p:cNvSpPr/>
          <p:nvPr/>
        </p:nvSpPr>
        <p:spPr>
          <a:xfrm>
            <a:off x="7807833" y="2209582"/>
            <a:ext cx="100584" cy="100584"/>
          </a:xfrm>
          <a:prstGeom prst="ellipse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TextBox 174"/>
          <p:cNvSpPr txBox="1"/>
          <p:nvPr/>
        </p:nvSpPr>
        <p:spPr>
          <a:xfrm>
            <a:off x="7949565" y="2022130"/>
            <a:ext cx="822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5AD680"/>
                </a:solidFill>
                <a:latin typeface="Aptos"/>
              </a:rPr>
              <a:t>B</a:t>
            </a:r>
          </a:p>
        </p:txBody>
      </p:sp>
      <p:sp>
        <p:nvSpPr>
          <p:cNvPr id="176" name="Oval 175"/>
          <p:cNvSpPr/>
          <p:nvPr/>
        </p:nvSpPr>
        <p:spPr>
          <a:xfrm>
            <a:off x="8682228" y="1856885"/>
            <a:ext cx="100584" cy="100584"/>
          </a:xfrm>
          <a:prstGeom prst="ellipse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TextBox 176"/>
          <p:cNvSpPr txBox="1"/>
          <p:nvPr/>
        </p:nvSpPr>
        <p:spPr>
          <a:xfrm>
            <a:off x="8823960" y="1669433"/>
            <a:ext cx="822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5AD680"/>
                </a:solidFill>
                <a:latin typeface="Aptos"/>
              </a:rPr>
              <a:t>C</a:t>
            </a:r>
          </a:p>
        </p:txBody>
      </p:sp>
      <p:sp>
        <p:nvSpPr>
          <p:cNvPr id="178" name="Oval 177"/>
          <p:cNvSpPr/>
          <p:nvPr/>
        </p:nvSpPr>
        <p:spPr>
          <a:xfrm>
            <a:off x="10139553" y="2836599"/>
            <a:ext cx="100584" cy="100584"/>
          </a:xfrm>
          <a:prstGeom prst="ellipse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TextBox 178"/>
          <p:cNvSpPr txBox="1"/>
          <p:nvPr/>
        </p:nvSpPr>
        <p:spPr>
          <a:xfrm>
            <a:off x="10281285" y="2649147"/>
            <a:ext cx="822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5AD680"/>
                </a:solidFill>
                <a:latin typeface="Aptos"/>
              </a:rPr>
              <a:t>D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Match slope at points A, B, C and D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45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5AC8FF"/>
                </a:solidFill>
                <a:latin typeface="Aptos"/>
              </a:rPr>
              <a:t>Step 1:  A: positive slope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5AC8FF"/>
                </a:solidFill>
                <a:latin typeface="Aptos"/>
              </a:rPr>
              <a:t>Step 2:  B: positive slope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10" b="1">
                <a:solidFill>
                  <a:srgbClr val="5AC8FF"/>
                </a:solidFill>
                <a:latin typeface="Aptos"/>
              </a:rPr>
              <a:t>Step 3:  C: zero slope because tangent is horizontal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72491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5AC8FF"/>
                </a:solidFill>
                <a:latin typeface="Aptos"/>
              </a:rPr>
              <a:t>Step 4:  D: negative slope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273552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5AD680"/>
                </a:solidFill>
                <a:latin typeface="Aptos"/>
              </a:rPr>
              <a:t>A positive, B positive, C zero, D negative.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BASIC RULE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Power rule for differentiation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46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078992"/>
            <a:ext cx="11018520" cy="914400"/>
          </a:xfrm>
          <a:prstGeom prst="rect">
            <a:avLst/>
          </a:prstGeom>
          <a:solidFill>
            <a:srgbClr val="FFF8E1"/>
          </a:solidFill>
          <a:ln w="19050">
            <a:solidFill>
              <a:srgbClr val="DA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225295"/>
            <a:ext cx="10689336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81E3F"/>
                </a:solidFill>
                <a:latin typeface="Aptos"/>
              </a:rPr>
              <a:t>For constant n, where defined: if y = xⁿ, then dy/dx = n xⁿ⁻¹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89" b="1">
                <a:solidFill>
                  <a:srgbClr val="5AC8FF"/>
                </a:solidFill>
                <a:latin typeface="Aptos"/>
              </a:rPr>
              <a:t>d(x²)/dx = 2x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72491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89" b="1">
                <a:solidFill>
                  <a:srgbClr val="5AC8FF"/>
                </a:solidFill>
                <a:latin typeface="Aptos"/>
              </a:rPr>
              <a:t>d(x³)/dx = 3x²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273551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89" b="1">
                <a:solidFill>
                  <a:srgbClr val="5AC8FF"/>
                </a:solidFill>
                <a:latin typeface="Aptos"/>
              </a:rPr>
              <a:t>d(constant)/dx = 0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Differentiate y = x²+3x-4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47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9E40"/>
                </a:solidFill>
                <a:latin typeface="Aptos"/>
              </a:rPr>
              <a:t>Find dy/dx and the slope at x = 2.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Differentiate y = x²+3x-4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48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5AC8FF"/>
                </a:solidFill>
                <a:latin typeface="Aptos"/>
              </a:rPr>
              <a:t>Step 1:  d(x²)/dx = 2x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10" b="1">
                <a:solidFill>
                  <a:srgbClr val="5AC8FF"/>
                </a:solidFill>
                <a:latin typeface="Aptos"/>
              </a:rPr>
              <a:t>Step 2:  d(3x)/dx = 3 and d(-4)/dx = 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89" b="1">
                <a:solidFill>
                  <a:srgbClr val="5AC8FF"/>
                </a:solidFill>
                <a:latin typeface="Aptos"/>
              </a:rPr>
              <a:t>Step 3:  dy/dx = 2x+3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72491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5AC8FF"/>
                </a:solidFill>
                <a:latin typeface="Aptos"/>
              </a:rPr>
              <a:t>Step 4:  At x = 2: slope = 2(2)+3 = 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273552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80" b="1">
                <a:solidFill>
                  <a:srgbClr val="5AD680"/>
                </a:solidFill>
                <a:latin typeface="Aptos"/>
              </a:rPr>
              <a:t>Slope at x = 2 is 7.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B0B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ROUGH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80" b="1">
                <a:solidFill>
                  <a:srgbClr val="FFD646"/>
                </a:solidFill>
                <a:latin typeface="Aptos"/>
              </a:rPr>
              <a:t>Rough work  /  extra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49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Quadratic roots: x²+7x+12 = 0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9E40"/>
                </a:solidFill>
                <a:latin typeface="Aptos"/>
              </a:rPr>
              <a:t>Find both roots by factorisation.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Quadratic roots: x²+7x+12 = 0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51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1:  Find two numbers with product 12 and sum 7: 3 and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5AC8FF"/>
                </a:solidFill>
                <a:latin typeface="Aptos"/>
              </a:rPr>
              <a:t>Step 2:  x²+7x+12 = (x+3)(x+4)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5AC8FF"/>
                </a:solidFill>
                <a:latin typeface="Aptos"/>
              </a:rPr>
              <a:t>Step 3:  (x+3)(x+4) = 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724912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80" b="1">
                <a:solidFill>
                  <a:srgbClr val="5AD680"/>
                </a:solidFill>
                <a:latin typeface="Aptos"/>
              </a:rPr>
              <a:t>x = -3 or x = -4.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Quadratic roots: 2x²+3x-2 = 0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52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9E40"/>
                </a:solidFill>
                <a:latin typeface="Aptos"/>
              </a:rPr>
              <a:t>Find both roots by factorisation.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Quadratic roots: 2x²+3x-2 = 0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53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10" b="1">
                <a:solidFill>
                  <a:srgbClr val="5AC8FF"/>
                </a:solidFill>
                <a:latin typeface="Aptos"/>
              </a:rPr>
              <a:t>Step 1:  Split 3x as 4x-x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5AC8FF"/>
                </a:solidFill>
                <a:latin typeface="Aptos"/>
              </a:rPr>
              <a:t>Step 2:  2x²+4x-x-2 = 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5AC8FF"/>
                </a:solidFill>
                <a:latin typeface="Aptos"/>
              </a:rPr>
              <a:t>Step 3:  (2x-1)(x+2) = 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724912"/>
            <a:ext cx="11018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80" b="1">
                <a:solidFill>
                  <a:srgbClr val="5AD680"/>
                </a:solidFill>
                <a:latin typeface="Aptos"/>
              </a:rPr>
              <a:t>x = 1/2 or x = -2.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B0B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ROUGH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80" b="1">
                <a:solidFill>
                  <a:srgbClr val="FFD646"/>
                </a:solidFill>
                <a:latin typeface="Aptos"/>
              </a:rPr>
              <a:t>Rough work  /  extra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54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5-MINUTE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Circle, ellipse and exponential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55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10" b="1">
                <a:solidFill>
                  <a:srgbClr val="5AC8FF"/>
                </a:solidFill>
                <a:latin typeface="Aptos"/>
              </a:rPr>
              <a:t>circle: (x-h)²+(y-k)² = R²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10" b="1">
                <a:solidFill>
                  <a:srgbClr val="5AC8FF"/>
                </a:solidFill>
                <a:latin typeface="Aptos"/>
              </a:rPr>
              <a:t>origin-centred ellipse: x²/a²+y²/b² =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eˣ passes through (0, 1), stays positive and has asymptote y = 0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5-MINUTE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Differentiation lock lines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56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30" b="1">
                <a:solidFill>
                  <a:srgbClr val="5AC8FF"/>
                </a:solidFill>
                <a:latin typeface="Aptos"/>
              </a:rPr>
              <a:t>The derivative gives the tangent's slope and represents an instantaneous rate of change.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10" b="1">
                <a:solidFill>
                  <a:srgbClr val="5AC8FF"/>
                </a:solidFill>
                <a:latin typeface="Aptos"/>
              </a:rPr>
              <a:t>rising: dy/dx &gt; 0     falling: dy/dx &lt; 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5AC8FF"/>
                </a:solidFill>
                <a:latin typeface="Aptos"/>
              </a:rPr>
              <a:t>stationary point: dy/dx = 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72491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89" b="1">
                <a:solidFill>
                  <a:srgbClr val="5AC8FF"/>
                </a:solidFill>
                <a:latin typeface="Aptos"/>
              </a:rPr>
              <a:t>d(xⁿ)/dx = n xⁿ⁻¹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CC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AFTER CLASS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Practice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57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Redraw each circle, ellipse and exponential graph from this lecture with labelled axes.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Redo every question without looking at its answer slide.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Learn the meaning and sign of a derivative before the next class.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