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PW Units and Measurement Lecture 05.</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Empty board for extra working.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Empty board for extra working.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Empty board for extra working.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Empty board for extra working.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Empty board for extra working.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Empty board for extra working.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Empty board for extra working.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Empty board for extra working.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Empty board for extra working.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Empty board for extra working.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Empty board for extra working.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Empty board for extra working.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Empty board for extra working.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35508" y="516636"/>
            <a:ext cx="11018520" cy="1005840"/>
          </a:xfrm>
          <a:prstGeom prst="rect">
            <a:avLst/>
          </a:prstGeom>
          <a:noFill/>
        </p:spPr>
        <p:txBody>
          <a:bodyPr wrap="square" lIns="0" rIns="0" tIns="0" bIns="0" anchor="t">
            <a:spAutoFit/>
          </a:bodyPr>
          <a:lstStyle/>
          <a:p>
            <a:pPr algn="ctr">
              <a:lnSpc>
                <a:spcPct val="110000"/>
              </a:lnSpc>
              <a:spcBef>
                <a:spcPts val="0"/>
              </a:spcBef>
              <a:spcAft>
                <a:spcPts val="0"/>
              </a:spcAft>
            </a:pPr>
            <a:r>
              <a:rPr sz="6200" b="1">
                <a:solidFill>
                  <a:srgbClr val="D2D2DC"/>
                </a:solidFill>
                <a:latin typeface="Arial Black"/>
              </a:rPr>
              <a:t>EXCELLENCE</a:t>
            </a:r>
          </a:p>
        </p:txBody>
      </p:sp>
      <p:sp>
        <p:nvSpPr>
          <p:cNvPr id="3" name="TextBox 2"/>
          <p:cNvSpPr txBox="1"/>
          <p:nvPr/>
        </p:nvSpPr>
        <p:spPr>
          <a:xfrm>
            <a:off x="594360" y="475488"/>
            <a:ext cx="11018520" cy="1005840"/>
          </a:xfrm>
          <a:prstGeom prst="rect">
            <a:avLst/>
          </a:prstGeom>
          <a:noFill/>
        </p:spPr>
        <p:txBody>
          <a:bodyPr wrap="square" lIns="0" rIns="0" tIns="0" bIns="0" anchor="t">
            <a:spAutoFit/>
          </a:bodyPr>
          <a:lstStyle/>
          <a:p>
            <a:pPr algn="ctr">
              <a:lnSpc>
                <a:spcPct val="110000"/>
              </a:lnSpc>
              <a:spcBef>
                <a:spcPts val="0"/>
              </a:spcBef>
              <a:spcAft>
                <a:spcPts val="0"/>
              </a:spcAft>
            </a:pPr>
            <a:r>
              <a:rPr sz="6200" b="1">
                <a:solidFill>
                  <a:srgbClr val="FFD646"/>
                </a:solidFill>
                <a:latin typeface="Arial Black"/>
              </a:rPr>
              <a:t>EXCELLENCE</a:t>
            </a:r>
          </a:p>
        </p:txBody>
      </p:sp>
      <p:sp>
        <p:nvSpPr>
          <p:cNvPr id="4" name="TextBox 3"/>
          <p:cNvSpPr txBox="1"/>
          <p:nvPr/>
        </p:nvSpPr>
        <p:spPr>
          <a:xfrm>
            <a:off x="635508" y="1540763"/>
            <a:ext cx="11018520" cy="530352"/>
          </a:xfrm>
          <a:prstGeom prst="rect">
            <a:avLst/>
          </a:prstGeom>
          <a:noFill/>
        </p:spPr>
        <p:txBody>
          <a:bodyPr wrap="square" lIns="0" rIns="0" tIns="0" bIns="0" anchor="t">
            <a:spAutoFit/>
          </a:bodyPr>
          <a:lstStyle/>
          <a:p>
            <a:pPr algn="ctr">
              <a:lnSpc>
                <a:spcPct val="110000"/>
              </a:lnSpc>
              <a:spcBef>
                <a:spcPts val="0"/>
              </a:spcBef>
              <a:spcAft>
                <a:spcPts val="0"/>
              </a:spcAft>
            </a:pPr>
            <a:r>
              <a:rPr sz="3000" b="1">
                <a:solidFill>
                  <a:srgbClr val="5A5A64"/>
                </a:solidFill>
                <a:latin typeface="Aptos"/>
              </a:rPr>
              <a:t>CLASS 11   -   2026-27</a:t>
            </a:r>
          </a:p>
        </p:txBody>
      </p:sp>
      <p:sp>
        <p:nvSpPr>
          <p:cNvPr id="5" name="TextBox 4"/>
          <p:cNvSpPr txBox="1"/>
          <p:nvPr/>
        </p:nvSpPr>
        <p:spPr>
          <a:xfrm>
            <a:off x="594360" y="1499616"/>
            <a:ext cx="11018520" cy="530352"/>
          </a:xfrm>
          <a:prstGeom prst="rect">
            <a:avLst/>
          </a:prstGeom>
          <a:noFill/>
        </p:spPr>
        <p:txBody>
          <a:bodyPr wrap="square" lIns="0" rIns="0" tIns="0" bIns="0" anchor="t">
            <a:spAutoFit/>
          </a:bodyPr>
          <a:lstStyle/>
          <a:p>
            <a:pPr algn="ctr">
              <a:lnSpc>
                <a:spcPct val="110000"/>
              </a:lnSpc>
              <a:spcBef>
                <a:spcPts val="0"/>
              </a:spcBef>
              <a:spcAft>
                <a:spcPts val="0"/>
              </a:spcAft>
            </a:pPr>
            <a:r>
              <a:rPr sz="3000" b="1">
                <a:solidFill>
                  <a:srgbClr val="FFFFFF"/>
                </a:solidFill>
                <a:latin typeface="Aptos"/>
              </a:rPr>
              <a:t>CLASS 11   -   2026-27</a:t>
            </a:r>
          </a:p>
        </p:txBody>
      </p:sp>
      <p:sp>
        <p:nvSpPr>
          <p:cNvPr id="6" name="Rectangle 5"/>
          <p:cNvSpPr/>
          <p:nvPr/>
        </p:nvSpPr>
        <p:spPr>
          <a:xfrm>
            <a:off x="3794760" y="2084831"/>
            <a:ext cx="4572000" cy="25603"/>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874519" y="2468880"/>
            <a:ext cx="8412480" cy="214884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874519" y="3127248"/>
            <a:ext cx="8412480" cy="1490472"/>
          </a:xfrm>
          <a:prstGeom prst="roundRect">
            <a:avLst/>
          </a:prstGeom>
          <a:solidFill>
            <a:srgbClr val="000000"/>
          </a:solidFill>
          <a:ln w="15875">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080759" y="2615184"/>
            <a:ext cx="16459" cy="384048"/>
          </a:xfrm>
          <a:prstGeom prst="rect">
            <a:avLst/>
          </a:prstGeom>
          <a:solidFill>
            <a:srgbClr val="28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874519" y="2596896"/>
            <a:ext cx="4114800" cy="457200"/>
          </a:xfrm>
          <a:prstGeom prst="rect">
            <a:avLst/>
          </a:prstGeom>
          <a:noFill/>
        </p:spPr>
        <p:txBody>
          <a:bodyPr wrap="square" lIns="0" rIns="0" tIns="0" bIns="0" anchor="t">
            <a:spAutoFit/>
          </a:bodyPr>
          <a:lstStyle/>
          <a:p>
            <a:pPr algn="ctr">
              <a:lnSpc>
                <a:spcPct val="110000"/>
              </a:lnSpc>
              <a:spcBef>
                <a:spcPts val="0"/>
              </a:spcBef>
              <a:spcAft>
                <a:spcPts val="0"/>
              </a:spcAft>
            </a:pPr>
            <a:r>
              <a:rPr sz="2500" b="1">
                <a:solidFill>
                  <a:srgbClr val="000000"/>
                </a:solidFill>
                <a:latin typeface="Aptos"/>
              </a:rPr>
              <a:t>Physics</a:t>
            </a:r>
          </a:p>
        </p:txBody>
      </p:sp>
      <p:sp>
        <p:nvSpPr>
          <p:cNvPr id="11" name="TextBox 10"/>
          <p:cNvSpPr txBox="1"/>
          <p:nvPr/>
        </p:nvSpPr>
        <p:spPr>
          <a:xfrm>
            <a:off x="6080759" y="2596896"/>
            <a:ext cx="4206240" cy="457200"/>
          </a:xfrm>
          <a:prstGeom prst="rect">
            <a:avLst/>
          </a:prstGeom>
          <a:noFill/>
        </p:spPr>
        <p:txBody>
          <a:bodyPr wrap="square" lIns="0" rIns="0" tIns="0" bIns="0" anchor="t">
            <a:spAutoFit/>
          </a:bodyPr>
          <a:lstStyle/>
          <a:p>
            <a:pPr algn="ctr">
              <a:lnSpc>
                <a:spcPct val="110000"/>
              </a:lnSpc>
              <a:spcBef>
                <a:spcPts val="0"/>
              </a:spcBef>
              <a:spcAft>
                <a:spcPts val="0"/>
              </a:spcAft>
            </a:pPr>
            <a:r>
              <a:rPr sz="2500" b="1">
                <a:solidFill>
                  <a:srgbClr val="000000"/>
                </a:solidFill>
                <a:latin typeface="Aptos"/>
              </a:rPr>
              <a:t>Units 04</a:t>
            </a:r>
          </a:p>
        </p:txBody>
      </p:sp>
      <p:sp>
        <p:nvSpPr>
          <p:cNvPr id="12" name="TextBox 11"/>
          <p:cNvSpPr txBox="1"/>
          <p:nvPr/>
        </p:nvSpPr>
        <p:spPr>
          <a:xfrm>
            <a:off x="1874519" y="3401568"/>
            <a:ext cx="8412480" cy="566928"/>
          </a:xfrm>
          <a:prstGeom prst="rect">
            <a:avLst/>
          </a:prstGeom>
          <a:noFill/>
        </p:spPr>
        <p:txBody>
          <a:bodyPr wrap="square" lIns="0" rIns="0" tIns="0" bIns="0" anchor="t">
            <a:spAutoFit/>
          </a:bodyPr>
          <a:lstStyle/>
          <a:p>
            <a:pPr algn="ctr">
              <a:lnSpc>
                <a:spcPct val="110000"/>
              </a:lnSpc>
              <a:spcBef>
                <a:spcPts val="0"/>
              </a:spcBef>
              <a:spcAft>
                <a:spcPts val="0"/>
              </a:spcAft>
            </a:pPr>
            <a:r>
              <a:rPr sz="3200" b="1">
                <a:solidFill>
                  <a:srgbClr val="FFFFFF"/>
                </a:solidFill>
                <a:latin typeface="Georgia"/>
              </a:rPr>
              <a:t>Units and Measurement</a:t>
            </a:r>
          </a:p>
        </p:txBody>
      </p:sp>
      <p:sp>
        <p:nvSpPr>
          <p:cNvPr id="13" name="TextBox 12"/>
          <p:cNvSpPr txBox="1"/>
          <p:nvPr/>
        </p:nvSpPr>
        <p:spPr>
          <a:xfrm>
            <a:off x="1874519" y="3950208"/>
            <a:ext cx="8412480" cy="365760"/>
          </a:xfrm>
          <a:prstGeom prst="rect">
            <a:avLst/>
          </a:prstGeom>
          <a:noFill/>
        </p:spPr>
        <p:txBody>
          <a:bodyPr wrap="square" lIns="0" rIns="0" tIns="0" bIns="0" anchor="t">
            <a:spAutoFit/>
          </a:bodyPr>
          <a:lstStyle/>
          <a:p>
            <a:pPr algn="ctr">
              <a:lnSpc>
                <a:spcPct val="110000"/>
              </a:lnSpc>
              <a:spcBef>
                <a:spcPts val="0"/>
              </a:spcBef>
              <a:spcAft>
                <a:spcPts val="0"/>
              </a:spcAft>
            </a:pPr>
            <a:r>
              <a:rPr sz="1600" b="1">
                <a:solidFill>
                  <a:srgbClr val="FFD646"/>
                </a:solidFill>
                <a:latin typeface="Aptos"/>
              </a:rPr>
              <a:t>Significant Figures, Accuracy and Errors</a:t>
            </a:r>
          </a:p>
        </p:txBody>
      </p:sp>
      <p:sp>
        <p:nvSpPr>
          <p:cNvPr id="14" name="TextBox 13"/>
          <p:cNvSpPr txBox="1"/>
          <p:nvPr/>
        </p:nvSpPr>
        <p:spPr>
          <a:xfrm>
            <a:off x="594360" y="4828032"/>
            <a:ext cx="11018520" cy="457200"/>
          </a:xfrm>
          <a:prstGeom prst="rect">
            <a:avLst/>
          </a:prstGeom>
          <a:noFill/>
        </p:spPr>
        <p:txBody>
          <a:bodyPr wrap="square" lIns="0" rIns="0" tIns="0" bIns="0" anchor="t">
            <a:spAutoFit/>
          </a:bodyPr>
          <a:lstStyle/>
          <a:p>
            <a:pPr algn="ctr">
              <a:lnSpc>
                <a:spcPct val="110000"/>
              </a:lnSpc>
              <a:spcBef>
                <a:spcPts val="0"/>
              </a:spcBef>
              <a:spcAft>
                <a:spcPts val="0"/>
              </a:spcAft>
            </a:pPr>
            <a:r>
              <a:rPr sz="2500" b="1">
                <a:solidFill>
                  <a:srgbClr val="FFFFFF"/>
                </a:solidFill>
                <a:latin typeface="Aptos"/>
              </a:rPr>
              <a:t>By - Excellence Programme</a:t>
            </a:r>
          </a:p>
        </p:txBody>
      </p:sp>
      <p:sp>
        <p:nvSpPr>
          <p:cNvPr id="15" name="TextBox 14"/>
          <p:cNvSpPr txBox="1"/>
          <p:nvPr/>
        </p:nvSpPr>
        <p:spPr>
          <a:xfrm>
            <a:off x="594360" y="5303520"/>
            <a:ext cx="11018520" cy="292608"/>
          </a:xfrm>
          <a:prstGeom prst="rect">
            <a:avLst/>
          </a:prstGeom>
          <a:noFill/>
        </p:spPr>
        <p:txBody>
          <a:bodyPr wrap="square" lIns="0" rIns="0" tIns="0" bIns="0" anchor="t">
            <a:spAutoFit/>
          </a:bodyPr>
          <a:lstStyle/>
          <a:p>
            <a:pPr algn="ctr">
              <a:lnSpc>
                <a:spcPct val="110000"/>
              </a:lnSpc>
              <a:spcBef>
                <a:spcPts val="0"/>
              </a:spcBef>
              <a:spcAft>
                <a:spcPts val="0"/>
              </a:spcAft>
            </a:pPr>
            <a:r>
              <a:rPr sz="1800" b="1">
                <a:solidFill>
                  <a:srgbClr val="B0B6C0"/>
                </a:solidFill>
                <a:latin typeface="Aptos"/>
              </a:rPr>
              <a:t>15 October 2026</a:t>
            </a:r>
          </a:p>
        </p:txBody>
      </p:sp>
      <p:sp>
        <p:nvSpPr>
          <p:cNvPr id="16" name="TextBox 1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594360" y="320040"/>
            <a:ext cx="11018520" cy="585216"/>
          </a:xfrm>
          <a:prstGeom prst="rect">
            <a:avLst/>
          </a:prstGeom>
          <a:noFill/>
        </p:spPr>
        <p:txBody>
          <a:bodyPr wrap="square" lIns="0" rIns="0" tIns="0" bIns="0" anchor="t">
            <a:spAutoFit/>
          </a:bodyPr>
          <a:lstStyle/>
          <a:p>
            <a:pPr algn="l">
              <a:lnSpc>
                <a:spcPct val="110000"/>
              </a:lnSpc>
              <a:spcBef>
                <a:spcPts val="0"/>
              </a:spcBef>
              <a:spcAft>
                <a:spcPts val="0"/>
              </a:spcAft>
            </a:pPr>
            <a:r>
              <a:rPr sz="3200" b="1">
                <a:solidFill>
                  <a:srgbClr val="FFD646"/>
                </a:solidFill>
                <a:latin typeface="Aptos"/>
              </a:rPr>
              <a:t>Topics to be covered</a:t>
            </a:r>
          </a:p>
        </p:txBody>
      </p:sp>
      <p:sp>
        <p:nvSpPr>
          <p:cNvPr id="3" name="Rectangle 2"/>
          <p:cNvSpPr/>
          <p:nvPr/>
        </p:nvSpPr>
        <p:spPr>
          <a:xfrm>
            <a:off x="594360" y="914400"/>
            <a:ext cx="3108960" cy="32004"/>
          </a:xfrm>
          <a:prstGeom prst="rect">
            <a:avLst/>
          </a:prstGeom>
          <a:solidFill>
            <a:srgbClr val="FFD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94360" y="1115568"/>
            <a:ext cx="384048" cy="38404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161288"/>
            <a:ext cx="384048" cy="292608"/>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01</a:t>
            </a:r>
          </a:p>
        </p:txBody>
      </p:sp>
      <p:sp>
        <p:nvSpPr>
          <p:cNvPr id="6" name="TextBox 5"/>
          <p:cNvSpPr txBox="1"/>
          <p:nvPr/>
        </p:nvSpPr>
        <p:spPr>
          <a:xfrm>
            <a:off x="1143000" y="1161288"/>
            <a:ext cx="9601200" cy="320040"/>
          </a:xfrm>
          <a:prstGeom prst="rect">
            <a:avLst/>
          </a:prstGeom>
          <a:noFill/>
        </p:spPr>
        <p:txBody>
          <a:bodyPr wrap="square" lIns="0" rIns="0" tIns="0" bIns="0" anchor="t">
            <a:spAutoFit/>
          </a:bodyPr>
          <a:lstStyle/>
          <a:p>
            <a:pPr algn="l">
              <a:lnSpc>
                <a:spcPct val="110000"/>
              </a:lnSpc>
              <a:spcBef>
                <a:spcPts val="0"/>
              </a:spcBef>
              <a:spcAft>
                <a:spcPts val="0"/>
              </a:spcAft>
            </a:pPr>
            <a:r>
              <a:rPr sz="2000" b="0">
                <a:solidFill>
                  <a:srgbClr val="FFFFFF"/>
                </a:solidFill>
                <a:latin typeface="Aptos"/>
              </a:rPr>
              <a:t>Significant figures in a calculated answer</a:t>
            </a:r>
          </a:p>
        </p:txBody>
      </p:sp>
      <p:sp>
        <p:nvSpPr>
          <p:cNvPr id="7" name="Oval 6"/>
          <p:cNvSpPr/>
          <p:nvPr/>
        </p:nvSpPr>
        <p:spPr>
          <a:xfrm>
            <a:off x="594360" y="1773936"/>
            <a:ext cx="384048" cy="38404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819656"/>
            <a:ext cx="384048" cy="292608"/>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02</a:t>
            </a:r>
          </a:p>
        </p:txBody>
      </p:sp>
      <p:sp>
        <p:nvSpPr>
          <p:cNvPr id="9" name="TextBox 8"/>
          <p:cNvSpPr txBox="1"/>
          <p:nvPr/>
        </p:nvSpPr>
        <p:spPr>
          <a:xfrm>
            <a:off x="1143000" y="1819656"/>
            <a:ext cx="9601200" cy="320040"/>
          </a:xfrm>
          <a:prstGeom prst="rect">
            <a:avLst/>
          </a:prstGeom>
          <a:noFill/>
        </p:spPr>
        <p:txBody>
          <a:bodyPr wrap="square" lIns="0" rIns="0" tIns="0" bIns="0" anchor="t">
            <a:spAutoFit/>
          </a:bodyPr>
          <a:lstStyle/>
          <a:p>
            <a:pPr algn="l">
              <a:lnSpc>
                <a:spcPct val="110000"/>
              </a:lnSpc>
              <a:spcBef>
                <a:spcPts val="0"/>
              </a:spcBef>
              <a:spcAft>
                <a:spcPts val="0"/>
              </a:spcAft>
            </a:pPr>
            <a:r>
              <a:rPr sz="2000" b="0">
                <a:solidFill>
                  <a:srgbClr val="FFFFFF"/>
                </a:solidFill>
                <a:latin typeface="Aptos"/>
              </a:rPr>
              <a:t>Rounding off</a:t>
            </a:r>
          </a:p>
        </p:txBody>
      </p:sp>
      <p:sp>
        <p:nvSpPr>
          <p:cNvPr id="10" name="Oval 9"/>
          <p:cNvSpPr/>
          <p:nvPr/>
        </p:nvSpPr>
        <p:spPr>
          <a:xfrm>
            <a:off x="594360" y="2432304"/>
            <a:ext cx="384048" cy="38404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2478024"/>
            <a:ext cx="384048" cy="292608"/>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03</a:t>
            </a:r>
          </a:p>
        </p:txBody>
      </p:sp>
      <p:sp>
        <p:nvSpPr>
          <p:cNvPr id="12" name="TextBox 11"/>
          <p:cNvSpPr txBox="1"/>
          <p:nvPr/>
        </p:nvSpPr>
        <p:spPr>
          <a:xfrm>
            <a:off x="1143000" y="2478024"/>
            <a:ext cx="9601200" cy="320040"/>
          </a:xfrm>
          <a:prstGeom prst="rect">
            <a:avLst/>
          </a:prstGeom>
          <a:noFill/>
        </p:spPr>
        <p:txBody>
          <a:bodyPr wrap="square" lIns="0" rIns="0" tIns="0" bIns="0" anchor="t">
            <a:spAutoFit/>
          </a:bodyPr>
          <a:lstStyle/>
          <a:p>
            <a:pPr algn="l">
              <a:lnSpc>
                <a:spcPct val="110000"/>
              </a:lnSpc>
              <a:spcBef>
                <a:spcPts val="0"/>
              </a:spcBef>
              <a:spcAft>
                <a:spcPts val="0"/>
              </a:spcAft>
            </a:pPr>
            <a:r>
              <a:rPr sz="2000" b="0">
                <a:solidFill>
                  <a:srgbClr val="FFFFFF"/>
                </a:solidFill>
                <a:latin typeface="Aptos"/>
              </a:rPr>
              <a:t>Accuracy and precision</a:t>
            </a:r>
          </a:p>
        </p:txBody>
      </p:sp>
      <p:sp>
        <p:nvSpPr>
          <p:cNvPr id="13" name="Oval 12"/>
          <p:cNvSpPr/>
          <p:nvPr/>
        </p:nvSpPr>
        <p:spPr>
          <a:xfrm>
            <a:off x="594360" y="3090672"/>
            <a:ext cx="384048" cy="38404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3136391"/>
            <a:ext cx="384048" cy="292608"/>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04</a:t>
            </a:r>
          </a:p>
        </p:txBody>
      </p:sp>
      <p:sp>
        <p:nvSpPr>
          <p:cNvPr id="15" name="TextBox 14"/>
          <p:cNvSpPr txBox="1"/>
          <p:nvPr/>
        </p:nvSpPr>
        <p:spPr>
          <a:xfrm>
            <a:off x="1143000" y="3136391"/>
            <a:ext cx="9601200" cy="320040"/>
          </a:xfrm>
          <a:prstGeom prst="rect">
            <a:avLst/>
          </a:prstGeom>
          <a:noFill/>
        </p:spPr>
        <p:txBody>
          <a:bodyPr wrap="square" lIns="0" rIns="0" tIns="0" bIns="0" anchor="t">
            <a:spAutoFit/>
          </a:bodyPr>
          <a:lstStyle/>
          <a:p>
            <a:pPr algn="l">
              <a:lnSpc>
                <a:spcPct val="110000"/>
              </a:lnSpc>
              <a:spcBef>
                <a:spcPts val="0"/>
              </a:spcBef>
              <a:spcAft>
                <a:spcPts val="0"/>
              </a:spcAft>
            </a:pPr>
            <a:r>
              <a:rPr sz="2000" b="0">
                <a:solidFill>
                  <a:srgbClr val="FFFFFF"/>
                </a:solidFill>
                <a:latin typeface="Aptos"/>
              </a:rPr>
              <a:t>Absolute, relative and percentage error</a:t>
            </a:r>
          </a:p>
        </p:txBody>
      </p:sp>
      <p:sp>
        <p:nvSpPr>
          <p:cNvPr id="16" name="Oval 15"/>
          <p:cNvSpPr/>
          <p:nvPr/>
        </p:nvSpPr>
        <p:spPr>
          <a:xfrm>
            <a:off x="594360" y="3749039"/>
            <a:ext cx="384048" cy="38404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 y="3794759"/>
            <a:ext cx="384048" cy="292608"/>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05</a:t>
            </a:r>
          </a:p>
        </p:txBody>
      </p:sp>
      <p:sp>
        <p:nvSpPr>
          <p:cNvPr id="18" name="TextBox 17"/>
          <p:cNvSpPr txBox="1"/>
          <p:nvPr/>
        </p:nvSpPr>
        <p:spPr>
          <a:xfrm>
            <a:off x="1143000" y="3794759"/>
            <a:ext cx="9601200" cy="320040"/>
          </a:xfrm>
          <a:prstGeom prst="rect">
            <a:avLst/>
          </a:prstGeom>
          <a:noFill/>
        </p:spPr>
        <p:txBody>
          <a:bodyPr wrap="square" lIns="0" rIns="0" tIns="0" bIns="0" anchor="t">
            <a:spAutoFit/>
          </a:bodyPr>
          <a:lstStyle/>
          <a:p>
            <a:pPr algn="l">
              <a:lnSpc>
                <a:spcPct val="110000"/>
              </a:lnSpc>
              <a:spcBef>
                <a:spcPts val="0"/>
              </a:spcBef>
              <a:spcAft>
                <a:spcPts val="0"/>
              </a:spcAft>
            </a:pPr>
            <a:r>
              <a:rPr sz="2000" b="0">
                <a:solidFill>
                  <a:srgbClr val="FFFFFF"/>
                </a:solidFill>
                <a:latin typeface="Aptos"/>
              </a:rPr>
              <a:t>Mean error from repeated readings</a:t>
            </a:r>
          </a:p>
        </p:txBody>
      </p:sp>
      <p:sp>
        <p:nvSpPr>
          <p:cNvPr id="19" name="Oval 18"/>
          <p:cNvSpPr/>
          <p:nvPr/>
        </p:nvSpPr>
        <p:spPr>
          <a:xfrm>
            <a:off x="594360" y="4407407"/>
            <a:ext cx="384048" cy="38404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4453127"/>
            <a:ext cx="384048" cy="292608"/>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06</a:t>
            </a:r>
          </a:p>
        </p:txBody>
      </p:sp>
      <p:sp>
        <p:nvSpPr>
          <p:cNvPr id="21" name="TextBox 20"/>
          <p:cNvSpPr txBox="1"/>
          <p:nvPr/>
        </p:nvSpPr>
        <p:spPr>
          <a:xfrm>
            <a:off x="1143000" y="4453127"/>
            <a:ext cx="9601200" cy="320040"/>
          </a:xfrm>
          <a:prstGeom prst="rect">
            <a:avLst/>
          </a:prstGeom>
          <a:noFill/>
        </p:spPr>
        <p:txBody>
          <a:bodyPr wrap="square" lIns="0" rIns="0" tIns="0" bIns="0" anchor="t">
            <a:spAutoFit/>
          </a:bodyPr>
          <a:lstStyle/>
          <a:p>
            <a:pPr algn="l">
              <a:lnSpc>
                <a:spcPct val="110000"/>
              </a:lnSpc>
              <a:spcBef>
                <a:spcPts val="0"/>
              </a:spcBef>
              <a:spcAft>
                <a:spcPts val="0"/>
              </a:spcAft>
            </a:pPr>
            <a:r>
              <a:rPr sz="2000" b="0">
                <a:solidFill>
                  <a:srgbClr val="FFFFFF"/>
                </a:solidFill>
                <a:latin typeface="Aptos"/>
              </a:rPr>
              <a:t>Dimensional questions with a new set of quantities</a:t>
            </a:r>
          </a:p>
        </p:txBody>
      </p:sp>
      <p:sp>
        <p:nvSpPr>
          <p:cNvPr id="22" name="Oval 21"/>
          <p:cNvSpPr/>
          <p:nvPr/>
        </p:nvSpPr>
        <p:spPr>
          <a:xfrm>
            <a:off x="594360" y="5065776"/>
            <a:ext cx="384048" cy="38404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4360" y="5111496"/>
            <a:ext cx="384048" cy="292608"/>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07</a:t>
            </a:r>
          </a:p>
        </p:txBody>
      </p:sp>
      <p:sp>
        <p:nvSpPr>
          <p:cNvPr id="24" name="TextBox 23"/>
          <p:cNvSpPr txBox="1"/>
          <p:nvPr/>
        </p:nvSpPr>
        <p:spPr>
          <a:xfrm>
            <a:off x="1143000" y="5111496"/>
            <a:ext cx="9601200" cy="320040"/>
          </a:xfrm>
          <a:prstGeom prst="rect">
            <a:avLst/>
          </a:prstGeom>
          <a:noFill/>
        </p:spPr>
        <p:txBody>
          <a:bodyPr wrap="square" lIns="0" rIns="0" tIns="0" bIns="0" anchor="t">
            <a:spAutoFit/>
          </a:bodyPr>
          <a:lstStyle/>
          <a:p>
            <a:pPr algn="l">
              <a:lnSpc>
                <a:spcPct val="110000"/>
              </a:lnSpc>
              <a:spcBef>
                <a:spcPts val="0"/>
              </a:spcBef>
              <a:spcAft>
                <a:spcPts val="0"/>
              </a:spcAft>
            </a:pPr>
            <a:r>
              <a:rPr sz="2000" b="0">
                <a:solidFill>
                  <a:srgbClr val="FFFFFF"/>
                </a:solidFill>
                <a:latin typeface="Aptos"/>
              </a:rPr>
              <a:t>When a formula cannot be built by dimensions</a:t>
            </a:r>
          </a:p>
        </p:txBody>
      </p:sp>
      <p:sp>
        <p:nvSpPr>
          <p:cNvPr id="25" name="TextBox 24"/>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CLASS NOTE</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Where we left Units 03</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3</a:t>
            </a:r>
          </a:p>
        </p:txBody>
      </p:sp>
      <p:sp>
        <p:nvSpPr>
          <p:cNvPr id="7" name="TextBox 6"/>
          <p:cNvSpPr txBox="1"/>
          <p:nvPr/>
        </p:nvSpPr>
        <p:spPr>
          <a:xfrm>
            <a:off x="594360" y="1078992"/>
            <a:ext cx="11018520" cy="123444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Last class we used dimensions to find powers, and we learned how to count significant digits in one measured number. A trailing zero after the decimal counts. A leading zero does not. The power of ten is not a digit.</a:t>
            </a:r>
          </a:p>
        </p:txBody>
      </p:sp>
      <p:sp>
        <p:nvSpPr>
          <p:cNvPr id="8" name="TextBox 7"/>
          <p:cNvSpPr txBox="1"/>
          <p:nvPr/>
        </p:nvSpPr>
        <p:spPr>
          <a:xfrm>
            <a:off x="594360" y="2450591"/>
            <a:ext cx="11018520" cy="123444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Today we use those digits in a sum, a difference, a product and a quotient. Then we separate accuracy from precision, and we start errors: absolute, relative, percentage, and the mean of repeated readings.</a:t>
            </a:r>
          </a:p>
        </p:txBody>
      </p:sp>
      <p:sp>
        <p:nvSpPr>
          <p:cNvPr id="9" name="Rectangle 8"/>
          <p:cNvSpPr/>
          <p:nvPr/>
        </p:nvSpPr>
        <p:spPr>
          <a:xfrm>
            <a:off x="594360" y="3867911"/>
            <a:ext cx="11018520" cy="822960"/>
          </a:xfrm>
          <a:prstGeom prst="rect">
            <a:avLst/>
          </a:prstGeom>
          <a:solidFill>
            <a:srgbClr val="FFF8E1"/>
          </a:solidFill>
          <a:ln w="19050">
            <a:solidFill>
              <a:srgbClr val="DAA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4014215"/>
            <a:ext cx="10689336" cy="530352"/>
          </a:xfrm>
          <a:prstGeom prst="rect">
            <a:avLst/>
          </a:prstGeom>
          <a:noFill/>
        </p:spPr>
        <p:txBody>
          <a:bodyPr wrap="square" lIns="0" rIns="0" tIns="0" bIns="0" anchor="ctr">
            <a:spAutoFit/>
          </a:bodyPr>
          <a:lstStyle/>
          <a:p>
            <a:pPr algn="ctr">
              <a:lnSpc>
                <a:spcPct val="115000"/>
              </a:lnSpc>
              <a:spcBef>
                <a:spcPts val="0"/>
              </a:spcBef>
              <a:spcAft>
                <a:spcPts val="0"/>
              </a:spcAft>
            </a:pPr>
            <a:r>
              <a:rPr sz="1440" b="1">
                <a:solidFill>
                  <a:srgbClr val="081E3F"/>
                </a:solidFill>
                <a:latin typeface="Aptos"/>
              </a:rPr>
              <a:t>A calculated answer keeps only the digits the measurements can support.</a:t>
            </a:r>
          </a:p>
        </p:txBody>
      </p:sp>
      <p:sp>
        <p:nvSpPr>
          <p:cNvPr id="11" name="TextBox 10"/>
          <p:cNvSpPr txBox="1"/>
          <p:nvPr/>
        </p:nvSpPr>
        <p:spPr>
          <a:xfrm>
            <a:off x="594360" y="4873752"/>
            <a:ext cx="11018520" cy="411480"/>
          </a:xfrm>
          <a:prstGeom prst="rect">
            <a:avLst/>
          </a:prstGeom>
          <a:noFill/>
        </p:spPr>
        <p:txBody>
          <a:bodyPr wrap="square" lIns="0" rIns="0" tIns="0" bIns="0" anchor="t">
            <a:spAutoFit/>
          </a:bodyPr>
          <a:lstStyle/>
          <a:p>
            <a:pPr algn="l">
              <a:lnSpc>
                <a:spcPct val="110000"/>
              </a:lnSpc>
              <a:spcBef>
                <a:spcPts val="0"/>
              </a:spcBef>
              <a:spcAft>
                <a:spcPts val="0"/>
              </a:spcAft>
            </a:pPr>
            <a:r>
              <a:rPr sz="1600" b="0">
                <a:solidFill>
                  <a:srgbClr val="FF9E40"/>
                </a:solidFill>
                <a:latin typeface="Aptos"/>
              </a:rPr>
              <a:t>Class notes will be saved after teaching. This deck is for the board.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IDEA</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What a significant figure is</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4</a:t>
            </a:r>
          </a:p>
        </p:txBody>
      </p:sp>
      <p:sp>
        <p:nvSpPr>
          <p:cNvPr id="7" name="TextBox 6"/>
          <p:cNvSpPr txBox="1"/>
          <p:nvPr/>
        </p:nvSpPr>
        <p:spPr>
          <a:xfrm>
            <a:off x="594360" y="1078992"/>
            <a:ext cx="11018520" cy="128016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A significant figure is a digit we trust in a measurement. All the certain digits are kept, and one uncertain digit is kept with them. That last digit is the one the instrument is guessing between two marks.</a:t>
            </a:r>
          </a:p>
        </p:txBody>
      </p:sp>
      <p:sp>
        <p:nvSpPr>
          <p:cNvPr id="8" name="TextBox 7"/>
          <p:cNvSpPr txBox="1"/>
          <p:nvPr/>
        </p:nvSpPr>
        <p:spPr>
          <a:xfrm>
            <a:off x="594360" y="2496312"/>
            <a:ext cx="11018520" cy="123444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Example: a mass written as 256703 kg has six significant digits. Five of them are certain. The last one, 3, is the uncertain digit. More significant digits means a finer measurement. That is precision.</a:t>
            </a:r>
          </a:p>
        </p:txBody>
      </p:sp>
      <p:sp>
        <p:nvSpPr>
          <p:cNvPr id="9" name="Rectangle 8"/>
          <p:cNvSpPr/>
          <p:nvPr/>
        </p:nvSpPr>
        <p:spPr>
          <a:xfrm>
            <a:off x="594360" y="3913632"/>
            <a:ext cx="11018520" cy="777240"/>
          </a:xfrm>
          <a:prstGeom prst="rect">
            <a:avLst/>
          </a:prstGeom>
          <a:solidFill>
            <a:srgbClr val="FFF8E1"/>
          </a:solidFill>
          <a:ln w="19050">
            <a:solidFill>
              <a:srgbClr val="DAA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4059936"/>
            <a:ext cx="10689336" cy="484632"/>
          </a:xfrm>
          <a:prstGeom prst="rect">
            <a:avLst/>
          </a:prstGeom>
          <a:noFill/>
        </p:spPr>
        <p:txBody>
          <a:bodyPr wrap="square" lIns="0" rIns="0" tIns="0" bIns="0" anchor="ctr">
            <a:spAutoFit/>
          </a:bodyPr>
          <a:lstStyle/>
          <a:p>
            <a:pPr algn="ctr">
              <a:lnSpc>
                <a:spcPct val="115000"/>
              </a:lnSpc>
              <a:spcBef>
                <a:spcPts val="0"/>
              </a:spcBef>
              <a:spcAft>
                <a:spcPts val="0"/>
              </a:spcAft>
            </a:pPr>
            <a:r>
              <a:rPr sz="1440" b="1">
                <a:solidFill>
                  <a:srgbClr val="081E3F"/>
                </a:solidFill>
                <a:latin typeface="Aptos"/>
              </a:rPr>
              <a:t>Significant figures = all certain digits + one uncertain digit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RULE</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Changing the unit does not change the count</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5</a:t>
            </a:r>
          </a:p>
        </p:txBody>
      </p:sp>
      <p:sp>
        <p:nvSpPr>
          <p:cNvPr id="7" name="TextBox 6"/>
          <p:cNvSpPr txBox="1"/>
          <p:nvPr/>
        </p:nvSpPr>
        <p:spPr>
          <a:xfrm>
            <a:off x="594360" y="1078992"/>
            <a:ext cx="11018520" cy="123444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2.5 kg and 2.5 × 10³ g are the same mass. Both have two significant digits. Writing 2500 g would look like a different count, so we keep scientific notation when we change the unit.</a:t>
            </a:r>
          </a:p>
        </p:txBody>
      </p:sp>
      <p:sp>
        <p:nvSpPr>
          <p:cNvPr id="8" name="Rectangle 7"/>
          <p:cNvSpPr/>
          <p:nvPr/>
        </p:nvSpPr>
        <p:spPr>
          <a:xfrm>
            <a:off x="594360" y="2496312"/>
            <a:ext cx="11018520" cy="822960"/>
          </a:xfrm>
          <a:prstGeom prst="rect">
            <a:avLst/>
          </a:prstGeom>
          <a:solidFill>
            <a:srgbClr val="FFF8E1"/>
          </a:solidFill>
          <a:ln w="19050">
            <a:solidFill>
              <a:srgbClr val="DAA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 y="2642616"/>
            <a:ext cx="10689336" cy="530352"/>
          </a:xfrm>
          <a:prstGeom prst="rect">
            <a:avLst/>
          </a:prstGeom>
          <a:noFill/>
        </p:spPr>
        <p:txBody>
          <a:bodyPr wrap="square" lIns="0" rIns="0" tIns="0" bIns="0" anchor="ctr">
            <a:spAutoFit/>
          </a:bodyPr>
          <a:lstStyle/>
          <a:p>
            <a:pPr algn="ctr">
              <a:lnSpc>
                <a:spcPct val="115000"/>
              </a:lnSpc>
              <a:spcBef>
                <a:spcPts val="0"/>
              </a:spcBef>
              <a:spcAft>
                <a:spcPts val="0"/>
              </a:spcAft>
            </a:pPr>
            <a:r>
              <a:rPr sz="1440" b="1">
                <a:solidFill>
                  <a:srgbClr val="081E3F"/>
                </a:solidFill>
                <a:latin typeface="Aptos"/>
              </a:rPr>
              <a:t>2.5 kg = 2.5 × 10³ g     both have 2 significant digits</a:t>
            </a:r>
          </a:p>
        </p:txBody>
      </p:sp>
      <p:sp>
        <p:nvSpPr>
          <p:cNvPr id="10" name="TextBox 9"/>
          <p:cNvSpPr txBox="1"/>
          <p:nvPr/>
        </p:nvSpPr>
        <p:spPr>
          <a:xfrm>
            <a:off x="594360" y="3547872"/>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600" b="0">
                <a:solidFill>
                  <a:srgbClr val="FF9E40"/>
                </a:solidFill>
                <a:latin typeface="Aptos"/>
              </a:rPr>
              <a:t>The power 10³ is only a place-value label. It is not an extra digit.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B0B6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ROUGH WORK</a:t>
            </a:r>
          </a:p>
        </p:txBody>
      </p:sp>
      <p:sp>
        <p:nvSpPr>
          <p:cNvPr id="4" name="TextBox 3"/>
          <p:cNvSpPr txBox="1"/>
          <p:nvPr/>
        </p:nvSpPr>
        <p:spPr>
          <a:xfrm>
            <a:off x="594360" y="310896"/>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980" b="1">
                <a:solidFill>
                  <a:srgbClr val="FFD646"/>
                </a:solidFill>
                <a:latin typeface="Aptos"/>
              </a:rPr>
              <a:t>Rough work  /  extra work</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RULES</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How to count — part 1</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7</a:t>
            </a:r>
          </a:p>
        </p:txBody>
      </p:sp>
      <p:sp>
        <p:nvSpPr>
          <p:cNvPr id="7" name="TextBox 6"/>
          <p:cNvSpPr txBox="1"/>
          <p:nvPr/>
        </p:nvSpPr>
        <p:spPr>
          <a:xfrm>
            <a:off x="594360" y="1078992"/>
            <a:ext cx="11018520" cy="438912"/>
          </a:xfrm>
          <a:prstGeom prst="rect">
            <a:avLst/>
          </a:prstGeom>
          <a:noFill/>
        </p:spPr>
        <p:txBody>
          <a:bodyPr wrap="square" lIns="0" rIns="0" tIns="0" bIns="0" anchor="t">
            <a:spAutoFit/>
          </a:bodyPr>
          <a:lstStyle/>
          <a:p>
            <a:pPr algn="l">
              <a:lnSpc>
                <a:spcPct val="110000"/>
              </a:lnSpc>
              <a:spcBef>
                <a:spcPts val="0"/>
              </a:spcBef>
              <a:spcAft>
                <a:spcPts val="0"/>
              </a:spcAft>
            </a:pPr>
            <a:r>
              <a:rPr sz="1600" b="0">
                <a:solidFill>
                  <a:srgbClr val="FFFFFF"/>
                </a:solidFill>
                <a:latin typeface="Aptos"/>
              </a:rPr>
              <a:t>•  Every non-zero digit is significant.  2427 m has 4.</a:t>
            </a:r>
          </a:p>
        </p:txBody>
      </p:sp>
      <p:sp>
        <p:nvSpPr>
          <p:cNvPr id="8" name="TextBox 7"/>
          <p:cNvSpPr txBox="1"/>
          <p:nvPr/>
        </p:nvSpPr>
        <p:spPr>
          <a:xfrm>
            <a:off x="594360" y="1581912"/>
            <a:ext cx="11018520" cy="438912"/>
          </a:xfrm>
          <a:prstGeom prst="rect">
            <a:avLst/>
          </a:prstGeom>
          <a:noFill/>
        </p:spPr>
        <p:txBody>
          <a:bodyPr wrap="square" lIns="0" rIns="0" tIns="0" bIns="0" anchor="t">
            <a:spAutoFit/>
          </a:bodyPr>
          <a:lstStyle/>
          <a:p>
            <a:pPr algn="l">
              <a:lnSpc>
                <a:spcPct val="110000"/>
              </a:lnSpc>
              <a:spcBef>
                <a:spcPts val="0"/>
              </a:spcBef>
              <a:spcAft>
                <a:spcPts val="0"/>
              </a:spcAft>
            </a:pPr>
            <a:r>
              <a:rPr sz="1600" b="0">
                <a:solidFill>
                  <a:srgbClr val="FFFFFF"/>
                </a:solidFill>
                <a:latin typeface="Aptos"/>
              </a:rPr>
              <a:t>•  A zero between non-zero digits is significant.  24507 has 5.</a:t>
            </a:r>
          </a:p>
        </p:txBody>
      </p:sp>
      <p:sp>
        <p:nvSpPr>
          <p:cNvPr id="9" name="TextBox 8"/>
          <p:cNvSpPr txBox="1"/>
          <p:nvPr/>
        </p:nvSpPr>
        <p:spPr>
          <a:xfrm>
            <a:off x="594360" y="2130552"/>
            <a:ext cx="11018520" cy="502920"/>
          </a:xfrm>
          <a:prstGeom prst="rect">
            <a:avLst/>
          </a:prstGeom>
          <a:noFill/>
        </p:spPr>
        <p:txBody>
          <a:bodyPr wrap="square" lIns="0" rIns="0" tIns="0" bIns="0" anchor="t">
            <a:spAutoFit/>
          </a:bodyPr>
          <a:lstStyle/>
          <a:p>
            <a:pPr algn="l">
              <a:lnSpc>
                <a:spcPct val="110000"/>
              </a:lnSpc>
              <a:spcBef>
                <a:spcPts val="0"/>
              </a:spcBef>
              <a:spcAft>
                <a:spcPts val="0"/>
              </a:spcAft>
            </a:pPr>
            <a:r>
              <a:rPr sz="1600" b="0">
                <a:solidFill>
                  <a:srgbClr val="FFFFFF"/>
                </a:solidFill>
                <a:latin typeface="Aptos"/>
              </a:rPr>
              <a:t>•  A trailing zero with no decimal point is not significant.  4500 m has 2.</a:t>
            </a:r>
          </a:p>
        </p:txBody>
      </p:sp>
      <p:sp>
        <p:nvSpPr>
          <p:cNvPr id="10" name="TextBox 9"/>
          <p:cNvSpPr txBox="1"/>
          <p:nvPr/>
        </p:nvSpPr>
        <p:spPr>
          <a:xfrm>
            <a:off x="594360" y="2724912"/>
            <a:ext cx="11018520" cy="502920"/>
          </a:xfrm>
          <a:prstGeom prst="rect">
            <a:avLst/>
          </a:prstGeom>
          <a:noFill/>
        </p:spPr>
        <p:txBody>
          <a:bodyPr wrap="square" lIns="0" rIns="0" tIns="0" bIns="0" anchor="t">
            <a:spAutoFit/>
          </a:bodyPr>
          <a:lstStyle/>
          <a:p>
            <a:pPr algn="l">
              <a:lnSpc>
                <a:spcPct val="110000"/>
              </a:lnSpc>
              <a:spcBef>
                <a:spcPts val="0"/>
              </a:spcBef>
              <a:spcAft>
                <a:spcPts val="0"/>
              </a:spcAft>
            </a:pPr>
            <a:r>
              <a:rPr sz="1600" b="0">
                <a:solidFill>
                  <a:srgbClr val="FFFFFF"/>
                </a:solidFill>
                <a:latin typeface="Aptos"/>
              </a:rPr>
              <a:t>•  Zeros after the decimal point are significant.  45.00 cm has 4.</a:t>
            </a:r>
          </a:p>
        </p:txBody>
      </p:sp>
      <p:sp>
        <p:nvSpPr>
          <p:cNvPr id="11" name="TextBox 10"/>
          <p:cNvSpPr txBox="1"/>
          <p:nvPr/>
        </p:nvSpPr>
        <p:spPr>
          <a:xfrm>
            <a:off x="594360" y="3456432"/>
            <a:ext cx="11018520" cy="438912"/>
          </a:xfrm>
          <a:prstGeom prst="rect">
            <a:avLst/>
          </a:prstGeom>
          <a:noFill/>
        </p:spPr>
        <p:txBody>
          <a:bodyPr wrap="square" lIns="0" rIns="0" tIns="0" bIns="0" anchor="t">
            <a:spAutoFit/>
          </a:bodyPr>
          <a:lstStyle/>
          <a:p>
            <a:pPr algn="l">
              <a:lnSpc>
                <a:spcPct val="110000"/>
              </a:lnSpc>
              <a:spcBef>
                <a:spcPts val="0"/>
              </a:spcBef>
              <a:spcAft>
                <a:spcPts val="0"/>
              </a:spcAft>
            </a:pPr>
            <a:r>
              <a:rPr sz="1600" b="0">
                <a:solidFill>
                  <a:srgbClr val="FF9E40"/>
                </a:solidFill>
                <a:latin typeface="Aptos"/>
              </a:rPr>
              <a:t>4500 m and 45.00 cm are not the same kind of zero.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RULES</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How to count — part 2</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8</a:t>
            </a:r>
          </a:p>
        </p:txBody>
      </p:sp>
      <p:sp>
        <p:nvSpPr>
          <p:cNvPr id="7" name="TextBox 6"/>
          <p:cNvSpPr txBox="1"/>
          <p:nvPr/>
        </p:nvSpPr>
        <p:spPr>
          <a:xfrm>
            <a:off x="594360" y="1078992"/>
            <a:ext cx="11018520" cy="777240"/>
          </a:xfrm>
          <a:prstGeom prst="rect">
            <a:avLst/>
          </a:prstGeom>
          <a:noFill/>
        </p:spPr>
        <p:txBody>
          <a:bodyPr wrap="square" lIns="0" rIns="0" tIns="0" bIns="0" anchor="t">
            <a:spAutoFit/>
          </a:bodyPr>
          <a:lstStyle/>
          <a:p>
            <a:pPr algn="l">
              <a:lnSpc>
                <a:spcPct val="110000"/>
              </a:lnSpc>
              <a:spcBef>
                <a:spcPts val="0"/>
              </a:spcBef>
              <a:spcAft>
                <a:spcPts val="0"/>
              </a:spcAft>
            </a:pPr>
            <a:r>
              <a:rPr sz="1600" b="0">
                <a:solidFill>
                  <a:srgbClr val="FFFFFF"/>
                </a:solidFill>
                <a:latin typeface="Aptos"/>
              </a:rPr>
              <a:t>•  In a number smaller than 1, zeros on the left of the first non-zero digit are not significant.  0.02 m has 1.  0.0307 m has 3.</a:t>
            </a:r>
          </a:p>
        </p:txBody>
      </p:sp>
      <p:sp>
        <p:nvSpPr>
          <p:cNvPr id="8" name="TextBox 7"/>
          <p:cNvSpPr txBox="1"/>
          <p:nvPr/>
        </p:nvSpPr>
        <p:spPr>
          <a:xfrm>
            <a:off x="594360" y="2039112"/>
            <a:ext cx="11018520" cy="640080"/>
          </a:xfrm>
          <a:prstGeom prst="rect">
            <a:avLst/>
          </a:prstGeom>
          <a:noFill/>
        </p:spPr>
        <p:txBody>
          <a:bodyPr wrap="square" lIns="0" rIns="0" tIns="0" bIns="0" anchor="t">
            <a:spAutoFit/>
          </a:bodyPr>
          <a:lstStyle/>
          <a:p>
            <a:pPr algn="l">
              <a:lnSpc>
                <a:spcPct val="110000"/>
              </a:lnSpc>
              <a:spcBef>
                <a:spcPts val="0"/>
              </a:spcBef>
              <a:spcAft>
                <a:spcPts val="0"/>
              </a:spcAft>
            </a:pPr>
            <a:r>
              <a:rPr sz="1600" b="0">
                <a:solidFill>
                  <a:srgbClr val="FFFFFF"/>
                </a:solidFill>
                <a:latin typeface="Aptos"/>
              </a:rPr>
              <a:t>•  An exact count has unlimited significant digits. Five pens means exactly 5, not a measured 5.</a:t>
            </a:r>
          </a:p>
        </p:txBody>
      </p:sp>
      <p:sp>
        <p:nvSpPr>
          <p:cNvPr id="9" name="TextBox 8"/>
          <p:cNvSpPr txBox="1"/>
          <p:nvPr/>
        </p:nvSpPr>
        <p:spPr>
          <a:xfrm>
            <a:off x="594360" y="2816352"/>
            <a:ext cx="11018520" cy="685800"/>
          </a:xfrm>
          <a:prstGeom prst="rect">
            <a:avLst/>
          </a:prstGeom>
          <a:noFill/>
        </p:spPr>
        <p:txBody>
          <a:bodyPr wrap="square" lIns="0" rIns="0" tIns="0" bIns="0" anchor="t">
            <a:spAutoFit/>
          </a:bodyPr>
          <a:lstStyle/>
          <a:p>
            <a:pPr algn="l">
              <a:lnSpc>
                <a:spcPct val="110000"/>
              </a:lnSpc>
              <a:spcBef>
                <a:spcPts val="0"/>
              </a:spcBef>
              <a:spcAft>
                <a:spcPts val="0"/>
              </a:spcAft>
            </a:pPr>
            <a:r>
              <a:rPr sz="1600" b="0">
                <a:solidFill>
                  <a:srgbClr val="FFFFFF"/>
                </a:solidFill>
                <a:latin typeface="Aptos"/>
              </a:rPr>
              <a:t>•  In scientific notation, only the front number is counted.  2.303 × 10²³ m has 4 significant digits.</a:t>
            </a:r>
          </a:p>
        </p:txBody>
      </p:sp>
      <p:sp>
        <p:nvSpPr>
          <p:cNvPr id="10" name="Rectangle 9"/>
          <p:cNvSpPr/>
          <p:nvPr/>
        </p:nvSpPr>
        <p:spPr>
          <a:xfrm>
            <a:off x="594360" y="3685032"/>
            <a:ext cx="11018520" cy="777240"/>
          </a:xfrm>
          <a:prstGeom prst="rect">
            <a:avLst/>
          </a:prstGeom>
          <a:solidFill>
            <a:srgbClr val="FFF8E1"/>
          </a:solidFill>
          <a:ln w="19050">
            <a:solidFill>
              <a:srgbClr val="DAA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8952" y="3831336"/>
            <a:ext cx="10689336" cy="484632"/>
          </a:xfrm>
          <a:prstGeom prst="rect">
            <a:avLst/>
          </a:prstGeom>
          <a:noFill/>
        </p:spPr>
        <p:txBody>
          <a:bodyPr wrap="square" lIns="0" rIns="0" tIns="0" bIns="0" anchor="ctr">
            <a:spAutoFit/>
          </a:bodyPr>
          <a:lstStyle/>
          <a:p>
            <a:pPr algn="ctr">
              <a:lnSpc>
                <a:spcPct val="115000"/>
              </a:lnSpc>
              <a:spcBef>
                <a:spcPts val="0"/>
              </a:spcBef>
              <a:spcAft>
                <a:spcPts val="0"/>
              </a:spcAft>
            </a:pPr>
            <a:r>
              <a:rPr sz="1350" b="1">
                <a:solidFill>
                  <a:srgbClr val="081E3F"/>
                </a:solidFill>
                <a:latin typeface="Aptos"/>
              </a:rPr>
              <a:t>Exact number → unlimited digits.    Power of ten → not a digit.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FF9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QUESTION</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Count these measurements</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9</a:t>
            </a:r>
          </a:p>
        </p:txBody>
      </p:sp>
      <p:sp>
        <p:nvSpPr>
          <p:cNvPr id="7" name="TextBox 6"/>
          <p:cNvSpPr txBox="1"/>
          <p:nvPr/>
        </p:nvSpPr>
        <p:spPr>
          <a:xfrm>
            <a:off x="594360" y="1078992"/>
            <a:ext cx="11018520" cy="365760"/>
          </a:xfrm>
          <a:prstGeom prst="rect">
            <a:avLst/>
          </a:prstGeom>
          <a:noFill/>
        </p:spPr>
        <p:txBody>
          <a:bodyPr wrap="square" lIns="0" rIns="0" tIns="0" bIns="0" anchor="t">
            <a:spAutoFit/>
          </a:bodyPr>
          <a:lstStyle/>
          <a:p>
            <a:pPr algn="l">
              <a:lnSpc>
                <a:spcPct val="110000"/>
              </a:lnSpc>
              <a:spcBef>
                <a:spcPts val="0"/>
              </a:spcBef>
              <a:spcAft>
                <a:spcPts val="0"/>
              </a:spcAft>
            </a:pPr>
            <a:r>
              <a:rPr sz="1900" b="1">
                <a:solidFill>
                  <a:srgbClr val="FF9E40"/>
                </a:solidFill>
                <a:latin typeface="Aptos"/>
              </a:rPr>
              <a:t>How many significant figures are in each?</a:t>
            </a:r>
          </a:p>
        </p:txBody>
      </p:sp>
      <p:sp>
        <p:nvSpPr>
          <p:cNvPr id="8" name="TextBox 7"/>
          <p:cNvSpPr txBox="1"/>
          <p:nvPr/>
        </p:nvSpPr>
        <p:spPr>
          <a:xfrm>
            <a:off x="594360" y="1581912"/>
            <a:ext cx="11018520" cy="365760"/>
          </a:xfrm>
          <a:prstGeom prst="rect">
            <a:avLst/>
          </a:prstGeom>
          <a:noFill/>
        </p:spPr>
        <p:txBody>
          <a:bodyPr wrap="square" lIns="0" rIns="0" tIns="0" bIns="0" anchor="t">
            <a:spAutoFit/>
          </a:bodyPr>
          <a:lstStyle/>
          <a:p>
            <a:pPr algn="l">
              <a:lnSpc>
                <a:spcPct val="110000"/>
              </a:lnSpc>
              <a:spcBef>
                <a:spcPts val="0"/>
              </a:spcBef>
              <a:spcAft>
                <a:spcPts val="0"/>
              </a:spcAft>
            </a:pPr>
            <a:r>
              <a:rPr sz="1800" b="0">
                <a:solidFill>
                  <a:srgbClr val="FFFFFF"/>
                </a:solidFill>
                <a:latin typeface="Aptos"/>
              </a:rPr>
              <a:t>1.  36.7 m</a:t>
            </a:r>
          </a:p>
        </p:txBody>
      </p:sp>
      <p:sp>
        <p:nvSpPr>
          <p:cNvPr id="9" name="TextBox 8"/>
          <p:cNvSpPr txBox="1"/>
          <p:nvPr/>
        </p:nvSpPr>
        <p:spPr>
          <a:xfrm>
            <a:off x="594360" y="2039112"/>
            <a:ext cx="11018520" cy="365760"/>
          </a:xfrm>
          <a:prstGeom prst="rect">
            <a:avLst/>
          </a:prstGeom>
          <a:noFill/>
        </p:spPr>
        <p:txBody>
          <a:bodyPr wrap="square" lIns="0" rIns="0" tIns="0" bIns="0" anchor="t">
            <a:spAutoFit/>
          </a:bodyPr>
          <a:lstStyle/>
          <a:p>
            <a:pPr algn="l">
              <a:lnSpc>
                <a:spcPct val="110000"/>
              </a:lnSpc>
              <a:spcBef>
                <a:spcPts val="0"/>
              </a:spcBef>
              <a:spcAft>
                <a:spcPts val="0"/>
              </a:spcAft>
            </a:pPr>
            <a:r>
              <a:rPr sz="1800" b="0">
                <a:solidFill>
                  <a:srgbClr val="FFFFFF"/>
                </a:solidFill>
                <a:latin typeface="Aptos"/>
              </a:rPr>
              <a:t>2.  0.006606 s</a:t>
            </a:r>
          </a:p>
        </p:txBody>
      </p:sp>
      <p:sp>
        <p:nvSpPr>
          <p:cNvPr id="10" name="TextBox 9"/>
          <p:cNvSpPr txBox="1"/>
          <p:nvPr/>
        </p:nvSpPr>
        <p:spPr>
          <a:xfrm>
            <a:off x="594360" y="2496312"/>
            <a:ext cx="11018520" cy="365760"/>
          </a:xfrm>
          <a:prstGeom prst="rect">
            <a:avLst/>
          </a:prstGeom>
          <a:noFill/>
        </p:spPr>
        <p:txBody>
          <a:bodyPr wrap="square" lIns="0" rIns="0" tIns="0" bIns="0" anchor="t">
            <a:spAutoFit/>
          </a:bodyPr>
          <a:lstStyle/>
          <a:p>
            <a:pPr algn="l">
              <a:lnSpc>
                <a:spcPct val="110000"/>
              </a:lnSpc>
              <a:spcBef>
                <a:spcPts val="0"/>
              </a:spcBef>
              <a:spcAft>
                <a:spcPts val="0"/>
              </a:spcAft>
            </a:pPr>
            <a:r>
              <a:rPr sz="1800" b="0">
                <a:solidFill>
                  <a:srgbClr val="FFFFFF"/>
                </a:solidFill>
                <a:latin typeface="Aptos"/>
              </a:rPr>
              <a:t>3.  2, 002 kg</a:t>
            </a:r>
          </a:p>
        </p:txBody>
      </p:sp>
      <p:sp>
        <p:nvSpPr>
          <p:cNvPr id="11" name="TextBox 10"/>
          <p:cNvSpPr txBox="1"/>
          <p:nvPr/>
        </p:nvSpPr>
        <p:spPr>
          <a:xfrm>
            <a:off x="594360" y="2953511"/>
            <a:ext cx="11018520" cy="411480"/>
          </a:xfrm>
          <a:prstGeom prst="rect">
            <a:avLst/>
          </a:prstGeom>
          <a:noFill/>
        </p:spPr>
        <p:txBody>
          <a:bodyPr wrap="square" lIns="0" rIns="0" tIns="0" bIns="0" anchor="t">
            <a:spAutoFit/>
          </a:bodyPr>
          <a:lstStyle/>
          <a:p>
            <a:pPr algn="l">
              <a:lnSpc>
                <a:spcPct val="110000"/>
              </a:lnSpc>
              <a:spcBef>
                <a:spcPts val="0"/>
              </a:spcBef>
              <a:spcAft>
                <a:spcPts val="0"/>
              </a:spcAft>
            </a:pPr>
            <a:r>
              <a:rPr sz="1800" b="0">
                <a:solidFill>
                  <a:srgbClr val="FFFFFF"/>
                </a:solidFill>
                <a:latin typeface="Aptos"/>
              </a:rPr>
              <a:t>4.  306, 490, 000 people, counted exactly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ANSWER</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Solution: Count these measurements</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10</a:t>
            </a:r>
          </a:p>
        </p:txBody>
      </p:sp>
      <p:sp>
        <p:nvSpPr>
          <p:cNvPr id="7" name="TextBox 6"/>
          <p:cNvSpPr txBox="1"/>
          <p:nvPr/>
        </p:nvSpPr>
        <p:spPr>
          <a:xfrm>
            <a:off x="594360" y="1078992"/>
            <a:ext cx="11018520" cy="36576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Apply one rule to each number.</a:t>
            </a:r>
          </a:p>
        </p:txBody>
      </p:sp>
      <p:sp>
        <p:nvSpPr>
          <p:cNvPr id="8" name="TextBox 7"/>
          <p:cNvSpPr txBox="1"/>
          <p:nvPr/>
        </p:nvSpPr>
        <p:spPr>
          <a:xfrm>
            <a:off x="594360" y="153619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440" b="1">
                <a:solidFill>
                  <a:srgbClr val="5AC8FF"/>
                </a:solidFill>
                <a:latin typeface="Aptos"/>
              </a:rPr>
              <a:t>Step 1:  36.7 m — three non-zero digits → 3.</a:t>
            </a:r>
          </a:p>
        </p:txBody>
      </p:sp>
      <p:sp>
        <p:nvSpPr>
          <p:cNvPr id="9" name="TextBox 8"/>
          <p:cNvSpPr txBox="1"/>
          <p:nvPr/>
        </p:nvSpPr>
        <p:spPr>
          <a:xfrm>
            <a:off x="594360" y="208483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350" b="1">
                <a:solidFill>
                  <a:srgbClr val="5AC8FF"/>
                </a:solidFill>
                <a:latin typeface="Aptos"/>
              </a:rPr>
              <a:t>Step 2:  0.006606 s — leading zeros drop. Digits 6, 6, 0, 6 → 4.</a:t>
            </a:r>
          </a:p>
        </p:txBody>
      </p:sp>
      <p:sp>
        <p:nvSpPr>
          <p:cNvPr id="10" name="TextBox 9"/>
          <p:cNvSpPr txBox="1"/>
          <p:nvPr/>
        </p:nvSpPr>
        <p:spPr>
          <a:xfrm>
            <a:off x="594360" y="263347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440" b="1">
                <a:solidFill>
                  <a:srgbClr val="5AC8FF"/>
                </a:solidFill>
                <a:latin typeface="Aptos"/>
              </a:rPr>
              <a:t>Step 3:  2, 002 kg — zeros sit between non-zeros → 4.</a:t>
            </a:r>
          </a:p>
        </p:txBody>
      </p:sp>
      <p:sp>
        <p:nvSpPr>
          <p:cNvPr id="11" name="TextBox 10"/>
          <p:cNvSpPr txBox="1"/>
          <p:nvPr/>
        </p:nvSpPr>
        <p:spPr>
          <a:xfrm>
            <a:off x="594360" y="3182112"/>
            <a:ext cx="11018520" cy="640080"/>
          </a:xfrm>
          <a:prstGeom prst="rect">
            <a:avLst/>
          </a:prstGeom>
          <a:noFill/>
        </p:spPr>
        <p:txBody>
          <a:bodyPr wrap="square" lIns="0" rIns="0" tIns="0" bIns="0" anchor="t">
            <a:spAutoFit/>
          </a:bodyPr>
          <a:lstStyle/>
          <a:p>
            <a:pPr algn="l">
              <a:lnSpc>
                <a:spcPct val="110000"/>
              </a:lnSpc>
              <a:spcBef>
                <a:spcPts val="0"/>
              </a:spcBef>
              <a:spcAft>
                <a:spcPts val="0"/>
              </a:spcAft>
            </a:pPr>
            <a:r>
              <a:rPr sz="1350" b="1">
                <a:solidFill>
                  <a:srgbClr val="5AC8FF"/>
                </a:solidFill>
                <a:latin typeface="Aptos"/>
              </a:rPr>
              <a:t>Step 4:  An exact people-count is not a measured guess → unlimited significant figures.</a:t>
            </a:r>
          </a:p>
        </p:txBody>
      </p:sp>
      <p:sp>
        <p:nvSpPr>
          <p:cNvPr id="12" name="TextBox 11"/>
          <p:cNvSpPr txBox="1"/>
          <p:nvPr/>
        </p:nvSpPr>
        <p:spPr>
          <a:xfrm>
            <a:off x="594360" y="3730752"/>
            <a:ext cx="11018520" cy="438912"/>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D680"/>
                </a:solidFill>
                <a:latin typeface="Aptos"/>
              </a:rPr>
              <a:t>3 , 4 , 4 , unlimited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FF9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QUESTION</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Three numbers together</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11</a:t>
            </a:r>
          </a:p>
        </p:txBody>
      </p:sp>
      <p:sp>
        <p:nvSpPr>
          <p:cNvPr id="7" name="TextBox 6"/>
          <p:cNvSpPr txBox="1"/>
          <p:nvPr/>
        </p:nvSpPr>
        <p:spPr>
          <a:xfrm>
            <a:off x="594360" y="1078992"/>
            <a:ext cx="11018520" cy="502920"/>
          </a:xfrm>
          <a:prstGeom prst="rect">
            <a:avLst/>
          </a:prstGeom>
          <a:noFill/>
        </p:spPr>
        <p:txBody>
          <a:bodyPr wrap="square" lIns="0" rIns="0" tIns="0" bIns="0" anchor="t">
            <a:spAutoFit/>
          </a:bodyPr>
          <a:lstStyle/>
          <a:p>
            <a:pPr algn="l">
              <a:lnSpc>
                <a:spcPct val="110000"/>
              </a:lnSpc>
              <a:spcBef>
                <a:spcPts val="0"/>
              </a:spcBef>
              <a:spcAft>
                <a:spcPts val="0"/>
              </a:spcAft>
            </a:pPr>
            <a:r>
              <a:rPr sz="1900" b="1">
                <a:solidFill>
                  <a:srgbClr val="FF9E40"/>
                </a:solidFill>
                <a:latin typeface="Aptos"/>
              </a:rPr>
              <a:t>P = 0.0030 m, Q = 2.40 m, R = 3000 m.</a:t>
            </a:r>
          </a:p>
        </p:txBody>
      </p:sp>
      <p:sp>
        <p:nvSpPr>
          <p:cNvPr id="8" name="TextBox 7"/>
          <p:cNvSpPr txBox="1"/>
          <p:nvPr/>
        </p:nvSpPr>
        <p:spPr>
          <a:xfrm>
            <a:off x="594360" y="1627631"/>
            <a:ext cx="11018520" cy="365760"/>
          </a:xfrm>
          <a:prstGeom prst="rect">
            <a:avLst/>
          </a:prstGeom>
          <a:noFill/>
        </p:spPr>
        <p:txBody>
          <a:bodyPr wrap="square" lIns="0" rIns="0" tIns="0" bIns="0" anchor="t">
            <a:spAutoFit/>
          </a:bodyPr>
          <a:lstStyle/>
          <a:p>
            <a:pPr algn="l">
              <a:lnSpc>
                <a:spcPct val="110000"/>
              </a:lnSpc>
              <a:spcBef>
                <a:spcPts val="0"/>
              </a:spcBef>
              <a:spcAft>
                <a:spcPts val="0"/>
              </a:spcAft>
            </a:pPr>
            <a:r>
              <a:rPr sz="1900" b="1">
                <a:solidFill>
                  <a:srgbClr val="FF9E40"/>
                </a:solidFill>
                <a:latin typeface="Aptos"/>
              </a:rPr>
              <a:t>Significant figures in P, Q, R are</a:t>
            </a:r>
          </a:p>
        </p:txBody>
      </p:sp>
      <p:sp>
        <p:nvSpPr>
          <p:cNvPr id="9" name="Oval 8"/>
          <p:cNvSpPr/>
          <p:nvPr/>
        </p:nvSpPr>
        <p:spPr>
          <a:xfrm>
            <a:off x="594360" y="2231136"/>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2249424"/>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1</a:t>
            </a:r>
          </a:p>
        </p:txBody>
      </p:sp>
      <p:sp>
        <p:nvSpPr>
          <p:cNvPr id="11" name="TextBox 10"/>
          <p:cNvSpPr txBox="1"/>
          <p:nvPr/>
        </p:nvSpPr>
        <p:spPr>
          <a:xfrm>
            <a:off x="1014984" y="2212848"/>
            <a:ext cx="918057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1, 2, 1</a:t>
            </a:r>
          </a:p>
        </p:txBody>
      </p:sp>
      <p:sp>
        <p:nvSpPr>
          <p:cNvPr id="12" name="Oval 11"/>
          <p:cNvSpPr/>
          <p:nvPr/>
        </p:nvSpPr>
        <p:spPr>
          <a:xfrm>
            <a:off x="594360" y="2706624"/>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724912"/>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2</a:t>
            </a:r>
          </a:p>
        </p:txBody>
      </p:sp>
      <p:sp>
        <p:nvSpPr>
          <p:cNvPr id="14" name="TextBox 13"/>
          <p:cNvSpPr txBox="1"/>
          <p:nvPr/>
        </p:nvSpPr>
        <p:spPr>
          <a:xfrm>
            <a:off x="1014984" y="2688336"/>
            <a:ext cx="918057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2, 3, 1</a:t>
            </a:r>
          </a:p>
        </p:txBody>
      </p:sp>
      <p:sp>
        <p:nvSpPr>
          <p:cNvPr id="15" name="Oval 14"/>
          <p:cNvSpPr/>
          <p:nvPr/>
        </p:nvSpPr>
        <p:spPr>
          <a:xfrm>
            <a:off x="594360" y="3182112"/>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3200400"/>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3</a:t>
            </a:r>
          </a:p>
        </p:txBody>
      </p:sp>
      <p:sp>
        <p:nvSpPr>
          <p:cNvPr id="17" name="TextBox 16"/>
          <p:cNvSpPr txBox="1"/>
          <p:nvPr/>
        </p:nvSpPr>
        <p:spPr>
          <a:xfrm>
            <a:off x="1014984" y="3163824"/>
            <a:ext cx="918057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4, 2, 1</a:t>
            </a:r>
          </a:p>
        </p:txBody>
      </p:sp>
      <p:sp>
        <p:nvSpPr>
          <p:cNvPr id="18" name="Oval 17"/>
          <p:cNvSpPr/>
          <p:nvPr/>
        </p:nvSpPr>
        <p:spPr>
          <a:xfrm>
            <a:off x="594360" y="3657600"/>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3675887"/>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4</a:t>
            </a:r>
          </a:p>
        </p:txBody>
      </p:sp>
      <p:sp>
        <p:nvSpPr>
          <p:cNvPr id="20" name="TextBox 19"/>
          <p:cNvSpPr txBox="1"/>
          <p:nvPr/>
        </p:nvSpPr>
        <p:spPr>
          <a:xfrm>
            <a:off x="1014984" y="3639312"/>
            <a:ext cx="918057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4, 2, 4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ANSWER</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Solution: Three numbers together</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12</a:t>
            </a:r>
          </a:p>
        </p:txBody>
      </p:sp>
      <p:sp>
        <p:nvSpPr>
          <p:cNvPr id="7" name="TextBox 6"/>
          <p:cNvSpPr txBox="1"/>
          <p:nvPr/>
        </p:nvSpPr>
        <p:spPr>
          <a:xfrm>
            <a:off x="594360" y="1078992"/>
            <a:ext cx="11018520" cy="36576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Read each number with its own zero rule.</a:t>
            </a:r>
          </a:p>
        </p:txBody>
      </p:sp>
      <p:sp>
        <p:nvSpPr>
          <p:cNvPr id="8" name="TextBox 7"/>
          <p:cNvSpPr txBox="1"/>
          <p:nvPr/>
        </p:nvSpPr>
        <p:spPr>
          <a:xfrm>
            <a:off x="594360" y="153619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350" b="1">
                <a:solidFill>
                  <a:srgbClr val="5AC8FF"/>
                </a:solidFill>
                <a:latin typeface="Aptos"/>
              </a:rPr>
              <a:t>Step 1:  P = 0.0030. Leading zeros drop. The last 0 is after the decimal → 2.</a:t>
            </a:r>
          </a:p>
        </p:txBody>
      </p:sp>
      <p:sp>
        <p:nvSpPr>
          <p:cNvPr id="9" name="TextBox 8"/>
          <p:cNvSpPr txBox="1"/>
          <p:nvPr/>
        </p:nvSpPr>
        <p:spPr>
          <a:xfrm>
            <a:off x="594360" y="208483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440" b="1">
                <a:solidFill>
                  <a:srgbClr val="5AC8FF"/>
                </a:solidFill>
                <a:latin typeface="Aptos"/>
              </a:rPr>
              <a:t>Step 2:  Q = 2.40. The zero after the decimal counts → 3.</a:t>
            </a:r>
          </a:p>
        </p:txBody>
      </p:sp>
      <p:sp>
        <p:nvSpPr>
          <p:cNvPr id="10" name="TextBox 9"/>
          <p:cNvSpPr txBox="1"/>
          <p:nvPr/>
        </p:nvSpPr>
        <p:spPr>
          <a:xfrm>
            <a:off x="594360" y="263347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350" b="1">
                <a:solidFill>
                  <a:srgbClr val="5AC8FF"/>
                </a:solidFill>
                <a:latin typeface="Aptos"/>
              </a:rPr>
              <a:t>Step 3:  R = 3000. No decimal point, so trailing zeros drop → 1.</a:t>
            </a:r>
          </a:p>
        </p:txBody>
      </p:sp>
      <p:sp>
        <p:nvSpPr>
          <p:cNvPr id="11" name="TextBox 10"/>
          <p:cNvSpPr txBox="1"/>
          <p:nvPr/>
        </p:nvSpPr>
        <p:spPr>
          <a:xfrm>
            <a:off x="594360" y="3182112"/>
            <a:ext cx="11018520" cy="438912"/>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D680"/>
                </a:solidFill>
                <a:latin typeface="Aptos"/>
              </a:rPr>
              <a:t>Final answer: 2, 3, 1   (option 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B0B6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ROUGH WORK</a:t>
            </a:r>
          </a:p>
        </p:txBody>
      </p:sp>
      <p:sp>
        <p:nvSpPr>
          <p:cNvPr id="4" name="TextBox 3"/>
          <p:cNvSpPr txBox="1"/>
          <p:nvPr/>
        </p:nvSpPr>
        <p:spPr>
          <a:xfrm>
            <a:off x="594360" y="310896"/>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980" b="1">
                <a:solidFill>
                  <a:srgbClr val="FFD646"/>
                </a:solidFill>
                <a:latin typeface="Aptos"/>
              </a:rPr>
              <a:t>Rough work  /  extra work</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ARITHMETIC</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Addition and subtraction</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14</a:t>
            </a:r>
          </a:p>
        </p:txBody>
      </p:sp>
      <p:sp>
        <p:nvSpPr>
          <p:cNvPr id="7" name="TextBox 6"/>
          <p:cNvSpPr txBox="1"/>
          <p:nvPr/>
        </p:nvSpPr>
        <p:spPr>
          <a:xfrm>
            <a:off x="594360" y="1078992"/>
            <a:ext cx="11018520" cy="114300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When you add or subtract, the answer is limited by the least precise decimal place. The calculator may print extra digits. Those extra digits are not in the measurements, so they are cut off.</a:t>
            </a:r>
          </a:p>
        </p:txBody>
      </p:sp>
      <p:sp>
        <p:nvSpPr>
          <p:cNvPr id="8" name="TextBox 7"/>
          <p:cNvSpPr txBox="1"/>
          <p:nvPr/>
        </p:nvSpPr>
        <p:spPr>
          <a:xfrm>
            <a:off x="594360" y="2359152"/>
            <a:ext cx="11018520" cy="640080"/>
          </a:xfrm>
          <a:prstGeom prst="rect">
            <a:avLst/>
          </a:prstGeom>
          <a:noFill/>
        </p:spPr>
        <p:txBody>
          <a:bodyPr wrap="square" lIns="0" rIns="0" tIns="0" bIns="0" anchor="t">
            <a:spAutoFit/>
          </a:bodyPr>
          <a:lstStyle/>
          <a:p>
            <a:pPr algn="l">
              <a:lnSpc>
                <a:spcPct val="110000"/>
              </a:lnSpc>
              <a:spcBef>
                <a:spcPts val="0"/>
              </a:spcBef>
              <a:spcAft>
                <a:spcPts val="0"/>
              </a:spcAft>
            </a:pPr>
            <a:r>
              <a:rPr sz="1350" b="1">
                <a:solidFill>
                  <a:srgbClr val="5AC8FF"/>
                </a:solidFill>
                <a:latin typeface="Aptos"/>
              </a:rPr>
              <a:t>4.71 + 1.3 = 6.01 on a calculator.  1.3 has one decimal place, so the sum is 6.0.</a:t>
            </a:r>
          </a:p>
        </p:txBody>
      </p:sp>
      <p:sp>
        <p:nvSpPr>
          <p:cNvPr id="9" name="TextBox 8"/>
          <p:cNvSpPr txBox="1"/>
          <p:nvPr/>
        </p:nvSpPr>
        <p:spPr>
          <a:xfrm>
            <a:off x="594360" y="3090672"/>
            <a:ext cx="11018520" cy="640080"/>
          </a:xfrm>
          <a:prstGeom prst="rect">
            <a:avLst/>
          </a:prstGeom>
          <a:noFill/>
        </p:spPr>
        <p:txBody>
          <a:bodyPr wrap="square" lIns="0" rIns="0" tIns="0" bIns="0" anchor="t">
            <a:spAutoFit/>
          </a:bodyPr>
          <a:lstStyle/>
          <a:p>
            <a:pPr algn="l">
              <a:lnSpc>
                <a:spcPct val="110000"/>
              </a:lnSpc>
              <a:spcBef>
                <a:spcPts val="0"/>
              </a:spcBef>
              <a:spcAft>
                <a:spcPts val="0"/>
              </a:spcAft>
            </a:pPr>
            <a:r>
              <a:rPr sz="1350" b="1">
                <a:solidFill>
                  <a:srgbClr val="5AC8FF"/>
                </a:solidFill>
                <a:latin typeface="Aptos"/>
              </a:rPr>
              <a:t>3.813 + 2.21 = 6.023.  2.21 has two decimal places, so the sum is 6.02.</a:t>
            </a:r>
          </a:p>
        </p:txBody>
      </p:sp>
      <p:sp>
        <p:nvSpPr>
          <p:cNvPr id="10" name="Rectangle 9"/>
          <p:cNvSpPr/>
          <p:nvPr/>
        </p:nvSpPr>
        <p:spPr>
          <a:xfrm>
            <a:off x="594360" y="3913632"/>
            <a:ext cx="11018520" cy="731520"/>
          </a:xfrm>
          <a:prstGeom prst="rect">
            <a:avLst/>
          </a:prstGeom>
          <a:solidFill>
            <a:srgbClr val="FFF8E1"/>
          </a:solidFill>
          <a:ln w="19050">
            <a:solidFill>
              <a:srgbClr val="DAA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8952" y="4059936"/>
            <a:ext cx="10689336" cy="438912"/>
          </a:xfrm>
          <a:prstGeom prst="rect">
            <a:avLst/>
          </a:prstGeom>
          <a:noFill/>
        </p:spPr>
        <p:txBody>
          <a:bodyPr wrap="square" lIns="0" rIns="0" tIns="0" bIns="0" anchor="ctr">
            <a:spAutoFit/>
          </a:bodyPr>
          <a:lstStyle/>
          <a:p>
            <a:pPr algn="ctr">
              <a:lnSpc>
                <a:spcPct val="115000"/>
              </a:lnSpc>
              <a:spcBef>
                <a:spcPts val="0"/>
              </a:spcBef>
              <a:spcAft>
                <a:spcPts val="0"/>
              </a:spcAft>
            </a:pPr>
            <a:r>
              <a:rPr sz="1350" b="1">
                <a:solidFill>
                  <a:srgbClr val="081E3F"/>
                </a:solidFill>
                <a:latin typeface="Aptos"/>
              </a:rPr>
              <a:t>Sum or difference → keep the least number of decimal places.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ARITHMETIC</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Multiplication and division</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15</a:t>
            </a:r>
          </a:p>
        </p:txBody>
      </p:sp>
      <p:sp>
        <p:nvSpPr>
          <p:cNvPr id="7" name="TextBox 6"/>
          <p:cNvSpPr txBox="1"/>
          <p:nvPr/>
        </p:nvSpPr>
        <p:spPr>
          <a:xfrm>
            <a:off x="594360" y="1078992"/>
            <a:ext cx="11018520" cy="114300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When you multiply or divide, the answer keeps the smaller count of significant figures. Decimal places are not the rule here. The count of trusted digits is the rule.</a:t>
            </a:r>
          </a:p>
        </p:txBody>
      </p:sp>
      <p:sp>
        <p:nvSpPr>
          <p:cNvPr id="8" name="TextBox 7"/>
          <p:cNvSpPr txBox="1"/>
          <p:nvPr/>
        </p:nvSpPr>
        <p:spPr>
          <a:xfrm>
            <a:off x="594360" y="235915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440" b="1">
                <a:solidFill>
                  <a:srgbClr val="5AC8FF"/>
                </a:solidFill>
                <a:latin typeface="Aptos"/>
              </a:rPr>
              <a:t>3.01 × 3.1 = 9.331 on a calculator.</a:t>
            </a:r>
          </a:p>
        </p:txBody>
      </p:sp>
      <p:sp>
        <p:nvSpPr>
          <p:cNvPr id="9" name="TextBox 8"/>
          <p:cNvSpPr txBox="1"/>
          <p:nvPr/>
        </p:nvSpPr>
        <p:spPr>
          <a:xfrm>
            <a:off x="594360" y="290779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440" b="1">
                <a:solidFill>
                  <a:srgbClr val="5AC8FF"/>
                </a:solidFill>
                <a:latin typeface="Aptos"/>
              </a:rPr>
              <a:t>3.01 has 3 significant figures.  3.1 has 2. Keep 2 → 9.3.</a:t>
            </a:r>
          </a:p>
        </p:txBody>
      </p:sp>
      <p:sp>
        <p:nvSpPr>
          <p:cNvPr id="10" name="Rectangle 9"/>
          <p:cNvSpPr/>
          <p:nvPr/>
        </p:nvSpPr>
        <p:spPr>
          <a:xfrm>
            <a:off x="594360" y="3456432"/>
            <a:ext cx="11018520" cy="777240"/>
          </a:xfrm>
          <a:prstGeom prst="rect">
            <a:avLst/>
          </a:prstGeom>
          <a:solidFill>
            <a:srgbClr val="FFF8E1"/>
          </a:solidFill>
          <a:ln w="19050">
            <a:solidFill>
              <a:srgbClr val="DAA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8952" y="3602736"/>
            <a:ext cx="10689336" cy="484632"/>
          </a:xfrm>
          <a:prstGeom prst="rect">
            <a:avLst/>
          </a:prstGeom>
          <a:noFill/>
        </p:spPr>
        <p:txBody>
          <a:bodyPr wrap="square" lIns="0" rIns="0" tIns="0" bIns="0" anchor="ctr">
            <a:spAutoFit/>
          </a:bodyPr>
          <a:lstStyle/>
          <a:p>
            <a:pPr algn="ctr">
              <a:lnSpc>
                <a:spcPct val="115000"/>
              </a:lnSpc>
              <a:spcBef>
                <a:spcPts val="0"/>
              </a:spcBef>
              <a:spcAft>
                <a:spcPts val="0"/>
              </a:spcAft>
            </a:pPr>
            <a:r>
              <a:rPr sz="1350" b="1">
                <a:solidFill>
                  <a:srgbClr val="081E3F"/>
                </a:solidFill>
                <a:latin typeface="Aptos"/>
              </a:rPr>
              <a:t>Product or quotient → keep the least number of significant figures.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FF9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QUESTION</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Area of a rectangle</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16</a:t>
            </a:r>
          </a:p>
        </p:txBody>
      </p:sp>
      <p:sp>
        <p:nvSpPr>
          <p:cNvPr id="7" name="TextBox 6"/>
          <p:cNvSpPr txBox="1"/>
          <p:nvPr/>
        </p:nvSpPr>
        <p:spPr>
          <a:xfrm>
            <a:off x="594360" y="1078992"/>
            <a:ext cx="11018520" cy="777240"/>
          </a:xfrm>
          <a:prstGeom prst="rect">
            <a:avLst/>
          </a:prstGeom>
          <a:noFill/>
        </p:spPr>
        <p:txBody>
          <a:bodyPr wrap="square" lIns="0" rIns="0" tIns="0" bIns="0" anchor="t">
            <a:spAutoFit/>
          </a:bodyPr>
          <a:lstStyle/>
          <a:p>
            <a:pPr algn="l">
              <a:lnSpc>
                <a:spcPct val="110000"/>
              </a:lnSpc>
              <a:spcBef>
                <a:spcPts val="0"/>
              </a:spcBef>
              <a:spcAft>
                <a:spcPts val="0"/>
              </a:spcAft>
            </a:pPr>
            <a:r>
              <a:rPr sz="1900" b="1">
                <a:solidFill>
                  <a:srgbClr val="FF9E40"/>
                </a:solidFill>
                <a:latin typeface="Aptos"/>
              </a:rPr>
              <a:t>Length 55.3 m, breadth 25 m. The area, with the proper significant figures, is</a:t>
            </a:r>
          </a:p>
        </p:txBody>
      </p:sp>
      <p:sp>
        <p:nvSpPr>
          <p:cNvPr id="8" name="Oval 7"/>
          <p:cNvSpPr/>
          <p:nvPr/>
        </p:nvSpPr>
        <p:spPr>
          <a:xfrm>
            <a:off x="594360" y="2093976"/>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2112264"/>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1</a:t>
            </a:r>
          </a:p>
        </p:txBody>
      </p:sp>
      <p:sp>
        <p:nvSpPr>
          <p:cNvPr id="10" name="TextBox 9"/>
          <p:cNvSpPr txBox="1"/>
          <p:nvPr/>
        </p:nvSpPr>
        <p:spPr>
          <a:xfrm>
            <a:off x="1014984" y="2075688"/>
            <a:ext cx="945489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1382 m²</a:t>
            </a:r>
          </a:p>
        </p:txBody>
      </p:sp>
      <p:sp>
        <p:nvSpPr>
          <p:cNvPr id="11" name="Oval 10"/>
          <p:cNvSpPr/>
          <p:nvPr/>
        </p:nvSpPr>
        <p:spPr>
          <a:xfrm>
            <a:off x="594360" y="2569464"/>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2587752"/>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2</a:t>
            </a:r>
          </a:p>
        </p:txBody>
      </p:sp>
      <p:sp>
        <p:nvSpPr>
          <p:cNvPr id="13" name="TextBox 12"/>
          <p:cNvSpPr txBox="1"/>
          <p:nvPr/>
        </p:nvSpPr>
        <p:spPr>
          <a:xfrm>
            <a:off x="1014984" y="2551176"/>
            <a:ext cx="945489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1382.5 m²</a:t>
            </a:r>
          </a:p>
        </p:txBody>
      </p:sp>
      <p:sp>
        <p:nvSpPr>
          <p:cNvPr id="14" name="Oval 13"/>
          <p:cNvSpPr/>
          <p:nvPr/>
        </p:nvSpPr>
        <p:spPr>
          <a:xfrm>
            <a:off x="594360" y="3044952"/>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3063240"/>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3</a:t>
            </a:r>
          </a:p>
        </p:txBody>
      </p:sp>
      <p:sp>
        <p:nvSpPr>
          <p:cNvPr id="16" name="TextBox 15"/>
          <p:cNvSpPr txBox="1"/>
          <p:nvPr/>
        </p:nvSpPr>
        <p:spPr>
          <a:xfrm>
            <a:off x="1014984" y="3026664"/>
            <a:ext cx="945489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14 × 10² m²</a:t>
            </a:r>
          </a:p>
        </p:txBody>
      </p:sp>
      <p:sp>
        <p:nvSpPr>
          <p:cNvPr id="17" name="Oval 16"/>
          <p:cNvSpPr/>
          <p:nvPr/>
        </p:nvSpPr>
        <p:spPr>
          <a:xfrm>
            <a:off x="594360" y="3520440"/>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3538728"/>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4</a:t>
            </a:r>
          </a:p>
        </p:txBody>
      </p:sp>
      <p:sp>
        <p:nvSpPr>
          <p:cNvPr id="19" name="TextBox 18"/>
          <p:cNvSpPr txBox="1"/>
          <p:nvPr/>
        </p:nvSpPr>
        <p:spPr>
          <a:xfrm>
            <a:off x="1014984" y="3502152"/>
            <a:ext cx="945489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138 × 10¹ m²</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ANSWER</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Solution: Area of a rectangle</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17</a:t>
            </a:r>
          </a:p>
        </p:txBody>
      </p:sp>
      <p:sp>
        <p:nvSpPr>
          <p:cNvPr id="7" name="TextBox 6"/>
          <p:cNvSpPr txBox="1"/>
          <p:nvPr/>
        </p:nvSpPr>
        <p:spPr>
          <a:xfrm>
            <a:off x="594360" y="1078992"/>
            <a:ext cx="11018520" cy="438912"/>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Area is a product, so count significant figures, not decimal places.</a:t>
            </a:r>
          </a:p>
        </p:txBody>
      </p:sp>
      <p:sp>
        <p:nvSpPr>
          <p:cNvPr id="8" name="TextBox 7"/>
          <p:cNvSpPr txBox="1"/>
          <p:nvPr/>
        </p:nvSpPr>
        <p:spPr>
          <a:xfrm>
            <a:off x="594360" y="1609343"/>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440" b="1">
                <a:solidFill>
                  <a:srgbClr val="5AC8FF"/>
                </a:solidFill>
                <a:latin typeface="Aptos"/>
              </a:rPr>
              <a:t>Step 1:  A = 55.3 × 25 = 1382.5 m² on the calculator.</a:t>
            </a:r>
          </a:p>
        </p:txBody>
      </p:sp>
      <p:sp>
        <p:nvSpPr>
          <p:cNvPr id="9" name="TextBox 8"/>
          <p:cNvSpPr txBox="1"/>
          <p:nvPr/>
        </p:nvSpPr>
        <p:spPr>
          <a:xfrm>
            <a:off x="594360" y="2157984"/>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440" b="1">
                <a:solidFill>
                  <a:srgbClr val="5AC8FF"/>
                </a:solidFill>
                <a:latin typeface="Aptos"/>
              </a:rPr>
              <a:t>Step 2:  55.3 has 3 significant figures.  25 has 2. Keep 2.</a:t>
            </a:r>
          </a:p>
        </p:txBody>
      </p:sp>
      <p:sp>
        <p:nvSpPr>
          <p:cNvPr id="10" name="TextBox 9"/>
          <p:cNvSpPr txBox="1"/>
          <p:nvPr/>
        </p:nvSpPr>
        <p:spPr>
          <a:xfrm>
            <a:off x="594360" y="2706623"/>
            <a:ext cx="11018520" cy="640080"/>
          </a:xfrm>
          <a:prstGeom prst="rect">
            <a:avLst/>
          </a:prstGeom>
          <a:noFill/>
        </p:spPr>
        <p:txBody>
          <a:bodyPr wrap="square" lIns="0" rIns="0" tIns="0" bIns="0" anchor="t">
            <a:spAutoFit/>
          </a:bodyPr>
          <a:lstStyle/>
          <a:p>
            <a:pPr algn="l">
              <a:lnSpc>
                <a:spcPct val="110000"/>
              </a:lnSpc>
              <a:spcBef>
                <a:spcPts val="0"/>
              </a:spcBef>
              <a:spcAft>
                <a:spcPts val="0"/>
              </a:spcAft>
            </a:pPr>
            <a:r>
              <a:rPr sz="1350" b="1">
                <a:solidFill>
                  <a:srgbClr val="5AC8FF"/>
                </a:solidFill>
                <a:latin typeface="Aptos"/>
              </a:rPr>
              <a:t>Step 3:  1382.5 to 2 significant figures is 1.4 × 10³, which is the same as 14 × 10².</a:t>
            </a:r>
          </a:p>
        </p:txBody>
      </p:sp>
      <p:sp>
        <p:nvSpPr>
          <p:cNvPr id="11" name="TextBox 10"/>
          <p:cNvSpPr txBox="1"/>
          <p:nvPr/>
        </p:nvSpPr>
        <p:spPr>
          <a:xfrm>
            <a:off x="594360" y="3255263"/>
            <a:ext cx="11018520" cy="438912"/>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D680"/>
                </a:solidFill>
                <a:latin typeface="Aptos"/>
              </a:rPr>
              <a:t>Final answer: 14 × 10² m²   (option 3)</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B0B6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ROUGH WORK</a:t>
            </a:r>
          </a:p>
        </p:txBody>
      </p:sp>
      <p:sp>
        <p:nvSpPr>
          <p:cNvPr id="4" name="TextBox 3"/>
          <p:cNvSpPr txBox="1"/>
          <p:nvPr/>
        </p:nvSpPr>
        <p:spPr>
          <a:xfrm>
            <a:off x="594360" y="310896"/>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980" b="1">
                <a:solidFill>
                  <a:srgbClr val="FFD646"/>
                </a:solidFill>
                <a:latin typeface="Aptos"/>
              </a:rPr>
              <a:t>Rough work  /  extra work</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FF9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QUESTION</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A small subtraction</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19</a:t>
            </a:r>
          </a:p>
        </p:txBody>
      </p:sp>
      <p:sp>
        <p:nvSpPr>
          <p:cNvPr id="7" name="TextBox 6"/>
          <p:cNvSpPr txBox="1"/>
          <p:nvPr/>
        </p:nvSpPr>
        <p:spPr>
          <a:xfrm>
            <a:off x="594360" y="1078992"/>
            <a:ext cx="11018520" cy="640080"/>
          </a:xfrm>
          <a:prstGeom prst="rect">
            <a:avLst/>
          </a:prstGeom>
          <a:noFill/>
        </p:spPr>
        <p:txBody>
          <a:bodyPr wrap="square" lIns="0" rIns="0" tIns="0" bIns="0" anchor="t">
            <a:spAutoFit/>
          </a:bodyPr>
          <a:lstStyle/>
          <a:p>
            <a:pPr algn="l">
              <a:lnSpc>
                <a:spcPct val="110000"/>
              </a:lnSpc>
              <a:spcBef>
                <a:spcPts val="0"/>
              </a:spcBef>
              <a:spcAft>
                <a:spcPts val="0"/>
              </a:spcAft>
            </a:pPr>
            <a:r>
              <a:rPr sz="1900" b="1">
                <a:solidFill>
                  <a:srgbClr val="FF9E40"/>
                </a:solidFill>
                <a:latin typeface="Aptos"/>
              </a:rPr>
              <a:t>With significant figures, the value of 9.99 m − 0.0099 m is</a:t>
            </a:r>
          </a:p>
        </p:txBody>
      </p:sp>
      <p:sp>
        <p:nvSpPr>
          <p:cNvPr id="8" name="Oval 7"/>
          <p:cNvSpPr/>
          <p:nvPr/>
        </p:nvSpPr>
        <p:spPr>
          <a:xfrm>
            <a:off x="594360" y="2002536"/>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2020824"/>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1</a:t>
            </a:r>
          </a:p>
        </p:txBody>
      </p:sp>
      <p:sp>
        <p:nvSpPr>
          <p:cNvPr id="10" name="TextBox 9"/>
          <p:cNvSpPr txBox="1"/>
          <p:nvPr/>
        </p:nvSpPr>
        <p:spPr>
          <a:xfrm>
            <a:off x="1014984" y="1984248"/>
            <a:ext cx="918057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9.98 m</a:t>
            </a:r>
          </a:p>
        </p:txBody>
      </p:sp>
      <p:sp>
        <p:nvSpPr>
          <p:cNvPr id="11" name="Oval 10"/>
          <p:cNvSpPr/>
          <p:nvPr/>
        </p:nvSpPr>
        <p:spPr>
          <a:xfrm>
            <a:off x="594360" y="2478024"/>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2496312"/>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2</a:t>
            </a:r>
          </a:p>
        </p:txBody>
      </p:sp>
      <p:sp>
        <p:nvSpPr>
          <p:cNvPr id="13" name="TextBox 12"/>
          <p:cNvSpPr txBox="1"/>
          <p:nvPr/>
        </p:nvSpPr>
        <p:spPr>
          <a:xfrm>
            <a:off x="1014984" y="2459736"/>
            <a:ext cx="918057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9.980 m</a:t>
            </a:r>
          </a:p>
        </p:txBody>
      </p:sp>
      <p:sp>
        <p:nvSpPr>
          <p:cNvPr id="14" name="Oval 13"/>
          <p:cNvSpPr/>
          <p:nvPr/>
        </p:nvSpPr>
        <p:spPr>
          <a:xfrm>
            <a:off x="594360" y="2953512"/>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2971800"/>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3</a:t>
            </a:r>
          </a:p>
        </p:txBody>
      </p:sp>
      <p:sp>
        <p:nvSpPr>
          <p:cNvPr id="16" name="TextBox 15"/>
          <p:cNvSpPr txBox="1"/>
          <p:nvPr/>
        </p:nvSpPr>
        <p:spPr>
          <a:xfrm>
            <a:off x="1014984" y="2935224"/>
            <a:ext cx="918057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9.9 m</a:t>
            </a:r>
          </a:p>
        </p:txBody>
      </p:sp>
      <p:sp>
        <p:nvSpPr>
          <p:cNvPr id="17" name="Oval 16"/>
          <p:cNvSpPr/>
          <p:nvPr/>
        </p:nvSpPr>
        <p:spPr>
          <a:xfrm>
            <a:off x="594360" y="3429000"/>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3447288"/>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4</a:t>
            </a:r>
          </a:p>
        </p:txBody>
      </p:sp>
      <p:sp>
        <p:nvSpPr>
          <p:cNvPr id="19" name="TextBox 18"/>
          <p:cNvSpPr txBox="1"/>
          <p:nvPr/>
        </p:nvSpPr>
        <p:spPr>
          <a:xfrm>
            <a:off x="1014984" y="3410712"/>
            <a:ext cx="918057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9.9801 m</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ANSWER</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Solution: A small subtraction</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20</a:t>
            </a:r>
          </a:p>
        </p:txBody>
      </p:sp>
      <p:sp>
        <p:nvSpPr>
          <p:cNvPr id="7" name="TextBox 6"/>
          <p:cNvSpPr txBox="1"/>
          <p:nvPr/>
        </p:nvSpPr>
        <p:spPr>
          <a:xfrm>
            <a:off x="594360" y="107899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This is a difference, so match decimal places.</a:t>
            </a:r>
          </a:p>
        </p:txBody>
      </p:sp>
      <p:sp>
        <p:nvSpPr>
          <p:cNvPr id="8" name="TextBox 7"/>
          <p:cNvSpPr txBox="1"/>
          <p:nvPr/>
        </p:nvSpPr>
        <p:spPr>
          <a:xfrm>
            <a:off x="594360" y="1554480"/>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440" b="1">
                <a:solidFill>
                  <a:srgbClr val="5AC8FF"/>
                </a:solidFill>
                <a:latin typeface="Aptos"/>
              </a:rPr>
              <a:t>Step 1:  9.99 − 0.0099 = 9.9801 on the calculator.</a:t>
            </a:r>
          </a:p>
        </p:txBody>
      </p:sp>
      <p:sp>
        <p:nvSpPr>
          <p:cNvPr id="9" name="TextBox 8"/>
          <p:cNvSpPr txBox="1"/>
          <p:nvPr/>
        </p:nvSpPr>
        <p:spPr>
          <a:xfrm>
            <a:off x="594360" y="2103120"/>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350" b="1">
                <a:solidFill>
                  <a:srgbClr val="5AC8FF"/>
                </a:solidFill>
                <a:latin typeface="Aptos"/>
              </a:rPr>
              <a:t>Step 2:  9.99 has two decimal places.  0.0099 has four. Keep two.</a:t>
            </a:r>
          </a:p>
        </p:txBody>
      </p:sp>
      <p:sp>
        <p:nvSpPr>
          <p:cNvPr id="10" name="TextBox 9"/>
          <p:cNvSpPr txBox="1"/>
          <p:nvPr/>
        </p:nvSpPr>
        <p:spPr>
          <a:xfrm>
            <a:off x="594360" y="2651760"/>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440" b="1">
                <a:solidFill>
                  <a:srgbClr val="5AC8FF"/>
                </a:solidFill>
                <a:latin typeface="Aptos"/>
              </a:rPr>
              <a:t>Step 3:  9.9801 written to two decimal places is 9.98 m.</a:t>
            </a:r>
          </a:p>
        </p:txBody>
      </p:sp>
      <p:sp>
        <p:nvSpPr>
          <p:cNvPr id="11" name="TextBox 10"/>
          <p:cNvSpPr txBox="1"/>
          <p:nvPr/>
        </p:nvSpPr>
        <p:spPr>
          <a:xfrm>
            <a:off x="594360" y="3200400"/>
            <a:ext cx="11018520" cy="438912"/>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D680"/>
                </a:solidFill>
                <a:latin typeface="Aptos"/>
              </a:rPr>
              <a:t>Final answer: 9.98 m   (option 1)</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FF9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QUESTION</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Add three lengths</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21</a:t>
            </a:r>
          </a:p>
        </p:txBody>
      </p:sp>
      <p:sp>
        <p:nvSpPr>
          <p:cNvPr id="7" name="TextBox 6"/>
          <p:cNvSpPr txBox="1"/>
          <p:nvPr/>
        </p:nvSpPr>
        <p:spPr>
          <a:xfrm>
            <a:off x="594360" y="1078992"/>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900" b="1">
                <a:solidFill>
                  <a:srgbClr val="FF9E40"/>
                </a:solidFill>
                <a:latin typeface="Aptos"/>
              </a:rPr>
              <a:t>Add 0.307 m, 0.52 m and 0.4 m.</a:t>
            </a:r>
          </a:p>
        </p:txBody>
      </p:sp>
      <p:sp>
        <p:nvSpPr>
          <p:cNvPr id="8" name="Oval 7"/>
          <p:cNvSpPr/>
          <p:nvPr/>
        </p:nvSpPr>
        <p:spPr>
          <a:xfrm>
            <a:off x="594360" y="1819656"/>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837943"/>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1</a:t>
            </a:r>
          </a:p>
        </p:txBody>
      </p:sp>
      <p:sp>
        <p:nvSpPr>
          <p:cNvPr id="10" name="TextBox 9"/>
          <p:cNvSpPr txBox="1"/>
          <p:nvPr/>
        </p:nvSpPr>
        <p:spPr>
          <a:xfrm>
            <a:off x="1014984" y="1801368"/>
            <a:ext cx="918057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1.227 m</a:t>
            </a:r>
          </a:p>
        </p:txBody>
      </p:sp>
      <p:sp>
        <p:nvSpPr>
          <p:cNvPr id="11" name="Oval 10"/>
          <p:cNvSpPr/>
          <p:nvPr/>
        </p:nvSpPr>
        <p:spPr>
          <a:xfrm>
            <a:off x="594360" y="2295144"/>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2313432"/>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2</a:t>
            </a:r>
          </a:p>
        </p:txBody>
      </p:sp>
      <p:sp>
        <p:nvSpPr>
          <p:cNvPr id="13" name="TextBox 12"/>
          <p:cNvSpPr txBox="1"/>
          <p:nvPr/>
        </p:nvSpPr>
        <p:spPr>
          <a:xfrm>
            <a:off x="1014984" y="2276856"/>
            <a:ext cx="918057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1.2 m</a:t>
            </a:r>
          </a:p>
        </p:txBody>
      </p:sp>
      <p:sp>
        <p:nvSpPr>
          <p:cNvPr id="14" name="Oval 13"/>
          <p:cNvSpPr/>
          <p:nvPr/>
        </p:nvSpPr>
        <p:spPr>
          <a:xfrm>
            <a:off x="594360" y="2770632"/>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2788920"/>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3</a:t>
            </a:r>
          </a:p>
        </p:txBody>
      </p:sp>
      <p:sp>
        <p:nvSpPr>
          <p:cNvPr id="16" name="TextBox 15"/>
          <p:cNvSpPr txBox="1"/>
          <p:nvPr/>
        </p:nvSpPr>
        <p:spPr>
          <a:xfrm>
            <a:off x="1014984" y="2752344"/>
            <a:ext cx="918057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1.3 m</a:t>
            </a:r>
          </a:p>
        </p:txBody>
      </p:sp>
      <p:sp>
        <p:nvSpPr>
          <p:cNvPr id="17" name="Oval 16"/>
          <p:cNvSpPr/>
          <p:nvPr/>
        </p:nvSpPr>
        <p:spPr>
          <a:xfrm>
            <a:off x="594360" y="3246120"/>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3264408"/>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4</a:t>
            </a:r>
          </a:p>
        </p:txBody>
      </p:sp>
      <p:sp>
        <p:nvSpPr>
          <p:cNvPr id="19" name="TextBox 18"/>
          <p:cNvSpPr txBox="1"/>
          <p:nvPr/>
        </p:nvSpPr>
        <p:spPr>
          <a:xfrm>
            <a:off x="1014984" y="3227832"/>
            <a:ext cx="918057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1.23 m</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ANSWER</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Solution: Add three lengths</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22</a:t>
            </a:r>
          </a:p>
        </p:txBody>
      </p:sp>
      <p:sp>
        <p:nvSpPr>
          <p:cNvPr id="7" name="TextBox 6"/>
          <p:cNvSpPr txBox="1"/>
          <p:nvPr/>
        </p:nvSpPr>
        <p:spPr>
          <a:xfrm>
            <a:off x="594360" y="107899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The roughest length decides the decimal place.</a:t>
            </a:r>
          </a:p>
        </p:txBody>
      </p:sp>
      <p:sp>
        <p:nvSpPr>
          <p:cNvPr id="8" name="TextBox 7"/>
          <p:cNvSpPr txBox="1"/>
          <p:nvPr/>
        </p:nvSpPr>
        <p:spPr>
          <a:xfrm>
            <a:off x="594360" y="1554480"/>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440" b="1">
                <a:solidFill>
                  <a:srgbClr val="5AC8FF"/>
                </a:solidFill>
                <a:latin typeface="Aptos"/>
              </a:rPr>
              <a:t>Step 1:  0.307 + 0.52 + 0.4 = 1.227 m.</a:t>
            </a:r>
          </a:p>
        </p:txBody>
      </p:sp>
      <p:sp>
        <p:nvSpPr>
          <p:cNvPr id="9" name="TextBox 8"/>
          <p:cNvSpPr txBox="1"/>
          <p:nvPr/>
        </p:nvSpPr>
        <p:spPr>
          <a:xfrm>
            <a:off x="594360" y="2103120"/>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350" b="1">
                <a:solidFill>
                  <a:srgbClr val="5AC8FF"/>
                </a:solidFill>
                <a:latin typeface="Aptos"/>
              </a:rPr>
              <a:t>Step 2:  Decimal places available: 3, 2 and 1. The least is 1, from 0.4 m.</a:t>
            </a:r>
          </a:p>
        </p:txBody>
      </p:sp>
      <p:sp>
        <p:nvSpPr>
          <p:cNvPr id="10" name="TextBox 9"/>
          <p:cNvSpPr txBox="1"/>
          <p:nvPr/>
        </p:nvSpPr>
        <p:spPr>
          <a:xfrm>
            <a:off x="594360" y="2651760"/>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440" b="1">
                <a:solidFill>
                  <a:srgbClr val="5AC8FF"/>
                </a:solidFill>
                <a:latin typeface="Aptos"/>
              </a:rPr>
              <a:t>Step 3:  1.227 to one decimal place is 1.2 m.</a:t>
            </a:r>
          </a:p>
        </p:txBody>
      </p:sp>
      <p:sp>
        <p:nvSpPr>
          <p:cNvPr id="11" name="TextBox 10"/>
          <p:cNvSpPr txBox="1"/>
          <p:nvPr/>
        </p:nvSpPr>
        <p:spPr>
          <a:xfrm>
            <a:off x="594360" y="3200400"/>
            <a:ext cx="11018520" cy="438912"/>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D680"/>
                </a:solidFill>
                <a:latin typeface="Aptos"/>
              </a:rPr>
              <a:t>Final answer: 1.2 m   (option 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FFCC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ROUNDING</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The three rounding rules</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23</a:t>
            </a:r>
          </a:p>
        </p:txBody>
      </p:sp>
      <p:sp>
        <p:nvSpPr>
          <p:cNvPr id="7" name="TextBox 6"/>
          <p:cNvSpPr txBox="1"/>
          <p:nvPr/>
        </p:nvSpPr>
        <p:spPr>
          <a:xfrm>
            <a:off x="594360" y="1078992"/>
            <a:ext cx="11018520" cy="640080"/>
          </a:xfrm>
          <a:prstGeom prst="rect">
            <a:avLst/>
          </a:prstGeom>
          <a:noFill/>
        </p:spPr>
        <p:txBody>
          <a:bodyPr wrap="square" lIns="0" rIns="0" tIns="0" bIns="0" anchor="t">
            <a:spAutoFit/>
          </a:bodyPr>
          <a:lstStyle/>
          <a:p>
            <a:pPr algn="l">
              <a:lnSpc>
                <a:spcPct val="110000"/>
              </a:lnSpc>
              <a:spcBef>
                <a:spcPts val="0"/>
              </a:spcBef>
              <a:spcAft>
                <a:spcPts val="0"/>
              </a:spcAft>
            </a:pPr>
            <a:r>
              <a:rPr sz="1600" b="0">
                <a:solidFill>
                  <a:srgbClr val="FFFFFF"/>
                </a:solidFill>
                <a:latin typeface="Aptos"/>
              </a:rPr>
              <a:t>•  If the first digit you drop is less than 5, leave the last kept digit as it is.</a:t>
            </a:r>
          </a:p>
        </p:txBody>
      </p:sp>
      <p:sp>
        <p:nvSpPr>
          <p:cNvPr id="8" name="TextBox 7"/>
          <p:cNvSpPr txBox="1"/>
          <p:nvPr/>
        </p:nvSpPr>
        <p:spPr>
          <a:xfrm>
            <a:off x="594360" y="1856231"/>
            <a:ext cx="11018520" cy="640080"/>
          </a:xfrm>
          <a:prstGeom prst="rect">
            <a:avLst/>
          </a:prstGeom>
          <a:noFill/>
        </p:spPr>
        <p:txBody>
          <a:bodyPr wrap="square" lIns="0" rIns="0" tIns="0" bIns="0" anchor="t">
            <a:spAutoFit/>
          </a:bodyPr>
          <a:lstStyle/>
          <a:p>
            <a:pPr algn="l">
              <a:lnSpc>
                <a:spcPct val="110000"/>
              </a:lnSpc>
              <a:spcBef>
                <a:spcPts val="0"/>
              </a:spcBef>
              <a:spcAft>
                <a:spcPts val="0"/>
              </a:spcAft>
            </a:pPr>
            <a:r>
              <a:rPr sz="1600" b="0">
                <a:solidFill>
                  <a:srgbClr val="FFFFFF"/>
                </a:solidFill>
                <a:latin typeface="Aptos"/>
              </a:rPr>
              <a:t>•  If the first digit you drop is more than 5, increase the last kept digit by 1.</a:t>
            </a:r>
          </a:p>
        </p:txBody>
      </p:sp>
      <p:sp>
        <p:nvSpPr>
          <p:cNvPr id="9" name="TextBox 8"/>
          <p:cNvSpPr txBox="1"/>
          <p:nvPr/>
        </p:nvSpPr>
        <p:spPr>
          <a:xfrm>
            <a:off x="594360" y="2633472"/>
            <a:ext cx="11018520" cy="822960"/>
          </a:xfrm>
          <a:prstGeom prst="rect">
            <a:avLst/>
          </a:prstGeom>
          <a:noFill/>
        </p:spPr>
        <p:txBody>
          <a:bodyPr wrap="square" lIns="0" rIns="0" tIns="0" bIns="0" anchor="t">
            <a:spAutoFit/>
          </a:bodyPr>
          <a:lstStyle/>
          <a:p>
            <a:pPr algn="l">
              <a:lnSpc>
                <a:spcPct val="110000"/>
              </a:lnSpc>
              <a:spcBef>
                <a:spcPts val="0"/>
              </a:spcBef>
              <a:spcAft>
                <a:spcPts val="0"/>
              </a:spcAft>
            </a:pPr>
            <a:r>
              <a:rPr sz="1600" b="0">
                <a:solidFill>
                  <a:srgbClr val="FFFFFF"/>
                </a:solidFill>
                <a:latin typeface="Aptos"/>
              </a:rPr>
              <a:t>•  If the first digit you drop is exactly 5, leave an even last digit unchanged, and increase an odd last digit by 1.</a:t>
            </a:r>
          </a:p>
        </p:txBody>
      </p:sp>
      <p:sp>
        <p:nvSpPr>
          <p:cNvPr id="10" name="Rectangle 9"/>
          <p:cNvSpPr/>
          <p:nvPr/>
        </p:nvSpPr>
        <p:spPr>
          <a:xfrm>
            <a:off x="594360" y="3639311"/>
            <a:ext cx="11018520" cy="731520"/>
          </a:xfrm>
          <a:prstGeom prst="rect">
            <a:avLst/>
          </a:prstGeom>
          <a:solidFill>
            <a:srgbClr val="FFF8E1"/>
          </a:solidFill>
          <a:ln w="19050">
            <a:solidFill>
              <a:srgbClr val="DAA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8952" y="3785615"/>
            <a:ext cx="10689336" cy="438912"/>
          </a:xfrm>
          <a:prstGeom prst="rect">
            <a:avLst/>
          </a:prstGeom>
          <a:noFill/>
        </p:spPr>
        <p:txBody>
          <a:bodyPr wrap="square" lIns="0" rIns="0" tIns="0" bIns="0" anchor="ctr">
            <a:spAutoFit/>
          </a:bodyPr>
          <a:lstStyle/>
          <a:p>
            <a:pPr algn="ctr">
              <a:lnSpc>
                <a:spcPct val="115000"/>
              </a:lnSpc>
              <a:spcBef>
                <a:spcPts val="0"/>
              </a:spcBef>
              <a:spcAft>
                <a:spcPts val="0"/>
              </a:spcAft>
            </a:pPr>
            <a:r>
              <a:rPr sz="1440" b="1">
                <a:solidFill>
                  <a:srgbClr val="081E3F"/>
                </a:solidFill>
                <a:latin typeface="Aptos"/>
              </a:rPr>
              <a:t>…4 stays.    …6 goes up.    …5 goes to the even digit.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B0B6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ROUGH WORK</a:t>
            </a:r>
          </a:p>
        </p:txBody>
      </p:sp>
      <p:sp>
        <p:nvSpPr>
          <p:cNvPr id="4" name="TextBox 3"/>
          <p:cNvSpPr txBox="1"/>
          <p:nvPr/>
        </p:nvSpPr>
        <p:spPr>
          <a:xfrm>
            <a:off x="594360" y="310896"/>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980" b="1">
                <a:solidFill>
                  <a:srgbClr val="FFD646"/>
                </a:solidFill>
                <a:latin typeface="Aptos"/>
              </a:rPr>
              <a:t>Rough work  /  extra work</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FF9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QUESTION</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Round to 4 significant figures</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25</a:t>
            </a:r>
          </a:p>
        </p:txBody>
      </p:sp>
      <p:sp>
        <p:nvSpPr>
          <p:cNvPr id="7" name="TextBox 6"/>
          <p:cNvSpPr txBox="1"/>
          <p:nvPr/>
        </p:nvSpPr>
        <p:spPr>
          <a:xfrm>
            <a:off x="594360" y="1078992"/>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900" b="1">
                <a:solidFill>
                  <a:srgbClr val="FF9E40"/>
                </a:solidFill>
                <a:latin typeface="Aptos"/>
              </a:rPr>
              <a:t>(i)  Round 4.7475 to 4 significant figures.</a:t>
            </a:r>
          </a:p>
        </p:txBody>
      </p:sp>
      <p:sp>
        <p:nvSpPr>
          <p:cNvPr id="8" name="TextBox 7"/>
          <p:cNvSpPr txBox="1"/>
          <p:nvPr/>
        </p:nvSpPr>
        <p:spPr>
          <a:xfrm>
            <a:off x="594360" y="1719072"/>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900" b="1">
                <a:solidFill>
                  <a:srgbClr val="FF9E40"/>
                </a:solidFill>
                <a:latin typeface="Aptos"/>
              </a:rPr>
              <a:t>(ii) Round 4.7465 to 4 significant figures.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ANSWER</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Solution: Round to 4 significant figures</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26</a:t>
            </a:r>
          </a:p>
        </p:txBody>
      </p:sp>
      <p:sp>
        <p:nvSpPr>
          <p:cNvPr id="7" name="TextBox 6"/>
          <p:cNvSpPr txBox="1"/>
          <p:nvPr/>
        </p:nvSpPr>
        <p:spPr>
          <a:xfrm>
            <a:off x="594360" y="1078992"/>
            <a:ext cx="11018520" cy="50292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Four significant figures means we keep 4.74x and look at the next digit, which is 5.</a:t>
            </a:r>
          </a:p>
        </p:txBody>
      </p:sp>
      <p:sp>
        <p:nvSpPr>
          <p:cNvPr id="8" name="TextBox 7"/>
          <p:cNvSpPr txBox="1"/>
          <p:nvPr/>
        </p:nvSpPr>
        <p:spPr>
          <a:xfrm>
            <a:off x="594360" y="1719072"/>
            <a:ext cx="11018520" cy="640080"/>
          </a:xfrm>
          <a:prstGeom prst="rect">
            <a:avLst/>
          </a:prstGeom>
          <a:noFill/>
        </p:spPr>
        <p:txBody>
          <a:bodyPr wrap="square" lIns="0" rIns="0" tIns="0" bIns="0" anchor="t">
            <a:spAutoFit/>
          </a:bodyPr>
          <a:lstStyle/>
          <a:p>
            <a:pPr algn="l">
              <a:lnSpc>
                <a:spcPct val="110000"/>
              </a:lnSpc>
              <a:spcBef>
                <a:spcPts val="0"/>
              </a:spcBef>
              <a:spcAft>
                <a:spcPts val="0"/>
              </a:spcAft>
            </a:pPr>
            <a:r>
              <a:rPr sz="1350" b="1">
                <a:solidFill>
                  <a:srgbClr val="5AC8FF"/>
                </a:solidFill>
                <a:latin typeface="Aptos"/>
              </a:rPr>
              <a:t>Step 1:  4.7475 — the kept digit before the 5 is 7, which is odd, so it becomes 8.</a:t>
            </a:r>
          </a:p>
        </p:txBody>
      </p:sp>
      <p:sp>
        <p:nvSpPr>
          <p:cNvPr id="9" name="TextBox 8"/>
          <p:cNvSpPr txBox="1"/>
          <p:nvPr/>
        </p:nvSpPr>
        <p:spPr>
          <a:xfrm>
            <a:off x="594360" y="2450591"/>
            <a:ext cx="11018520" cy="640080"/>
          </a:xfrm>
          <a:prstGeom prst="rect">
            <a:avLst/>
          </a:prstGeom>
          <a:noFill/>
        </p:spPr>
        <p:txBody>
          <a:bodyPr wrap="square" lIns="0" rIns="0" tIns="0" bIns="0" anchor="t">
            <a:spAutoFit/>
          </a:bodyPr>
          <a:lstStyle/>
          <a:p>
            <a:pPr algn="l">
              <a:lnSpc>
                <a:spcPct val="110000"/>
              </a:lnSpc>
              <a:spcBef>
                <a:spcPts val="0"/>
              </a:spcBef>
              <a:spcAft>
                <a:spcPts val="0"/>
              </a:spcAft>
            </a:pPr>
            <a:r>
              <a:rPr sz="1350" b="1">
                <a:solidFill>
                  <a:srgbClr val="5AC8FF"/>
                </a:solidFill>
                <a:latin typeface="Aptos"/>
              </a:rPr>
              <a:t>Step 2:  4.7465 — the kept digit before the 5 is 6, which is even, so it stays 6.</a:t>
            </a:r>
          </a:p>
        </p:txBody>
      </p:sp>
      <p:sp>
        <p:nvSpPr>
          <p:cNvPr id="10" name="TextBox 9"/>
          <p:cNvSpPr txBox="1"/>
          <p:nvPr/>
        </p:nvSpPr>
        <p:spPr>
          <a:xfrm>
            <a:off x="594360" y="3273552"/>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D680"/>
                </a:solidFill>
                <a:latin typeface="Aptos"/>
              </a:rPr>
              <a:t>(i) 4.748      (ii) 4.746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FF9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QUESTION</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Proper final answers</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27</a:t>
            </a:r>
          </a:p>
        </p:txBody>
      </p:sp>
      <p:sp>
        <p:nvSpPr>
          <p:cNvPr id="7" name="TextBox 6"/>
          <p:cNvSpPr txBox="1"/>
          <p:nvPr/>
        </p:nvSpPr>
        <p:spPr>
          <a:xfrm>
            <a:off x="594360" y="1078992"/>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900" b="1">
                <a:solidFill>
                  <a:srgbClr val="FF9E40"/>
                </a:solidFill>
                <a:latin typeface="Aptos"/>
              </a:rPr>
              <a:t>(i)  101.2 + 18.702 = ?</a:t>
            </a:r>
          </a:p>
        </p:txBody>
      </p:sp>
      <p:sp>
        <p:nvSpPr>
          <p:cNvPr id="8" name="TextBox 7"/>
          <p:cNvSpPr txBox="1"/>
          <p:nvPr/>
        </p:nvSpPr>
        <p:spPr>
          <a:xfrm>
            <a:off x="594360" y="1673352"/>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900" b="1">
                <a:solidFill>
                  <a:srgbClr val="FF9E40"/>
                </a:solidFill>
                <a:latin typeface="Aptos"/>
              </a:rPr>
              <a:t>(ii) 202.88 − 1.013 = ?</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ANSWER</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Solution: Proper final answers</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28</a:t>
            </a:r>
          </a:p>
        </p:txBody>
      </p:sp>
      <p:sp>
        <p:nvSpPr>
          <p:cNvPr id="7" name="TextBox 6"/>
          <p:cNvSpPr txBox="1"/>
          <p:nvPr/>
        </p:nvSpPr>
        <p:spPr>
          <a:xfrm>
            <a:off x="594360" y="107899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Both are add or subtract, so use decimal places.</a:t>
            </a:r>
          </a:p>
        </p:txBody>
      </p:sp>
      <p:sp>
        <p:nvSpPr>
          <p:cNvPr id="8" name="TextBox 7"/>
          <p:cNvSpPr txBox="1"/>
          <p:nvPr/>
        </p:nvSpPr>
        <p:spPr>
          <a:xfrm>
            <a:off x="594360" y="1581912"/>
            <a:ext cx="11018520" cy="640080"/>
          </a:xfrm>
          <a:prstGeom prst="rect">
            <a:avLst/>
          </a:prstGeom>
          <a:noFill/>
        </p:spPr>
        <p:txBody>
          <a:bodyPr wrap="square" lIns="0" rIns="0" tIns="0" bIns="0" anchor="t">
            <a:spAutoFit/>
          </a:bodyPr>
          <a:lstStyle/>
          <a:p>
            <a:pPr algn="l">
              <a:lnSpc>
                <a:spcPct val="110000"/>
              </a:lnSpc>
              <a:spcBef>
                <a:spcPts val="0"/>
              </a:spcBef>
              <a:spcAft>
                <a:spcPts val="0"/>
              </a:spcAft>
            </a:pPr>
            <a:r>
              <a:rPr sz="1350" b="1">
                <a:solidFill>
                  <a:srgbClr val="5AC8FF"/>
                </a:solidFill>
                <a:latin typeface="Aptos"/>
              </a:rPr>
              <a:t>Step 1:  101.2 + 18.702 = 119.902. Least decimal places = 1 → 119.9.</a:t>
            </a:r>
          </a:p>
        </p:txBody>
      </p:sp>
      <p:sp>
        <p:nvSpPr>
          <p:cNvPr id="9" name="TextBox 8"/>
          <p:cNvSpPr txBox="1"/>
          <p:nvPr/>
        </p:nvSpPr>
        <p:spPr>
          <a:xfrm>
            <a:off x="594360" y="2359152"/>
            <a:ext cx="11018520" cy="640080"/>
          </a:xfrm>
          <a:prstGeom prst="rect">
            <a:avLst/>
          </a:prstGeom>
          <a:noFill/>
        </p:spPr>
        <p:txBody>
          <a:bodyPr wrap="square" lIns="0" rIns="0" tIns="0" bIns="0" anchor="t">
            <a:spAutoFit/>
          </a:bodyPr>
          <a:lstStyle/>
          <a:p>
            <a:pPr algn="l">
              <a:lnSpc>
                <a:spcPct val="110000"/>
              </a:lnSpc>
              <a:spcBef>
                <a:spcPts val="0"/>
              </a:spcBef>
              <a:spcAft>
                <a:spcPts val="0"/>
              </a:spcAft>
            </a:pPr>
            <a:r>
              <a:rPr sz="1350" b="1">
                <a:solidFill>
                  <a:srgbClr val="5AC8FF"/>
                </a:solidFill>
                <a:latin typeface="Aptos"/>
              </a:rPr>
              <a:t>Step 2:  202.88 − 1.013 = 201.867. Least decimal places = 2 → 201.87.</a:t>
            </a:r>
          </a:p>
        </p:txBody>
      </p:sp>
      <p:sp>
        <p:nvSpPr>
          <p:cNvPr id="10" name="TextBox 9"/>
          <p:cNvSpPr txBox="1"/>
          <p:nvPr/>
        </p:nvSpPr>
        <p:spPr>
          <a:xfrm>
            <a:off x="594360" y="3182111"/>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D680"/>
                </a:solidFill>
                <a:latin typeface="Aptos"/>
              </a:rPr>
              <a:t>(i) 119.9      (ii) 201.87</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FF9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QUESTION</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One sum and one quotient</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29</a:t>
            </a:r>
          </a:p>
        </p:txBody>
      </p:sp>
      <p:sp>
        <p:nvSpPr>
          <p:cNvPr id="7" name="TextBox 6"/>
          <p:cNvSpPr txBox="1"/>
          <p:nvPr/>
        </p:nvSpPr>
        <p:spPr>
          <a:xfrm>
            <a:off x="594360" y="1078992"/>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900" b="1">
                <a:solidFill>
                  <a:srgbClr val="FF9E40"/>
                </a:solidFill>
                <a:latin typeface="Aptos"/>
              </a:rPr>
              <a:t>(i)  A = 2.413 and B = 1.2. Find A + B.</a:t>
            </a:r>
          </a:p>
        </p:txBody>
      </p:sp>
      <p:sp>
        <p:nvSpPr>
          <p:cNvPr id="8" name="TextBox 7"/>
          <p:cNvSpPr txBox="1"/>
          <p:nvPr/>
        </p:nvSpPr>
        <p:spPr>
          <a:xfrm>
            <a:off x="594360" y="1673352"/>
            <a:ext cx="11018520" cy="502920"/>
          </a:xfrm>
          <a:prstGeom prst="rect">
            <a:avLst/>
          </a:prstGeom>
          <a:noFill/>
        </p:spPr>
        <p:txBody>
          <a:bodyPr wrap="square" lIns="0" rIns="0" tIns="0" bIns="0" anchor="t">
            <a:spAutoFit/>
          </a:bodyPr>
          <a:lstStyle/>
          <a:p>
            <a:pPr algn="l">
              <a:lnSpc>
                <a:spcPct val="110000"/>
              </a:lnSpc>
              <a:spcBef>
                <a:spcPts val="0"/>
              </a:spcBef>
              <a:spcAft>
                <a:spcPts val="0"/>
              </a:spcAft>
            </a:pPr>
            <a:r>
              <a:rPr sz="1900" b="1">
                <a:solidFill>
                  <a:srgbClr val="FF9E40"/>
                </a:solidFill>
                <a:latin typeface="Aptos"/>
              </a:rPr>
              <a:t>(ii) A = 25.5 and B = 5, both measured. Find A/B.</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ANSWER</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Solution: One sum and one quotient</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30</a:t>
            </a:r>
          </a:p>
        </p:txBody>
      </p:sp>
      <p:sp>
        <p:nvSpPr>
          <p:cNvPr id="7" name="TextBox 6"/>
          <p:cNvSpPr txBox="1"/>
          <p:nvPr/>
        </p:nvSpPr>
        <p:spPr>
          <a:xfrm>
            <a:off x="594360" y="1078992"/>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The sum follows decimal places. The quotient follows significant figures.</a:t>
            </a:r>
          </a:p>
        </p:txBody>
      </p:sp>
      <p:sp>
        <p:nvSpPr>
          <p:cNvPr id="8" name="TextBox 7"/>
          <p:cNvSpPr txBox="1"/>
          <p:nvPr/>
        </p:nvSpPr>
        <p:spPr>
          <a:xfrm>
            <a:off x="594360" y="1627631"/>
            <a:ext cx="11018520" cy="594360"/>
          </a:xfrm>
          <a:prstGeom prst="rect">
            <a:avLst/>
          </a:prstGeom>
          <a:noFill/>
        </p:spPr>
        <p:txBody>
          <a:bodyPr wrap="square" lIns="0" rIns="0" tIns="0" bIns="0" anchor="t">
            <a:spAutoFit/>
          </a:bodyPr>
          <a:lstStyle/>
          <a:p>
            <a:pPr algn="l">
              <a:lnSpc>
                <a:spcPct val="110000"/>
              </a:lnSpc>
              <a:spcBef>
                <a:spcPts val="0"/>
              </a:spcBef>
              <a:spcAft>
                <a:spcPts val="0"/>
              </a:spcAft>
            </a:pPr>
            <a:r>
              <a:rPr sz="1440" b="1">
                <a:solidFill>
                  <a:srgbClr val="5AC8FF"/>
                </a:solidFill>
                <a:latin typeface="Aptos"/>
              </a:rPr>
              <a:t>Step 1:  2.413 + 1.2 = 3.613. B has one decimal place → 3.6.</a:t>
            </a:r>
          </a:p>
        </p:txBody>
      </p:sp>
      <p:sp>
        <p:nvSpPr>
          <p:cNvPr id="9" name="TextBox 8"/>
          <p:cNvSpPr txBox="1"/>
          <p:nvPr/>
        </p:nvSpPr>
        <p:spPr>
          <a:xfrm>
            <a:off x="594360" y="2313432"/>
            <a:ext cx="11018520" cy="594360"/>
          </a:xfrm>
          <a:prstGeom prst="rect">
            <a:avLst/>
          </a:prstGeom>
          <a:noFill/>
        </p:spPr>
        <p:txBody>
          <a:bodyPr wrap="square" lIns="0" rIns="0" tIns="0" bIns="0" anchor="t">
            <a:spAutoFit/>
          </a:bodyPr>
          <a:lstStyle/>
          <a:p>
            <a:pPr algn="l">
              <a:lnSpc>
                <a:spcPct val="110000"/>
              </a:lnSpc>
              <a:spcBef>
                <a:spcPts val="0"/>
              </a:spcBef>
              <a:spcAft>
                <a:spcPts val="0"/>
              </a:spcAft>
            </a:pPr>
            <a:r>
              <a:rPr sz="1350" b="1">
                <a:solidFill>
                  <a:srgbClr val="5AC8FF"/>
                </a:solidFill>
                <a:latin typeface="Aptos"/>
              </a:rPr>
              <a:t>Step 2:  25.5 / 5 = 5.1 on the calculator. Measured 5 has 1 significant figure.</a:t>
            </a:r>
          </a:p>
        </p:txBody>
      </p:sp>
      <p:sp>
        <p:nvSpPr>
          <p:cNvPr id="10" name="TextBox 9"/>
          <p:cNvSpPr txBox="1"/>
          <p:nvPr/>
        </p:nvSpPr>
        <p:spPr>
          <a:xfrm>
            <a:off x="594360" y="2999232"/>
            <a:ext cx="11018520" cy="594360"/>
          </a:xfrm>
          <a:prstGeom prst="rect">
            <a:avLst/>
          </a:prstGeom>
          <a:noFill/>
        </p:spPr>
        <p:txBody>
          <a:bodyPr wrap="square" lIns="0" rIns="0" tIns="0" bIns="0" anchor="t">
            <a:spAutoFit/>
          </a:bodyPr>
          <a:lstStyle/>
          <a:p>
            <a:pPr algn="l">
              <a:lnSpc>
                <a:spcPct val="110000"/>
              </a:lnSpc>
              <a:spcBef>
                <a:spcPts val="0"/>
              </a:spcBef>
              <a:spcAft>
                <a:spcPts val="0"/>
              </a:spcAft>
            </a:pPr>
            <a:r>
              <a:rPr sz="1350" b="1">
                <a:solidFill>
                  <a:srgbClr val="5AC8FF"/>
                </a:solidFill>
                <a:latin typeface="Aptos"/>
              </a:rPr>
              <a:t>Step 3:  So A/B is written as 5. If the 5 were an exact count, we would keep 5.10.</a:t>
            </a:r>
          </a:p>
        </p:txBody>
      </p:sp>
      <p:sp>
        <p:nvSpPr>
          <p:cNvPr id="11" name="TextBox 10"/>
          <p:cNvSpPr txBox="1"/>
          <p:nvPr/>
        </p:nvSpPr>
        <p:spPr>
          <a:xfrm>
            <a:off x="594360" y="3730752"/>
            <a:ext cx="11018520" cy="438912"/>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D680"/>
                </a:solidFill>
                <a:latin typeface="Aptos"/>
              </a:rPr>
              <a:t>(i) 3.6      (ii) 5</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B0B6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ROUGH WORK</a:t>
            </a:r>
          </a:p>
        </p:txBody>
      </p:sp>
      <p:sp>
        <p:nvSpPr>
          <p:cNvPr id="4" name="TextBox 3"/>
          <p:cNvSpPr txBox="1"/>
          <p:nvPr/>
        </p:nvSpPr>
        <p:spPr>
          <a:xfrm>
            <a:off x="594360" y="310896"/>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980" b="1">
                <a:solidFill>
                  <a:srgbClr val="FFD646"/>
                </a:solidFill>
                <a:latin typeface="Aptos"/>
              </a:rPr>
              <a:t>Rough work  /  extra work</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IDEA</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Accuracy and precision</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32</a:t>
            </a:r>
          </a:p>
        </p:txBody>
      </p:sp>
      <p:sp>
        <p:nvSpPr>
          <p:cNvPr id="7" name="TextBox 6"/>
          <p:cNvSpPr txBox="1"/>
          <p:nvPr/>
        </p:nvSpPr>
        <p:spPr>
          <a:xfrm>
            <a:off x="594360" y="1078992"/>
            <a:ext cx="11018520" cy="105156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Accuracy tells how close a reading is to the true value. A small error from the true value means a more accurate reading.</a:t>
            </a:r>
          </a:p>
        </p:txBody>
      </p:sp>
      <p:sp>
        <p:nvSpPr>
          <p:cNvPr id="8" name="TextBox 7"/>
          <p:cNvSpPr txBox="1"/>
          <p:nvPr/>
        </p:nvSpPr>
        <p:spPr>
          <a:xfrm>
            <a:off x="594360" y="2267712"/>
            <a:ext cx="11018520" cy="128016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Precision tells how fine the instrument is, and how close repeated readings are to each other. More decimal places, or more significant figures, means a more precise reading. A precise reading can still sit far from the true value.</a:t>
            </a:r>
          </a:p>
        </p:txBody>
      </p:sp>
      <p:sp>
        <p:nvSpPr>
          <p:cNvPr id="9" name="Rectangle 8"/>
          <p:cNvSpPr/>
          <p:nvPr/>
        </p:nvSpPr>
        <p:spPr>
          <a:xfrm>
            <a:off x="594360" y="3730752"/>
            <a:ext cx="11018520" cy="822960"/>
          </a:xfrm>
          <a:prstGeom prst="rect">
            <a:avLst/>
          </a:prstGeom>
          <a:solidFill>
            <a:srgbClr val="FFF8E1"/>
          </a:solidFill>
          <a:ln w="19050">
            <a:solidFill>
              <a:srgbClr val="DAA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3877056"/>
            <a:ext cx="10689336" cy="530352"/>
          </a:xfrm>
          <a:prstGeom prst="rect">
            <a:avLst/>
          </a:prstGeom>
          <a:noFill/>
        </p:spPr>
        <p:txBody>
          <a:bodyPr wrap="square" lIns="0" rIns="0" tIns="0" bIns="0" anchor="ctr">
            <a:spAutoFit/>
          </a:bodyPr>
          <a:lstStyle/>
          <a:p>
            <a:pPr algn="ctr">
              <a:lnSpc>
                <a:spcPct val="115000"/>
              </a:lnSpc>
              <a:spcBef>
                <a:spcPts val="0"/>
              </a:spcBef>
              <a:spcAft>
                <a:spcPts val="0"/>
              </a:spcAft>
            </a:pPr>
            <a:r>
              <a:rPr sz="1350" b="1">
                <a:solidFill>
                  <a:srgbClr val="081E3F"/>
                </a:solidFill>
                <a:latin typeface="Aptos"/>
              </a:rPr>
              <a:t>Accuracy → close to the true value.    Precision → a fine, repeatable reading.</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FF9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QUESTION</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Most accurate, most precise</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33</a:t>
            </a:r>
          </a:p>
        </p:txBody>
      </p:sp>
      <p:sp>
        <p:nvSpPr>
          <p:cNvPr id="7" name="TextBox 6"/>
          <p:cNvSpPr txBox="1"/>
          <p:nvPr/>
        </p:nvSpPr>
        <p:spPr>
          <a:xfrm>
            <a:off x="594360" y="1078992"/>
            <a:ext cx="11018520" cy="731520"/>
          </a:xfrm>
          <a:prstGeom prst="rect">
            <a:avLst/>
          </a:prstGeom>
          <a:noFill/>
        </p:spPr>
        <p:txBody>
          <a:bodyPr wrap="square" lIns="0" rIns="0" tIns="0" bIns="0" anchor="t">
            <a:spAutoFit/>
          </a:bodyPr>
          <a:lstStyle/>
          <a:p>
            <a:pPr algn="l">
              <a:lnSpc>
                <a:spcPct val="110000"/>
              </a:lnSpc>
              <a:spcBef>
                <a:spcPts val="0"/>
              </a:spcBef>
              <a:spcAft>
                <a:spcPts val="0"/>
              </a:spcAft>
            </a:pPr>
            <a:r>
              <a:rPr sz="1900" b="1">
                <a:solidFill>
                  <a:srgbClr val="FF9E40"/>
                </a:solidFill>
                <a:latin typeface="Aptos"/>
              </a:rPr>
              <a:t>True length = 6.57 m. Which reading is most accurate, and which is most precise?</a:t>
            </a:r>
          </a:p>
        </p:txBody>
      </p:sp>
      <p:sp>
        <p:nvSpPr>
          <p:cNvPr id="8" name="Oval 7"/>
          <p:cNvSpPr/>
          <p:nvPr/>
        </p:nvSpPr>
        <p:spPr>
          <a:xfrm>
            <a:off x="594360" y="2048255"/>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2066543"/>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1</a:t>
            </a:r>
          </a:p>
        </p:txBody>
      </p:sp>
      <p:sp>
        <p:nvSpPr>
          <p:cNvPr id="10" name="TextBox 9"/>
          <p:cNvSpPr txBox="1"/>
          <p:nvPr/>
        </p:nvSpPr>
        <p:spPr>
          <a:xfrm>
            <a:off x="1014984" y="2029967"/>
            <a:ext cx="918057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6.52 m</a:t>
            </a:r>
          </a:p>
        </p:txBody>
      </p:sp>
      <p:sp>
        <p:nvSpPr>
          <p:cNvPr id="11" name="Oval 10"/>
          <p:cNvSpPr/>
          <p:nvPr/>
        </p:nvSpPr>
        <p:spPr>
          <a:xfrm>
            <a:off x="594360" y="2523744"/>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2542032"/>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2</a:t>
            </a:r>
          </a:p>
        </p:txBody>
      </p:sp>
      <p:sp>
        <p:nvSpPr>
          <p:cNvPr id="13" name="TextBox 12"/>
          <p:cNvSpPr txBox="1"/>
          <p:nvPr/>
        </p:nvSpPr>
        <p:spPr>
          <a:xfrm>
            <a:off x="1014984" y="2505456"/>
            <a:ext cx="918057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6.61 m</a:t>
            </a:r>
          </a:p>
        </p:txBody>
      </p:sp>
      <p:sp>
        <p:nvSpPr>
          <p:cNvPr id="14" name="Oval 13"/>
          <p:cNvSpPr/>
          <p:nvPr/>
        </p:nvSpPr>
        <p:spPr>
          <a:xfrm>
            <a:off x="594360" y="2999232"/>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3017520"/>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3</a:t>
            </a:r>
          </a:p>
        </p:txBody>
      </p:sp>
      <p:sp>
        <p:nvSpPr>
          <p:cNvPr id="16" name="TextBox 15"/>
          <p:cNvSpPr txBox="1"/>
          <p:nvPr/>
        </p:nvSpPr>
        <p:spPr>
          <a:xfrm>
            <a:off x="1014984" y="2980944"/>
            <a:ext cx="918057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6.513 m</a:t>
            </a:r>
          </a:p>
        </p:txBody>
      </p:sp>
      <p:sp>
        <p:nvSpPr>
          <p:cNvPr id="17" name="Oval 16"/>
          <p:cNvSpPr/>
          <p:nvPr/>
        </p:nvSpPr>
        <p:spPr>
          <a:xfrm>
            <a:off x="594360" y="3474720"/>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3493008"/>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4</a:t>
            </a:r>
          </a:p>
        </p:txBody>
      </p:sp>
      <p:sp>
        <p:nvSpPr>
          <p:cNvPr id="19" name="TextBox 18"/>
          <p:cNvSpPr txBox="1"/>
          <p:nvPr/>
        </p:nvSpPr>
        <p:spPr>
          <a:xfrm>
            <a:off x="1014984" y="3456432"/>
            <a:ext cx="918057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6.68 m</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ANSWER</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Solution: Most accurate, most precise</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34</a:t>
            </a:r>
          </a:p>
        </p:txBody>
      </p:sp>
      <p:sp>
        <p:nvSpPr>
          <p:cNvPr id="7" name="TextBox 6"/>
          <p:cNvSpPr txBox="1"/>
          <p:nvPr/>
        </p:nvSpPr>
        <p:spPr>
          <a:xfrm>
            <a:off x="594360" y="1078992"/>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Accuracy uses the gap from 6.57 m. Precision uses how fine the number is.</a:t>
            </a:r>
          </a:p>
        </p:txBody>
      </p:sp>
      <p:sp>
        <p:nvSpPr>
          <p:cNvPr id="8" name="TextBox 7"/>
          <p:cNvSpPr txBox="1"/>
          <p:nvPr/>
        </p:nvSpPr>
        <p:spPr>
          <a:xfrm>
            <a:off x="594360" y="1627631"/>
            <a:ext cx="11018520" cy="594360"/>
          </a:xfrm>
          <a:prstGeom prst="rect">
            <a:avLst/>
          </a:prstGeom>
          <a:noFill/>
        </p:spPr>
        <p:txBody>
          <a:bodyPr wrap="square" lIns="0" rIns="0" tIns="0" bIns="0" anchor="t">
            <a:spAutoFit/>
          </a:bodyPr>
          <a:lstStyle/>
          <a:p>
            <a:pPr algn="l">
              <a:lnSpc>
                <a:spcPct val="110000"/>
              </a:lnSpc>
              <a:spcBef>
                <a:spcPts val="0"/>
              </a:spcBef>
              <a:spcAft>
                <a:spcPts val="0"/>
              </a:spcAft>
            </a:pPr>
            <a:r>
              <a:rPr sz="1350" b="1">
                <a:solidFill>
                  <a:srgbClr val="5AC8FF"/>
                </a:solidFill>
                <a:latin typeface="Aptos"/>
              </a:rPr>
              <a:t>Step 1:  Gaps: 6.52 → 0.05, 6.61 → 0.04, 6.513 → 0.057, 6.68 → 0.11.</a:t>
            </a:r>
          </a:p>
        </p:txBody>
      </p:sp>
      <p:sp>
        <p:nvSpPr>
          <p:cNvPr id="9" name="TextBox 8"/>
          <p:cNvSpPr txBox="1"/>
          <p:nvPr/>
        </p:nvSpPr>
        <p:spPr>
          <a:xfrm>
            <a:off x="594360" y="231343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440" b="1">
                <a:solidFill>
                  <a:srgbClr val="5AC8FF"/>
                </a:solidFill>
                <a:latin typeface="Aptos"/>
              </a:rPr>
              <a:t>Step 2:  Smallest gap is 0.04, so 6.61 m is the most accurate.</a:t>
            </a:r>
          </a:p>
        </p:txBody>
      </p:sp>
      <p:sp>
        <p:nvSpPr>
          <p:cNvPr id="10" name="TextBox 9"/>
          <p:cNvSpPr txBox="1"/>
          <p:nvPr/>
        </p:nvSpPr>
        <p:spPr>
          <a:xfrm>
            <a:off x="594360" y="2862072"/>
            <a:ext cx="11018520" cy="594360"/>
          </a:xfrm>
          <a:prstGeom prst="rect">
            <a:avLst/>
          </a:prstGeom>
          <a:noFill/>
        </p:spPr>
        <p:txBody>
          <a:bodyPr wrap="square" lIns="0" rIns="0" tIns="0" bIns="0" anchor="t">
            <a:spAutoFit/>
          </a:bodyPr>
          <a:lstStyle/>
          <a:p>
            <a:pPr algn="l">
              <a:lnSpc>
                <a:spcPct val="110000"/>
              </a:lnSpc>
              <a:spcBef>
                <a:spcPts val="0"/>
              </a:spcBef>
              <a:spcAft>
                <a:spcPts val="0"/>
              </a:spcAft>
            </a:pPr>
            <a:r>
              <a:rPr sz="1350" b="1">
                <a:solidFill>
                  <a:srgbClr val="5AC8FF"/>
                </a:solidFill>
                <a:latin typeface="Aptos"/>
              </a:rPr>
              <a:t>Step 3:  6.513 m is written to a thousandth of a metre, so it is the most precise.</a:t>
            </a:r>
          </a:p>
        </p:txBody>
      </p:sp>
      <p:sp>
        <p:nvSpPr>
          <p:cNvPr id="11" name="TextBox 10"/>
          <p:cNvSpPr txBox="1"/>
          <p:nvPr/>
        </p:nvSpPr>
        <p:spPr>
          <a:xfrm>
            <a:off x="594360" y="3410711"/>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D680"/>
                </a:solidFill>
                <a:latin typeface="Aptos"/>
              </a:rPr>
              <a:t>Most accurate: 6.61 m.    Most precise: 6.513 m.</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FF9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QUESTION</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Finest reading</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35</a:t>
            </a:r>
          </a:p>
        </p:txBody>
      </p:sp>
      <p:sp>
        <p:nvSpPr>
          <p:cNvPr id="7" name="TextBox 6"/>
          <p:cNvSpPr txBox="1"/>
          <p:nvPr/>
        </p:nvSpPr>
        <p:spPr>
          <a:xfrm>
            <a:off x="594360" y="1078992"/>
            <a:ext cx="11018520" cy="502920"/>
          </a:xfrm>
          <a:prstGeom prst="rect">
            <a:avLst/>
          </a:prstGeom>
          <a:noFill/>
        </p:spPr>
        <p:txBody>
          <a:bodyPr wrap="square" lIns="0" rIns="0" tIns="0" bIns="0" anchor="t">
            <a:spAutoFit/>
          </a:bodyPr>
          <a:lstStyle/>
          <a:p>
            <a:pPr algn="l">
              <a:lnSpc>
                <a:spcPct val="110000"/>
              </a:lnSpc>
              <a:spcBef>
                <a:spcPts val="0"/>
              </a:spcBef>
              <a:spcAft>
                <a:spcPts val="0"/>
              </a:spcAft>
            </a:pPr>
            <a:r>
              <a:rPr sz="1900" b="1">
                <a:solidFill>
                  <a:srgbClr val="FF9E40"/>
                </a:solidFill>
                <a:latin typeface="Aptos"/>
              </a:rPr>
              <a:t>No true value is given. Which reading is the finest?</a:t>
            </a:r>
          </a:p>
        </p:txBody>
      </p:sp>
      <p:sp>
        <p:nvSpPr>
          <p:cNvPr id="8" name="Oval 7"/>
          <p:cNvSpPr/>
          <p:nvPr/>
        </p:nvSpPr>
        <p:spPr>
          <a:xfrm>
            <a:off x="594360" y="1865376"/>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883664"/>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1</a:t>
            </a:r>
          </a:p>
        </p:txBody>
      </p:sp>
      <p:sp>
        <p:nvSpPr>
          <p:cNvPr id="10" name="TextBox 9"/>
          <p:cNvSpPr txBox="1"/>
          <p:nvPr/>
        </p:nvSpPr>
        <p:spPr>
          <a:xfrm>
            <a:off x="1014984" y="1847088"/>
            <a:ext cx="918057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2.4 m</a:t>
            </a:r>
          </a:p>
        </p:txBody>
      </p:sp>
      <p:sp>
        <p:nvSpPr>
          <p:cNvPr id="11" name="Oval 10"/>
          <p:cNvSpPr/>
          <p:nvPr/>
        </p:nvSpPr>
        <p:spPr>
          <a:xfrm>
            <a:off x="594360" y="2340864"/>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2359152"/>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2</a:t>
            </a:r>
          </a:p>
        </p:txBody>
      </p:sp>
      <p:sp>
        <p:nvSpPr>
          <p:cNvPr id="13" name="TextBox 12"/>
          <p:cNvSpPr txBox="1"/>
          <p:nvPr/>
        </p:nvSpPr>
        <p:spPr>
          <a:xfrm>
            <a:off x="1014984" y="2322576"/>
            <a:ext cx="918057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2.41 m</a:t>
            </a:r>
          </a:p>
        </p:txBody>
      </p:sp>
      <p:sp>
        <p:nvSpPr>
          <p:cNvPr id="14" name="Oval 13"/>
          <p:cNvSpPr/>
          <p:nvPr/>
        </p:nvSpPr>
        <p:spPr>
          <a:xfrm>
            <a:off x="594360" y="2816352"/>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2834640"/>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3</a:t>
            </a:r>
          </a:p>
        </p:txBody>
      </p:sp>
      <p:sp>
        <p:nvSpPr>
          <p:cNvPr id="16" name="TextBox 15"/>
          <p:cNvSpPr txBox="1"/>
          <p:nvPr/>
        </p:nvSpPr>
        <p:spPr>
          <a:xfrm>
            <a:off x="1014984" y="2798064"/>
            <a:ext cx="918057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2 m</a:t>
            </a:r>
          </a:p>
        </p:txBody>
      </p:sp>
      <p:sp>
        <p:nvSpPr>
          <p:cNvPr id="17" name="Oval 16"/>
          <p:cNvSpPr/>
          <p:nvPr/>
        </p:nvSpPr>
        <p:spPr>
          <a:xfrm>
            <a:off x="594360" y="3291840"/>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3310128"/>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4</a:t>
            </a:r>
          </a:p>
        </p:txBody>
      </p:sp>
      <p:sp>
        <p:nvSpPr>
          <p:cNvPr id="19" name="TextBox 18"/>
          <p:cNvSpPr txBox="1"/>
          <p:nvPr/>
        </p:nvSpPr>
        <p:spPr>
          <a:xfrm>
            <a:off x="1014984" y="3273552"/>
            <a:ext cx="918057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2.413 m</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ANSWER</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Solution: Finest reading</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36</a:t>
            </a:r>
          </a:p>
        </p:txBody>
      </p:sp>
      <p:sp>
        <p:nvSpPr>
          <p:cNvPr id="7" name="TextBox 6"/>
          <p:cNvSpPr txBox="1"/>
          <p:nvPr/>
        </p:nvSpPr>
        <p:spPr>
          <a:xfrm>
            <a:off x="594360" y="1078992"/>
            <a:ext cx="11018520" cy="50292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Accuracy needs a true value. Here we only have the readings, so we judge precision.</a:t>
            </a:r>
          </a:p>
        </p:txBody>
      </p:sp>
      <p:sp>
        <p:nvSpPr>
          <p:cNvPr id="8" name="TextBox 7"/>
          <p:cNvSpPr txBox="1"/>
          <p:nvPr/>
        </p:nvSpPr>
        <p:spPr>
          <a:xfrm>
            <a:off x="594360" y="171907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350" b="1">
                <a:solidFill>
                  <a:srgbClr val="5AC8FF"/>
                </a:solidFill>
                <a:latin typeface="Aptos"/>
              </a:rPr>
              <a:t>Step 1:  2 m has 1 decimal-free digit.  2.4 m has 2 significant figures.</a:t>
            </a:r>
          </a:p>
        </p:txBody>
      </p:sp>
      <p:sp>
        <p:nvSpPr>
          <p:cNvPr id="9" name="TextBox 8"/>
          <p:cNvSpPr txBox="1"/>
          <p:nvPr/>
        </p:nvSpPr>
        <p:spPr>
          <a:xfrm>
            <a:off x="594360" y="226771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440" b="1">
                <a:solidFill>
                  <a:srgbClr val="5AC8FF"/>
                </a:solidFill>
                <a:latin typeface="Aptos"/>
              </a:rPr>
              <a:t>Step 2:  2.41 m has 3.  2.413 m has 4, down to a millimetre.</a:t>
            </a:r>
          </a:p>
        </p:txBody>
      </p:sp>
      <p:sp>
        <p:nvSpPr>
          <p:cNvPr id="10" name="TextBox 9"/>
          <p:cNvSpPr txBox="1"/>
          <p:nvPr/>
        </p:nvSpPr>
        <p:spPr>
          <a:xfrm>
            <a:off x="594360" y="2816351"/>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D680"/>
                </a:solidFill>
                <a:latin typeface="Aptos"/>
              </a:rPr>
              <a:t>Most precise reading: 2.413 m   (option 4)</a:t>
            </a:r>
          </a:p>
        </p:txBody>
      </p:sp>
      <p:sp>
        <p:nvSpPr>
          <p:cNvPr id="11" name="TextBox 10"/>
          <p:cNvSpPr txBox="1"/>
          <p:nvPr/>
        </p:nvSpPr>
        <p:spPr>
          <a:xfrm>
            <a:off x="594360" y="3547872"/>
            <a:ext cx="11018520" cy="411480"/>
          </a:xfrm>
          <a:prstGeom prst="rect">
            <a:avLst/>
          </a:prstGeom>
          <a:noFill/>
        </p:spPr>
        <p:txBody>
          <a:bodyPr wrap="square" lIns="0" rIns="0" tIns="0" bIns="0" anchor="t">
            <a:spAutoFit/>
          </a:bodyPr>
          <a:lstStyle/>
          <a:p>
            <a:pPr algn="l">
              <a:lnSpc>
                <a:spcPct val="110000"/>
              </a:lnSpc>
              <a:spcBef>
                <a:spcPts val="0"/>
              </a:spcBef>
              <a:spcAft>
                <a:spcPts val="0"/>
              </a:spcAft>
            </a:pPr>
            <a:r>
              <a:rPr sz="1600" b="0">
                <a:solidFill>
                  <a:srgbClr val="FF9E40"/>
                </a:solidFill>
                <a:latin typeface="Aptos"/>
              </a:rPr>
              <a:t>Do not call it more accurate until a true value is given.</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B0B6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ROUGH WORK</a:t>
            </a:r>
          </a:p>
        </p:txBody>
      </p:sp>
      <p:sp>
        <p:nvSpPr>
          <p:cNvPr id="4" name="TextBox 3"/>
          <p:cNvSpPr txBox="1"/>
          <p:nvPr/>
        </p:nvSpPr>
        <p:spPr>
          <a:xfrm>
            <a:off x="594360" y="310896"/>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980" b="1">
                <a:solidFill>
                  <a:srgbClr val="FFD646"/>
                </a:solidFill>
                <a:latin typeface="Aptos"/>
              </a:rPr>
              <a:t>Rough work  /  extra work</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FF9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DEFINITIONS</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Three ways to write an error</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38</a:t>
            </a:r>
          </a:p>
        </p:txBody>
      </p:sp>
      <p:sp>
        <p:nvSpPr>
          <p:cNvPr id="7" name="TextBox 6"/>
          <p:cNvSpPr txBox="1"/>
          <p:nvPr/>
        </p:nvSpPr>
        <p:spPr>
          <a:xfrm>
            <a:off x="594360" y="1078992"/>
            <a:ext cx="11018520" cy="109728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Absolute error is the size of the mistake, in the same unit as the quantity. If the true value is a_0 and the measured value is a, the absolute error is |a − a_0|.</a:t>
            </a:r>
          </a:p>
        </p:txBody>
      </p:sp>
      <p:sp>
        <p:nvSpPr>
          <p:cNvPr id="8" name="TextBox 7"/>
          <p:cNvSpPr txBox="1"/>
          <p:nvPr/>
        </p:nvSpPr>
        <p:spPr>
          <a:xfrm>
            <a:off x="594360" y="2313432"/>
            <a:ext cx="11018520" cy="105156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Relative error is that absolute error divided by the true value. It has no unit. Percentage error is the relative error multiplied by 100.</a:t>
            </a:r>
          </a:p>
        </p:txBody>
      </p:sp>
      <p:sp>
        <p:nvSpPr>
          <p:cNvPr id="9" name="Rectangle 8"/>
          <p:cNvSpPr/>
          <p:nvPr/>
        </p:nvSpPr>
        <p:spPr>
          <a:xfrm>
            <a:off x="594360" y="3547872"/>
            <a:ext cx="11018520" cy="868680"/>
          </a:xfrm>
          <a:prstGeom prst="rect">
            <a:avLst/>
          </a:prstGeom>
          <a:solidFill>
            <a:srgbClr val="FFF8E1"/>
          </a:solidFill>
          <a:ln w="19050">
            <a:solidFill>
              <a:srgbClr val="DAA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3694176"/>
            <a:ext cx="10689336" cy="576071"/>
          </a:xfrm>
          <a:prstGeom prst="rect">
            <a:avLst/>
          </a:prstGeom>
          <a:noFill/>
        </p:spPr>
        <p:txBody>
          <a:bodyPr wrap="square" lIns="0" rIns="0" tIns="0" bIns="0" anchor="ctr">
            <a:spAutoFit/>
          </a:bodyPr>
          <a:lstStyle/>
          <a:p>
            <a:pPr algn="ctr">
              <a:lnSpc>
                <a:spcPct val="115000"/>
              </a:lnSpc>
              <a:spcBef>
                <a:spcPts val="0"/>
              </a:spcBef>
              <a:spcAft>
                <a:spcPts val="0"/>
              </a:spcAft>
            </a:pPr>
            <a:r>
              <a:rPr sz="1350" b="1">
                <a:solidFill>
                  <a:srgbClr val="081E3F"/>
                </a:solidFill>
                <a:latin typeface="Aptos"/>
              </a:rPr>
              <a:t>Relative error = absolute error / true value.    Percentage error = relative error × 100.</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FF9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QUESTION</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Relative error</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39</a:t>
            </a:r>
          </a:p>
        </p:txBody>
      </p:sp>
      <p:sp>
        <p:nvSpPr>
          <p:cNvPr id="7" name="TextBox 6"/>
          <p:cNvSpPr txBox="1"/>
          <p:nvPr/>
        </p:nvSpPr>
        <p:spPr>
          <a:xfrm>
            <a:off x="594360" y="1078992"/>
            <a:ext cx="11018520" cy="548640"/>
          </a:xfrm>
          <a:prstGeom prst="rect">
            <a:avLst/>
          </a:prstGeom>
          <a:noFill/>
        </p:spPr>
        <p:txBody>
          <a:bodyPr wrap="square" lIns="0" rIns="0" tIns="0" bIns="0" anchor="t">
            <a:spAutoFit/>
          </a:bodyPr>
          <a:lstStyle/>
          <a:p>
            <a:pPr algn="l">
              <a:lnSpc>
                <a:spcPct val="110000"/>
              </a:lnSpc>
              <a:spcBef>
                <a:spcPts val="0"/>
              </a:spcBef>
              <a:spcAft>
                <a:spcPts val="0"/>
              </a:spcAft>
            </a:pPr>
            <a:r>
              <a:rPr sz="1900" b="1">
                <a:solidFill>
                  <a:srgbClr val="FF9E40"/>
                </a:solidFill>
                <a:latin typeface="Aptos"/>
              </a:rPr>
              <a:t>Absolute error = 5 and true value = 15. The relative error is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ANSWER</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Solution: Relative error</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40</a:t>
            </a:r>
          </a:p>
        </p:txBody>
      </p:sp>
      <p:sp>
        <p:nvSpPr>
          <p:cNvPr id="7" name="TextBox 6"/>
          <p:cNvSpPr txBox="1"/>
          <p:nvPr/>
        </p:nvSpPr>
        <p:spPr>
          <a:xfrm>
            <a:off x="594360" y="107899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Relative error is a ratio, so the unit cancels.</a:t>
            </a:r>
          </a:p>
        </p:txBody>
      </p:sp>
      <p:sp>
        <p:nvSpPr>
          <p:cNvPr id="8" name="TextBox 7"/>
          <p:cNvSpPr txBox="1"/>
          <p:nvPr/>
        </p:nvSpPr>
        <p:spPr>
          <a:xfrm>
            <a:off x="594360" y="158191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C8FF"/>
                </a:solidFill>
                <a:latin typeface="Aptos"/>
              </a:rPr>
              <a:t>Step 1:  Relative error = 5 / 15 = 1/3.</a:t>
            </a:r>
          </a:p>
        </p:txBody>
      </p:sp>
      <p:sp>
        <p:nvSpPr>
          <p:cNvPr id="9" name="TextBox 8"/>
          <p:cNvSpPr txBox="1"/>
          <p:nvPr/>
        </p:nvSpPr>
        <p:spPr>
          <a:xfrm>
            <a:off x="594360" y="213055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440" b="1">
                <a:solidFill>
                  <a:srgbClr val="5AC8FF"/>
                </a:solidFill>
                <a:latin typeface="Aptos"/>
              </a:rPr>
              <a:t>Step 2:  Percentage error = (1/3) × 100 = 33.3%.</a:t>
            </a:r>
          </a:p>
        </p:txBody>
      </p:sp>
      <p:sp>
        <p:nvSpPr>
          <p:cNvPr id="10" name="TextBox 9"/>
          <p:cNvSpPr txBox="1"/>
          <p:nvPr/>
        </p:nvSpPr>
        <p:spPr>
          <a:xfrm>
            <a:off x="594360" y="2679191"/>
            <a:ext cx="11018520" cy="438912"/>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D680"/>
                </a:solidFill>
                <a:latin typeface="Aptos"/>
              </a:rPr>
              <a:t>Relative error = 1/3</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FF9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QUESTION</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Error in a sum</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41</a:t>
            </a:r>
          </a:p>
        </p:txBody>
      </p:sp>
      <p:sp>
        <p:nvSpPr>
          <p:cNvPr id="7" name="TextBox 6"/>
          <p:cNvSpPr txBox="1"/>
          <p:nvPr/>
        </p:nvSpPr>
        <p:spPr>
          <a:xfrm>
            <a:off x="594360" y="1078992"/>
            <a:ext cx="11018520" cy="731520"/>
          </a:xfrm>
          <a:prstGeom prst="rect">
            <a:avLst/>
          </a:prstGeom>
          <a:noFill/>
        </p:spPr>
        <p:txBody>
          <a:bodyPr wrap="square" lIns="0" rIns="0" tIns="0" bIns="0" anchor="t">
            <a:spAutoFit/>
          </a:bodyPr>
          <a:lstStyle/>
          <a:p>
            <a:pPr algn="l">
              <a:lnSpc>
                <a:spcPct val="110000"/>
              </a:lnSpc>
              <a:spcBef>
                <a:spcPts val="0"/>
              </a:spcBef>
              <a:spcAft>
                <a:spcPts val="0"/>
              </a:spcAft>
            </a:pPr>
            <a:r>
              <a:rPr sz="1900" b="1">
                <a:solidFill>
                  <a:srgbClr val="FF9E40"/>
                </a:solidFill>
                <a:latin typeface="Aptos"/>
              </a:rPr>
              <a:t>l_1 = (10 ± 2) cm and l_2 = (20 ± 1) cm. Find l = l_1 + l_2 with its error.</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ANSWER</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Solution: Error in a sum</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42</a:t>
            </a:r>
          </a:p>
        </p:txBody>
      </p:sp>
      <p:sp>
        <p:nvSpPr>
          <p:cNvPr id="7" name="TextBox 6"/>
          <p:cNvSpPr txBox="1"/>
          <p:nvPr/>
        </p:nvSpPr>
        <p:spPr>
          <a:xfrm>
            <a:off x="594360" y="1078992"/>
            <a:ext cx="11018520" cy="438912"/>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For a sum, the absolute errors are added. They are not averaged.</a:t>
            </a:r>
          </a:p>
        </p:txBody>
      </p:sp>
      <p:sp>
        <p:nvSpPr>
          <p:cNvPr id="8" name="TextBox 7"/>
          <p:cNvSpPr txBox="1"/>
          <p:nvPr/>
        </p:nvSpPr>
        <p:spPr>
          <a:xfrm>
            <a:off x="594360" y="1609343"/>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C8FF"/>
                </a:solidFill>
                <a:latin typeface="Aptos"/>
              </a:rPr>
              <a:t>Step 1:  l = 10 + 20 = 30 cm.</a:t>
            </a:r>
          </a:p>
        </p:txBody>
      </p:sp>
      <p:sp>
        <p:nvSpPr>
          <p:cNvPr id="9" name="TextBox 8"/>
          <p:cNvSpPr txBox="1"/>
          <p:nvPr/>
        </p:nvSpPr>
        <p:spPr>
          <a:xfrm>
            <a:off x="594360" y="2157984"/>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C8FF"/>
                </a:solidFill>
                <a:latin typeface="Aptos"/>
              </a:rPr>
              <a:t>Step 2:  Δl = 2 + 1 = 3 cm.</a:t>
            </a:r>
          </a:p>
        </p:txBody>
      </p:sp>
      <p:sp>
        <p:nvSpPr>
          <p:cNvPr id="10" name="TextBox 9"/>
          <p:cNvSpPr txBox="1"/>
          <p:nvPr/>
        </p:nvSpPr>
        <p:spPr>
          <a:xfrm>
            <a:off x="594360" y="2706623"/>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D680"/>
                </a:solidFill>
                <a:latin typeface="Aptos"/>
              </a:rPr>
              <a:t>l = (30 ± 3) cm</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B0B6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ROUGH WORK</a:t>
            </a:r>
          </a:p>
        </p:txBody>
      </p:sp>
      <p:sp>
        <p:nvSpPr>
          <p:cNvPr id="4" name="TextBox 3"/>
          <p:cNvSpPr txBox="1"/>
          <p:nvPr/>
        </p:nvSpPr>
        <p:spPr>
          <a:xfrm>
            <a:off x="594360" y="310896"/>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980" b="1">
                <a:solidFill>
                  <a:srgbClr val="FFD646"/>
                </a:solidFill>
                <a:latin typeface="Aptos"/>
              </a:rPr>
              <a:t>Rough work  /  extra work</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REPEATED READINGS</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Mean and mean absolute error</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44</a:t>
            </a:r>
          </a:p>
        </p:txBody>
      </p:sp>
      <p:sp>
        <p:nvSpPr>
          <p:cNvPr id="7" name="TextBox 6"/>
          <p:cNvSpPr txBox="1"/>
          <p:nvPr/>
        </p:nvSpPr>
        <p:spPr>
          <a:xfrm>
            <a:off x="594360" y="1078992"/>
            <a:ext cx="11018520" cy="114300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When the same quantity is measured several times, the mean is the best single value. Each reading then has its own absolute error, equal to how far it sits from the mean.</a:t>
            </a:r>
          </a:p>
        </p:txBody>
      </p:sp>
      <p:sp>
        <p:nvSpPr>
          <p:cNvPr id="8" name="TextBox 7"/>
          <p:cNvSpPr txBox="1"/>
          <p:nvPr/>
        </p:nvSpPr>
        <p:spPr>
          <a:xfrm>
            <a:off x="594360" y="2359152"/>
            <a:ext cx="11018520" cy="114300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The mean absolute error is the average of those gaps. The result is written as mean ± mean absolute error. Relative error is that mean absolute error divided by the mean.</a:t>
            </a:r>
          </a:p>
        </p:txBody>
      </p:sp>
      <p:sp>
        <p:nvSpPr>
          <p:cNvPr id="9" name="Rectangle 8"/>
          <p:cNvSpPr/>
          <p:nvPr/>
        </p:nvSpPr>
        <p:spPr>
          <a:xfrm>
            <a:off x="594360" y="3685032"/>
            <a:ext cx="11018520" cy="731520"/>
          </a:xfrm>
          <a:prstGeom prst="rect">
            <a:avLst/>
          </a:prstGeom>
          <a:solidFill>
            <a:srgbClr val="FFF8E1"/>
          </a:solidFill>
          <a:ln w="19050">
            <a:solidFill>
              <a:srgbClr val="DAA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3831336"/>
            <a:ext cx="10689336" cy="438912"/>
          </a:xfrm>
          <a:prstGeom prst="rect">
            <a:avLst/>
          </a:prstGeom>
          <a:noFill/>
        </p:spPr>
        <p:txBody>
          <a:bodyPr wrap="square" lIns="0" rIns="0" tIns="0" bIns="0" anchor="ctr">
            <a:spAutoFit/>
          </a:bodyPr>
          <a:lstStyle/>
          <a:p>
            <a:pPr algn="ctr">
              <a:lnSpc>
                <a:spcPct val="115000"/>
              </a:lnSpc>
              <a:spcBef>
                <a:spcPts val="0"/>
              </a:spcBef>
              <a:spcAft>
                <a:spcPts val="0"/>
              </a:spcAft>
            </a:pPr>
            <a:r>
              <a:rPr sz="1440" b="1">
                <a:solidFill>
                  <a:srgbClr val="081E3F"/>
                </a:solidFill>
                <a:latin typeface="Aptos"/>
              </a:rPr>
              <a:t>Result = mean  ±  mean absolute error</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FF9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QUESTION</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Pendulum period</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45</a:t>
            </a:r>
          </a:p>
        </p:txBody>
      </p:sp>
      <p:sp>
        <p:nvSpPr>
          <p:cNvPr id="7" name="TextBox 6"/>
          <p:cNvSpPr txBox="1"/>
          <p:nvPr/>
        </p:nvSpPr>
        <p:spPr>
          <a:xfrm>
            <a:off x="594360" y="107899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900" b="1">
                <a:solidFill>
                  <a:srgbClr val="FF9E40"/>
                </a:solidFill>
                <a:latin typeface="Aptos"/>
              </a:rPr>
              <a:t>Five readings of the time period, in seconds:</a:t>
            </a:r>
          </a:p>
        </p:txBody>
      </p:sp>
      <p:sp>
        <p:nvSpPr>
          <p:cNvPr id="8" name="TextBox 7"/>
          <p:cNvSpPr txBox="1"/>
          <p:nvPr/>
        </p:nvSpPr>
        <p:spPr>
          <a:xfrm>
            <a:off x="594360" y="1536192"/>
            <a:ext cx="11018520" cy="411480"/>
          </a:xfrm>
          <a:prstGeom prst="rect">
            <a:avLst/>
          </a:prstGeom>
          <a:noFill/>
        </p:spPr>
        <p:txBody>
          <a:bodyPr wrap="square" lIns="0" rIns="0" tIns="0" bIns="0" anchor="t">
            <a:spAutoFit/>
          </a:bodyPr>
          <a:lstStyle/>
          <a:p>
            <a:pPr algn="l">
              <a:lnSpc>
                <a:spcPct val="110000"/>
              </a:lnSpc>
              <a:spcBef>
                <a:spcPts val="0"/>
              </a:spcBef>
              <a:spcAft>
                <a:spcPts val="0"/>
              </a:spcAft>
            </a:pPr>
            <a:r>
              <a:rPr sz="2000" b="1">
                <a:solidFill>
                  <a:srgbClr val="FF9E40"/>
                </a:solidFill>
                <a:latin typeface="Aptos"/>
              </a:rPr>
              <a:t>2.63, 2.56, 2.42, 2.71, 2.80</a:t>
            </a:r>
          </a:p>
        </p:txBody>
      </p:sp>
      <p:sp>
        <p:nvSpPr>
          <p:cNvPr id="9" name="TextBox 8"/>
          <p:cNvSpPr txBox="1"/>
          <p:nvPr/>
        </p:nvSpPr>
        <p:spPr>
          <a:xfrm>
            <a:off x="594360" y="2130552"/>
            <a:ext cx="11018520" cy="640080"/>
          </a:xfrm>
          <a:prstGeom prst="rect">
            <a:avLst/>
          </a:prstGeom>
          <a:noFill/>
        </p:spPr>
        <p:txBody>
          <a:bodyPr wrap="square" lIns="0" rIns="0" tIns="0" bIns="0" anchor="t">
            <a:spAutoFit/>
          </a:bodyPr>
          <a:lstStyle/>
          <a:p>
            <a:pPr algn="l">
              <a:lnSpc>
                <a:spcPct val="110000"/>
              </a:lnSpc>
              <a:spcBef>
                <a:spcPts val="0"/>
              </a:spcBef>
              <a:spcAft>
                <a:spcPts val="0"/>
              </a:spcAft>
            </a:pPr>
            <a:r>
              <a:rPr sz="1600" b="0">
                <a:solidFill>
                  <a:srgbClr val="FFFFFF"/>
                </a:solidFill>
                <a:latin typeface="Aptos"/>
              </a:rPr>
              <a:t>Find the mean, the mean absolute error, the relative error and the percentage error.</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ANSWER</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Solution: mean of the period</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46</a:t>
            </a:r>
          </a:p>
        </p:txBody>
      </p:sp>
      <p:sp>
        <p:nvSpPr>
          <p:cNvPr id="7" name="TextBox 6"/>
          <p:cNvSpPr txBox="1"/>
          <p:nvPr/>
        </p:nvSpPr>
        <p:spPr>
          <a:xfrm>
            <a:off x="594360" y="107899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Add the five readings, then divide by 5.</a:t>
            </a:r>
          </a:p>
        </p:txBody>
      </p:sp>
      <p:sp>
        <p:nvSpPr>
          <p:cNvPr id="8" name="TextBox 7"/>
          <p:cNvSpPr txBox="1"/>
          <p:nvPr/>
        </p:nvSpPr>
        <p:spPr>
          <a:xfrm>
            <a:off x="594360" y="1554480"/>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440" b="1">
                <a:solidFill>
                  <a:srgbClr val="5AC8FF"/>
                </a:solidFill>
                <a:latin typeface="Aptos"/>
              </a:rPr>
              <a:t>Step 1:  Sum = 2.63 + 2.56 + 2.42 + 2.71 + 2.80 = 13.12 s.</a:t>
            </a:r>
          </a:p>
        </p:txBody>
      </p:sp>
      <p:sp>
        <p:nvSpPr>
          <p:cNvPr id="9" name="TextBox 8"/>
          <p:cNvSpPr txBox="1"/>
          <p:nvPr/>
        </p:nvSpPr>
        <p:spPr>
          <a:xfrm>
            <a:off x="594360" y="2103120"/>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530" b="1">
                <a:solidFill>
                  <a:srgbClr val="5AC8FF"/>
                </a:solidFill>
                <a:latin typeface="Aptos"/>
              </a:rPr>
              <a:t>Step 2:  Mean T = 13.12 / 5 = 2.624 s.</a:t>
            </a:r>
          </a:p>
        </p:txBody>
      </p:sp>
      <p:sp>
        <p:nvSpPr>
          <p:cNvPr id="10" name="TextBox 9"/>
          <p:cNvSpPr txBox="1"/>
          <p:nvPr/>
        </p:nvSpPr>
        <p:spPr>
          <a:xfrm>
            <a:off x="594360" y="2651760"/>
            <a:ext cx="11018520" cy="548640"/>
          </a:xfrm>
          <a:prstGeom prst="rect">
            <a:avLst/>
          </a:prstGeom>
          <a:noFill/>
        </p:spPr>
        <p:txBody>
          <a:bodyPr wrap="square" lIns="0" rIns="0" tIns="0" bIns="0" anchor="t">
            <a:spAutoFit/>
          </a:bodyPr>
          <a:lstStyle/>
          <a:p>
            <a:pPr algn="l">
              <a:lnSpc>
                <a:spcPct val="110000"/>
              </a:lnSpc>
              <a:spcBef>
                <a:spcPts val="0"/>
              </a:spcBef>
              <a:spcAft>
                <a:spcPts val="0"/>
              </a:spcAft>
            </a:pPr>
            <a:r>
              <a:rPr sz="1350" b="1">
                <a:solidFill>
                  <a:srgbClr val="5AC8FF"/>
                </a:solidFill>
                <a:latin typeface="Aptos"/>
              </a:rPr>
              <a:t>Step 3:  We will report this as 2.62 s once the error is known to the hundredth.</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ANSWER</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Solution: errors in the period</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47</a:t>
            </a:r>
          </a:p>
        </p:txBody>
      </p:sp>
      <p:sp>
        <p:nvSpPr>
          <p:cNvPr id="7" name="TextBox 6"/>
          <p:cNvSpPr txBox="1"/>
          <p:nvPr/>
        </p:nvSpPr>
        <p:spPr>
          <a:xfrm>
            <a:off x="594360" y="1078992"/>
            <a:ext cx="11018520" cy="36576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Gap of each reading from 2.624 s.</a:t>
            </a:r>
          </a:p>
        </p:txBody>
      </p:sp>
      <p:sp>
        <p:nvSpPr>
          <p:cNvPr id="8" name="TextBox 7"/>
          <p:cNvSpPr txBox="1"/>
          <p:nvPr/>
        </p:nvSpPr>
        <p:spPr>
          <a:xfrm>
            <a:off x="594360" y="1536192"/>
            <a:ext cx="11018520" cy="594360"/>
          </a:xfrm>
          <a:prstGeom prst="rect">
            <a:avLst/>
          </a:prstGeom>
          <a:noFill/>
        </p:spPr>
        <p:txBody>
          <a:bodyPr wrap="square" lIns="0" rIns="0" tIns="0" bIns="0" anchor="t">
            <a:spAutoFit/>
          </a:bodyPr>
          <a:lstStyle/>
          <a:p>
            <a:pPr algn="l">
              <a:lnSpc>
                <a:spcPct val="110000"/>
              </a:lnSpc>
              <a:spcBef>
                <a:spcPts val="0"/>
              </a:spcBef>
              <a:spcAft>
                <a:spcPts val="0"/>
              </a:spcAft>
            </a:pPr>
            <a:r>
              <a:rPr sz="1350" b="1">
                <a:solidFill>
                  <a:srgbClr val="5AC8FF"/>
                </a:solidFill>
                <a:latin typeface="Aptos"/>
              </a:rPr>
              <a:t>Step 1:  0.006, 0.064, 0.204, 0.086, 0.176.   Sum of gaps = 0.536 s.</a:t>
            </a:r>
          </a:p>
        </p:txBody>
      </p:sp>
      <p:sp>
        <p:nvSpPr>
          <p:cNvPr id="9" name="TextBox 8"/>
          <p:cNvSpPr txBox="1"/>
          <p:nvPr/>
        </p:nvSpPr>
        <p:spPr>
          <a:xfrm>
            <a:off x="594360" y="2221991"/>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440" b="1">
                <a:solidFill>
                  <a:srgbClr val="5AC8FF"/>
                </a:solidFill>
                <a:latin typeface="Aptos"/>
              </a:rPr>
              <a:t>Step 2:  Mean absolute error = 0.536 / 5 = 0.107 s ≈ 0.11 s.</a:t>
            </a:r>
          </a:p>
        </p:txBody>
      </p:sp>
      <p:sp>
        <p:nvSpPr>
          <p:cNvPr id="10" name="TextBox 9"/>
          <p:cNvSpPr txBox="1"/>
          <p:nvPr/>
        </p:nvSpPr>
        <p:spPr>
          <a:xfrm>
            <a:off x="594360" y="2770632"/>
            <a:ext cx="11018520" cy="594360"/>
          </a:xfrm>
          <a:prstGeom prst="rect">
            <a:avLst/>
          </a:prstGeom>
          <a:noFill/>
        </p:spPr>
        <p:txBody>
          <a:bodyPr wrap="square" lIns="0" rIns="0" tIns="0" bIns="0" anchor="t">
            <a:spAutoFit/>
          </a:bodyPr>
          <a:lstStyle/>
          <a:p>
            <a:pPr algn="l">
              <a:lnSpc>
                <a:spcPct val="110000"/>
              </a:lnSpc>
              <a:spcBef>
                <a:spcPts val="0"/>
              </a:spcBef>
              <a:spcAft>
                <a:spcPts val="0"/>
              </a:spcAft>
            </a:pPr>
            <a:r>
              <a:rPr sz="1350" b="1">
                <a:solidFill>
                  <a:srgbClr val="5AC8FF"/>
                </a:solidFill>
                <a:latin typeface="Aptos"/>
              </a:rPr>
              <a:t>Step 3:  Relative error = 0.11 / 2.62 ≈ 0.04.   Percentage error ≈ 4%.</a:t>
            </a:r>
          </a:p>
        </p:txBody>
      </p:sp>
      <p:sp>
        <p:nvSpPr>
          <p:cNvPr id="11" name="TextBox 10"/>
          <p:cNvSpPr txBox="1"/>
          <p:nvPr/>
        </p:nvSpPr>
        <p:spPr>
          <a:xfrm>
            <a:off x="594360" y="3410711"/>
            <a:ext cx="11018520" cy="640080"/>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D680"/>
                </a:solidFill>
                <a:latin typeface="Aptos"/>
              </a:rPr>
              <a:t>T = (2.62 ± 0.11) s, relative error 0.04, percentage error 4%</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B0B6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ROUGH WORK</a:t>
            </a:r>
          </a:p>
        </p:txBody>
      </p:sp>
      <p:sp>
        <p:nvSpPr>
          <p:cNvPr id="4" name="TextBox 3"/>
          <p:cNvSpPr txBox="1"/>
          <p:nvPr/>
        </p:nvSpPr>
        <p:spPr>
          <a:xfrm>
            <a:off x="594360" y="310896"/>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980" b="1">
                <a:solidFill>
                  <a:srgbClr val="FFD646"/>
                </a:solidFill>
                <a:latin typeface="Aptos"/>
              </a:rPr>
              <a:t>Rough work  /  extra work</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409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RECALL</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Matching powers still works</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49</a:t>
            </a:r>
          </a:p>
        </p:txBody>
      </p:sp>
      <p:sp>
        <p:nvSpPr>
          <p:cNvPr id="7" name="TextBox 6"/>
          <p:cNvSpPr txBox="1"/>
          <p:nvPr/>
        </p:nvSpPr>
        <p:spPr>
          <a:xfrm>
            <a:off x="594360" y="1078992"/>
            <a:ext cx="11018520" cy="128016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Write the unknown as a product of powers. Put dimensions on both sides. Equate the powers of M, of L and of T separately. A pure number such as 2π or 6π never comes out of this method.</a:t>
            </a:r>
          </a:p>
        </p:txBody>
      </p:sp>
      <p:sp>
        <p:nvSpPr>
          <p:cNvPr id="8" name="TextBox 7"/>
          <p:cNvSpPr txBox="1"/>
          <p:nvPr/>
        </p:nvSpPr>
        <p:spPr>
          <a:xfrm>
            <a:off x="594360" y="2496312"/>
            <a:ext cx="11018520" cy="118872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If two quantities in the list have the same dimensions, they cannot both be used as separate base quantities. If a quantity is an angle, it is a pure number and cannot build a force or a time by itself.</a:t>
            </a:r>
          </a:p>
        </p:txBody>
      </p:sp>
      <p:sp>
        <p:nvSpPr>
          <p:cNvPr id="9" name="Rectangle 8"/>
          <p:cNvSpPr/>
          <p:nvPr/>
        </p:nvSpPr>
        <p:spPr>
          <a:xfrm>
            <a:off x="594360" y="3867911"/>
            <a:ext cx="11018520" cy="731520"/>
          </a:xfrm>
          <a:prstGeom prst="rect">
            <a:avLst/>
          </a:prstGeom>
          <a:solidFill>
            <a:srgbClr val="FFF8E1"/>
          </a:solidFill>
          <a:ln w="19050">
            <a:solidFill>
              <a:srgbClr val="DAA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4014215"/>
            <a:ext cx="10689336" cy="438912"/>
          </a:xfrm>
          <a:prstGeom prst="rect">
            <a:avLst/>
          </a:prstGeom>
          <a:noFill/>
        </p:spPr>
        <p:txBody>
          <a:bodyPr wrap="square" lIns="0" rIns="0" tIns="0" bIns="0" anchor="ctr">
            <a:spAutoFit/>
          </a:bodyPr>
          <a:lstStyle/>
          <a:p>
            <a:pPr algn="ctr">
              <a:lnSpc>
                <a:spcPct val="115000"/>
              </a:lnSpc>
              <a:spcBef>
                <a:spcPts val="0"/>
              </a:spcBef>
              <a:spcAft>
                <a:spcPts val="0"/>
              </a:spcAft>
            </a:pPr>
            <a:r>
              <a:rPr sz="1440" b="1">
                <a:solidFill>
                  <a:srgbClr val="081E3F"/>
                </a:solidFill>
                <a:latin typeface="Aptos"/>
              </a:rPr>
              <a:t>Same dimensions, or a pure angle, means the method stops.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FF9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QUESTION</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Electric field and magnetic field</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50</a:t>
            </a:r>
          </a:p>
        </p:txBody>
      </p:sp>
      <p:sp>
        <p:nvSpPr>
          <p:cNvPr id="7" name="TextBox 6"/>
          <p:cNvSpPr txBox="1"/>
          <p:nvPr/>
        </p:nvSpPr>
        <p:spPr>
          <a:xfrm>
            <a:off x="594360" y="1078992"/>
            <a:ext cx="11018520" cy="411480"/>
          </a:xfrm>
          <a:prstGeom prst="rect">
            <a:avLst/>
          </a:prstGeom>
          <a:noFill/>
        </p:spPr>
        <p:txBody>
          <a:bodyPr wrap="square" lIns="0" rIns="0" tIns="0" bIns="0" anchor="t">
            <a:spAutoFit/>
          </a:bodyPr>
          <a:lstStyle/>
          <a:p>
            <a:pPr algn="l">
              <a:lnSpc>
                <a:spcPct val="110000"/>
              </a:lnSpc>
              <a:spcBef>
                <a:spcPts val="0"/>
              </a:spcBef>
              <a:spcAft>
                <a:spcPts val="0"/>
              </a:spcAft>
            </a:pPr>
            <a:r>
              <a:rPr sz="1900" b="1">
                <a:solidFill>
                  <a:srgbClr val="FF9E40"/>
                </a:solidFill>
                <a:latin typeface="Aptos"/>
              </a:rPr>
              <a:t>The relation between [E] and [B] is</a:t>
            </a:r>
          </a:p>
        </p:txBody>
      </p:sp>
      <p:sp>
        <p:nvSpPr>
          <p:cNvPr id="8" name="Oval 7"/>
          <p:cNvSpPr/>
          <p:nvPr/>
        </p:nvSpPr>
        <p:spPr>
          <a:xfrm>
            <a:off x="594360" y="1728216"/>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746504"/>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1</a:t>
            </a:r>
          </a:p>
        </p:txBody>
      </p:sp>
      <p:sp>
        <p:nvSpPr>
          <p:cNvPr id="10" name="TextBox 9"/>
          <p:cNvSpPr txBox="1"/>
          <p:nvPr/>
        </p:nvSpPr>
        <p:spPr>
          <a:xfrm>
            <a:off x="1014984" y="1709928"/>
            <a:ext cx="945489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[E] = [B] [L] [T]</a:t>
            </a:r>
          </a:p>
        </p:txBody>
      </p:sp>
      <p:sp>
        <p:nvSpPr>
          <p:cNvPr id="11" name="Oval 10"/>
          <p:cNvSpPr/>
          <p:nvPr/>
        </p:nvSpPr>
        <p:spPr>
          <a:xfrm>
            <a:off x="594360" y="2203704"/>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2221992"/>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2</a:t>
            </a:r>
          </a:p>
        </p:txBody>
      </p:sp>
      <p:sp>
        <p:nvSpPr>
          <p:cNvPr id="13" name="TextBox 12"/>
          <p:cNvSpPr txBox="1"/>
          <p:nvPr/>
        </p:nvSpPr>
        <p:spPr>
          <a:xfrm>
            <a:off x="1014984" y="2185416"/>
            <a:ext cx="945489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[E] = [B] [L]⁻¹ [T]</a:t>
            </a:r>
          </a:p>
        </p:txBody>
      </p:sp>
      <p:sp>
        <p:nvSpPr>
          <p:cNvPr id="14" name="Oval 13"/>
          <p:cNvSpPr/>
          <p:nvPr/>
        </p:nvSpPr>
        <p:spPr>
          <a:xfrm>
            <a:off x="594360" y="2679192"/>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2697480"/>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3</a:t>
            </a:r>
          </a:p>
        </p:txBody>
      </p:sp>
      <p:sp>
        <p:nvSpPr>
          <p:cNvPr id="16" name="TextBox 15"/>
          <p:cNvSpPr txBox="1"/>
          <p:nvPr/>
        </p:nvSpPr>
        <p:spPr>
          <a:xfrm>
            <a:off x="1014984" y="2660904"/>
            <a:ext cx="945489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[E] = [B] [L] [T]⁻¹</a:t>
            </a:r>
          </a:p>
        </p:txBody>
      </p:sp>
      <p:sp>
        <p:nvSpPr>
          <p:cNvPr id="17" name="Oval 16"/>
          <p:cNvSpPr/>
          <p:nvPr/>
        </p:nvSpPr>
        <p:spPr>
          <a:xfrm>
            <a:off x="594360" y="3154680"/>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3172968"/>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4</a:t>
            </a:r>
          </a:p>
        </p:txBody>
      </p:sp>
      <p:sp>
        <p:nvSpPr>
          <p:cNvPr id="19" name="TextBox 18"/>
          <p:cNvSpPr txBox="1"/>
          <p:nvPr/>
        </p:nvSpPr>
        <p:spPr>
          <a:xfrm>
            <a:off x="1014984" y="3136392"/>
            <a:ext cx="945489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[E] = [B] [L]⁻¹ [T]⁻¹</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ANSWER</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Solution: Electric field and magnetic field</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51</a:t>
            </a:r>
          </a:p>
        </p:txBody>
      </p:sp>
      <p:sp>
        <p:nvSpPr>
          <p:cNvPr id="7" name="TextBox 6"/>
          <p:cNvSpPr txBox="1"/>
          <p:nvPr/>
        </p:nvSpPr>
        <p:spPr>
          <a:xfrm>
            <a:off x="594360" y="1078992"/>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In an electromagnetic wave, E = c B. Speed c carries the extra dimensions.</a:t>
            </a:r>
          </a:p>
        </p:txBody>
      </p:sp>
      <p:sp>
        <p:nvSpPr>
          <p:cNvPr id="8" name="TextBox 7"/>
          <p:cNvSpPr txBox="1"/>
          <p:nvPr/>
        </p:nvSpPr>
        <p:spPr>
          <a:xfrm>
            <a:off x="594360" y="1627631"/>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440" b="1">
                <a:solidFill>
                  <a:srgbClr val="5AC8FF"/>
                </a:solidFill>
                <a:latin typeface="Aptos"/>
              </a:rPr>
              <a:t>Step 1:  [c] = L T⁻¹, so [E] = [B] × L T⁻¹.</a:t>
            </a:r>
          </a:p>
        </p:txBody>
      </p:sp>
      <p:sp>
        <p:nvSpPr>
          <p:cNvPr id="9" name="TextBox 8"/>
          <p:cNvSpPr txBox="1"/>
          <p:nvPr/>
        </p:nvSpPr>
        <p:spPr>
          <a:xfrm>
            <a:off x="594360" y="217627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530" b="1">
                <a:solidFill>
                  <a:srgbClr val="5AC8FF"/>
                </a:solidFill>
                <a:latin typeface="Aptos"/>
              </a:rPr>
              <a:t>Step 2:  That is [E] = [B] [L] [T]⁻¹.</a:t>
            </a:r>
          </a:p>
        </p:txBody>
      </p:sp>
      <p:sp>
        <p:nvSpPr>
          <p:cNvPr id="10" name="TextBox 9"/>
          <p:cNvSpPr txBox="1"/>
          <p:nvPr/>
        </p:nvSpPr>
        <p:spPr>
          <a:xfrm>
            <a:off x="594360" y="2724911"/>
            <a:ext cx="11018520" cy="438912"/>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D680"/>
                </a:solidFill>
                <a:latin typeface="Aptos"/>
              </a:rPr>
              <a:t>Final answer: option 3</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FF9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QUESTION</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Permittivity and permeability</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52</a:t>
            </a:r>
          </a:p>
        </p:txBody>
      </p:sp>
      <p:sp>
        <p:nvSpPr>
          <p:cNvPr id="7" name="TextBox 6"/>
          <p:cNvSpPr txBox="1"/>
          <p:nvPr/>
        </p:nvSpPr>
        <p:spPr>
          <a:xfrm>
            <a:off x="594360" y="1078992"/>
            <a:ext cx="11018520" cy="411480"/>
          </a:xfrm>
          <a:prstGeom prst="rect">
            <a:avLst/>
          </a:prstGeom>
          <a:noFill/>
        </p:spPr>
        <p:txBody>
          <a:bodyPr wrap="square" lIns="0" rIns="0" tIns="0" bIns="0" anchor="t">
            <a:spAutoFit/>
          </a:bodyPr>
          <a:lstStyle/>
          <a:p>
            <a:pPr algn="l">
              <a:lnSpc>
                <a:spcPct val="110000"/>
              </a:lnSpc>
              <a:spcBef>
                <a:spcPts val="0"/>
              </a:spcBef>
              <a:spcAft>
                <a:spcPts val="0"/>
              </a:spcAft>
            </a:pPr>
            <a:r>
              <a:rPr sz="1900" b="1">
                <a:solidFill>
                  <a:srgbClr val="FF9E40"/>
                </a:solidFill>
                <a:latin typeface="Aptos"/>
              </a:rPr>
              <a:t>The relation between [ε_0] and [μ_0] is</a:t>
            </a:r>
          </a:p>
        </p:txBody>
      </p:sp>
      <p:sp>
        <p:nvSpPr>
          <p:cNvPr id="8" name="Oval 7"/>
          <p:cNvSpPr/>
          <p:nvPr/>
        </p:nvSpPr>
        <p:spPr>
          <a:xfrm>
            <a:off x="594360" y="1682495"/>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700784"/>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1</a:t>
            </a:r>
          </a:p>
        </p:txBody>
      </p:sp>
      <p:sp>
        <p:nvSpPr>
          <p:cNvPr id="10" name="TextBox 9"/>
          <p:cNvSpPr txBox="1"/>
          <p:nvPr/>
        </p:nvSpPr>
        <p:spPr>
          <a:xfrm>
            <a:off x="1014984" y="1664207"/>
            <a:ext cx="963777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[μ_0] = [ε_0] [L]² [T]⁻²</a:t>
            </a:r>
          </a:p>
        </p:txBody>
      </p:sp>
      <p:sp>
        <p:nvSpPr>
          <p:cNvPr id="11" name="Oval 10"/>
          <p:cNvSpPr/>
          <p:nvPr/>
        </p:nvSpPr>
        <p:spPr>
          <a:xfrm>
            <a:off x="594360" y="2157984"/>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2176272"/>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2</a:t>
            </a:r>
          </a:p>
        </p:txBody>
      </p:sp>
      <p:sp>
        <p:nvSpPr>
          <p:cNvPr id="13" name="TextBox 12"/>
          <p:cNvSpPr txBox="1"/>
          <p:nvPr/>
        </p:nvSpPr>
        <p:spPr>
          <a:xfrm>
            <a:off x="1014984" y="2139696"/>
            <a:ext cx="963777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[μ_0] = [ε_0] [L]⁻² [T]²</a:t>
            </a:r>
          </a:p>
        </p:txBody>
      </p:sp>
      <p:sp>
        <p:nvSpPr>
          <p:cNvPr id="14" name="Oval 13"/>
          <p:cNvSpPr/>
          <p:nvPr/>
        </p:nvSpPr>
        <p:spPr>
          <a:xfrm>
            <a:off x="594360" y="2633472"/>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2651760"/>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3</a:t>
            </a:r>
          </a:p>
        </p:txBody>
      </p:sp>
      <p:sp>
        <p:nvSpPr>
          <p:cNvPr id="16" name="TextBox 15"/>
          <p:cNvSpPr txBox="1"/>
          <p:nvPr/>
        </p:nvSpPr>
        <p:spPr>
          <a:xfrm>
            <a:off x="1014984" y="2615184"/>
            <a:ext cx="963777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[μ_0] = [ε_0]⁻¹ [L]² [T]⁻²</a:t>
            </a:r>
          </a:p>
        </p:txBody>
      </p:sp>
      <p:sp>
        <p:nvSpPr>
          <p:cNvPr id="17" name="Oval 16"/>
          <p:cNvSpPr/>
          <p:nvPr/>
        </p:nvSpPr>
        <p:spPr>
          <a:xfrm>
            <a:off x="594360" y="3108960"/>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3127248"/>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4</a:t>
            </a:r>
          </a:p>
        </p:txBody>
      </p:sp>
      <p:sp>
        <p:nvSpPr>
          <p:cNvPr id="19" name="TextBox 18"/>
          <p:cNvSpPr txBox="1"/>
          <p:nvPr/>
        </p:nvSpPr>
        <p:spPr>
          <a:xfrm>
            <a:off x="1014984" y="3090672"/>
            <a:ext cx="963777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[μ_0] = [ε_0]⁻¹ [L]⁻² [T]²</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ANSWER</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Solution: Permittivity and permeability</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53</a:t>
            </a:r>
          </a:p>
        </p:txBody>
      </p:sp>
      <p:sp>
        <p:nvSpPr>
          <p:cNvPr id="7" name="TextBox 6"/>
          <p:cNvSpPr txBox="1"/>
          <p:nvPr/>
        </p:nvSpPr>
        <p:spPr>
          <a:xfrm>
            <a:off x="594360" y="1078992"/>
            <a:ext cx="11018520" cy="41148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Use c = 1 / √(μ_0 ε_0). Square both sides.</a:t>
            </a:r>
          </a:p>
        </p:txBody>
      </p:sp>
      <p:sp>
        <p:nvSpPr>
          <p:cNvPr id="8" name="TextBox 7"/>
          <p:cNvSpPr txBox="1"/>
          <p:nvPr/>
        </p:nvSpPr>
        <p:spPr>
          <a:xfrm>
            <a:off x="594360" y="158191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440" b="1">
                <a:solidFill>
                  <a:srgbClr val="5AC8FF"/>
                </a:solidFill>
                <a:latin typeface="Aptos"/>
              </a:rPr>
              <a:t>Step 1:  μ_0 ε_0 = 1 / c², so [μ_0] [ε_0] = L⁻² T².</a:t>
            </a:r>
          </a:p>
        </p:txBody>
      </p:sp>
      <p:sp>
        <p:nvSpPr>
          <p:cNvPr id="9" name="TextBox 8"/>
          <p:cNvSpPr txBox="1"/>
          <p:nvPr/>
        </p:nvSpPr>
        <p:spPr>
          <a:xfrm>
            <a:off x="594360" y="213055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440" b="1">
                <a:solidFill>
                  <a:srgbClr val="5AC8FF"/>
                </a:solidFill>
                <a:latin typeface="Aptos"/>
              </a:rPr>
              <a:t>Step 2:  [μ_0] = [ε_0]⁻¹ [L]⁻² [T]².</a:t>
            </a:r>
          </a:p>
        </p:txBody>
      </p:sp>
      <p:sp>
        <p:nvSpPr>
          <p:cNvPr id="10" name="TextBox 9"/>
          <p:cNvSpPr txBox="1"/>
          <p:nvPr/>
        </p:nvSpPr>
        <p:spPr>
          <a:xfrm>
            <a:off x="594360" y="2679191"/>
            <a:ext cx="11018520" cy="438912"/>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D680"/>
                </a:solidFill>
                <a:latin typeface="Aptos"/>
              </a:rPr>
              <a:t>Final answer: option 4</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B0B6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ROUGH WORK</a:t>
            </a:r>
          </a:p>
        </p:txBody>
      </p:sp>
      <p:sp>
        <p:nvSpPr>
          <p:cNvPr id="4" name="TextBox 3"/>
          <p:cNvSpPr txBox="1"/>
          <p:nvPr/>
        </p:nvSpPr>
        <p:spPr>
          <a:xfrm>
            <a:off x="594360" y="310896"/>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980" b="1">
                <a:solidFill>
                  <a:srgbClr val="FFD646"/>
                </a:solidFill>
                <a:latin typeface="Aptos"/>
              </a:rPr>
              <a:t>Rough work  /  extra work</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FF9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QUESTION</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Same dimensions as S</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55</a:t>
            </a:r>
          </a:p>
        </p:txBody>
      </p:sp>
      <p:sp>
        <p:nvSpPr>
          <p:cNvPr id="7" name="TextBox 6"/>
          <p:cNvSpPr txBox="1"/>
          <p:nvPr/>
        </p:nvSpPr>
        <p:spPr>
          <a:xfrm>
            <a:off x="594360" y="1078992"/>
            <a:ext cx="11018520" cy="502920"/>
          </a:xfrm>
          <a:prstGeom prst="rect">
            <a:avLst/>
          </a:prstGeom>
          <a:noFill/>
        </p:spPr>
        <p:txBody>
          <a:bodyPr wrap="square" lIns="0" rIns="0" tIns="0" bIns="0" anchor="t">
            <a:spAutoFit/>
          </a:bodyPr>
          <a:lstStyle/>
          <a:p>
            <a:pPr algn="l">
              <a:lnSpc>
                <a:spcPct val="110000"/>
              </a:lnSpc>
              <a:spcBef>
                <a:spcPts val="0"/>
              </a:spcBef>
              <a:spcAft>
                <a:spcPts val="0"/>
              </a:spcAft>
            </a:pPr>
            <a:r>
              <a:rPr sz="1900" b="1">
                <a:solidFill>
                  <a:srgbClr val="FF9E40"/>
                </a:solidFill>
                <a:latin typeface="Aptos"/>
              </a:rPr>
              <a:t>S = (E × B) / μ_0. Its dimensions match which of these?</a:t>
            </a:r>
          </a:p>
        </p:txBody>
      </p:sp>
      <p:sp>
        <p:nvSpPr>
          <p:cNvPr id="8" name="Oval 7"/>
          <p:cNvSpPr/>
          <p:nvPr/>
        </p:nvSpPr>
        <p:spPr>
          <a:xfrm>
            <a:off x="594360" y="1819656"/>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837943"/>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1</a:t>
            </a:r>
          </a:p>
        </p:txBody>
      </p:sp>
      <p:sp>
        <p:nvSpPr>
          <p:cNvPr id="10" name="TextBox 9"/>
          <p:cNvSpPr txBox="1"/>
          <p:nvPr/>
        </p:nvSpPr>
        <p:spPr>
          <a:xfrm>
            <a:off x="1014984" y="1801368"/>
            <a:ext cx="945489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Energy / (charge × current)</a:t>
            </a:r>
          </a:p>
        </p:txBody>
      </p:sp>
      <p:sp>
        <p:nvSpPr>
          <p:cNvPr id="11" name="Oval 10"/>
          <p:cNvSpPr/>
          <p:nvPr/>
        </p:nvSpPr>
        <p:spPr>
          <a:xfrm>
            <a:off x="594360" y="2295144"/>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2313432"/>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2</a:t>
            </a:r>
          </a:p>
        </p:txBody>
      </p:sp>
      <p:sp>
        <p:nvSpPr>
          <p:cNvPr id="13" name="TextBox 12"/>
          <p:cNvSpPr txBox="1"/>
          <p:nvPr/>
        </p:nvSpPr>
        <p:spPr>
          <a:xfrm>
            <a:off x="1014984" y="2276856"/>
            <a:ext cx="945489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Force / (length × time)</a:t>
            </a:r>
          </a:p>
        </p:txBody>
      </p:sp>
      <p:sp>
        <p:nvSpPr>
          <p:cNvPr id="14" name="Oval 13"/>
          <p:cNvSpPr/>
          <p:nvPr/>
        </p:nvSpPr>
        <p:spPr>
          <a:xfrm>
            <a:off x="594360" y="2770632"/>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2788920"/>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3</a:t>
            </a:r>
          </a:p>
        </p:txBody>
      </p:sp>
      <p:sp>
        <p:nvSpPr>
          <p:cNvPr id="16" name="TextBox 15"/>
          <p:cNvSpPr txBox="1"/>
          <p:nvPr/>
        </p:nvSpPr>
        <p:spPr>
          <a:xfrm>
            <a:off x="1014984" y="2752344"/>
            <a:ext cx="945489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Energy / volume</a:t>
            </a:r>
          </a:p>
        </p:txBody>
      </p:sp>
      <p:sp>
        <p:nvSpPr>
          <p:cNvPr id="17" name="Oval 16"/>
          <p:cNvSpPr/>
          <p:nvPr/>
        </p:nvSpPr>
        <p:spPr>
          <a:xfrm>
            <a:off x="594360" y="3246120"/>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3264408"/>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4</a:t>
            </a:r>
          </a:p>
        </p:txBody>
      </p:sp>
      <p:sp>
        <p:nvSpPr>
          <p:cNvPr id="19" name="TextBox 18"/>
          <p:cNvSpPr txBox="1"/>
          <p:nvPr/>
        </p:nvSpPr>
        <p:spPr>
          <a:xfrm>
            <a:off x="1014984" y="3227832"/>
            <a:ext cx="945489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Power / area</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ANSWER</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Solution: Same dimensions as S</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56</a:t>
            </a:r>
          </a:p>
        </p:txBody>
      </p:sp>
      <p:sp>
        <p:nvSpPr>
          <p:cNvPr id="7" name="TextBox 6"/>
          <p:cNvSpPr txBox="1"/>
          <p:nvPr/>
        </p:nvSpPr>
        <p:spPr>
          <a:xfrm>
            <a:off x="594360" y="107899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Build [S] from the known formulas, then compare.</a:t>
            </a:r>
          </a:p>
        </p:txBody>
      </p:sp>
      <p:sp>
        <p:nvSpPr>
          <p:cNvPr id="8" name="TextBox 7"/>
          <p:cNvSpPr txBox="1"/>
          <p:nvPr/>
        </p:nvSpPr>
        <p:spPr>
          <a:xfrm>
            <a:off x="594360" y="1536192"/>
            <a:ext cx="11018520" cy="594360"/>
          </a:xfrm>
          <a:prstGeom prst="rect">
            <a:avLst/>
          </a:prstGeom>
          <a:noFill/>
        </p:spPr>
        <p:txBody>
          <a:bodyPr wrap="square" lIns="0" rIns="0" tIns="0" bIns="0" anchor="t">
            <a:spAutoFit/>
          </a:bodyPr>
          <a:lstStyle/>
          <a:p>
            <a:pPr algn="l">
              <a:lnSpc>
                <a:spcPct val="110000"/>
              </a:lnSpc>
              <a:spcBef>
                <a:spcPts val="0"/>
              </a:spcBef>
              <a:spcAft>
                <a:spcPts val="0"/>
              </a:spcAft>
            </a:pPr>
            <a:r>
              <a:rPr sz="1260" b="1">
                <a:solidFill>
                  <a:srgbClr val="5AC8FF"/>
                </a:solidFill>
                <a:latin typeface="Aptos"/>
              </a:rPr>
              <a:t>Step 1:  [E] = M L T⁻³ I⁻¹, [B] = M T⁻² I⁻¹, [μ_0] = M L T⁻² I⁻².</a:t>
            </a:r>
          </a:p>
        </p:txBody>
      </p:sp>
      <p:sp>
        <p:nvSpPr>
          <p:cNvPr id="9" name="TextBox 8"/>
          <p:cNvSpPr txBox="1"/>
          <p:nvPr/>
        </p:nvSpPr>
        <p:spPr>
          <a:xfrm>
            <a:off x="594360" y="2221991"/>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530" b="1">
                <a:solidFill>
                  <a:srgbClr val="5AC8FF"/>
                </a:solidFill>
                <a:latin typeface="Aptos"/>
              </a:rPr>
              <a:t>Step 2:  [E B / μ_0] = M T⁻³.</a:t>
            </a:r>
          </a:p>
        </p:txBody>
      </p:sp>
      <p:sp>
        <p:nvSpPr>
          <p:cNvPr id="10" name="TextBox 9"/>
          <p:cNvSpPr txBox="1"/>
          <p:nvPr/>
        </p:nvSpPr>
        <p:spPr>
          <a:xfrm>
            <a:off x="594360" y="2770632"/>
            <a:ext cx="11018520" cy="548640"/>
          </a:xfrm>
          <a:prstGeom prst="rect">
            <a:avLst/>
          </a:prstGeom>
          <a:noFill/>
        </p:spPr>
        <p:txBody>
          <a:bodyPr wrap="square" lIns="0" rIns="0" tIns="0" bIns="0" anchor="t">
            <a:spAutoFit/>
          </a:bodyPr>
          <a:lstStyle/>
          <a:p>
            <a:pPr algn="l">
              <a:lnSpc>
                <a:spcPct val="110000"/>
              </a:lnSpc>
              <a:spcBef>
                <a:spcPts val="0"/>
              </a:spcBef>
              <a:spcAft>
                <a:spcPts val="0"/>
              </a:spcAft>
            </a:pPr>
            <a:r>
              <a:rPr sz="1350" b="1">
                <a:solidFill>
                  <a:srgbClr val="5AC8FF"/>
                </a:solidFill>
                <a:latin typeface="Aptos"/>
              </a:rPr>
              <a:t>Step 3:  Force / (length × time) = M T⁻³.  Power / area = M T⁻³.</a:t>
            </a:r>
          </a:p>
        </p:txBody>
      </p:sp>
      <p:sp>
        <p:nvSpPr>
          <p:cNvPr id="11" name="TextBox 10"/>
          <p:cNvSpPr txBox="1"/>
          <p:nvPr/>
        </p:nvSpPr>
        <p:spPr>
          <a:xfrm>
            <a:off x="594360" y="3364991"/>
            <a:ext cx="11018520" cy="438912"/>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D680"/>
                </a:solidFill>
                <a:latin typeface="Aptos"/>
              </a:rPr>
              <a:t>Final answer: options 2 and 4</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FF9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QUESTION</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Mass and angular momentum are pure numbers</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57</a:t>
            </a:r>
          </a:p>
        </p:txBody>
      </p:sp>
      <p:sp>
        <p:nvSpPr>
          <p:cNvPr id="7" name="TextBox 6"/>
          <p:cNvSpPr txBox="1"/>
          <p:nvPr/>
        </p:nvSpPr>
        <p:spPr>
          <a:xfrm>
            <a:off x="594360" y="1078992"/>
            <a:ext cx="11018520" cy="777240"/>
          </a:xfrm>
          <a:prstGeom prst="rect">
            <a:avLst/>
          </a:prstGeom>
          <a:noFill/>
        </p:spPr>
        <p:txBody>
          <a:bodyPr wrap="square" lIns="0" rIns="0" tIns="0" bIns="0" anchor="t">
            <a:spAutoFit/>
          </a:bodyPr>
          <a:lstStyle/>
          <a:p>
            <a:pPr algn="l">
              <a:lnSpc>
                <a:spcPct val="110000"/>
              </a:lnSpc>
              <a:spcBef>
                <a:spcPts val="0"/>
              </a:spcBef>
              <a:spcAft>
                <a:spcPts val="0"/>
              </a:spcAft>
            </a:pPr>
            <a:r>
              <a:rPr sz="1900" b="1">
                <a:solidFill>
                  <a:srgbClr val="FF9E40"/>
                </a:solidFill>
                <a:latin typeface="Aptos"/>
              </a:rPr>
              <a:t>In a new system, mass and angular momentum are dimensionless, and length has dimension L. Which statements are correct?</a:t>
            </a:r>
          </a:p>
        </p:txBody>
      </p:sp>
      <p:sp>
        <p:nvSpPr>
          <p:cNvPr id="8" name="Oval 7"/>
          <p:cNvSpPr/>
          <p:nvPr/>
        </p:nvSpPr>
        <p:spPr>
          <a:xfrm>
            <a:off x="594360" y="2093976"/>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2112264"/>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1</a:t>
            </a:r>
          </a:p>
        </p:txBody>
      </p:sp>
      <p:sp>
        <p:nvSpPr>
          <p:cNvPr id="10" name="TextBox 9"/>
          <p:cNvSpPr txBox="1"/>
          <p:nvPr/>
        </p:nvSpPr>
        <p:spPr>
          <a:xfrm>
            <a:off x="1014984" y="2075688"/>
            <a:ext cx="945489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Dimension of force is L⁻³</a:t>
            </a:r>
          </a:p>
        </p:txBody>
      </p:sp>
      <p:sp>
        <p:nvSpPr>
          <p:cNvPr id="11" name="Oval 10"/>
          <p:cNvSpPr/>
          <p:nvPr/>
        </p:nvSpPr>
        <p:spPr>
          <a:xfrm>
            <a:off x="594360" y="2569464"/>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2587752"/>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2</a:t>
            </a:r>
          </a:p>
        </p:txBody>
      </p:sp>
      <p:sp>
        <p:nvSpPr>
          <p:cNvPr id="13" name="TextBox 12"/>
          <p:cNvSpPr txBox="1"/>
          <p:nvPr/>
        </p:nvSpPr>
        <p:spPr>
          <a:xfrm>
            <a:off x="1014984" y="2551176"/>
            <a:ext cx="945489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Dimension of energy is L⁻²</a:t>
            </a:r>
          </a:p>
        </p:txBody>
      </p:sp>
      <p:sp>
        <p:nvSpPr>
          <p:cNvPr id="14" name="Oval 13"/>
          <p:cNvSpPr/>
          <p:nvPr/>
        </p:nvSpPr>
        <p:spPr>
          <a:xfrm>
            <a:off x="594360" y="3044952"/>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3063240"/>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3</a:t>
            </a:r>
          </a:p>
        </p:txBody>
      </p:sp>
      <p:sp>
        <p:nvSpPr>
          <p:cNvPr id="16" name="TextBox 15"/>
          <p:cNvSpPr txBox="1"/>
          <p:nvPr/>
        </p:nvSpPr>
        <p:spPr>
          <a:xfrm>
            <a:off x="1014984" y="3026664"/>
            <a:ext cx="945489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Dimension of power is L⁻⁵</a:t>
            </a:r>
          </a:p>
        </p:txBody>
      </p:sp>
      <p:sp>
        <p:nvSpPr>
          <p:cNvPr id="17" name="Oval 16"/>
          <p:cNvSpPr/>
          <p:nvPr/>
        </p:nvSpPr>
        <p:spPr>
          <a:xfrm>
            <a:off x="594360" y="3520440"/>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3538728"/>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4</a:t>
            </a:r>
          </a:p>
        </p:txBody>
      </p:sp>
      <p:sp>
        <p:nvSpPr>
          <p:cNvPr id="19" name="TextBox 18"/>
          <p:cNvSpPr txBox="1"/>
          <p:nvPr/>
        </p:nvSpPr>
        <p:spPr>
          <a:xfrm>
            <a:off x="1014984" y="3502152"/>
            <a:ext cx="945489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Dimension of linear momentum is L⁻¹</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ANSWER</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Solution: Mass and angular momentum are pure numbers</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58</a:t>
            </a:r>
          </a:p>
        </p:txBody>
      </p:sp>
      <p:sp>
        <p:nvSpPr>
          <p:cNvPr id="7" name="TextBox 6"/>
          <p:cNvSpPr txBox="1"/>
          <p:nvPr/>
        </p:nvSpPr>
        <p:spPr>
          <a:xfrm>
            <a:off x="594360" y="1078992"/>
            <a:ext cx="11018520" cy="54864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Angular momentum m v r is a pure number, and m is a pure number, so velocity must cancel the length.</a:t>
            </a:r>
          </a:p>
        </p:txBody>
      </p:sp>
      <p:sp>
        <p:nvSpPr>
          <p:cNvPr id="8" name="TextBox 7"/>
          <p:cNvSpPr txBox="1"/>
          <p:nvPr/>
        </p:nvSpPr>
        <p:spPr>
          <a:xfrm>
            <a:off x="594360" y="171907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350" b="1">
                <a:solidFill>
                  <a:srgbClr val="5AC8FF"/>
                </a:solidFill>
                <a:latin typeface="Aptos"/>
              </a:rPr>
              <a:t>Step 1:  [v] = L⁻¹.  Then [time] = length / speed = L².</a:t>
            </a:r>
          </a:p>
        </p:txBody>
      </p:sp>
      <p:sp>
        <p:nvSpPr>
          <p:cNvPr id="9" name="TextBox 8"/>
          <p:cNvSpPr txBox="1"/>
          <p:nvPr/>
        </p:nvSpPr>
        <p:spPr>
          <a:xfrm>
            <a:off x="594360" y="2267712"/>
            <a:ext cx="11018520" cy="548640"/>
          </a:xfrm>
          <a:prstGeom prst="rect">
            <a:avLst/>
          </a:prstGeom>
          <a:noFill/>
        </p:spPr>
        <p:txBody>
          <a:bodyPr wrap="square" lIns="0" rIns="0" tIns="0" bIns="0" anchor="t">
            <a:spAutoFit/>
          </a:bodyPr>
          <a:lstStyle/>
          <a:p>
            <a:pPr algn="l">
              <a:lnSpc>
                <a:spcPct val="110000"/>
              </a:lnSpc>
              <a:spcBef>
                <a:spcPts val="0"/>
              </a:spcBef>
              <a:spcAft>
                <a:spcPts val="0"/>
              </a:spcAft>
            </a:pPr>
            <a:r>
              <a:rPr sz="1260" b="1">
                <a:solidFill>
                  <a:srgbClr val="5AC8FF"/>
                </a:solidFill>
                <a:latin typeface="Aptos"/>
              </a:rPr>
              <a:t>Step 2:  [force] = [mass × acceleration] = L⁻³.  [energy] = force × length = L⁻².</a:t>
            </a:r>
          </a:p>
        </p:txBody>
      </p:sp>
      <p:sp>
        <p:nvSpPr>
          <p:cNvPr id="10" name="TextBox 9"/>
          <p:cNvSpPr txBox="1"/>
          <p:nvPr/>
        </p:nvSpPr>
        <p:spPr>
          <a:xfrm>
            <a:off x="594360" y="2953512"/>
            <a:ext cx="11018520" cy="548640"/>
          </a:xfrm>
          <a:prstGeom prst="rect">
            <a:avLst/>
          </a:prstGeom>
          <a:noFill/>
        </p:spPr>
        <p:txBody>
          <a:bodyPr wrap="square" lIns="0" rIns="0" tIns="0" bIns="0" anchor="t">
            <a:spAutoFit/>
          </a:bodyPr>
          <a:lstStyle/>
          <a:p>
            <a:pPr algn="l">
              <a:lnSpc>
                <a:spcPct val="110000"/>
              </a:lnSpc>
              <a:spcBef>
                <a:spcPts val="0"/>
              </a:spcBef>
              <a:spcAft>
                <a:spcPts val="0"/>
              </a:spcAft>
            </a:pPr>
            <a:r>
              <a:rPr sz="1260" b="1">
                <a:solidFill>
                  <a:srgbClr val="5AC8FF"/>
                </a:solidFill>
                <a:latin typeface="Aptos"/>
              </a:rPr>
              <a:t>Step 3:  [power] = energy / time = L⁻⁴, not L⁻⁵.  [momentum] = m v = L⁻¹.</a:t>
            </a:r>
          </a:p>
        </p:txBody>
      </p:sp>
      <p:sp>
        <p:nvSpPr>
          <p:cNvPr id="11" name="TextBox 10"/>
          <p:cNvSpPr txBox="1"/>
          <p:nvPr/>
        </p:nvSpPr>
        <p:spPr>
          <a:xfrm>
            <a:off x="594360" y="3547872"/>
            <a:ext cx="11018520" cy="438912"/>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D680"/>
                </a:solidFill>
                <a:latin typeface="Aptos"/>
              </a:rPr>
              <a:t>Correct: options 1, 2 and 4.  Option 3 is wrong.</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FF9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QUESTION</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Young’s modulus in F, A and V</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59</a:t>
            </a:r>
          </a:p>
        </p:txBody>
      </p:sp>
      <p:sp>
        <p:nvSpPr>
          <p:cNvPr id="7" name="TextBox 6"/>
          <p:cNvSpPr txBox="1"/>
          <p:nvPr/>
        </p:nvSpPr>
        <p:spPr>
          <a:xfrm>
            <a:off x="594360" y="1078992"/>
            <a:ext cx="11018520" cy="640080"/>
          </a:xfrm>
          <a:prstGeom prst="rect">
            <a:avLst/>
          </a:prstGeom>
          <a:noFill/>
        </p:spPr>
        <p:txBody>
          <a:bodyPr wrap="square" lIns="0" rIns="0" tIns="0" bIns="0" anchor="t">
            <a:spAutoFit/>
          </a:bodyPr>
          <a:lstStyle/>
          <a:p>
            <a:pPr algn="l">
              <a:lnSpc>
                <a:spcPct val="110000"/>
              </a:lnSpc>
              <a:spcBef>
                <a:spcPts val="0"/>
              </a:spcBef>
              <a:spcAft>
                <a:spcPts val="0"/>
              </a:spcAft>
            </a:pPr>
            <a:r>
              <a:rPr sz="1900" b="1">
                <a:solidFill>
                  <a:srgbClr val="FF9E40"/>
                </a:solidFill>
                <a:latin typeface="Aptos"/>
              </a:rPr>
              <a:t>Speed V, area A and force F are the base quantities. [Young’s modulus] is</a:t>
            </a:r>
          </a:p>
        </p:txBody>
      </p:sp>
      <p:sp>
        <p:nvSpPr>
          <p:cNvPr id="8" name="Oval 7"/>
          <p:cNvSpPr/>
          <p:nvPr/>
        </p:nvSpPr>
        <p:spPr>
          <a:xfrm>
            <a:off x="594360" y="1956816"/>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975104"/>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1</a:t>
            </a:r>
          </a:p>
        </p:txBody>
      </p:sp>
      <p:sp>
        <p:nvSpPr>
          <p:cNvPr id="10" name="TextBox 9"/>
          <p:cNvSpPr txBox="1"/>
          <p:nvPr/>
        </p:nvSpPr>
        <p:spPr>
          <a:xfrm>
            <a:off x="1014984" y="1938528"/>
            <a:ext cx="918057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F A⁻¹ V⁰</a:t>
            </a:r>
          </a:p>
        </p:txBody>
      </p:sp>
      <p:sp>
        <p:nvSpPr>
          <p:cNvPr id="11" name="Oval 10"/>
          <p:cNvSpPr/>
          <p:nvPr/>
        </p:nvSpPr>
        <p:spPr>
          <a:xfrm>
            <a:off x="594360" y="2432304"/>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2450592"/>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2</a:t>
            </a:r>
          </a:p>
        </p:txBody>
      </p:sp>
      <p:sp>
        <p:nvSpPr>
          <p:cNvPr id="13" name="TextBox 12"/>
          <p:cNvSpPr txBox="1"/>
          <p:nvPr/>
        </p:nvSpPr>
        <p:spPr>
          <a:xfrm>
            <a:off x="1014984" y="2414016"/>
            <a:ext cx="918057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F A² V⁻¹</a:t>
            </a:r>
          </a:p>
        </p:txBody>
      </p:sp>
      <p:sp>
        <p:nvSpPr>
          <p:cNvPr id="14" name="Oval 13"/>
          <p:cNvSpPr/>
          <p:nvPr/>
        </p:nvSpPr>
        <p:spPr>
          <a:xfrm>
            <a:off x="594360" y="2907792"/>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2926080"/>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3</a:t>
            </a:r>
          </a:p>
        </p:txBody>
      </p:sp>
      <p:sp>
        <p:nvSpPr>
          <p:cNvPr id="16" name="TextBox 15"/>
          <p:cNvSpPr txBox="1"/>
          <p:nvPr/>
        </p:nvSpPr>
        <p:spPr>
          <a:xfrm>
            <a:off x="1014984" y="2889504"/>
            <a:ext cx="918057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F A² V⁻²</a:t>
            </a:r>
          </a:p>
        </p:txBody>
      </p:sp>
      <p:sp>
        <p:nvSpPr>
          <p:cNvPr id="17" name="Oval 16"/>
          <p:cNvSpPr/>
          <p:nvPr/>
        </p:nvSpPr>
        <p:spPr>
          <a:xfrm>
            <a:off x="594360" y="3383280"/>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3401568"/>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4</a:t>
            </a:r>
          </a:p>
        </p:txBody>
      </p:sp>
      <p:sp>
        <p:nvSpPr>
          <p:cNvPr id="19" name="TextBox 18"/>
          <p:cNvSpPr txBox="1"/>
          <p:nvPr/>
        </p:nvSpPr>
        <p:spPr>
          <a:xfrm>
            <a:off x="1014984" y="3364992"/>
            <a:ext cx="918057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F A² V⁻³</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ANSWER</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Solution: Young’s modulus in F, A and V</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60</a:t>
            </a:r>
          </a:p>
        </p:txBody>
      </p:sp>
      <p:sp>
        <p:nvSpPr>
          <p:cNvPr id="7" name="TextBox 6"/>
          <p:cNvSpPr txBox="1"/>
          <p:nvPr/>
        </p:nvSpPr>
        <p:spPr>
          <a:xfrm>
            <a:off x="594360" y="1078992"/>
            <a:ext cx="11018520" cy="438912"/>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Young’s modulus is stress / strain, and strain is a pure number.</a:t>
            </a:r>
          </a:p>
        </p:txBody>
      </p:sp>
      <p:sp>
        <p:nvSpPr>
          <p:cNvPr id="8" name="TextBox 7"/>
          <p:cNvSpPr txBox="1"/>
          <p:nvPr/>
        </p:nvSpPr>
        <p:spPr>
          <a:xfrm>
            <a:off x="594360" y="1609343"/>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C8FF"/>
                </a:solidFill>
                <a:latin typeface="Aptos"/>
              </a:rPr>
              <a:t>Step 1:  Y = F / A.</a:t>
            </a:r>
          </a:p>
        </p:txBody>
      </p:sp>
      <p:sp>
        <p:nvSpPr>
          <p:cNvPr id="9" name="TextBox 8"/>
          <p:cNvSpPr txBox="1"/>
          <p:nvPr/>
        </p:nvSpPr>
        <p:spPr>
          <a:xfrm>
            <a:off x="594360" y="2157984"/>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440" b="1">
                <a:solidFill>
                  <a:srgbClr val="5AC8FF"/>
                </a:solidFill>
                <a:latin typeface="Aptos"/>
              </a:rPr>
              <a:t>Step 2:  Speed is not needed, so its power is 0.</a:t>
            </a:r>
          </a:p>
        </p:txBody>
      </p:sp>
      <p:sp>
        <p:nvSpPr>
          <p:cNvPr id="10" name="TextBox 9"/>
          <p:cNvSpPr txBox="1"/>
          <p:nvPr/>
        </p:nvSpPr>
        <p:spPr>
          <a:xfrm>
            <a:off x="594360" y="2706623"/>
            <a:ext cx="11018520" cy="438912"/>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D680"/>
                </a:solidFill>
                <a:latin typeface="Aptos"/>
              </a:rPr>
              <a:t>Final answer: F A⁻¹ V⁰   (option 1)</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B0B6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ROUGH WORK</a:t>
            </a:r>
          </a:p>
        </p:txBody>
      </p:sp>
      <p:sp>
        <p:nvSpPr>
          <p:cNvPr id="4" name="TextBox 3"/>
          <p:cNvSpPr txBox="1"/>
          <p:nvPr/>
        </p:nvSpPr>
        <p:spPr>
          <a:xfrm>
            <a:off x="594360" y="310896"/>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980" b="1">
                <a:solidFill>
                  <a:srgbClr val="FFD646"/>
                </a:solidFill>
                <a:latin typeface="Aptos"/>
              </a:rPr>
              <a:t>Rough work  /  extra work</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61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FF9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QUESTION</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Density from force, velocity and time</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62</a:t>
            </a:r>
          </a:p>
        </p:txBody>
      </p:sp>
      <p:sp>
        <p:nvSpPr>
          <p:cNvPr id="7" name="TextBox 6"/>
          <p:cNvSpPr txBox="1"/>
          <p:nvPr/>
        </p:nvSpPr>
        <p:spPr>
          <a:xfrm>
            <a:off x="594360" y="1078992"/>
            <a:ext cx="11018520" cy="594360"/>
          </a:xfrm>
          <a:prstGeom prst="rect">
            <a:avLst/>
          </a:prstGeom>
          <a:noFill/>
        </p:spPr>
        <p:txBody>
          <a:bodyPr wrap="square" lIns="0" rIns="0" tIns="0" bIns="0" anchor="t">
            <a:spAutoFit/>
          </a:bodyPr>
          <a:lstStyle/>
          <a:p>
            <a:pPr algn="l">
              <a:lnSpc>
                <a:spcPct val="110000"/>
              </a:lnSpc>
              <a:spcBef>
                <a:spcPts val="0"/>
              </a:spcBef>
              <a:spcAft>
                <a:spcPts val="0"/>
              </a:spcAft>
            </a:pPr>
            <a:r>
              <a:rPr sz="1900" b="1">
                <a:solidFill>
                  <a:srgbClr val="FF9E40"/>
                </a:solidFill>
                <a:latin typeface="Aptos"/>
              </a:rPr>
              <a:t>F, V and T are base quantities. The dimensional formula of density is</a:t>
            </a:r>
          </a:p>
        </p:txBody>
      </p:sp>
      <p:sp>
        <p:nvSpPr>
          <p:cNvPr id="8" name="Oval 7"/>
          <p:cNvSpPr/>
          <p:nvPr/>
        </p:nvSpPr>
        <p:spPr>
          <a:xfrm>
            <a:off x="594360" y="1911095"/>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929384"/>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1</a:t>
            </a:r>
          </a:p>
        </p:txBody>
      </p:sp>
      <p:sp>
        <p:nvSpPr>
          <p:cNvPr id="10" name="TextBox 9"/>
          <p:cNvSpPr txBox="1"/>
          <p:nvPr/>
        </p:nvSpPr>
        <p:spPr>
          <a:xfrm>
            <a:off x="1014984" y="1892807"/>
            <a:ext cx="918057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F V⁴ T⁻⁶</a:t>
            </a:r>
          </a:p>
        </p:txBody>
      </p:sp>
      <p:sp>
        <p:nvSpPr>
          <p:cNvPr id="11" name="Oval 10"/>
          <p:cNvSpPr/>
          <p:nvPr/>
        </p:nvSpPr>
        <p:spPr>
          <a:xfrm>
            <a:off x="594360" y="2386584"/>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2404872"/>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2</a:t>
            </a:r>
          </a:p>
        </p:txBody>
      </p:sp>
      <p:sp>
        <p:nvSpPr>
          <p:cNvPr id="13" name="TextBox 12"/>
          <p:cNvSpPr txBox="1"/>
          <p:nvPr/>
        </p:nvSpPr>
        <p:spPr>
          <a:xfrm>
            <a:off x="1014984" y="2368296"/>
            <a:ext cx="918057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F V⁻⁴ T⁻²</a:t>
            </a:r>
          </a:p>
        </p:txBody>
      </p:sp>
      <p:sp>
        <p:nvSpPr>
          <p:cNvPr id="14" name="Oval 13"/>
          <p:cNvSpPr/>
          <p:nvPr/>
        </p:nvSpPr>
        <p:spPr>
          <a:xfrm>
            <a:off x="594360" y="2862072"/>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2880360"/>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3</a:t>
            </a:r>
          </a:p>
        </p:txBody>
      </p:sp>
      <p:sp>
        <p:nvSpPr>
          <p:cNvPr id="16" name="TextBox 15"/>
          <p:cNvSpPr txBox="1"/>
          <p:nvPr/>
        </p:nvSpPr>
        <p:spPr>
          <a:xfrm>
            <a:off x="1014984" y="2843784"/>
            <a:ext cx="918057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F² V⁻² T⁶</a:t>
            </a:r>
          </a:p>
        </p:txBody>
      </p:sp>
      <p:sp>
        <p:nvSpPr>
          <p:cNvPr id="17" name="Oval 16"/>
          <p:cNvSpPr/>
          <p:nvPr/>
        </p:nvSpPr>
        <p:spPr>
          <a:xfrm>
            <a:off x="594360" y="3337560"/>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3355848"/>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4</a:t>
            </a:r>
          </a:p>
        </p:txBody>
      </p:sp>
      <p:sp>
        <p:nvSpPr>
          <p:cNvPr id="19" name="TextBox 18"/>
          <p:cNvSpPr txBox="1"/>
          <p:nvPr/>
        </p:nvSpPr>
        <p:spPr>
          <a:xfrm>
            <a:off x="1014984" y="3319272"/>
            <a:ext cx="918057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F V⁻² T²</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ANSWER</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Solution: Density from force, velocity and time</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63</a:t>
            </a:r>
          </a:p>
        </p:txBody>
      </p:sp>
      <p:sp>
        <p:nvSpPr>
          <p:cNvPr id="7" name="TextBox 6"/>
          <p:cNvSpPr txBox="1"/>
          <p:nvPr/>
        </p:nvSpPr>
        <p:spPr>
          <a:xfrm>
            <a:off x="594360" y="1078992"/>
            <a:ext cx="11018520" cy="41148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Assume density = Fᵃ Vᵇ Tᶜ and match M, L, T.</a:t>
            </a:r>
          </a:p>
        </p:txBody>
      </p:sp>
      <p:sp>
        <p:nvSpPr>
          <p:cNvPr id="8" name="TextBox 7"/>
          <p:cNvSpPr txBox="1"/>
          <p:nvPr/>
        </p:nvSpPr>
        <p:spPr>
          <a:xfrm>
            <a:off x="594360" y="158191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440" b="1">
                <a:solidFill>
                  <a:srgbClr val="5AC8FF"/>
                </a:solidFill>
                <a:latin typeface="Aptos"/>
              </a:rPr>
              <a:t>Step 1:  Mass: a = 1.  Length: a + b = -3, so b = -4.</a:t>
            </a:r>
          </a:p>
        </p:txBody>
      </p:sp>
      <p:sp>
        <p:nvSpPr>
          <p:cNvPr id="9" name="TextBox 8"/>
          <p:cNvSpPr txBox="1"/>
          <p:nvPr/>
        </p:nvSpPr>
        <p:spPr>
          <a:xfrm>
            <a:off x="594360" y="213055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350" b="1">
                <a:solidFill>
                  <a:srgbClr val="5AC8FF"/>
                </a:solidFill>
                <a:latin typeface="Aptos"/>
              </a:rPr>
              <a:t>Step 2:  Time: -2a - b + c = 0 → -2 - (-4) + c = 0 → c = -2.</a:t>
            </a:r>
          </a:p>
        </p:txBody>
      </p:sp>
      <p:sp>
        <p:nvSpPr>
          <p:cNvPr id="10" name="TextBox 9"/>
          <p:cNvSpPr txBox="1"/>
          <p:nvPr/>
        </p:nvSpPr>
        <p:spPr>
          <a:xfrm>
            <a:off x="594360" y="2679191"/>
            <a:ext cx="11018520" cy="438912"/>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D680"/>
                </a:solidFill>
                <a:latin typeface="Aptos"/>
              </a:rPr>
              <a:t>Final answer: F V⁻⁴ T⁻²   (option 2)</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FF9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QUESTION</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Viscosity from momentum, area and time</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64</a:t>
            </a:r>
          </a:p>
        </p:txBody>
      </p:sp>
      <p:sp>
        <p:nvSpPr>
          <p:cNvPr id="7" name="TextBox 6"/>
          <p:cNvSpPr txBox="1"/>
          <p:nvPr/>
        </p:nvSpPr>
        <p:spPr>
          <a:xfrm>
            <a:off x="594360" y="1078992"/>
            <a:ext cx="11018520" cy="594360"/>
          </a:xfrm>
          <a:prstGeom prst="rect">
            <a:avLst/>
          </a:prstGeom>
          <a:noFill/>
        </p:spPr>
        <p:txBody>
          <a:bodyPr wrap="square" lIns="0" rIns="0" tIns="0" bIns="0" anchor="t">
            <a:spAutoFit/>
          </a:bodyPr>
          <a:lstStyle/>
          <a:p>
            <a:pPr algn="l">
              <a:lnSpc>
                <a:spcPct val="110000"/>
              </a:lnSpc>
              <a:spcBef>
                <a:spcPts val="0"/>
              </a:spcBef>
              <a:spcAft>
                <a:spcPts val="0"/>
              </a:spcAft>
            </a:pPr>
            <a:r>
              <a:rPr sz="1900" b="1">
                <a:solidFill>
                  <a:srgbClr val="FF9E40"/>
                </a:solidFill>
                <a:latin typeface="Aptos"/>
              </a:rPr>
              <a:t>P, A and T are base quantities. The dimensional formula of viscosity is</a:t>
            </a:r>
          </a:p>
        </p:txBody>
      </p:sp>
      <p:sp>
        <p:nvSpPr>
          <p:cNvPr id="8" name="Oval 7"/>
          <p:cNvSpPr/>
          <p:nvPr/>
        </p:nvSpPr>
        <p:spPr>
          <a:xfrm>
            <a:off x="594360" y="1911095"/>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929384"/>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1</a:t>
            </a:r>
          </a:p>
        </p:txBody>
      </p:sp>
      <p:sp>
        <p:nvSpPr>
          <p:cNvPr id="10" name="TextBox 9"/>
          <p:cNvSpPr txBox="1"/>
          <p:nvPr/>
        </p:nvSpPr>
        <p:spPr>
          <a:xfrm>
            <a:off x="1014984" y="1892807"/>
            <a:ext cx="918057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[P A⁻¹]</a:t>
            </a:r>
          </a:p>
        </p:txBody>
      </p:sp>
      <p:sp>
        <p:nvSpPr>
          <p:cNvPr id="11" name="Oval 10"/>
          <p:cNvSpPr/>
          <p:nvPr/>
        </p:nvSpPr>
        <p:spPr>
          <a:xfrm>
            <a:off x="594360" y="2386584"/>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2404872"/>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2</a:t>
            </a:r>
          </a:p>
        </p:txBody>
      </p:sp>
      <p:sp>
        <p:nvSpPr>
          <p:cNvPr id="13" name="TextBox 12"/>
          <p:cNvSpPr txBox="1"/>
          <p:nvPr/>
        </p:nvSpPr>
        <p:spPr>
          <a:xfrm>
            <a:off x="1014984" y="2368296"/>
            <a:ext cx="918057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[P A T⁻¹]</a:t>
            </a:r>
          </a:p>
        </p:txBody>
      </p:sp>
      <p:sp>
        <p:nvSpPr>
          <p:cNvPr id="14" name="Oval 13"/>
          <p:cNvSpPr/>
          <p:nvPr/>
        </p:nvSpPr>
        <p:spPr>
          <a:xfrm>
            <a:off x="594360" y="2862072"/>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2880360"/>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3</a:t>
            </a:r>
          </a:p>
        </p:txBody>
      </p:sp>
      <p:sp>
        <p:nvSpPr>
          <p:cNvPr id="16" name="TextBox 15"/>
          <p:cNvSpPr txBox="1"/>
          <p:nvPr/>
        </p:nvSpPr>
        <p:spPr>
          <a:xfrm>
            <a:off x="1014984" y="2843784"/>
            <a:ext cx="918057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[P A⁻¹ T]</a:t>
            </a:r>
          </a:p>
        </p:txBody>
      </p:sp>
      <p:sp>
        <p:nvSpPr>
          <p:cNvPr id="17" name="Oval 16"/>
          <p:cNvSpPr/>
          <p:nvPr/>
        </p:nvSpPr>
        <p:spPr>
          <a:xfrm>
            <a:off x="594360" y="3337560"/>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3355848"/>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4</a:t>
            </a:r>
          </a:p>
        </p:txBody>
      </p:sp>
      <p:sp>
        <p:nvSpPr>
          <p:cNvPr id="19" name="TextBox 18"/>
          <p:cNvSpPr txBox="1"/>
          <p:nvPr/>
        </p:nvSpPr>
        <p:spPr>
          <a:xfrm>
            <a:off x="1014984" y="3319272"/>
            <a:ext cx="918057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[P A⁻¹ T⁻¹]</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ANSWER</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Solution: Viscosity from momentum, area and time</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65</a:t>
            </a:r>
          </a:p>
        </p:txBody>
      </p:sp>
      <p:sp>
        <p:nvSpPr>
          <p:cNvPr id="7" name="TextBox 6"/>
          <p:cNvSpPr txBox="1"/>
          <p:nvPr/>
        </p:nvSpPr>
        <p:spPr>
          <a:xfrm>
            <a:off x="594360" y="1078992"/>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From F = 6π η r v, the dimensions of η are M L⁻¹ T⁻¹.</a:t>
            </a:r>
          </a:p>
        </p:txBody>
      </p:sp>
      <p:sp>
        <p:nvSpPr>
          <p:cNvPr id="8" name="TextBox 7"/>
          <p:cNvSpPr txBox="1"/>
          <p:nvPr/>
        </p:nvSpPr>
        <p:spPr>
          <a:xfrm>
            <a:off x="594360" y="1627631"/>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440" b="1">
                <a:solidFill>
                  <a:srgbClr val="5AC8FF"/>
                </a:solidFill>
                <a:latin typeface="Aptos"/>
              </a:rPr>
              <a:t>Step 1:  η = Pᵃ Aᵇ Tᶜ.  Mass gives a = 1.</a:t>
            </a:r>
          </a:p>
        </p:txBody>
      </p:sp>
      <p:sp>
        <p:nvSpPr>
          <p:cNvPr id="9" name="TextBox 8"/>
          <p:cNvSpPr txBox="1"/>
          <p:nvPr/>
        </p:nvSpPr>
        <p:spPr>
          <a:xfrm>
            <a:off x="594360" y="217627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350" b="1">
                <a:solidFill>
                  <a:srgbClr val="5AC8FF"/>
                </a:solidFill>
                <a:latin typeface="Aptos"/>
              </a:rPr>
              <a:t>Step 2:  Length: 1 + 2b = -1, so b = -1.  Time: -1 + c = -1, so c = 0.</a:t>
            </a:r>
          </a:p>
        </p:txBody>
      </p:sp>
      <p:sp>
        <p:nvSpPr>
          <p:cNvPr id="10" name="TextBox 9"/>
          <p:cNvSpPr txBox="1"/>
          <p:nvPr/>
        </p:nvSpPr>
        <p:spPr>
          <a:xfrm>
            <a:off x="594360" y="2724911"/>
            <a:ext cx="11018520" cy="438912"/>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D680"/>
                </a:solidFill>
                <a:latin typeface="Aptos"/>
              </a:rPr>
              <a:t>Final answer: [P A⁻¹]   (option 1)</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B0B6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ROUGH WORK</a:t>
            </a:r>
          </a:p>
        </p:txBody>
      </p:sp>
      <p:sp>
        <p:nvSpPr>
          <p:cNvPr id="4" name="TextBox 3"/>
          <p:cNvSpPr txBox="1"/>
          <p:nvPr/>
        </p:nvSpPr>
        <p:spPr>
          <a:xfrm>
            <a:off x="594360" y="310896"/>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980" b="1">
                <a:solidFill>
                  <a:srgbClr val="FFD646"/>
                </a:solidFill>
                <a:latin typeface="Aptos"/>
              </a:rPr>
              <a:t>Rough work  /  extra work</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66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FF9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QUESTION</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Mass from time, velocity and angular momentum</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67</a:t>
            </a:r>
          </a:p>
        </p:txBody>
      </p:sp>
      <p:sp>
        <p:nvSpPr>
          <p:cNvPr id="7" name="TextBox 6"/>
          <p:cNvSpPr txBox="1"/>
          <p:nvPr/>
        </p:nvSpPr>
        <p:spPr>
          <a:xfrm>
            <a:off x="594360" y="1078992"/>
            <a:ext cx="11018520" cy="548640"/>
          </a:xfrm>
          <a:prstGeom prst="rect">
            <a:avLst/>
          </a:prstGeom>
          <a:noFill/>
        </p:spPr>
        <p:txBody>
          <a:bodyPr wrap="square" lIns="0" rIns="0" tIns="0" bIns="0" anchor="t">
            <a:spAutoFit/>
          </a:bodyPr>
          <a:lstStyle/>
          <a:p>
            <a:pPr algn="l">
              <a:lnSpc>
                <a:spcPct val="110000"/>
              </a:lnSpc>
              <a:spcBef>
                <a:spcPts val="0"/>
              </a:spcBef>
              <a:spcAft>
                <a:spcPts val="0"/>
              </a:spcAft>
            </a:pPr>
            <a:r>
              <a:rPr sz="1900" b="1">
                <a:solidFill>
                  <a:srgbClr val="FF9E40"/>
                </a:solidFill>
                <a:latin typeface="Aptos"/>
              </a:rPr>
              <a:t>Express mass using time t, velocity v and angular momentum J.</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ANSWER</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Solution: Mass from time, velocity and angular momentum</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68</a:t>
            </a:r>
          </a:p>
        </p:txBody>
      </p:sp>
      <p:sp>
        <p:nvSpPr>
          <p:cNvPr id="7" name="TextBox 6"/>
          <p:cNvSpPr txBox="1"/>
          <p:nvPr/>
        </p:nvSpPr>
        <p:spPr>
          <a:xfrm>
            <a:off x="594360" y="1078992"/>
            <a:ext cx="11018520" cy="438912"/>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[J] = M L² T⁻¹. Assume M = Jᵃ vᵇ tᶜ.</a:t>
            </a:r>
          </a:p>
        </p:txBody>
      </p:sp>
      <p:sp>
        <p:nvSpPr>
          <p:cNvPr id="8" name="TextBox 7"/>
          <p:cNvSpPr txBox="1"/>
          <p:nvPr/>
        </p:nvSpPr>
        <p:spPr>
          <a:xfrm>
            <a:off x="594360" y="1609343"/>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440" b="1">
                <a:solidFill>
                  <a:srgbClr val="5AC8FF"/>
                </a:solidFill>
                <a:latin typeface="Aptos"/>
              </a:rPr>
              <a:t>Step 1:  Mass: a = 1.  Length: 2 + b = 0, so b = -2.</a:t>
            </a:r>
          </a:p>
        </p:txBody>
      </p:sp>
      <p:sp>
        <p:nvSpPr>
          <p:cNvPr id="9" name="TextBox 8"/>
          <p:cNvSpPr txBox="1"/>
          <p:nvPr/>
        </p:nvSpPr>
        <p:spPr>
          <a:xfrm>
            <a:off x="594360" y="2157984"/>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440" b="1">
                <a:solidFill>
                  <a:srgbClr val="5AC8FF"/>
                </a:solidFill>
                <a:latin typeface="Aptos"/>
              </a:rPr>
              <a:t>Step 2:  Time: -1 - (-2) + c = 0, so c = -1.</a:t>
            </a:r>
          </a:p>
        </p:txBody>
      </p:sp>
      <p:sp>
        <p:nvSpPr>
          <p:cNvPr id="10" name="TextBox 9"/>
          <p:cNvSpPr txBox="1"/>
          <p:nvPr/>
        </p:nvSpPr>
        <p:spPr>
          <a:xfrm>
            <a:off x="594360" y="2706623"/>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D680"/>
                </a:solidFill>
                <a:latin typeface="Aptos"/>
              </a:rPr>
              <a:t>Mass = J / (v² t)</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FF9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QUESTION</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Young’s modulus from c, h and G</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69</a:t>
            </a:r>
          </a:p>
        </p:txBody>
      </p:sp>
      <p:sp>
        <p:nvSpPr>
          <p:cNvPr id="7" name="TextBox 6"/>
          <p:cNvSpPr txBox="1"/>
          <p:nvPr/>
        </p:nvSpPr>
        <p:spPr>
          <a:xfrm>
            <a:off x="594360" y="1078992"/>
            <a:ext cx="11018520" cy="502920"/>
          </a:xfrm>
          <a:prstGeom prst="rect">
            <a:avLst/>
          </a:prstGeom>
          <a:noFill/>
        </p:spPr>
        <p:txBody>
          <a:bodyPr wrap="square" lIns="0" rIns="0" tIns="0" bIns="0" anchor="t">
            <a:spAutoFit/>
          </a:bodyPr>
          <a:lstStyle/>
          <a:p>
            <a:pPr algn="l">
              <a:lnSpc>
                <a:spcPct val="110000"/>
              </a:lnSpc>
              <a:spcBef>
                <a:spcPts val="0"/>
              </a:spcBef>
              <a:spcAft>
                <a:spcPts val="0"/>
              </a:spcAft>
            </a:pPr>
            <a:r>
              <a:rPr sz="1900" b="1">
                <a:solidFill>
                  <a:srgbClr val="FF9E40"/>
                </a:solidFill>
                <a:latin typeface="Aptos"/>
              </a:rPr>
              <a:t>Young’s modulus is a product of powers of c, h and G. Which powers are correct?</a:t>
            </a:r>
          </a:p>
        </p:txBody>
      </p:sp>
      <p:sp>
        <p:nvSpPr>
          <p:cNvPr id="8" name="Oval 7"/>
          <p:cNvSpPr/>
          <p:nvPr/>
        </p:nvSpPr>
        <p:spPr>
          <a:xfrm>
            <a:off x="594360" y="1773936"/>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792224"/>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1</a:t>
            </a:r>
          </a:p>
        </p:txBody>
      </p:sp>
      <p:sp>
        <p:nvSpPr>
          <p:cNvPr id="10" name="TextBox 9"/>
          <p:cNvSpPr txBox="1"/>
          <p:nvPr/>
        </p:nvSpPr>
        <p:spPr>
          <a:xfrm>
            <a:off x="1014984" y="1755648"/>
            <a:ext cx="918057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α = 7, β = -1, γ = -2</a:t>
            </a:r>
          </a:p>
        </p:txBody>
      </p:sp>
      <p:sp>
        <p:nvSpPr>
          <p:cNvPr id="11" name="Oval 10"/>
          <p:cNvSpPr/>
          <p:nvPr/>
        </p:nvSpPr>
        <p:spPr>
          <a:xfrm>
            <a:off x="594360" y="2249424"/>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2267712"/>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2</a:t>
            </a:r>
          </a:p>
        </p:txBody>
      </p:sp>
      <p:sp>
        <p:nvSpPr>
          <p:cNvPr id="13" name="TextBox 12"/>
          <p:cNvSpPr txBox="1"/>
          <p:nvPr/>
        </p:nvSpPr>
        <p:spPr>
          <a:xfrm>
            <a:off x="1014984" y="2231136"/>
            <a:ext cx="918057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α = -7, β = -1, γ = -2</a:t>
            </a:r>
          </a:p>
        </p:txBody>
      </p:sp>
      <p:sp>
        <p:nvSpPr>
          <p:cNvPr id="14" name="Oval 13"/>
          <p:cNvSpPr/>
          <p:nvPr/>
        </p:nvSpPr>
        <p:spPr>
          <a:xfrm>
            <a:off x="594360" y="2724912"/>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2743200"/>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3</a:t>
            </a:r>
          </a:p>
        </p:txBody>
      </p:sp>
      <p:sp>
        <p:nvSpPr>
          <p:cNvPr id="16" name="TextBox 15"/>
          <p:cNvSpPr txBox="1"/>
          <p:nvPr/>
        </p:nvSpPr>
        <p:spPr>
          <a:xfrm>
            <a:off x="1014984" y="2706624"/>
            <a:ext cx="918057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α = 7, β = -1, γ = 2</a:t>
            </a:r>
          </a:p>
        </p:txBody>
      </p:sp>
      <p:sp>
        <p:nvSpPr>
          <p:cNvPr id="17" name="Oval 16"/>
          <p:cNvSpPr/>
          <p:nvPr/>
        </p:nvSpPr>
        <p:spPr>
          <a:xfrm>
            <a:off x="594360" y="3200400"/>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3218688"/>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4</a:t>
            </a:r>
          </a:p>
        </p:txBody>
      </p:sp>
      <p:sp>
        <p:nvSpPr>
          <p:cNvPr id="19" name="TextBox 18"/>
          <p:cNvSpPr txBox="1"/>
          <p:nvPr/>
        </p:nvSpPr>
        <p:spPr>
          <a:xfrm>
            <a:off x="1014984" y="3182112"/>
            <a:ext cx="918057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α = -7, β = 1, γ = -2</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ANSWER</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Solution: equations for Y</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70</a:t>
            </a:r>
          </a:p>
        </p:txBody>
      </p:sp>
      <p:sp>
        <p:nvSpPr>
          <p:cNvPr id="7" name="TextBox 6"/>
          <p:cNvSpPr txBox="1"/>
          <p:nvPr/>
        </p:nvSpPr>
        <p:spPr>
          <a:xfrm>
            <a:off x="594360" y="1078992"/>
            <a:ext cx="11018520" cy="64008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[Y] = M L⁻¹ T⁻², [c] = L T⁻¹, [h] = M L² T⁻¹, [G] = M⁻¹ L³ T⁻².</a:t>
            </a:r>
          </a:p>
        </p:txBody>
      </p:sp>
      <p:sp>
        <p:nvSpPr>
          <p:cNvPr id="8" name="TextBox 7"/>
          <p:cNvSpPr txBox="1"/>
          <p:nvPr/>
        </p:nvSpPr>
        <p:spPr>
          <a:xfrm>
            <a:off x="594360" y="1856231"/>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530" b="1">
                <a:solidFill>
                  <a:srgbClr val="5AC8FF"/>
                </a:solidFill>
                <a:latin typeface="Aptos"/>
              </a:rPr>
              <a:t>Step 1:  Mass: β - γ = 1.</a:t>
            </a:r>
          </a:p>
        </p:txBody>
      </p:sp>
      <p:sp>
        <p:nvSpPr>
          <p:cNvPr id="9" name="TextBox 8"/>
          <p:cNvSpPr txBox="1"/>
          <p:nvPr/>
        </p:nvSpPr>
        <p:spPr>
          <a:xfrm>
            <a:off x="594360" y="240487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530" b="1">
                <a:solidFill>
                  <a:srgbClr val="5AC8FF"/>
                </a:solidFill>
                <a:latin typeface="Aptos"/>
              </a:rPr>
              <a:t>Step 2:  Length: α + 2β + 3γ = -1.</a:t>
            </a:r>
          </a:p>
        </p:txBody>
      </p:sp>
      <p:sp>
        <p:nvSpPr>
          <p:cNvPr id="10" name="TextBox 9"/>
          <p:cNvSpPr txBox="1"/>
          <p:nvPr/>
        </p:nvSpPr>
        <p:spPr>
          <a:xfrm>
            <a:off x="594360" y="2953511"/>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350" b="1">
                <a:solidFill>
                  <a:srgbClr val="5AC8FF"/>
                </a:solidFill>
                <a:latin typeface="Aptos"/>
              </a:rPr>
              <a:t>Step 3:  Time: -α - β - 2γ = -2, so α + β + 2γ = 2.</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ANSWER</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Solution: the three powers</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71</a:t>
            </a:r>
          </a:p>
        </p:txBody>
      </p:sp>
      <p:sp>
        <p:nvSpPr>
          <p:cNvPr id="7" name="TextBox 6"/>
          <p:cNvSpPr txBox="1"/>
          <p:nvPr/>
        </p:nvSpPr>
        <p:spPr>
          <a:xfrm>
            <a:off x="594360" y="1078992"/>
            <a:ext cx="11018520" cy="438912"/>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From mass, β = 1 + γ. Put that into the time equation.</a:t>
            </a:r>
          </a:p>
        </p:txBody>
      </p:sp>
      <p:sp>
        <p:nvSpPr>
          <p:cNvPr id="8" name="TextBox 7"/>
          <p:cNvSpPr txBox="1"/>
          <p:nvPr/>
        </p:nvSpPr>
        <p:spPr>
          <a:xfrm>
            <a:off x="594360" y="1609343"/>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440" b="1">
                <a:solidFill>
                  <a:srgbClr val="5AC8FF"/>
                </a:solidFill>
                <a:latin typeface="Aptos"/>
              </a:rPr>
              <a:t>Step 1:  α + (1 + γ) + 2γ = 2  →  α + 3γ = 1.</a:t>
            </a:r>
          </a:p>
        </p:txBody>
      </p:sp>
      <p:sp>
        <p:nvSpPr>
          <p:cNvPr id="9" name="TextBox 8"/>
          <p:cNvSpPr txBox="1"/>
          <p:nvPr/>
        </p:nvSpPr>
        <p:spPr>
          <a:xfrm>
            <a:off x="594360" y="2157984"/>
            <a:ext cx="11018520" cy="548640"/>
          </a:xfrm>
          <a:prstGeom prst="rect">
            <a:avLst/>
          </a:prstGeom>
          <a:noFill/>
        </p:spPr>
        <p:txBody>
          <a:bodyPr wrap="square" lIns="0" rIns="0" tIns="0" bIns="0" anchor="t">
            <a:spAutoFit/>
          </a:bodyPr>
          <a:lstStyle/>
          <a:p>
            <a:pPr algn="l">
              <a:lnSpc>
                <a:spcPct val="110000"/>
              </a:lnSpc>
              <a:spcBef>
                <a:spcPts val="0"/>
              </a:spcBef>
              <a:spcAft>
                <a:spcPts val="0"/>
              </a:spcAft>
            </a:pPr>
            <a:r>
              <a:rPr sz="1350" b="1">
                <a:solidFill>
                  <a:srgbClr val="5AC8FF"/>
                </a:solidFill>
                <a:latin typeface="Aptos"/>
              </a:rPr>
              <a:t>Step 2:  Length then gives α + 5γ = -3. Subtract: 2γ = -4, so γ = -2.</a:t>
            </a:r>
          </a:p>
        </p:txBody>
      </p:sp>
      <p:sp>
        <p:nvSpPr>
          <p:cNvPr id="10" name="TextBox 9"/>
          <p:cNvSpPr txBox="1"/>
          <p:nvPr/>
        </p:nvSpPr>
        <p:spPr>
          <a:xfrm>
            <a:off x="594360" y="281635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440" b="1">
                <a:solidFill>
                  <a:srgbClr val="5AC8FF"/>
                </a:solidFill>
                <a:latin typeface="Aptos"/>
              </a:rPr>
              <a:t>Step 3:  α = 1 - 3(-2) = 7.  β = 1 + (-2) = -1.</a:t>
            </a:r>
          </a:p>
        </p:txBody>
      </p:sp>
      <p:sp>
        <p:nvSpPr>
          <p:cNvPr id="11" name="TextBox 10"/>
          <p:cNvSpPr txBox="1"/>
          <p:nvPr/>
        </p:nvSpPr>
        <p:spPr>
          <a:xfrm>
            <a:off x="594360" y="3273552"/>
            <a:ext cx="11018520" cy="438912"/>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D680"/>
                </a:solidFill>
                <a:latin typeface="Aptos"/>
              </a:rPr>
              <a:t>α = 7, β = -1, γ = -2   (option 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B0B6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ROUGH WORK</a:t>
            </a:r>
          </a:p>
        </p:txBody>
      </p:sp>
      <p:sp>
        <p:nvSpPr>
          <p:cNvPr id="4" name="TextBox 3"/>
          <p:cNvSpPr txBox="1"/>
          <p:nvPr/>
        </p:nvSpPr>
        <p:spPr>
          <a:xfrm>
            <a:off x="594360" y="310896"/>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980" b="1">
                <a:solidFill>
                  <a:srgbClr val="FFD646"/>
                </a:solidFill>
                <a:latin typeface="Aptos"/>
              </a:rPr>
              <a:t>Rough work  /  extra work</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72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FF9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QUESTION</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A leaking balloon</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73</a:t>
            </a:r>
          </a:p>
        </p:txBody>
      </p:sp>
      <p:sp>
        <p:nvSpPr>
          <p:cNvPr id="7" name="TextBox 6"/>
          <p:cNvSpPr txBox="1"/>
          <p:nvPr/>
        </p:nvSpPr>
        <p:spPr>
          <a:xfrm>
            <a:off x="594360" y="1078992"/>
            <a:ext cx="11018520" cy="960120"/>
          </a:xfrm>
          <a:prstGeom prst="rect">
            <a:avLst/>
          </a:prstGeom>
          <a:noFill/>
        </p:spPr>
        <p:txBody>
          <a:bodyPr wrap="square" lIns="0" rIns="0" tIns="0" bIns="0" anchor="t">
            <a:spAutoFit/>
          </a:bodyPr>
          <a:lstStyle/>
          <a:p>
            <a:pPr algn="l">
              <a:lnSpc>
                <a:spcPct val="110000"/>
              </a:lnSpc>
              <a:spcBef>
                <a:spcPts val="0"/>
              </a:spcBef>
              <a:spcAft>
                <a:spcPts val="0"/>
              </a:spcAft>
            </a:pPr>
            <a:r>
              <a:rPr sz="1900" b="1">
                <a:solidFill>
                  <a:srgbClr val="FF9E40"/>
                </a:solidFill>
                <a:latin typeface="Aptos"/>
              </a:rPr>
              <a:t>Gas speed depends on the radius through a power a. The emptying time T depends on surface tension S, outlet area A, density ρ and starting radius R through powers α, β, γ and δ.</a:t>
            </a:r>
          </a:p>
        </p:txBody>
      </p:sp>
      <p:sp>
        <p:nvSpPr>
          <p:cNvPr id="8" name="Oval 7"/>
          <p:cNvSpPr/>
          <p:nvPr/>
        </p:nvSpPr>
        <p:spPr>
          <a:xfrm>
            <a:off x="594360" y="2231136"/>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2249424"/>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1</a:t>
            </a:r>
          </a:p>
        </p:txBody>
      </p:sp>
      <p:sp>
        <p:nvSpPr>
          <p:cNvPr id="10" name="TextBox 9"/>
          <p:cNvSpPr txBox="1"/>
          <p:nvPr/>
        </p:nvSpPr>
        <p:spPr>
          <a:xfrm>
            <a:off x="1014984" y="2212848"/>
            <a:ext cx="1055217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a = 1/2, α = 1/2, β = -1, γ = 1, δ = 3/2</a:t>
            </a:r>
          </a:p>
        </p:txBody>
      </p:sp>
      <p:sp>
        <p:nvSpPr>
          <p:cNvPr id="11" name="Oval 10"/>
          <p:cNvSpPr/>
          <p:nvPr/>
        </p:nvSpPr>
        <p:spPr>
          <a:xfrm>
            <a:off x="594360" y="2706624"/>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2724912"/>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2</a:t>
            </a:r>
          </a:p>
        </p:txBody>
      </p:sp>
      <p:sp>
        <p:nvSpPr>
          <p:cNvPr id="13" name="TextBox 12"/>
          <p:cNvSpPr txBox="1"/>
          <p:nvPr/>
        </p:nvSpPr>
        <p:spPr>
          <a:xfrm>
            <a:off x="1014984" y="2688336"/>
            <a:ext cx="1055217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a = -1/2, α = -1/2, β = -1, γ = -1/2, δ = 5/2</a:t>
            </a:r>
          </a:p>
        </p:txBody>
      </p:sp>
      <p:sp>
        <p:nvSpPr>
          <p:cNvPr id="14" name="Oval 13"/>
          <p:cNvSpPr/>
          <p:nvPr/>
        </p:nvSpPr>
        <p:spPr>
          <a:xfrm>
            <a:off x="594360" y="3182112"/>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3200400"/>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3</a:t>
            </a:r>
          </a:p>
        </p:txBody>
      </p:sp>
      <p:sp>
        <p:nvSpPr>
          <p:cNvPr id="16" name="TextBox 15"/>
          <p:cNvSpPr txBox="1"/>
          <p:nvPr/>
        </p:nvSpPr>
        <p:spPr>
          <a:xfrm>
            <a:off x="1014984" y="3163824"/>
            <a:ext cx="1055217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a = -1/2, α = -1/2, β = -1, γ = 1/2, δ = 7/2</a:t>
            </a:r>
          </a:p>
        </p:txBody>
      </p:sp>
      <p:sp>
        <p:nvSpPr>
          <p:cNvPr id="17" name="Oval 16"/>
          <p:cNvSpPr/>
          <p:nvPr/>
        </p:nvSpPr>
        <p:spPr>
          <a:xfrm>
            <a:off x="594360" y="3657600"/>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3675887"/>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4</a:t>
            </a:r>
          </a:p>
        </p:txBody>
      </p:sp>
      <p:sp>
        <p:nvSpPr>
          <p:cNvPr id="19" name="TextBox 18"/>
          <p:cNvSpPr txBox="1"/>
          <p:nvPr/>
        </p:nvSpPr>
        <p:spPr>
          <a:xfrm>
            <a:off x="1014984" y="3639312"/>
            <a:ext cx="1055217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a = 1/2, α = 1/2, β = -1/2, γ = 1/2, δ = 7/2</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ANSWER</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Solution: speed of the gas</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74</a:t>
            </a:r>
          </a:p>
        </p:txBody>
      </p:sp>
      <p:sp>
        <p:nvSpPr>
          <p:cNvPr id="7" name="TextBox 6"/>
          <p:cNvSpPr txBox="1"/>
          <p:nvPr/>
        </p:nvSpPr>
        <p:spPr>
          <a:xfrm>
            <a:off x="594360" y="1078992"/>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The speed of the leaving gas is fixed by S, ρ and the present radius r.</a:t>
            </a:r>
          </a:p>
        </p:txBody>
      </p:sp>
      <p:sp>
        <p:nvSpPr>
          <p:cNvPr id="8" name="TextBox 7"/>
          <p:cNvSpPr txBox="1"/>
          <p:nvPr/>
        </p:nvSpPr>
        <p:spPr>
          <a:xfrm>
            <a:off x="594360" y="1627631"/>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440" b="1">
                <a:solidFill>
                  <a:srgbClr val="5AC8FF"/>
                </a:solidFill>
                <a:latin typeface="Aptos"/>
              </a:rPr>
              <a:t>Step 1:  v ∝ S½ ρ⁻½ r⁻½.</a:t>
            </a:r>
          </a:p>
        </p:txBody>
      </p:sp>
      <p:sp>
        <p:nvSpPr>
          <p:cNvPr id="9" name="TextBox 8"/>
          <p:cNvSpPr txBox="1"/>
          <p:nvPr/>
        </p:nvSpPr>
        <p:spPr>
          <a:xfrm>
            <a:off x="594360" y="2176272"/>
            <a:ext cx="11018520" cy="640080"/>
          </a:xfrm>
          <a:prstGeom prst="rect">
            <a:avLst/>
          </a:prstGeom>
          <a:noFill/>
        </p:spPr>
        <p:txBody>
          <a:bodyPr wrap="square" lIns="0" rIns="0" tIns="0" bIns="0" anchor="t">
            <a:spAutoFit/>
          </a:bodyPr>
          <a:lstStyle/>
          <a:p>
            <a:pPr algn="l">
              <a:lnSpc>
                <a:spcPct val="110000"/>
              </a:lnSpc>
              <a:spcBef>
                <a:spcPts val="0"/>
              </a:spcBef>
              <a:spcAft>
                <a:spcPts val="0"/>
              </a:spcAft>
            </a:pPr>
            <a:r>
              <a:rPr sz="1350" b="1">
                <a:solidFill>
                  <a:srgbClr val="5AC8FF"/>
                </a:solidFill>
                <a:latin typeface="Aptos"/>
              </a:rPr>
              <a:t>Step 2:  Mass cancels. What remains is a speed, and the power of r is -1/2. So a = -1/2.</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ANSWER</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Solution: time to empty</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75</a:t>
            </a:r>
          </a:p>
        </p:txBody>
      </p:sp>
      <p:sp>
        <p:nvSpPr>
          <p:cNvPr id="7" name="TextBox 6"/>
          <p:cNvSpPr txBox="1"/>
          <p:nvPr/>
        </p:nvSpPr>
        <p:spPr>
          <a:xfrm>
            <a:off x="594360" y="1078992"/>
            <a:ext cx="11018520" cy="50292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Volume leaves through area A, so the radius falls as dr/dt ∝ A v / r².</a:t>
            </a:r>
          </a:p>
        </p:txBody>
      </p:sp>
      <p:sp>
        <p:nvSpPr>
          <p:cNvPr id="8" name="TextBox 7"/>
          <p:cNvSpPr txBox="1"/>
          <p:nvPr/>
        </p:nvSpPr>
        <p:spPr>
          <a:xfrm>
            <a:off x="594360" y="1673352"/>
            <a:ext cx="11018520" cy="594360"/>
          </a:xfrm>
          <a:prstGeom prst="rect">
            <a:avLst/>
          </a:prstGeom>
          <a:noFill/>
        </p:spPr>
        <p:txBody>
          <a:bodyPr wrap="square" lIns="0" rIns="0" tIns="0" bIns="0" anchor="t">
            <a:spAutoFit/>
          </a:bodyPr>
          <a:lstStyle/>
          <a:p>
            <a:pPr algn="l">
              <a:lnSpc>
                <a:spcPct val="110000"/>
              </a:lnSpc>
              <a:spcBef>
                <a:spcPts val="0"/>
              </a:spcBef>
              <a:spcAft>
                <a:spcPts val="0"/>
              </a:spcAft>
            </a:pPr>
            <a:r>
              <a:rPr sz="1260" b="1">
                <a:solidFill>
                  <a:srgbClr val="5AC8FF"/>
                </a:solidFill>
                <a:latin typeface="Aptos"/>
              </a:rPr>
              <a:t>Step 1:  With v ∝ r⁻½, we get dr/dt ∝ A S½ ρ⁻½ r⁻⁵⁄².</a:t>
            </a:r>
          </a:p>
        </p:txBody>
      </p:sp>
      <p:sp>
        <p:nvSpPr>
          <p:cNvPr id="9" name="TextBox 8"/>
          <p:cNvSpPr txBox="1"/>
          <p:nvPr/>
        </p:nvSpPr>
        <p:spPr>
          <a:xfrm>
            <a:off x="594360" y="2359152"/>
            <a:ext cx="11018520" cy="548640"/>
          </a:xfrm>
          <a:prstGeom prst="rect">
            <a:avLst/>
          </a:prstGeom>
          <a:noFill/>
        </p:spPr>
        <p:txBody>
          <a:bodyPr wrap="square" lIns="0" rIns="0" tIns="0" bIns="0" anchor="t">
            <a:spAutoFit/>
          </a:bodyPr>
          <a:lstStyle/>
          <a:p>
            <a:pPr algn="l">
              <a:lnSpc>
                <a:spcPct val="110000"/>
              </a:lnSpc>
              <a:spcBef>
                <a:spcPts val="0"/>
              </a:spcBef>
              <a:spcAft>
                <a:spcPts val="0"/>
              </a:spcAft>
            </a:pPr>
            <a:r>
              <a:rPr sz="1350" b="1">
                <a:solidFill>
                  <a:srgbClr val="5AC8FF"/>
                </a:solidFill>
                <a:latin typeface="Aptos"/>
              </a:rPr>
              <a:t>Step 2:  Time to fall from R to 0 is T ∝ R⁷⁄² / (A S½ ρ⁻½).</a:t>
            </a:r>
          </a:p>
        </p:txBody>
      </p:sp>
      <p:sp>
        <p:nvSpPr>
          <p:cNvPr id="10" name="TextBox 9"/>
          <p:cNvSpPr txBox="1"/>
          <p:nvPr/>
        </p:nvSpPr>
        <p:spPr>
          <a:xfrm>
            <a:off x="594360" y="299923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440" b="1">
                <a:solidFill>
                  <a:srgbClr val="5AC8FF"/>
                </a:solidFill>
                <a:latin typeface="Aptos"/>
              </a:rPr>
              <a:t>Step 3:  So α = -1/2, β = -1, γ = 1/2, δ = 7/2.</a:t>
            </a:r>
          </a:p>
        </p:txBody>
      </p:sp>
      <p:sp>
        <p:nvSpPr>
          <p:cNvPr id="11" name="TextBox 10"/>
          <p:cNvSpPr txBox="1"/>
          <p:nvPr/>
        </p:nvSpPr>
        <p:spPr>
          <a:xfrm>
            <a:off x="594360" y="3502152"/>
            <a:ext cx="11018520" cy="411480"/>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D680"/>
                </a:solidFill>
                <a:latin typeface="Aptos"/>
              </a:rPr>
              <a:t>Final answer: option 3</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FF9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STOP</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Three cases where dimensions refuse</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76</a:t>
            </a:r>
          </a:p>
        </p:txBody>
      </p:sp>
      <p:sp>
        <p:nvSpPr>
          <p:cNvPr id="7" name="TextBox 6"/>
          <p:cNvSpPr txBox="1"/>
          <p:nvPr/>
        </p:nvSpPr>
        <p:spPr>
          <a:xfrm>
            <a:off x="594360" y="1078992"/>
            <a:ext cx="11018520" cy="777240"/>
          </a:xfrm>
          <a:prstGeom prst="rect">
            <a:avLst/>
          </a:prstGeom>
          <a:noFill/>
        </p:spPr>
        <p:txBody>
          <a:bodyPr wrap="square" lIns="0" rIns="0" tIns="0" bIns="0" anchor="t">
            <a:spAutoFit/>
          </a:bodyPr>
          <a:lstStyle/>
          <a:p>
            <a:pPr algn="l">
              <a:lnSpc>
                <a:spcPct val="110000"/>
              </a:lnSpc>
              <a:spcBef>
                <a:spcPts val="0"/>
              </a:spcBef>
              <a:spcAft>
                <a:spcPts val="0"/>
              </a:spcAft>
            </a:pPr>
            <a:r>
              <a:rPr sz="1600" b="0">
                <a:solidFill>
                  <a:srgbClr val="FFFFFF"/>
                </a:solidFill>
                <a:latin typeface="Aptos"/>
              </a:rPr>
              <a:t>•  Torque, energy and work have the same dimensions. Using all three as base quantities cannot produce a new formula for time.</a:t>
            </a:r>
          </a:p>
        </p:txBody>
      </p:sp>
      <p:sp>
        <p:nvSpPr>
          <p:cNvPr id="8" name="TextBox 7"/>
          <p:cNvSpPr txBox="1"/>
          <p:nvPr/>
        </p:nvSpPr>
        <p:spPr>
          <a:xfrm>
            <a:off x="594360" y="2039112"/>
            <a:ext cx="11018520" cy="822960"/>
          </a:xfrm>
          <a:prstGeom prst="rect">
            <a:avLst/>
          </a:prstGeom>
          <a:noFill/>
        </p:spPr>
        <p:txBody>
          <a:bodyPr wrap="square" lIns="0" rIns="0" tIns="0" bIns="0" anchor="t">
            <a:spAutoFit/>
          </a:bodyPr>
          <a:lstStyle/>
          <a:p>
            <a:pPr algn="l">
              <a:lnSpc>
                <a:spcPct val="110000"/>
              </a:lnSpc>
              <a:spcBef>
                <a:spcPts val="0"/>
              </a:spcBef>
              <a:spcAft>
                <a:spcPts val="0"/>
              </a:spcAft>
            </a:pPr>
            <a:r>
              <a:rPr sz="1600" b="0">
                <a:solidFill>
                  <a:srgbClr val="FFFFFF"/>
                </a:solidFill>
                <a:latin typeface="Aptos"/>
              </a:rPr>
              <a:t>•  If g is said to depend on force, energy, mass and velocity, that is four quantities and only three equations (M, L, T). The powers are not unique.</a:t>
            </a:r>
          </a:p>
        </p:txBody>
      </p:sp>
      <p:sp>
        <p:nvSpPr>
          <p:cNvPr id="9" name="TextBox 8"/>
          <p:cNvSpPr txBox="1"/>
          <p:nvPr/>
        </p:nvSpPr>
        <p:spPr>
          <a:xfrm>
            <a:off x="594360" y="3044952"/>
            <a:ext cx="11018520" cy="822960"/>
          </a:xfrm>
          <a:prstGeom prst="rect">
            <a:avLst/>
          </a:prstGeom>
          <a:noFill/>
        </p:spPr>
        <p:txBody>
          <a:bodyPr wrap="square" lIns="0" rIns="0" tIns="0" bIns="0" anchor="t">
            <a:spAutoFit/>
          </a:bodyPr>
          <a:lstStyle/>
          <a:p>
            <a:pPr algn="l">
              <a:lnSpc>
                <a:spcPct val="110000"/>
              </a:lnSpc>
              <a:spcBef>
                <a:spcPts val="0"/>
              </a:spcBef>
              <a:spcAft>
                <a:spcPts val="0"/>
              </a:spcAft>
            </a:pPr>
            <a:r>
              <a:rPr sz="1600" b="0">
                <a:solidFill>
                  <a:srgbClr val="FFFFFF"/>
                </a:solidFill>
                <a:latin typeface="Aptos"/>
              </a:rPr>
              <a:t>•  If force is said to depend on an angle, a velocity and an energy, the angle is a pure number. It cannot supply the dimensions of force.</a:t>
            </a:r>
          </a:p>
        </p:txBody>
      </p:sp>
      <p:sp>
        <p:nvSpPr>
          <p:cNvPr id="10" name="TextBox 9"/>
          <p:cNvSpPr txBox="1"/>
          <p:nvPr/>
        </p:nvSpPr>
        <p:spPr>
          <a:xfrm>
            <a:off x="594360" y="4005072"/>
            <a:ext cx="11018520" cy="438912"/>
          </a:xfrm>
          <a:prstGeom prst="rect">
            <a:avLst/>
          </a:prstGeom>
          <a:noFill/>
        </p:spPr>
        <p:txBody>
          <a:bodyPr wrap="square" lIns="0" rIns="0" tIns="0" bIns="0" anchor="t">
            <a:spAutoFit/>
          </a:bodyPr>
          <a:lstStyle/>
          <a:p>
            <a:pPr algn="l">
              <a:lnSpc>
                <a:spcPct val="110000"/>
              </a:lnSpc>
              <a:spcBef>
                <a:spcPts val="0"/>
              </a:spcBef>
              <a:spcAft>
                <a:spcPts val="0"/>
              </a:spcAft>
            </a:pPr>
            <a:r>
              <a:rPr sz="1600" b="0">
                <a:solidFill>
                  <a:srgbClr val="FF9E40"/>
                </a:solidFill>
                <a:latin typeface="Aptos"/>
              </a:rPr>
              <a:t>Write “not possible” and name the reason. That is a full answer.</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FF9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QUESTION</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Which equation cannot be fully derived</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77</a:t>
            </a:r>
          </a:p>
        </p:txBody>
      </p:sp>
      <p:sp>
        <p:nvSpPr>
          <p:cNvPr id="7" name="TextBox 6"/>
          <p:cNvSpPr txBox="1"/>
          <p:nvPr/>
        </p:nvSpPr>
        <p:spPr>
          <a:xfrm>
            <a:off x="594360" y="1078992"/>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900" b="1">
                <a:solidFill>
                  <a:srgbClr val="FF9E40"/>
                </a:solidFill>
                <a:latin typeface="Aptos"/>
              </a:rPr>
              <a:t>Which equation cannot be obtained from dimensions alone?</a:t>
            </a:r>
          </a:p>
        </p:txBody>
      </p:sp>
      <p:sp>
        <p:nvSpPr>
          <p:cNvPr id="8" name="Oval 7"/>
          <p:cNvSpPr/>
          <p:nvPr/>
        </p:nvSpPr>
        <p:spPr>
          <a:xfrm>
            <a:off x="594360" y="1773936"/>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792224"/>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1</a:t>
            </a:r>
          </a:p>
        </p:txBody>
      </p:sp>
      <p:sp>
        <p:nvSpPr>
          <p:cNvPr id="10" name="TextBox 9"/>
          <p:cNvSpPr txBox="1"/>
          <p:nvPr/>
        </p:nvSpPr>
        <p:spPr>
          <a:xfrm>
            <a:off x="1014984" y="1755648"/>
            <a:ext cx="918057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F = 6π η r v</a:t>
            </a:r>
          </a:p>
        </p:txBody>
      </p:sp>
      <p:sp>
        <p:nvSpPr>
          <p:cNvPr id="11" name="Oval 10"/>
          <p:cNvSpPr/>
          <p:nvPr/>
        </p:nvSpPr>
        <p:spPr>
          <a:xfrm>
            <a:off x="594360" y="2249424"/>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2267712"/>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2</a:t>
            </a:r>
          </a:p>
        </p:txBody>
      </p:sp>
      <p:sp>
        <p:nvSpPr>
          <p:cNvPr id="13" name="TextBox 12"/>
          <p:cNvSpPr txBox="1"/>
          <p:nvPr/>
        </p:nvSpPr>
        <p:spPr>
          <a:xfrm>
            <a:off x="1014984" y="2231136"/>
            <a:ext cx="918057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θ = ω t</a:t>
            </a:r>
          </a:p>
        </p:txBody>
      </p:sp>
      <p:sp>
        <p:nvSpPr>
          <p:cNvPr id="14" name="Oval 13"/>
          <p:cNvSpPr/>
          <p:nvPr/>
        </p:nvSpPr>
        <p:spPr>
          <a:xfrm>
            <a:off x="594360" y="2724912"/>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2743200"/>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3</a:t>
            </a:r>
          </a:p>
        </p:txBody>
      </p:sp>
      <p:sp>
        <p:nvSpPr>
          <p:cNvPr id="16" name="TextBox 15"/>
          <p:cNvSpPr txBox="1"/>
          <p:nvPr/>
        </p:nvSpPr>
        <p:spPr>
          <a:xfrm>
            <a:off x="1014984" y="2706624"/>
            <a:ext cx="918057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P = ρ g h</a:t>
            </a:r>
          </a:p>
        </p:txBody>
      </p:sp>
      <p:sp>
        <p:nvSpPr>
          <p:cNvPr id="17" name="Oval 16"/>
          <p:cNvSpPr/>
          <p:nvPr/>
        </p:nvSpPr>
        <p:spPr>
          <a:xfrm>
            <a:off x="594360" y="3200400"/>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3218688"/>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4</a:t>
            </a:r>
          </a:p>
        </p:txBody>
      </p:sp>
      <p:sp>
        <p:nvSpPr>
          <p:cNvPr id="19" name="TextBox 18"/>
          <p:cNvSpPr txBox="1"/>
          <p:nvPr/>
        </p:nvSpPr>
        <p:spPr>
          <a:xfrm>
            <a:off x="1014984" y="3182112"/>
            <a:ext cx="918057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v = d / t</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ANSWER</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Solution: Which equation cannot be fully derived</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78</a:t>
            </a:r>
          </a:p>
        </p:txBody>
      </p:sp>
      <p:sp>
        <p:nvSpPr>
          <p:cNvPr id="7" name="TextBox 6"/>
          <p:cNvSpPr txBox="1"/>
          <p:nvPr/>
        </p:nvSpPr>
        <p:spPr>
          <a:xfrm>
            <a:off x="594360" y="1078992"/>
            <a:ext cx="11018520" cy="50292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Dimensions can give the powers. They cannot give a pure number such as 6π.</a:t>
            </a:r>
          </a:p>
        </p:txBody>
      </p:sp>
      <p:sp>
        <p:nvSpPr>
          <p:cNvPr id="8" name="TextBox 7"/>
          <p:cNvSpPr txBox="1"/>
          <p:nvPr/>
        </p:nvSpPr>
        <p:spPr>
          <a:xfrm>
            <a:off x="594360" y="167335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440" b="1">
                <a:solidFill>
                  <a:srgbClr val="5AC8FF"/>
                </a:solidFill>
                <a:latin typeface="Aptos"/>
              </a:rPr>
              <a:t>Step 1:  F, η, r and v can be matched, but 6π stays unknown.</a:t>
            </a:r>
          </a:p>
        </p:txBody>
      </p:sp>
      <p:sp>
        <p:nvSpPr>
          <p:cNvPr id="9" name="TextBox 8"/>
          <p:cNvSpPr txBox="1"/>
          <p:nvPr/>
        </p:nvSpPr>
        <p:spPr>
          <a:xfrm>
            <a:off x="594360" y="2221992"/>
            <a:ext cx="11018520" cy="640080"/>
          </a:xfrm>
          <a:prstGeom prst="rect">
            <a:avLst/>
          </a:prstGeom>
          <a:noFill/>
        </p:spPr>
        <p:txBody>
          <a:bodyPr wrap="square" lIns="0" rIns="0" tIns="0" bIns="0" anchor="t">
            <a:spAutoFit/>
          </a:bodyPr>
          <a:lstStyle/>
          <a:p>
            <a:pPr algn="l">
              <a:lnSpc>
                <a:spcPct val="110000"/>
              </a:lnSpc>
              <a:spcBef>
                <a:spcPts val="0"/>
              </a:spcBef>
              <a:spcAft>
                <a:spcPts val="0"/>
              </a:spcAft>
            </a:pPr>
            <a:r>
              <a:rPr sz="1350" b="1">
                <a:solidFill>
                  <a:srgbClr val="5AC8FF"/>
                </a:solidFill>
                <a:latin typeface="Aptos"/>
              </a:rPr>
              <a:t>Step 2:  θ = ω t, P = ρ g h and v = d / t are products of powers. Their number in front is 1.</a:t>
            </a:r>
          </a:p>
        </p:txBody>
      </p:sp>
      <p:sp>
        <p:nvSpPr>
          <p:cNvPr id="10" name="TextBox 9"/>
          <p:cNvSpPr txBox="1"/>
          <p:nvPr/>
        </p:nvSpPr>
        <p:spPr>
          <a:xfrm>
            <a:off x="594360" y="3044952"/>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D680"/>
                </a:solidFill>
                <a:latin typeface="Aptos"/>
              </a:rPr>
              <a:t>Final answer: F = 6π η r v   (option 1)</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B0B6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ROUGH WORK</a:t>
            </a:r>
          </a:p>
        </p:txBody>
      </p:sp>
      <p:sp>
        <p:nvSpPr>
          <p:cNvPr id="4" name="TextBox 3"/>
          <p:cNvSpPr txBox="1"/>
          <p:nvPr/>
        </p:nvSpPr>
        <p:spPr>
          <a:xfrm>
            <a:off x="594360" y="310896"/>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980" b="1">
                <a:solidFill>
                  <a:srgbClr val="FFD646"/>
                </a:solidFill>
                <a:latin typeface="Aptos"/>
              </a:rPr>
              <a:t>Rough work  /  extra work</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79</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CLASS SUMMARY</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Units 04 lock lines</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80</a:t>
            </a:r>
          </a:p>
        </p:txBody>
      </p:sp>
      <p:sp>
        <p:nvSpPr>
          <p:cNvPr id="7" name="TextBox 6"/>
          <p:cNvSpPr txBox="1"/>
          <p:nvPr/>
        </p:nvSpPr>
        <p:spPr>
          <a:xfrm>
            <a:off x="594360" y="1078992"/>
            <a:ext cx="11018520" cy="640080"/>
          </a:xfrm>
          <a:prstGeom prst="rect">
            <a:avLst/>
          </a:prstGeom>
          <a:noFill/>
        </p:spPr>
        <p:txBody>
          <a:bodyPr wrap="square" lIns="0" rIns="0" tIns="0" bIns="0" anchor="t">
            <a:spAutoFit/>
          </a:bodyPr>
          <a:lstStyle/>
          <a:p>
            <a:pPr algn="l">
              <a:lnSpc>
                <a:spcPct val="110000"/>
              </a:lnSpc>
              <a:spcBef>
                <a:spcPts val="0"/>
              </a:spcBef>
              <a:spcAft>
                <a:spcPts val="0"/>
              </a:spcAft>
            </a:pPr>
            <a:r>
              <a:rPr sz="1350" b="1">
                <a:solidFill>
                  <a:srgbClr val="5AC8FF"/>
                </a:solidFill>
                <a:latin typeface="Aptos"/>
              </a:rPr>
              <a:t>Add or subtract → least decimal places. Multiply or divide → least significant figures.</a:t>
            </a:r>
          </a:p>
        </p:txBody>
      </p:sp>
      <p:sp>
        <p:nvSpPr>
          <p:cNvPr id="8" name="TextBox 7"/>
          <p:cNvSpPr txBox="1"/>
          <p:nvPr/>
        </p:nvSpPr>
        <p:spPr>
          <a:xfrm>
            <a:off x="594360" y="1856231"/>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440" b="1">
                <a:solidFill>
                  <a:srgbClr val="5AC8FF"/>
                </a:solidFill>
                <a:latin typeface="Aptos"/>
              </a:rPr>
              <a:t>A dropped 5 rounds the last kept digit to the even choice.</a:t>
            </a:r>
          </a:p>
        </p:txBody>
      </p:sp>
      <p:sp>
        <p:nvSpPr>
          <p:cNvPr id="9" name="TextBox 8"/>
          <p:cNvSpPr txBox="1"/>
          <p:nvPr/>
        </p:nvSpPr>
        <p:spPr>
          <a:xfrm>
            <a:off x="594360" y="2404872"/>
            <a:ext cx="11018520" cy="594360"/>
          </a:xfrm>
          <a:prstGeom prst="rect">
            <a:avLst/>
          </a:prstGeom>
          <a:noFill/>
        </p:spPr>
        <p:txBody>
          <a:bodyPr wrap="square" lIns="0" rIns="0" tIns="0" bIns="0" anchor="t">
            <a:spAutoFit/>
          </a:bodyPr>
          <a:lstStyle/>
          <a:p>
            <a:pPr algn="l">
              <a:lnSpc>
                <a:spcPct val="110000"/>
              </a:lnSpc>
              <a:spcBef>
                <a:spcPts val="0"/>
              </a:spcBef>
              <a:spcAft>
                <a:spcPts val="0"/>
              </a:spcAft>
            </a:pPr>
            <a:r>
              <a:rPr sz="1350" b="1">
                <a:solidFill>
                  <a:srgbClr val="5AC8FF"/>
                </a:solidFill>
                <a:latin typeface="Aptos"/>
              </a:rPr>
              <a:t>Accuracy is closeness to the true value. Precision is how fine the reading is.</a:t>
            </a:r>
          </a:p>
        </p:txBody>
      </p:sp>
      <p:sp>
        <p:nvSpPr>
          <p:cNvPr id="10" name="TextBox 9"/>
          <p:cNvSpPr txBox="1"/>
          <p:nvPr/>
        </p:nvSpPr>
        <p:spPr>
          <a:xfrm>
            <a:off x="594360" y="3136392"/>
            <a:ext cx="11018520" cy="594360"/>
          </a:xfrm>
          <a:prstGeom prst="rect">
            <a:avLst/>
          </a:prstGeom>
          <a:noFill/>
        </p:spPr>
        <p:txBody>
          <a:bodyPr wrap="square" lIns="0" rIns="0" tIns="0" bIns="0" anchor="t">
            <a:spAutoFit/>
          </a:bodyPr>
          <a:lstStyle/>
          <a:p>
            <a:pPr algn="l">
              <a:lnSpc>
                <a:spcPct val="110000"/>
              </a:lnSpc>
              <a:spcBef>
                <a:spcPts val="0"/>
              </a:spcBef>
              <a:spcAft>
                <a:spcPts val="0"/>
              </a:spcAft>
            </a:pPr>
            <a:r>
              <a:rPr sz="1350" b="1">
                <a:solidFill>
                  <a:srgbClr val="5AC8FF"/>
                </a:solidFill>
                <a:latin typeface="Aptos"/>
              </a:rPr>
              <a:t>Relative error = absolute error / true value. For a sum, add the absolute errors.</a:t>
            </a:r>
          </a:p>
        </p:txBody>
      </p:sp>
      <p:sp>
        <p:nvSpPr>
          <p:cNvPr id="11" name="TextBox 10"/>
          <p:cNvSpPr txBox="1"/>
          <p:nvPr/>
        </p:nvSpPr>
        <p:spPr>
          <a:xfrm>
            <a:off x="594360" y="3749039"/>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D680"/>
                </a:solidFill>
                <a:latin typeface="Aptos"/>
              </a:rPr>
              <a:t>Repeated readings: report mean ± mean absolute error.</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CBSE WRITE</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Ready theory lines</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81</a:t>
            </a:r>
          </a:p>
        </p:txBody>
      </p:sp>
      <p:sp>
        <p:nvSpPr>
          <p:cNvPr id="7" name="TextBox 6"/>
          <p:cNvSpPr txBox="1"/>
          <p:nvPr/>
        </p:nvSpPr>
        <p:spPr>
          <a:xfrm>
            <a:off x="594360" y="1078992"/>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1. Significant figures are the certain digits plus one uncertain digit.</a:t>
            </a:r>
          </a:p>
        </p:txBody>
      </p:sp>
      <p:sp>
        <p:nvSpPr>
          <p:cNvPr id="8" name="TextBox 7"/>
          <p:cNvSpPr txBox="1"/>
          <p:nvPr/>
        </p:nvSpPr>
        <p:spPr>
          <a:xfrm>
            <a:off x="594360" y="1581912"/>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2. Changing the unit does not change the number of significant figures.</a:t>
            </a:r>
          </a:p>
        </p:txBody>
      </p:sp>
      <p:sp>
        <p:nvSpPr>
          <p:cNvPr id="9" name="TextBox 8"/>
          <p:cNvSpPr txBox="1"/>
          <p:nvPr/>
        </p:nvSpPr>
        <p:spPr>
          <a:xfrm>
            <a:off x="594360" y="2084832"/>
            <a:ext cx="11018520" cy="50292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3. In addition and subtraction the result has the least number of decimal places.</a:t>
            </a:r>
          </a:p>
        </p:txBody>
      </p:sp>
      <p:sp>
        <p:nvSpPr>
          <p:cNvPr id="10" name="TextBox 9"/>
          <p:cNvSpPr txBox="1"/>
          <p:nvPr/>
        </p:nvSpPr>
        <p:spPr>
          <a:xfrm>
            <a:off x="594360" y="2633472"/>
            <a:ext cx="11018520" cy="50292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4. In multiplication and division the result has the least number of significant figures.</a:t>
            </a:r>
          </a:p>
        </p:txBody>
      </p:sp>
      <p:sp>
        <p:nvSpPr>
          <p:cNvPr id="11" name="TextBox 10"/>
          <p:cNvSpPr txBox="1"/>
          <p:nvPr/>
        </p:nvSpPr>
        <p:spPr>
          <a:xfrm>
            <a:off x="594360" y="3182111"/>
            <a:ext cx="11018520" cy="54864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5. Absolute error has a unit. Relative error and percentage error do not add a new kind of unit.</a:t>
            </a:r>
          </a:p>
        </p:txBody>
      </p:sp>
      <p:sp>
        <p:nvSpPr>
          <p:cNvPr id="12" name="TextBox 11"/>
          <p:cNvSpPr txBox="1"/>
          <p:nvPr/>
        </p:nvSpPr>
        <p:spPr>
          <a:xfrm>
            <a:off x="594360" y="3867911"/>
            <a:ext cx="11018520" cy="438912"/>
          </a:xfrm>
          <a:prstGeom prst="rect">
            <a:avLst/>
          </a:prstGeom>
          <a:noFill/>
        </p:spPr>
        <p:txBody>
          <a:bodyPr wrap="square" lIns="0" rIns="0" tIns="0" bIns="0" anchor="t">
            <a:spAutoFit/>
          </a:bodyPr>
          <a:lstStyle/>
          <a:p>
            <a:pPr algn="l">
              <a:lnSpc>
                <a:spcPct val="110000"/>
              </a:lnSpc>
              <a:spcBef>
                <a:spcPts val="0"/>
              </a:spcBef>
              <a:spcAft>
                <a:spcPts val="0"/>
              </a:spcAft>
            </a:pPr>
            <a:r>
              <a:rPr sz="1600" b="0">
                <a:solidFill>
                  <a:srgbClr val="FF9E40"/>
                </a:solidFill>
                <a:latin typeface="Aptos"/>
              </a:rPr>
              <a:t>Percentage error = (absolute error / true value) × 100.</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FFCC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AFTER CLASS</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Practice</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82</a:t>
            </a:r>
          </a:p>
        </p:txBody>
      </p:sp>
      <p:sp>
        <p:nvSpPr>
          <p:cNvPr id="7" name="TextBox 6"/>
          <p:cNvSpPr txBox="1"/>
          <p:nvPr/>
        </p:nvSpPr>
        <p:spPr>
          <a:xfrm>
            <a:off x="594360" y="1078992"/>
            <a:ext cx="11018520" cy="438912"/>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1. Round 2.745 and 2.735 to three significant figures.</a:t>
            </a:r>
          </a:p>
        </p:txBody>
      </p:sp>
      <p:sp>
        <p:nvSpPr>
          <p:cNvPr id="8" name="TextBox 7"/>
          <p:cNvSpPr txBox="1"/>
          <p:nvPr/>
        </p:nvSpPr>
        <p:spPr>
          <a:xfrm>
            <a:off x="594360" y="1581912"/>
            <a:ext cx="11018520" cy="50292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2. A = 12.5 cm, B = 0.30 cm. Find A × B and A − B with the proper digits.</a:t>
            </a:r>
          </a:p>
        </p:txBody>
      </p:sp>
      <p:sp>
        <p:nvSpPr>
          <p:cNvPr id="9" name="TextBox 8"/>
          <p:cNvSpPr txBox="1"/>
          <p:nvPr/>
        </p:nvSpPr>
        <p:spPr>
          <a:xfrm>
            <a:off x="594360" y="2176272"/>
            <a:ext cx="11018520" cy="50292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3. True value 9.80. Readings 9.79, 9.85, 9.77. Which is most accurate?</a:t>
            </a:r>
          </a:p>
        </p:txBody>
      </p:sp>
      <p:sp>
        <p:nvSpPr>
          <p:cNvPr id="10" name="TextBox 9"/>
          <p:cNvSpPr txBox="1"/>
          <p:nvPr/>
        </p:nvSpPr>
        <p:spPr>
          <a:xfrm>
            <a:off x="594360" y="2770632"/>
            <a:ext cx="11018520" cy="50292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4. x = (5.0 ± 0.2) and y = (3.0 ± 0.1). Find x + y with the error.</a:t>
            </a:r>
          </a:p>
        </p:txBody>
      </p:sp>
      <p:sp>
        <p:nvSpPr>
          <p:cNvPr id="11" name="TextBox 10"/>
          <p:cNvSpPr txBox="1"/>
          <p:nvPr/>
        </p:nvSpPr>
        <p:spPr>
          <a:xfrm>
            <a:off x="594360" y="3364991"/>
            <a:ext cx="11018520" cy="64008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5. If resistance R depends on V and I only, show why a pure number in R = k V/I cannot be found by dimensions.</a:t>
            </a:r>
          </a:p>
        </p:txBody>
      </p:sp>
      <p:sp>
        <p:nvSpPr>
          <p:cNvPr id="12" name="TextBox 11"/>
          <p:cNvSpPr txBox="1"/>
          <p:nvPr/>
        </p:nvSpPr>
        <p:spPr>
          <a:xfrm>
            <a:off x="594360" y="4096511"/>
            <a:ext cx="11018520" cy="438912"/>
          </a:xfrm>
          <a:prstGeom prst="rect">
            <a:avLst/>
          </a:prstGeom>
          <a:noFill/>
        </p:spPr>
        <p:txBody>
          <a:bodyPr wrap="square" lIns="0" rIns="0" tIns="0" bIns="0" anchor="t">
            <a:spAutoFit/>
          </a:bodyPr>
          <a:lstStyle/>
          <a:p>
            <a:pPr algn="l">
              <a:lnSpc>
                <a:spcPct val="110000"/>
              </a:lnSpc>
              <a:spcBef>
                <a:spcPts val="0"/>
              </a:spcBef>
              <a:spcAft>
                <a:spcPts val="0"/>
              </a:spcAft>
            </a:pPr>
            <a:r>
              <a:rPr sz="1600" b="0">
                <a:solidFill>
                  <a:srgbClr val="FF9E40"/>
                </a:solidFill>
                <a:latin typeface="Aptos"/>
              </a:rPr>
              <a:t>Next class: how errors combine in a product, a quotient and a power.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