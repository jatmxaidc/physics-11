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integration as the reverse of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first idea very clear: integration undoes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Introduction to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23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42415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5-minute differentiation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Integration as reverse differentiation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32304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Indefinite integral and 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27248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Power-rule reverse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1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Standard integrals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1713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17136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Easy indefinite-integral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12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212080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Physics link: a → v → x by integrating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What differentiation gave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d(xⁿ)/dx = n xⁿ⁻¹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d(sin x)/dx = cos x     ·     d(cos x)/dx = −sin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d(eˣ)/dx = eˣ     ·     d(constant)/dx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v = dx/dt     ·     a = dv/dt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Quick check: differentiate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Differentiate y = 3x⁴ − 2x + 5.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Quick check: differentiate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d(3x⁴)/dx = 12x³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d(−2x)/dx = −2     and     d(5)/dx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12x³ − 2.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Integration: reverse of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Differentiation finds a rate from a quantity.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Integration finds the original quantity from a rate.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0545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If  dy/dx = f(x)  then  y = ∫ f(x) dx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We read ∫ f(x) dx as “the integral of f with respect to x”.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The constant of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Many functions share the same derivative, because a constant disappears when we differentiate.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∫ f(x) dx = F(x)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F(x) is any antiderivative of f.  C is an arbitrary constant.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drop +C in an indefinite integral.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EXACT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Same slope, different heights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y = x², y = x² + 3 and  y = x² − 2 all have slope 2x.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493776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460857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d(x² + C)/dx = 2x  for every 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46520" y="4351712"/>
            <a:ext cx="475488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1325880"/>
            <a:ext cx="0" cy="416052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036808" y="4397432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13258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22008" y="4296848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57416" y="442486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725912" y="4296848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61320" y="442486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69096" y="5108170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03336" y="500758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69096" y="3595254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03336" y="349467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69096" y="2838796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03336" y="27382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69096" y="2082338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03336" y="198175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4424864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31812" y="2521083"/>
            <a:ext cx="34869" cy="6051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66681" y="2581596"/>
            <a:ext cx="34870" cy="5949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01551" y="2641091"/>
            <a:ext cx="34869" cy="5847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36420" y="2699570"/>
            <a:ext cx="34869" cy="5746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71289" y="2757031"/>
            <a:ext cx="34869" cy="5644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06158" y="2813476"/>
            <a:ext cx="34869" cy="5542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41027" y="2868903"/>
            <a:ext cx="34869" cy="5441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75896" y="2923313"/>
            <a:ext cx="34869" cy="53394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10765" y="2976707"/>
            <a:ext cx="34869" cy="5237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45634" y="3029083"/>
            <a:ext cx="34870" cy="5135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80504" y="3080442"/>
            <a:ext cx="34869" cy="5034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15373" y="3130785"/>
            <a:ext cx="34869" cy="4932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50242" y="3180110"/>
            <a:ext cx="34869" cy="4830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185111" y="3228418"/>
            <a:ext cx="34869" cy="4729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19980" y="3275709"/>
            <a:ext cx="34869" cy="4627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54849" y="3321984"/>
            <a:ext cx="34869" cy="4525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89718" y="3367241"/>
            <a:ext cx="34869" cy="4424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324587" y="3411481"/>
            <a:ext cx="34869" cy="4322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59456" y="3454704"/>
            <a:ext cx="34870" cy="4220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94326" y="3496910"/>
            <a:ext cx="34869" cy="4118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29195" y="3538099"/>
            <a:ext cx="34869" cy="4017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64064" y="3578272"/>
            <a:ext cx="34869" cy="3915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498933" y="3617427"/>
            <a:ext cx="34869" cy="3813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33802" y="3655565"/>
            <a:ext cx="34869" cy="3712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568671" y="3692686"/>
            <a:ext cx="34869" cy="36104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603540" y="3728790"/>
            <a:ext cx="34869" cy="3508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638409" y="3763877"/>
            <a:ext cx="34870" cy="3407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673279" y="3797947"/>
            <a:ext cx="34869" cy="3305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08148" y="3831000"/>
            <a:ext cx="34869" cy="3203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743017" y="3863036"/>
            <a:ext cx="34869" cy="3101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777886" y="3894055"/>
            <a:ext cx="34869" cy="3000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812755" y="3924057"/>
            <a:ext cx="34869" cy="2898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47624" y="3953042"/>
            <a:ext cx="34869" cy="2796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882493" y="3981010"/>
            <a:ext cx="34869" cy="2695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917362" y="4007961"/>
            <a:ext cx="34869" cy="25934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52231" y="4033895"/>
            <a:ext cx="34870" cy="2491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987101" y="4058812"/>
            <a:ext cx="34869" cy="2389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021970" y="4082711"/>
            <a:ext cx="34869" cy="2288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56839" y="4105594"/>
            <a:ext cx="34869" cy="2186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091708" y="4127460"/>
            <a:ext cx="34869" cy="2084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126577" y="4148309"/>
            <a:ext cx="34869" cy="1983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161446" y="4168141"/>
            <a:ext cx="34869" cy="1881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196315" y="4186956"/>
            <a:ext cx="34869" cy="1779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231184" y="4204753"/>
            <a:ext cx="34870" cy="1678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266054" y="4221534"/>
            <a:ext cx="34869" cy="15764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300923" y="4237298"/>
            <a:ext cx="34869" cy="1474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335792" y="4252045"/>
            <a:ext cx="34869" cy="1372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370661" y="4265774"/>
            <a:ext cx="34869" cy="1271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405530" y="4278487"/>
            <a:ext cx="34869" cy="1169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440399" y="4290183"/>
            <a:ext cx="34869" cy="1067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475268" y="4300861"/>
            <a:ext cx="34869" cy="966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510137" y="4310523"/>
            <a:ext cx="34870" cy="864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545007" y="4319168"/>
            <a:ext cx="34869" cy="762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579876" y="4326795"/>
            <a:ext cx="34869" cy="661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614745" y="4333406"/>
            <a:ext cx="34869" cy="5594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649614" y="4339000"/>
            <a:ext cx="34869" cy="457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684483" y="4343576"/>
            <a:ext cx="34869" cy="356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719352" y="4347136"/>
            <a:ext cx="34869" cy="254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754221" y="4349678"/>
            <a:ext cx="34869" cy="152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789090" y="4351204"/>
            <a:ext cx="34870" cy="50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823960" y="4351204"/>
            <a:ext cx="34869" cy="50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858829" y="4349678"/>
            <a:ext cx="34869" cy="152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893698" y="4347136"/>
            <a:ext cx="34869" cy="254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928567" y="4343576"/>
            <a:ext cx="34869" cy="356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963436" y="4339000"/>
            <a:ext cx="34869" cy="457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998305" y="4333406"/>
            <a:ext cx="34869" cy="5594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9033174" y="4326795"/>
            <a:ext cx="34869" cy="661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068043" y="4319168"/>
            <a:ext cx="34869" cy="762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9102912" y="4310523"/>
            <a:ext cx="34870" cy="864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137782" y="4300861"/>
            <a:ext cx="34869" cy="966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172651" y="4290183"/>
            <a:ext cx="34869" cy="1067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207520" y="4278487"/>
            <a:ext cx="34869" cy="1169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42389" y="4265774"/>
            <a:ext cx="34869" cy="1271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277258" y="4252045"/>
            <a:ext cx="34869" cy="1372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312127" y="4237298"/>
            <a:ext cx="34869" cy="1474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346996" y="4221534"/>
            <a:ext cx="34869" cy="15764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381865" y="4204753"/>
            <a:ext cx="34870" cy="1678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416735" y="4186956"/>
            <a:ext cx="34869" cy="1779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451604" y="4168141"/>
            <a:ext cx="34869" cy="1881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486473" y="4148309"/>
            <a:ext cx="34869" cy="1983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521342" y="4127460"/>
            <a:ext cx="34869" cy="2084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556211" y="4105594"/>
            <a:ext cx="34869" cy="2186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591080" y="4082711"/>
            <a:ext cx="34869" cy="2288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625949" y="4058812"/>
            <a:ext cx="34869" cy="2389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660818" y="4033895"/>
            <a:ext cx="34870" cy="2491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695688" y="4007961"/>
            <a:ext cx="34869" cy="25934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730557" y="3981010"/>
            <a:ext cx="34869" cy="2695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765426" y="3953042"/>
            <a:ext cx="34869" cy="2796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800295" y="3924057"/>
            <a:ext cx="34869" cy="2898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835164" y="3894055"/>
            <a:ext cx="34869" cy="30002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870033" y="3863036"/>
            <a:ext cx="34869" cy="3101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904902" y="3831000"/>
            <a:ext cx="34869" cy="3203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939771" y="3797947"/>
            <a:ext cx="34869" cy="3305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974640" y="3763877"/>
            <a:ext cx="34870" cy="3407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0009510" y="3728790"/>
            <a:ext cx="34869" cy="3508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0044379" y="3692686"/>
            <a:ext cx="34869" cy="36104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0079248" y="3655565"/>
            <a:ext cx="34869" cy="3712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0114117" y="3617427"/>
            <a:ext cx="34869" cy="3813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0148986" y="3578272"/>
            <a:ext cx="34869" cy="3915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0183855" y="3538099"/>
            <a:ext cx="34869" cy="4017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0218724" y="3496910"/>
            <a:ext cx="34869" cy="4118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0253593" y="3454704"/>
            <a:ext cx="34870" cy="4220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288463" y="3411481"/>
            <a:ext cx="34869" cy="4322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0323332" y="3367241"/>
            <a:ext cx="34869" cy="4424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358201" y="3321984"/>
            <a:ext cx="34869" cy="4525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0393070" y="3275709"/>
            <a:ext cx="34869" cy="4627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0427939" y="3228418"/>
            <a:ext cx="34869" cy="4729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0462808" y="3180110"/>
            <a:ext cx="34869" cy="48308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0497677" y="3130785"/>
            <a:ext cx="34869" cy="4932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0532546" y="3080442"/>
            <a:ext cx="34870" cy="5034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567416" y="3029083"/>
            <a:ext cx="34869" cy="5135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602285" y="2976707"/>
            <a:ext cx="34869" cy="52376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637154" y="2923313"/>
            <a:ext cx="34869" cy="53394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672023" y="2868903"/>
            <a:ext cx="34869" cy="5441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706892" y="2813476"/>
            <a:ext cx="34869" cy="55427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741761" y="2757031"/>
            <a:ext cx="34869" cy="5644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776630" y="2699570"/>
            <a:ext cx="34869" cy="57461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811499" y="2641091"/>
            <a:ext cx="34869" cy="58479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846368" y="2581596"/>
            <a:ext cx="34870" cy="59495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881238" y="2521083"/>
            <a:ext cx="34869" cy="60513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6731812" y="1386396"/>
            <a:ext cx="34869" cy="6051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6766681" y="1446909"/>
            <a:ext cx="34870" cy="5949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801551" y="1506404"/>
            <a:ext cx="34869" cy="584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836420" y="1564882"/>
            <a:ext cx="34869" cy="574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6871289" y="1622344"/>
            <a:ext cx="34869" cy="5644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6906158" y="1678788"/>
            <a:ext cx="34869" cy="5542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6941027" y="1734216"/>
            <a:ext cx="34869" cy="544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975896" y="1788626"/>
            <a:ext cx="34869" cy="533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7010765" y="1842019"/>
            <a:ext cx="34869" cy="523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7045634" y="1894396"/>
            <a:ext cx="34870" cy="513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7080504" y="1945755"/>
            <a:ext cx="34869" cy="5034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7115373" y="1996097"/>
            <a:ext cx="34869" cy="4932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150242" y="2045423"/>
            <a:ext cx="34869" cy="4830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7185111" y="2093731"/>
            <a:ext cx="34869" cy="4729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219980" y="2141022"/>
            <a:ext cx="34869" cy="4627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254849" y="2187296"/>
            <a:ext cx="34869" cy="452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289718" y="2232553"/>
            <a:ext cx="34869" cy="4424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324587" y="2276794"/>
            <a:ext cx="34869" cy="4322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359456" y="2320017"/>
            <a:ext cx="34870" cy="4220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394326" y="2362223"/>
            <a:ext cx="34869" cy="4118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7429195" y="2403412"/>
            <a:ext cx="34869" cy="4017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7464064" y="2443584"/>
            <a:ext cx="34869" cy="3915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7498933" y="2482739"/>
            <a:ext cx="34869" cy="381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7533802" y="2520878"/>
            <a:ext cx="34869" cy="3712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568671" y="2557999"/>
            <a:ext cx="34869" cy="3610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603540" y="2594103"/>
            <a:ext cx="34869" cy="3508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7638409" y="2629190"/>
            <a:ext cx="34870" cy="340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7673279" y="2663260"/>
            <a:ext cx="34869" cy="3305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708148" y="2696313"/>
            <a:ext cx="34869" cy="3203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743017" y="2728349"/>
            <a:ext cx="34869" cy="3101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777886" y="2759368"/>
            <a:ext cx="34869" cy="300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812755" y="2789370"/>
            <a:ext cx="34869" cy="2898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7847624" y="2818355"/>
            <a:ext cx="34869" cy="279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882493" y="2846323"/>
            <a:ext cx="34869" cy="269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7917362" y="2873274"/>
            <a:ext cx="34869" cy="2593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952231" y="2899207"/>
            <a:ext cx="34870" cy="2491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987101" y="2924124"/>
            <a:ext cx="34869" cy="2390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8021970" y="2948024"/>
            <a:ext cx="34869" cy="2288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8056839" y="2970907"/>
            <a:ext cx="34869" cy="2186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8091708" y="2992773"/>
            <a:ext cx="34869" cy="208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8126577" y="3013622"/>
            <a:ext cx="34869" cy="198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161446" y="3033454"/>
            <a:ext cx="34869" cy="188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8196315" y="3052268"/>
            <a:ext cx="34869" cy="1779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8231184" y="3070066"/>
            <a:ext cx="34870" cy="1678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8266054" y="3086847"/>
            <a:ext cx="34869" cy="1576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8300923" y="3102611"/>
            <a:ext cx="34869" cy="147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335792" y="3117357"/>
            <a:ext cx="34869" cy="137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8370661" y="3131087"/>
            <a:ext cx="34869" cy="1271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8405530" y="3143800"/>
            <a:ext cx="34869" cy="1169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8440399" y="3155495"/>
            <a:ext cx="34869" cy="1067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475268" y="3166174"/>
            <a:ext cx="34869" cy="96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510137" y="3175836"/>
            <a:ext cx="34870" cy="864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545007" y="3184480"/>
            <a:ext cx="34869" cy="762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579876" y="3192108"/>
            <a:ext cx="34869" cy="661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614745" y="3198719"/>
            <a:ext cx="34869" cy="55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649614" y="3204312"/>
            <a:ext cx="34869" cy="45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684483" y="3208889"/>
            <a:ext cx="34869" cy="35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719352" y="3212448"/>
            <a:ext cx="34869" cy="254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754221" y="3214991"/>
            <a:ext cx="34869" cy="15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789090" y="3216516"/>
            <a:ext cx="34870" cy="5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8823960" y="3216516"/>
            <a:ext cx="34869" cy="50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8858829" y="3214991"/>
            <a:ext cx="34869" cy="152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8893698" y="3212448"/>
            <a:ext cx="34869" cy="254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8928567" y="3208889"/>
            <a:ext cx="34869" cy="35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8963436" y="3204312"/>
            <a:ext cx="34869" cy="45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8998305" y="3198719"/>
            <a:ext cx="34869" cy="55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9033174" y="3192108"/>
            <a:ext cx="34869" cy="661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9068043" y="3184480"/>
            <a:ext cx="34869" cy="762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102912" y="3175836"/>
            <a:ext cx="34870" cy="864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9137782" y="3166174"/>
            <a:ext cx="34869" cy="96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9172651" y="3155495"/>
            <a:ext cx="34869" cy="1067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9207520" y="3143800"/>
            <a:ext cx="34869" cy="1169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9242389" y="3131087"/>
            <a:ext cx="34869" cy="1271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277258" y="3117357"/>
            <a:ext cx="34869" cy="1373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312127" y="3102611"/>
            <a:ext cx="34869" cy="1474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346996" y="3086847"/>
            <a:ext cx="34869" cy="1576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381865" y="3070066"/>
            <a:ext cx="34870" cy="1678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416735" y="3052268"/>
            <a:ext cx="34869" cy="1779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451604" y="3033454"/>
            <a:ext cx="34869" cy="1881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486473" y="3013622"/>
            <a:ext cx="34869" cy="1983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521342" y="2992773"/>
            <a:ext cx="34869" cy="2084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556211" y="2970907"/>
            <a:ext cx="34869" cy="2186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591080" y="2948024"/>
            <a:ext cx="34869" cy="2288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625949" y="2924124"/>
            <a:ext cx="34869" cy="2390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660818" y="2899207"/>
            <a:ext cx="34870" cy="2491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695688" y="2873274"/>
            <a:ext cx="34869" cy="2593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730557" y="2846323"/>
            <a:ext cx="34869" cy="2695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765426" y="2818355"/>
            <a:ext cx="34869" cy="2796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800295" y="2789370"/>
            <a:ext cx="34869" cy="2898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835164" y="2759368"/>
            <a:ext cx="34869" cy="3000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9870033" y="2728349"/>
            <a:ext cx="34869" cy="3101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9904902" y="2696313"/>
            <a:ext cx="34869" cy="3203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9939771" y="2663260"/>
            <a:ext cx="34869" cy="3305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9974640" y="2629190"/>
            <a:ext cx="34870" cy="3407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009510" y="2594103"/>
            <a:ext cx="34869" cy="3508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044379" y="2557999"/>
            <a:ext cx="34869" cy="3610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079248" y="2520878"/>
            <a:ext cx="34869" cy="3712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10114117" y="2482739"/>
            <a:ext cx="34869" cy="3813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10148986" y="2443584"/>
            <a:ext cx="34869" cy="3915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10183855" y="2403412"/>
            <a:ext cx="34869" cy="4017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10218724" y="2362223"/>
            <a:ext cx="34869" cy="4118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10253593" y="2320017"/>
            <a:ext cx="34870" cy="4220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10288463" y="2276794"/>
            <a:ext cx="34869" cy="4322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10323332" y="2232553"/>
            <a:ext cx="34869" cy="4424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0358201" y="2187296"/>
            <a:ext cx="34869" cy="4525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10393070" y="2141022"/>
            <a:ext cx="34869" cy="4627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10427939" y="2093731"/>
            <a:ext cx="34869" cy="47291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10462808" y="2045423"/>
            <a:ext cx="34869" cy="4830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0497677" y="1996097"/>
            <a:ext cx="34869" cy="49326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10532546" y="1945755"/>
            <a:ext cx="34870" cy="5034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0567416" y="1894396"/>
            <a:ext cx="34869" cy="51359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0602285" y="1842019"/>
            <a:ext cx="34869" cy="52377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0637154" y="1788626"/>
            <a:ext cx="34869" cy="5339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0672023" y="1734216"/>
            <a:ext cx="34869" cy="5441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0706892" y="1678788"/>
            <a:ext cx="34869" cy="5542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0741761" y="1622344"/>
            <a:ext cx="34869" cy="56444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0776630" y="1564882"/>
            <a:ext cx="34869" cy="57462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811499" y="1506404"/>
            <a:ext cx="34869" cy="58478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846368" y="1446909"/>
            <a:ext cx="34870" cy="59495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881238" y="1386396"/>
            <a:ext cx="34869" cy="60513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6731812" y="3277542"/>
            <a:ext cx="34869" cy="605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6766681" y="3338054"/>
            <a:ext cx="34870" cy="5949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6801551" y="3397549"/>
            <a:ext cx="34869" cy="5847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6836420" y="3456028"/>
            <a:ext cx="34869" cy="574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6871289" y="3513489"/>
            <a:ext cx="34869" cy="5644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6906158" y="3569934"/>
            <a:ext cx="34869" cy="5542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6941027" y="3625361"/>
            <a:ext cx="34869" cy="544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6975896" y="3679771"/>
            <a:ext cx="34869" cy="533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7010765" y="3733165"/>
            <a:ext cx="34869" cy="523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7045634" y="3785541"/>
            <a:ext cx="34870" cy="513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7080504" y="3836900"/>
            <a:ext cx="34869" cy="5034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7115373" y="3887243"/>
            <a:ext cx="34869" cy="4932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7150242" y="3936568"/>
            <a:ext cx="34869" cy="4830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7185111" y="3984876"/>
            <a:ext cx="34869" cy="4729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7219980" y="4032167"/>
            <a:ext cx="34869" cy="4627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7254849" y="4078442"/>
            <a:ext cx="34869" cy="4525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7289718" y="4123699"/>
            <a:ext cx="34869" cy="4424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7324587" y="4167939"/>
            <a:ext cx="34869" cy="4322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7359456" y="4211162"/>
            <a:ext cx="34870" cy="4220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7394326" y="4253368"/>
            <a:ext cx="34869" cy="4119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7429195" y="4294558"/>
            <a:ext cx="34869" cy="4017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7464064" y="4334730"/>
            <a:ext cx="34869" cy="3915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7498933" y="4373885"/>
            <a:ext cx="34869" cy="3813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533802" y="4412023"/>
            <a:ext cx="34869" cy="3712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7568671" y="4449144"/>
            <a:ext cx="34869" cy="3610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603540" y="4485248"/>
            <a:ext cx="34869" cy="3508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638409" y="4520335"/>
            <a:ext cx="34870" cy="340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673279" y="4554405"/>
            <a:ext cx="34869" cy="3305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7708148" y="4587458"/>
            <a:ext cx="34869" cy="3203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7743017" y="4619494"/>
            <a:ext cx="34869" cy="3101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7777886" y="4650513"/>
            <a:ext cx="34869" cy="300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7812755" y="4680515"/>
            <a:ext cx="34869" cy="289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7847624" y="4709500"/>
            <a:ext cx="34869" cy="279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7882493" y="4737468"/>
            <a:ext cx="34869" cy="269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7917362" y="4764419"/>
            <a:ext cx="34869" cy="2593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7952231" y="4790353"/>
            <a:ext cx="34870" cy="249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7987101" y="4815270"/>
            <a:ext cx="34869" cy="2390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8021970" y="4839170"/>
            <a:ext cx="34869" cy="2288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8056839" y="4862053"/>
            <a:ext cx="34869" cy="2186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8091708" y="4883918"/>
            <a:ext cx="34869" cy="208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8126577" y="4904767"/>
            <a:ext cx="34869" cy="1983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8161446" y="4924599"/>
            <a:ext cx="34869" cy="188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8196315" y="4943414"/>
            <a:ext cx="34869" cy="1779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8231184" y="4961212"/>
            <a:ext cx="34870" cy="1678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8266054" y="4977992"/>
            <a:ext cx="34869" cy="157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8300923" y="4993756"/>
            <a:ext cx="34869" cy="147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8335792" y="5008503"/>
            <a:ext cx="34869" cy="137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8370661" y="5022233"/>
            <a:ext cx="34869" cy="127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8405530" y="5034945"/>
            <a:ext cx="34869" cy="1169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8440399" y="5046641"/>
            <a:ext cx="34869" cy="1067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8475268" y="5057320"/>
            <a:ext cx="34869" cy="96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8510137" y="5066981"/>
            <a:ext cx="34870" cy="864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8545007" y="5075626"/>
            <a:ext cx="34869" cy="762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8579876" y="5083254"/>
            <a:ext cx="34869" cy="66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8614745" y="5089864"/>
            <a:ext cx="34869" cy="55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8649614" y="5095458"/>
            <a:ext cx="34869" cy="45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8684483" y="5100034"/>
            <a:ext cx="34869" cy="35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8719352" y="5103594"/>
            <a:ext cx="34869" cy="25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8754221" y="5106136"/>
            <a:ext cx="34869" cy="152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8789090" y="5107662"/>
            <a:ext cx="34870" cy="50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8823960" y="5107662"/>
            <a:ext cx="34869" cy="50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8858829" y="5106136"/>
            <a:ext cx="34869" cy="152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8893698" y="5103594"/>
            <a:ext cx="34869" cy="254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8928567" y="5100034"/>
            <a:ext cx="34869" cy="35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8963436" y="5095458"/>
            <a:ext cx="34869" cy="45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8998305" y="5089864"/>
            <a:ext cx="34869" cy="55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9033174" y="5083254"/>
            <a:ext cx="34869" cy="66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9068043" y="5075626"/>
            <a:ext cx="34869" cy="762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9102912" y="5066981"/>
            <a:ext cx="34870" cy="864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9137782" y="5057320"/>
            <a:ext cx="34869" cy="96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9172651" y="5046641"/>
            <a:ext cx="34869" cy="1067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9207520" y="5034945"/>
            <a:ext cx="34869" cy="1169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9242389" y="5022233"/>
            <a:ext cx="34869" cy="127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9277258" y="5008503"/>
            <a:ext cx="34869" cy="1373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9312127" y="4993756"/>
            <a:ext cx="34869" cy="1474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9346996" y="4977992"/>
            <a:ext cx="34869" cy="1576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9381865" y="4961212"/>
            <a:ext cx="34870" cy="1678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9416735" y="4943414"/>
            <a:ext cx="34869" cy="1779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9451604" y="4924599"/>
            <a:ext cx="34869" cy="1881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9486473" y="4904767"/>
            <a:ext cx="34869" cy="1983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9521342" y="4883918"/>
            <a:ext cx="34869" cy="2084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9556211" y="4862053"/>
            <a:ext cx="34869" cy="2186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9591080" y="4839170"/>
            <a:ext cx="34869" cy="2288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9625949" y="4815270"/>
            <a:ext cx="34869" cy="2390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9660818" y="4790353"/>
            <a:ext cx="34870" cy="2491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9695688" y="4764419"/>
            <a:ext cx="34869" cy="2593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9730557" y="4737468"/>
            <a:ext cx="34869" cy="2695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9765426" y="4709500"/>
            <a:ext cx="34869" cy="2796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9800295" y="4680515"/>
            <a:ext cx="34869" cy="2898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9835164" y="4650513"/>
            <a:ext cx="34869" cy="3000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9870033" y="4619494"/>
            <a:ext cx="34869" cy="3101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9904902" y="4587458"/>
            <a:ext cx="34869" cy="3203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9939771" y="4554405"/>
            <a:ext cx="34869" cy="3305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9974640" y="4520335"/>
            <a:ext cx="34870" cy="3407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10009510" y="4485248"/>
            <a:ext cx="34869" cy="3508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10044379" y="4449144"/>
            <a:ext cx="34869" cy="3610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10079248" y="4412023"/>
            <a:ext cx="34869" cy="3712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10114117" y="4373885"/>
            <a:ext cx="34869" cy="3813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10148986" y="4334730"/>
            <a:ext cx="34869" cy="3915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10183855" y="4294558"/>
            <a:ext cx="34869" cy="4017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10218724" y="4253368"/>
            <a:ext cx="34869" cy="4119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10253593" y="4211162"/>
            <a:ext cx="34870" cy="4220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10288463" y="4167939"/>
            <a:ext cx="34869" cy="4322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10323332" y="4123699"/>
            <a:ext cx="34869" cy="4424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10358201" y="4078442"/>
            <a:ext cx="34869" cy="4525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10393070" y="4032167"/>
            <a:ext cx="34869" cy="4627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10427939" y="3984876"/>
            <a:ext cx="34869" cy="4729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10462808" y="3936568"/>
            <a:ext cx="34869" cy="48308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10497677" y="3887243"/>
            <a:ext cx="34869" cy="4932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10532546" y="3836900"/>
            <a:ext cx="34870" cy="50343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10567416" y="3785541"/>
            <a:ext cx="34869" cy="5135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10602285" y="3733165"/>
            <a:ext cx="34869" cy="52376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10637154" y="3679771"/>
            <a:ext cx="34869" cy="53394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10672023" y="3625361"/>
            <a:ext cx="34869" cy="5441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10706892" y="3569934"/>
            <a:ext cx="34869" cy="55427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10741761" y="3513489"/>
            <a:ext cx="34869" cy="5644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10776630" y="3456028"/>
            <a:ext cx="34869" cy="57461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10811499" y="3397549"/>
            <a:ext cx="34869" cy="58479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10846368" y="3338054"/>
            <a:ext cx="34870" cy="59495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10881238" y="3277542"/>
            <a:ext cx="34869" cy="60512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TextBox 386"/>
          <p:cNvSpPr txBox="1"/>
          <p:nvPr/>
        </p:nvSpPr>
        <p:spPr>
          <a:xfrm>
            <a:off x="6583680" y="566928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same shape, shifted up/down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Power-rule reverse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Differentiation lowers the power by 1 and multiplies by the old power.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Integration raises the power by 1 and divides by the new power.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50591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96896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∫ xⁿ dx = xⁿ⁺¹/(n+1) + C     (n ≠ −1)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3075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This formula fails when n = −1.  That special case is ln|x| + C (later).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Integrate a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Find ∫ x³ dx.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Integrate a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Raise power: x³ → x⁴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Divide by new power: x⁴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∫ x³ dx = x⁴/4 + 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Integrate with a coefficient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Find ∫ 5x² dx.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Integrate with a coefficient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Constants come outside: 5 ∫ x²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 x² dx = x³/3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∫ 5x² dx = 5x³/3 + 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Polynomial term by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(4x³ − 6x + 2) dx.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Polynomial term by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Integrate each term separately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∫ 4x³ dx = 4 · x⁴/4 = x⁴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∫ −6x dx = −6 · x²/2 = −3x²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4:  ∫ 2 dx = 2x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x⁴ − 3x² + 2x + 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Standard indefinite integrals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530352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5230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Function f(x)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078992"/>
            <a:ext cx="571500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6" y="1078992"/>
            <a:ext cx="5641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∫ f(x) dx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554480"/>
            <a:ext cx="53035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554480"/>
            <a:ext cx="5230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xⁿ (n ≠ −1)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554480"/>
            <a:ext cx="57150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4456" y="1554480"/>
            <a:ext cx="5641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xⁿ⁺¹/(n+1) +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29967"/>
            <a:ext cx="53035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029967"/>
            <a:ext cx="5230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  (constant)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2029967"/>
            <a:ext cx="571500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34456" y="2029967"/>
            <a:ext cx="5641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+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505456"/>
            <a:ext cx="53035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505456"/>
            <a:ext cx="5230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505456"/>
            <a:ext cx="57150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34456" y="2505456"/>
            <a:ext cx="5641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−cos x +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980944"/>
            <a:ext cx="53035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980944"/>
            <a:ext cx="5230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cos 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2980944"/>
            <a:ext cx="571500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34456" y="2980944"/>
            <a:ext cx="5641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sin x + 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456432"/>
            <a:ext cx="530352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456432"/>
            <a:ext cx="5230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eˣ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3456432"/>
            <a:ext cx="571500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34456" y="3456432"/>
            <a:ext cx="5641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eˣ + 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931920"/>
            <a:ext cx="530352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931920"/>
            <a:ext cx="5230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1/x  (x ≠ 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3931920"/>
            <a:ext cx="571500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34456" y="3931920"/>
            <a:ext cx="56418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ln|x| +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Check by differentiating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safest check: differentiate your answer. You must recover the integrand.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d/dx [ ∫ f(x) dx ] = f(x)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 derivative does not match f(x), the integral is wrong.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check +C disappears when you differentiate — that is correct.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Check an antiderivative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Is F(x) = x³/3 + 7 an antiderivative of f(x) = x²?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Check an antiderivative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Differentiate F: dF/dx = x²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This equals f(x) = x²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Yes.  (Any constant in place of 7 also works.)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Integrate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Find ∫ sin x dx.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Integrate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From the table: antiderivative of sin x is −cos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∫ sin x dx = −cos x + 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Integrate cosine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Find ∫ cos x dx.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Integrate cosine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∫ cos x dx = sin x + 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Integrate exponential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Find ∫ eˣ dx.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Integrate exponential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eˣ is its own derivative and its own antiderivative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∫ eˣ dx = eˣ + 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 easy integral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(2 cos x − 3 sin x) dx.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 easy integral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∫ 2 cos x dx = 2 sin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∫ −3 sin x dx = −3(−cos x) = 3 cos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 sin x + 3 cos x + 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Simple reciprocal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(1/x) dx  for x &gt; 0.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Simple reciprocal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From the table: ∫ dx/x = ln|x|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For x &gt; 0, |x| =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ln x + C.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Integrate √x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Find ∫ √x dx.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Integrate √x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Write √x = x¹ᐟ²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∫ x¹ᐟ² dx = x³ᐟ² / (3/2) = (2/3) x³ᐟ²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(2/3) x³ᐟ² + 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Integrate 1/x²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E40"/>
                </a:solidFill>
                <a:latin typeface="Aptos"/>
              </a:rPr>
              <a:t>Find ∫ (1/x²) dx.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Integrate 1/x²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1/x² = x^(−2)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∫ x^(−2) dx = x^(−1)/(−1) = −1/x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−1/x + C.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Physics: integrating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Differentiation went downhill:  x → v →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Integration goes uphill:  a → v → x.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0545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v = ∫ a dt + C₁      ·      x = ∫ v dt + C₂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Initial conditions fix the constants C₁ and C₂.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From constant acceleration to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a = 4 m s⁻² (constant) and v = 0 at t = 0, find v(t).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From constant acceleration to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v = ∫ a dt = ∫ 4 dt = 4t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At t = 0, v = 0 → 0 = 0 + C → C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 = 4t  (m s⁻¹).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From velocity to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If v = 4t and x = 0 at t = 0, find x(t).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From velocity to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x = ∫ v dt = ∫ 4t dt = 2t²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At t = 0, x = 0 → C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2t²  (m).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Constant velocity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6 m s⁻¹ (constant) and x = 2 m at t = 0, find x(t).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Constant velocity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x = ∫ 6 dt = 6t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t = 0, x = 2 → C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6t + 2  (m).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 FOR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a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definite integral will later mean the signed area between the curve and the x-axis.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Area idea:  ∫_a^b f(x) dx   (limits a to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Tonight we stay with indefinite integrals only (no limits yet).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mix indefinite (+C) with definite (number, no +C).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 style: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(3x⁵ − x) dx.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 style: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∫ 3x⁵ dx = 3 · x⁶/6 = x⁶/2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∫ −x dx = −x²/2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(1/2)x⁶ − (1/2)x² + C.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 style: trig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(sin x + cos x) dx.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 style: trig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∫ sin x dx = −cos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 cos x dx = sin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−cos x + sin x + C.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 style: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Differentiate y = −cos x + sin x + 4 and confirm it matches sin x + cos x.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 style: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d(−cos x)/dx = sin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d(sin x)/dx = cos x     ·     d(4)/dx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dy/dx = sin x + cos x.  Check successful.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Integration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Integration reverses differentiation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∫ f(x) dx = F(x)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∫ xⁿ dx = xⁿ⁺¹/(n+1) + C   (n ≠ −1)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Check every answer by differentiating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Memorise the standard integrals table from tonight.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Redo every ∫ question without looking at the solution.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For each answer, differentiate and recover the integrand.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Write one motion example: given a, find v and x with +C fixed by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Missing +C is the most common indefinite-integral mistake.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