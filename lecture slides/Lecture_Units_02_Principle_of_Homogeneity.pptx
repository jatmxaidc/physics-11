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PW Units and Measurement Lecture 03.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35508" y="516636"/>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D2D2DC"/>
                </a:solidFill>
                <a:latin typeface="Arial Black"/>
              </a:rPr>
              <a:t>EXCELLENCE</a:t>
            </a:r>
          </a:p>
        </p:txBody>
      </p:sp>
      <p:sp>
        <p:nvSpPr>
          <p:cNvPr id="3" name="TextBox 2"/>
          <p:cNvSpPr txBox="1"/>
          <p:nvPr/>
        </p:nvSpPr>
        <p:spPr>
          <a:xfrm>
            <a:off x="594360" y="475488"/>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FFD646"/>
                </a:solidFill>
                <a:latin typeface="Arial Black"/>
              </a:rPr>
              <a:t>EXCELLENCE</a:t>
            </a:r>
          </a:p>
        </p:txBody>
      </p:sp>
      <p:sp>
        <p:nvSpPr>
          <p:cNvPr id="4" name="TextBox 3"/>
          <p:cNvSpPr txBox="1"/>
          <p:nvPr/>
        </p:nvSpPr>
        <p:spPr>
          <a:xfrm>
            <a:off x="635508" y="1540763"/>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5A5A64"/>
                </a:solidFill>
                <a:latin typeface="Aptos"/>
              </a:rPr>
              <a:t>CLASS 11   -   2026-27</a:t>
            </a:r>
          </a:p>
        </p:txBody>
      </p:sp>
      <p:sp>
        <p:nvSpPr>
          <p:cNvPr id="5" name="TextBox 4"/>
          <p:cNvSpPr txBox="1"/>
          <p:nvPr/>
        </p:nvSpPr>
        <p:spPr>
          <a:xfrm>
            <a:off x="594360" y="1499616"/>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FFFFFF"/>
                </a:solidFill>
                <a:latin typeface="Aptos"/>
              </a:rPr>
              <a:t>CLASS 11   -   2026-27</a:t>
            </a:r>
          </a:p>
        </p:txBody>
      </p:sp>
      <p:sp>
        <p:nvSpPr>
          <p:cNvPr id="6" name="Rectangle 5"/>
          <p:cNvSpPr/>
          <p:nvPr/>
        </p:nvSpPr>
        <p:spPr>
          <a:xfrm>
            <a:off x="3794760" y="2084831"/>
            <a:ext cx="4572000" cy="256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74519" y="2468880"/>
            <a:ext cx="8412480" cy="2148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74519" y="3127248"/>
            <a:ext cx="8412480" cy="1490472"/>
          </a:xfrm>
          <a:prstGeom prst="roundRect">
            <a:avLst/>
          </a:prstGeom>
          <a:solidFill>
            <a:srgbClr val="000000"/>
          </a:solidFill>
          <a:ln w="15875">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59" y="2615184"/>
            <a:ext cx="16459" cy="38404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19" y="2596896"/>
            <a:ext cx="411480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Physics</a:t>
            </a:r>
          </a:p>
        </p:txBody>
      </p:sp>
      <p:sp>
        <p:nvSpPr>
          <p:cNvPr id="11" name="TextBox 10"/>
          <p:cNvSpPr txBox="1"/>
          <p:nvPr/>
        </p:nvSpPr>
        <p:spPr>
          <a:xfrm>
            <a:off x="6080759" y="2596896"/>
            <a:ext cx="420624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Units 02</a:t>
            </a:r>
          </a:p>
        </p:txBody>
      </p:sp>
      <p:sp>
        <p:nvSpPr>
          <p:cNvPr id="12" name="TextBox 11"/>
          <p:cNvSpPr txBox="1"/>
          <p:nvPr/>
        </p:nvSpPr>
        <p:spPr>
          <a:xfrm>
            <a:off x="1874519" y="3401568"/>
            <a:ext cx="8412480" cy="566928"/>
          </a:xfrm>
          <a:prstGeom prst="rect">
            <a:avLst/>
          </a:prstGeom>
          <a:noFill/>
        </p:spPr>
        <p:txBody>
          <a:bodyPr wrap="square" lIns="0" rIns="0" tIns="0" bIns="0" anchor="t">
            <a:spAutoFit/>
          </a:bodyPr>
          <a:lstStyle/>
          <a:p>
            <a:pPr algn="ctr">
              <a:lnSpc>
                <a:spcPct val="110000"/>
              </a:lnSpc>
              <a:spcBef>
                <a:spcPts val="0"/>
              </a:spcBef>
              <a:spcAft>
                <a:spcPts val="0"/>
              </a:spcAft>
            </a:pPr>
            <a:r>
              <a:rPr sz="3200" b="1">
                <a:solidFill>
                  <a:srgbClr val="FFFFFF"/>
                </a:solidFill>
                <a:latin typeface="Georgia"/>
              </a:rPr>
              <a:t>Units and Measurement</a:t>
            </a:r>
          </a:p>
        </p:txBody>
      </p:sp>
      <p:sp>
        <p:nvSpPr>
          <p:cNvPr id="13" name="TextBox 12"/>
          <p:cNvSpPr txBox="1"/>
          <p:nvPr/>
        </p:nvSpPr>
        <p:spPr>
          <a:xfrm>
            <a:off x="1874519" y="3950208"/>
            <a:ext cx="8412480" cy="365760"/>
          </a:xfrm>
          <a:prstGeom prst="rect">
            <a:avLst/>
          </a:prstGeom>
          <a:noFill/>
        </p:spPr>
        <p:txBody>
          <a:bodyPr wrap="square" lIns="0" rIns="0" tIns="0" bIns="0" anchor="t">
            <a:spAutoFit/>
          </a:bodyPr>
          <a:lstStyle/>
          <a:p>
            <a:pPr algn="ctr">
              <a:lnSpc>
                <a:spcPct val="110000"/>
              </a:lnSpc>
              <a:spcBef>
                <a:spcPts val="0"/>
              </a:spcBef>
              <a:spcAft>
                <a:spcPts val="0"/>
              </a:spcAft>
            </a:pPr>
            <a:r>
              <a:rPr sz="1800" b="1">
                <a:solidFill>
                  <a:srgbClr val="FFD646"/>
                </a:solidFill>
                <a:latin typeface="Aptos"/>
              </a:rPr>
              <a:t>Principle of Homogeneity and Applications</a:t>
            </a:r>
          </a:p>
        </p:txBody>
      </p:sp>
      <p:sp>
        <p:nvSpPr>
          <p:cNvPr id="14" name="TextBox 13"/>
          <p:cNvSpPr txBox="1"/>
          <p:nvPr/>
        </p:nvSpPr>
        <p:spPr>
          <a:xfrm>
            <a:off x="594360" y="4828032"/>
            <a:ext cx="1101852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FFFFFF"/>
                </a:solidFill>
                <a:latin typeface="Aptos"/>
              </a:rPr>
              <a:t>By - Excellence Programme</a:t>
            </a:r>
          </a:p>
        </p:txBody>
      </p:sp>
      <p:sp>
        <p:nvSpPr>
          <p:cNvPr id="15" name="TextBox 14"/>
          <p:cNvSpPr txBox="1"/>
          <p:nvPr/>
        </p:nvSpPr>
        <p:spPr>
          <a:xfrm>
            <a:off x="594360" y="5303520"/>
            <a:ext cx="11018520" cy="292608"/>
          </a:xfrm>
          <a:prstGeom prst="rect">
            <a:avLst/>
          </a:prstGeom>
          <a:noFill/>
        </p:spPr>
        <p:txBody>
          <a:bodyPr wrap="square" lIns="0" rIns="0" tIns="0" bIns="0" anchor="t">
            <a:spAutoFit/>
          </a:bodyPr>
          <a:lstStyle/>
          <a:p>
            <a:pPr algn="ctr">
              <a:lnSpc>
                <a:spcPct val="110000"/>
              </a:lnSpc>
              <a:spcBef>
                <a:spcPts val="0"/>
              </a:spcBef>
              <a:spcAft>
                <a:spcPts val="0"/>
              </a:spcAft>
            </a:pPr>
            <a:r>
              <a:rPr sz="1800" b="1">
                <a:solidFill>
                  <a:srgbClr val="B0B6C0"/>
                </a:solidFill>
                <a:latin typeface="Aptos"/>
              </a:rPr>
              <a:t>7 October 2026</a:t>
            </a:r>
          </a:p>
        </p:txBody>
      </p:sp>
      <p:sp>
        <p:nvSpPr>
          <p:cNvPr id="16" name="TextBox 1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94360" y="320040"/>
            <a:ext cx="11018520" cy="585216"/>
          </a:xfrm>
          <a:prstGeom prst="rect">
            <a:avLst/>
          </a:prstGeom>
          <a:noFill/>
        </p:spPr>
        <p:txBody>
          <a:bodyPr wrap="square" lIns="0" rIns="0" tIns="0" bIns="0" anchor="t">
            <a:spAutoFit/>
          </a:bodyPr>
          <a:lstStyle/>
          <a:p>
            <a:pPr algn="l">
              <a:lnSpc>
                <a:spcPct val="110000"/>
              </a:lnSpc>
              <a:spcBef>
                <a:spcPts val="0"/>
              </a:spcBef>
              <a:spcAft>
                <a:spcPts val="0"/>
              </a:spcAft>
            </a:pPr>
            <a:r>
              <a:rPr sz="3200" b="1">
                <a:solidFill>
                  <a:srgbClr val="FFD646"/>
                </a:solidFill>
                <a:latin typeface="Aptos"/>
              </a:rPr>
              <a:t>Topics to be covered</a:t>
            </a:r>
          </a:p>
        </p:txBody>
      </p:sp>
      <p:sp>
        <p:nvSpPr>
          <p:cNvPr id="3" name="Rectangle 2"/>
          <p:cNvSpPr/>
          <p:nvPr/>
        </p:nvSpPr>
        <p:spPr>
          <a:xfrm>
            <a:off x="594360" y="914400"/>
            <a:ext cx="3108960" cy="32004"/>
          </a:xfrm>
          <a:prstGeom prst="rect">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143000"/>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188720"/>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01</a:t>
            </a:r>
          </a:p>
        </p:txBody>
      </p:sp>
      <p:sp>
        <p:nvSpPr>
          <p:cNvPr id="6" name="TextBox 5"/>
          <p:cNvSpPr txBox="1"/>
          <p:nvPr/>
        </p:nvSpPr>
        <p:spPr>
          <a:xfrm>
            <a:off x="1143000" y="1188720"/>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Warm-up theory: why n1 u1 = n2 u2</a:t>
            </a:r>
          </a:p>
        </p:txBody>
      </p:sp>
      <p:sp>
        <p:nvSpPr>
          <p:cNvPr id="7" name="Oval 6"/>
          <p:cNvSpPr/>
          <p:nvPr/>
        </p:nvSpPr>
        <p:spPr>
          <a:xfrm>
            <a:off x="594360" y="1673352"/>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19072"/>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02</a:t>
            </a:r>
          </a:p>
        </p:txBody>
      </p:sp>
      <p:sp>
        <p:nvSpPr>
          <p:cNvPr id="9" name="TextBox 8"/>
          <p:cNvSpPr txBox="1"/>
          <p:nvPr/>
        </p:nvSpPr>
        <p:spPr>
          <a:xfrm>
            <a:off x="1143000" y="1719072"/>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Unitless vs dimensionless (full theory)</a:t>
            </a:r>
          </a:p>
        </p:txBody>
      </p:sp>
      <p:sp>
        <p:nvSpPr>
          <p:cNvPr id="10" name="Oval 9"/>
          <p:cNvSpPr/>
          <p:nvPr/>
        </p:nvSpPr>
        <p:spPr>
          <a:xfrm>
            <a:off x="594360" y="2203704"/>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249424"/>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03</a:t>
            </a:r>
          </a:p>
        </p:txBody>
      </p:sp>
      <p:sp>
        <p:nvSpPr>
          <p:cNvPr id="12" name="TextBox 11"/>
          <p:cNvSpPr txBox="1"/>
          <p:nvPr/>
        </p:nvSpPr>
        <p:spPr>
          <a:xfrm>
            <a:off x="1143000" y="2249424"/>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Principle of homogeneity (paragraphs)</a:t>
            </a:r>
          </a:p>
        </p:txBody>
      </p:sp>
      <p:sp>
        <p:nvSpPr>
          <p:cNvPr id="13" name="Oval 12"/>
          <p:cNvSpPr/>
          <p:nvPr/>
        </p:nvSpPr>
        <p:spPr>
          <a:xfrm>
            <a:off x="594360" y="2734056"/>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779775"/>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04</a:t>
            </a:r>
          </a:p>
        </p:txBody>
      </p:sp>
      <p:sp>
        <p:nvSpPr>
          <p:cNvPr id="15" name="TextBox 14"/>
          <p:cNvSpPr txBox="1"/>
          <p:nvPr/>
        </p:nvSpPr>
        <p:spPr>
          <a:xfrm>
            <a:off x="1143000" y="2779775"/>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Finding dimensions of constants</a:t>
            </a:r>
          </a:p>
        </p:txBody>
      </p:sp>
      <p:sp>
        <p:nvSpPr>
          <p:cNvPr id="16" name="Oval 15"/>
          <p:cNvSpPr/>
          <p:nvPr/>
        </p:nvSpPr>
        <p:spPr>
          <a:xfrm>
            <a:off x="594360" y="3264408"/>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310127"/>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05</a:t>
            </a:r>
          </a:p>
        </p:txBody>
      </p:sp>
      <p:sp>
        <p:nvSpPr>
          <p:cNvPr id="18" name="TextBox 17"/>
          <p:cNvSpPr txBox="1"/>
          <p:nvPr/>
        </p:nvSpPr>
        <p:spPr>
          <a:xfrm>
            <a:off x="1143000" y="3310127"/>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Dimensionless functions (θ, sin, eˣ, log)</a:t>
            </a:r>
          </a:p>
        </p:txBody>
      </p:sp>
      <p:sp>
        <p:nvSpPr>
          <p:cNvPr id="19" name="Oval 18"/>
          <p:cNvSpPr/>
          <p:nvPr/>
        </p:nvSpPr>
        <p:spPr>
          <a:xfrm>
            <a:off x="594360" y="3794760"/>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840480"/>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06</a:t>
            </a:r>
          </a:p>
        </p:txBody>
      </p:sp>
      <p:sp>
        <p:nvSpPr>
          <p:cNvPr id="21" name="TextBox 20"/>
          <p:cNvSpPr txBox="1"/>
          <p:nvPr/>
        </p:nvSpPr>
        <p:spPr>
          <a:xfrm>
            <a:off x="1143000" y="3840480"/>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Derive a formula + limitations</a:t>
            </a:r>
          </a:p>
        </p:txBody>
      </p:sp>
      <p:sp>
        <p:nvSpPr>
          <p:cNvPr id="22" name="Oval 21"/>
          <p:cNvSpPr/>
          <p:nvPr/>
        </p:nvSpPr>
        <p:spPr>
          <a:xfrm>
            <a:off x="594360" y="4325112"/>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370831"/>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07</a:t>
            </a:r>
          </a:p>
        </p:txBody>
      </p:sp>
      <p:sp>
        <p:nvSpPr>
          <p:cNvPr id="24" name="TextBox 23"/>
          <p:cNvSpPr txBox="1"/>
          <p:nvPr/>
        </p:nvSpPr>
        <p:spPr>
          <a:xfrm>
            <a:off x="1143000" y="4370831"/>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Board practice + CBSE write lines</a:t>
            </a:r>
          </a:p>
        </p:txBody>
      </p:sp>
      <p:sp>
        <p:nvSpPr>
          <p:cNvPr id="25" name="TextBox 24"/>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CLASS NOTE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Where we left Units 01</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a:t>
            </a:r>
          </a:p>
        </p:txBody>
      </p:sp>
      <p:sp>
        <p:nvSpPr>
          <p:cNvPr id="7" name="TextBox 6"/>
          <p:cNvSpPr txBox="1"/>
          <p:nvPr/>
        </p:nvSpPr>
        <p:spPr>
          <a:xfrm>
            <a:off x="594360" y="1078992"/>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In Units 01 we learned that a physical quantity is something we can measure. Every measurement is written as a number × a unit. The size of the quantity itself does not change when we change the unit — only the number changes.</a:t>
            </a:r>
          </a:p>
        </p:txBody>
      </p:sp>
      <p:sp>
        <p:nvSpPr>
          <p:cNvPr id="8" name="TextBox 7"/>
          <p:cNvSpPr txBox="1"/>
          <p:nvPr/>
        </p:nvSpPr>
        <p:spPr>
          <a:xfrm>
            <a:off x="594360" y="2450591"/>
            <a:ext cx="11018520" cy="10972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We also wrote dimensions using M, L and T. Today we use those dimensions as a tool: to check equations, to find unknown constants, and to derive the form of a formula.</a:t>
            </a:r>
          </a:p>
        </p:txBody>
      </p:sp>
      <p:sp>
        <p:nvSpPr>
          <p:cNvPr id="9" name="Rectangle 8"/>
          <p:cNvSpPr/>
          <p:nvPr/>
        </p:nvSpPr>
        <p:spPr>
          <a:xfrm>
            <a:off x="594360" y="3730752"/>
            <a:ext cx="11018520" cy="91440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877056"/>
            <a:ext cx="10689336" cy="621792"/>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Today: check equations  ·  find unknown dimensions  ·  derive formulas</a:t>
            </a:r>
          </a:p>
        </p:txBody>
      </p:sp>
      <p:sp>
        <p:nvSpPr>
          <p:cNvPr id="11" name="TextBox 10"/>
          <p:cNvSpPr txBox="1"/>
          <p:nvPr/>
        </p:nvSpPr>
        <p:spPr>
          <a:xfrm>
            <a:off x="594360" y="48737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Class notes will be saved after teaching. This deck is for the 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What dimensional analysis is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Dimensional analysis means studying a physical equation by looking only at the dimensions of each quantity. We do not put numbers first. We ask: do the powers of mass, length and time match on both sides?</a:t>
            </a:r>
          </a:p>
        </p:txBody>
      </p:sp>
      <p:sp>
        <p:nvSpPr>
          <p:cNvPr id="8" name="TextBox 7"/>
          <p:cNvSpPr txBox="1"/>
          <p:nvPr/>
        </p:nvSpPr>
        <p:spPr>
          <a:xfrm>
            <a:off x="594360" y="2496312"/>
            <a:ext cx="11018520" cy="13258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If the dimensions do not match, the equation cannot be correct. If they do match, the equation is dimensionally correct. That does not always mean it is the true physical law — a wrong constant or a missing factor can still hide inside.</a:t>
            </a:r>
          </a:p>
        </p:txBody>
      </p:sp>
      <p:sp>
        <p:nvSpPr>
          <p:cNvPr id="9" name="TextBox 8"/>
          <p:cNvSpPr txBox="1"/>
          <p:nvPr/>
        </p:nvSpPr>
        <p:spPr>
          <a:xfrm>
            <a:off x="594360" y="405079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Dimensions are a filter. They catch many mistakes, but not every mistake.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Why conversion works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The amount of a physical quantity is fixed. When we measure the same amount in a different unit, the number and the unit change together so that their product stays the same. That is why we write n1 u1 = n2 u2.</a:t>
            </a:r>
          </a:p>
        </p:txBody>
      </p:sp>
      <p:sp>
        <p:nvSpPr>
          <p:cNvPr id="8" name="TextBox 7"/>
          <p:cNvSpPr txBox="1"/>
          <p:nvPr/>
        </p:nvSpPr>
        <p:spPr>
          <a:xfrm>
            <a:off x="594360" y="2496312"/>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If the new unit is larger, the number becomes smaller. If the new unit is smaller, the number becomes larger. Density, force, torque — all follow this same idea once you know their dimensions.</a:t>
            </a:r>
          </a:p>
        </p:txBody>
      </p:sp>
      <p:sp>
        <p:nvSpPr>
          <p:cNvPr id="9" name="Rectangle 8"/>
          <p:cNvSpPr/>
          <p:nvPr/>
        </p:nvSpPr>
        <p:spPr>
          <a:xfrm>
            <a:off x="594360" y="395935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10565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980" b="1">
                <a:solidFill>
                  <a:srgbClr val="081E3F"/>
                </a:solidFill>
                <a:latin typeface="Aptos"/>
              </a:rPr>
              <a:t>n1 u1 = n2 u2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Two conversion habits (continued)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a:t>
            </a:r>
          </a:p>
        </p:txBody>
      </p:sp>
      <p:sp>
        <p:nvSpPr>
          <p:cNvPr id="7" name="TextBox 6"/>
          <p:cNvSpPr txBox="1"/>
          <p:nvPr/>
        </p:nvSpPr>
        <p:spPr>
          <a:xfrm>
            <a:off x="594360" y="1078992"/>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Habit A — SI value given, new system asked. Keep the SI number. Replace each SI unit (kg, m, s, …) by how many new-system units fit into it. Then simplify. You are rewriting the same amount in new clothing.</a:t>
            </a:r>
          </a:p>
        </p:txBody>
      </p:sp>
      <p:sp>
        <p:nvSpPr>
          <p:cNvPr id="8" name="TextBox 7"/>
          <p:cNvSpPr txBox="1"/>
          <p:nvPr/>
        </p:nvSpPr>
        <p:spPr>
          <a:xfrm>
            <a:off x="594360" y="2450591"/>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Habit B — find how large one new unit is in SI. Build one new unit from the new mass, length and time using the dimensions of the quantity. Multiply those SI sizes. The result is the SI value of one new unit.</a:t>
            </a:r>
          </a:p>
        </p:txBody>
      </p:sp>
      <p:sp>
        <p:nvSpPr>
          <p:cNvPr id="9" name="TextBox 8"/>
          <p:cNvSpPr txBox="1"/>
          <p:nvPr/>
        </p:nvSpPr>
        <p:spPr>
          <a:xfrm>
            <a:off x="594360" y="391363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Both habits use: the real amount does not change.</a:t>
            </a:r>
          </a:p>
        </p:txBody>
      </p:sp>
      <p:sp>
        <p:nvSpPr>
          <p:cNvPr id="10" name="TextBox 9"/>
          <p:cNvSpPr txBox="1"/>
          <p:nvPr/>
        </p:nvSpPr>
        <p:spPr>
          <a:xfrm>
            <a:off x="594360" y="432511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Always write dimensions first for derived quantities (density, torque,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WARM-UP</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Two conversion habits (board)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8</a:t>
            </a:r>
          </a:p>
        </p:txBody>
      </p:sp>
      <p:sp>
        <p:nvSpPr>
          <p:cNvPr id="7" name="Rounded Rectangle 6"/>
          <p:cNvSpPr/>
          <p:nvPr/>
        </p:nvSpPr>
        <p:spPr>
          <a:xfrm>
            <a:off x="594360" y="1078992"/>
            <a:ext cx="5303520" cy="1371600"/>
          </a:xfrm>
          <a:prstGeom prst="roundRect">
            <a:avLst/>
          </a:prstGeom>
          <a:solidFill>
            <a:srgbClr val="0C0E12"/>
          </a:solidFill>
          <a:ln w="12700">
            <a:solidFill>
              <a:srgbClr val="28B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19"/>
            <a:ext cx="5029200" cy="274320"/>
          </a:xfrm>
          <a:prstGeom prst="rect">
            <a:avLst/>
          </a:prstGeom>
          <a:noFill/>
        </p:spPr>
        <p:txBody>
          <a:bodyPr wrap="square" lIns="0" rIns="0" tIns="0" bIns="0" anchor="t">
            <a:spAutoFit/>
          </a:bodyPr>
          <a:lstStyle/>
          <a:p>
            <a:pPr algn="l">
              <a:lnSpc>
                <a:spcPct val="110000"/>
              </a:lnSpc>
              <a:spcBef>
                <a:spcPts val="0"/>
              </a:spcBef>
              <a:spcAft>
                <a:spcPts val="0"/>
              </a:spcAft>
            </a:pPr>
            <a:r>
              <a:rPr sz="1500" b="1">
                <a:solidFill>
                  <a:srgbClr val="28B4BE"/>
                </a:solidFill>
                <a:latin typeface="Aptos"/>
              </a:rPr>
              <a:t>SI given → new asked</a:t>
            </a:r>
          </a:p>
        </p:txBody>
      </p:sp>
      <p:sp>
        <p:nvSpPr>
          <p:cNvPr id="9" name="TextBox 8"/>
          <p:cNvSpPr txBox="1"/>
          <p:nvPr/>
        </p:nvSpPr>
        <p:spPr>
          <a:xfrm>
            <a:off x="731520" y="1517904"/>
            <a:ext cx="5029200" cy="841248"/>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FFFFFF"/>
                </a:solidFill>
                <a:latin typeface="Aptos"/>
              </a:rPr>
              <a:t>Write SI value. Replace each SI unit by the new unit.</a:t>
            </a:r>
          </a:p>
        </p:txBody>
      </p:sp>
      <p:sp>
        <p:nvSpPr>
          <p:cNvPr id="10" name="Rounded Rectangle 9"/>
          <p:cNvSpPr/>
          <p:nvPr/>
        </p:nvSpPr>
        <p:spPr>
          <a:xfrm>
            <a:off x="6263640" y="1078992"/>
            <a:ext cx="5303520" cy="1371600"/>
          </a:xfrm>
          <a:prstGeom prst="roundRect">
            <a:avLst/>
          </a:prstGeom>
          <a:solidFill>
            <a:srgbClr val="0C0E12"/>
          </a:solidFill>
          <a:ln w="12700">
            <a:solidFill>
              <a:srgbClr val="FF9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188719"/>
            <a:ext cx="5029200" cy="274320"/>
          </a:xfrm>
          <a:prstGeom prst="rect">
            <a:avLst/>
          </a:prstGeom>
          <a:noFill/>
        </p:spPr>
        <p:txBody>
          <a:bodyPr wrap="square" lIns="0" rIns="0" tIns="0" bIns="0" anchor="t">
            <a:spAutoFit/>
          </a:bodyPr>
          <a:lstStyle/>
          <a:p>
            <a:pPr algn="l">
              <a:lnSpc>
                <a:spcPct val="110000"/>
              </a:lnSpc>
              <a:spcBef>
                <a:spcPts val="0"/>
              </a:spcBef>
              <a:spcAft>
                <a:spcPts val="0"/>
              </a:spcAft>
            </a:pPr>
            <a:r>
              <a:rPr sz="1500" b="1">
                <a:solidFill>
                  <a:srgbClr val="FF9E40"/>
                </a:solidFill>
                <a:latin typeface="Aptos"/>
              </a:rPr>
              <a:t>New unit value in SI</a:t>
            </a:r>
          </a:p>
        </p:txBody>
      </p:sp>
      <p:sp>
        <p:nvSpPr>
          <p:cNvPr id="12" name="TextBox 11"/>
          <p:cNvSpPr txBox="1"/>
          <p:nvPr/>
        </p:nvSpPr>
        <p:spPr>
          <a:xfrm>
            <a:off x="6400800" y="1517904"/>
            <a:ext cx="5029200" cy="841248"/>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FFFFFF"/>
                </a:solidFill>
                <a:latin typeface="Aptos"/>
              </a:rPr>
              <a:t>Write 1 new unit using M, L, T. Convert that to SI.</a:t>
            </a:r>
          </a:p>
        </p:txBody>
      </p:sp>
      <p:sp>
        <p:nvSpPr>
          <p:cNvPr id="13" name="TextBox 12"/>
          <p:cNvSpPr txBox="1"/>
          <p:nvPr/>
        </p:nvSpPr>
        <p:spPr>
          <a:xfrm>
            <a:off x="594360" y="27249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Both use the same idea: the actual amount does not change.</a:t>
            </a:r>
          </a:p>
        </p:txBody>
      </p:sp>
      <p:sp>
        <p:nvSpPr>
          <p:cNvPr id="14" name="Rectangle 13"/>
          <p:cNvSpPr/>
          <p:nvPr/>
        </p:nvSpPr>
        <p:spPr>
          <a:xfrm>
            <a:off x="594360" y="3364991"/>
            <a:ext cx="11018520" cy="91440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511296"/>
            <a:ext cx="10689336" cy="621792"/>
          </a:xfrm>
          <a:prstGeom prst="rect">
            <a:avLst/>
          </a:prstGeom>
          <a:noFill/>
        </p:spPr>
        <p:txBody>
          <a:bodyPr wrap="square" lIns="0" rIns="0" tIns="0" bIns="0" anchor="ctr">
            <a:spAutoFit/>
          </a:bodyPr>
          <a:lstStyle/>
          <a:p>
            <a:pPr algn="ctr">
              <a:lnSpc>
                <a:spcPct val="115000"/>
              </a:lnSpc>
              <a:spcBef>
                <a:spcPts val="0"/>
              </a:spcBef>
              <a:spcAft>
                <a:spcPts val="0"/>
              </a:spcAft>
            </a:pPr>
            <a:r>
              <a:rPr sz="1980" b="1">
                <a:solidFill>
                  <a:srgbClr val="081E3F"/>
                </a:solidFill>
                <a:latin typeface="Aptos"/>
              </a:rPr>
              <a:t>n1 u1 = n2 u2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Density in a new system</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9</a:t>
            </a:r>
          </a:p>
        </p:txBody>
      </p:sp>
      <p:sp>
        <p:nvSpPr>
          <p:cNvPr id="7" name="TextBox 6"/>
          <p:cNvSpPr txBox="1"/>
          <p:nvPr/>
        </p:nvSpPr>
        <p:spPr>
          <a:xfrm>
            <a:off x="594360" y="1078992"/>
            <a:ext cx="11018520"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Density is 4 g/cm³. New units: length = 10 cm, mass = 100 g. New density value?</a:t>
            </a:r>
          </a:p>
        </p:txBody>
      </p:sp>
      <p:sp>
        <p:nvSpPr>
          <p:cNvPr id="8" name="Oval 7"/>
          <p:cNvSpPr/>
          <p:nvPr/>
        </p:nvSpPr>
        <p:spPr>
          <a:xfrm>
            <a:off x="594360" y="230428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32257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978408" y="232257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0.04</a:t>
            </a:r>
          </a:p>
        </p:txBody>
      </p:sp>
      <p:sp>
        <p:nvSpPr>
          <p:cNvPr id="11" name="Oval 10"/>
          <p:cNvSpPr/>
          <p:nvPr/>
        </p:nvSpPr>
        <p:spPr>
          <a:xfrm>
            <a:off x="594360" y="267004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833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978408" y="268833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0.4</a:t>
            </a:r>
          </a:p>
        </p:txBody>
      </p:sp>
      <p:sp>
        <p:nvSpPr>
          <p:cNvPr id="14" name="Oval 13"/>
          <p:cNvSpPr/>
          <p:nvPr/>
        </p:nvSpPr>
        <p:spPr>
          <a:xfrm>
            <a:off x="594360" y="303580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5409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978408" y="305409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40</a:t>
            </a:r>
          </a:p>
        </p:txBody>
      </p:sp>
      <p:sp>
        <p:nvSpPr>
          <p:cNvPr id="17" name="Oval 16"/>
          <p:cNvSpPr/>
          <p:nvPr/>
        </p:nvSpPr>
        <p:spPr>
          <a:xfrm>
            <a:off x="594360" y="340156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1985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978408" y="341985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400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Density in a new system</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10</a:t>
            </a:r>
          </a:p>
        </p:txBody>
      </p:sp>
      <p:sp>
        <p:nvSpPr>
          <p:cNvPr id="7" name="TextBox 6"/>
          <p:cNvSpPr txBox="1"/>
          <p:nvPr/>
        </p:nvSpPr>
        <p:spPr>
          <a:xfrm>
            <a:off x="594360" y="107899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rewrite 4 g/cm³ using the new mass and new length.</a:t>
            </a:r>
          </a:p>
        </p:txBody>
      </p:sp>
      <p:sp>
        <p:nvSpPr>
          <p:cNvPr id="8" name="TextBox 7"/>
          <p:cNvSpPr txBox="1"/>
          <p:nvPr/>
        </p:nvSpPr>
        <p:spPr>
          <a:xfrm>
            <a:off x="594360" y="14904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1:  New mass is bigger: 1 new mass = 100 g  ⇒  1 g = 1/100 new mass</a:t>
            </a:r>
          </a:p>
        </p:txBody>
      </p:sp>
      <p:sp>
        <p:nvSpPr>
          <p:cNvPr id="9" name="TextBox 8"/>
          <p:cNvSpPr txBox="1"/>
          <p:nvPr/>
        </p:nvSpPr>
        <p:spPr>
          <a:xfrm>
            <a:off x="594360" y="20391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2:  New length is bigger: 1 new length = 10 cm  ⇒  1 cm = 1/10 new length</a:t>
            </a:r>
          </a:p>
        </p:txBody>
      </p:sp>
      <p:sp>
        <p:nvSpPr>
          <p:cNvPr id="10" name="TextBox 9"/>
          <p:cNvSpPr txBox="1"/>
          <p:nvPr/>
        </p:nvSpPr>
        <p:spPr>
          <a:xfrm>
            <a:off x="594360" y="258775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3:  Density = mass / length³ = 4 × (1/100) ÷ (1/10)³</a:t>
            </a:r>
          </a:p>
        </p:txBody>
      </p:sp>
      <p:sp>
        <p:nvSpPr>
          <p:cNvPr id="11" name="TextBox 10"/>
          <p:cNvSpPr txBox="1"/>
          <p:nvPr/>
        </p:nvSpPr>
        <p:spPr>
          <a:xfrm>
            <a:off x="594360" y="31363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4: = 4 × (1/100) × 1000 = 40</a:t>
            </a:r>
          </a:p>
        </p:txBody>
      </p:sp>
      <p:sp>
        <p:nvSpPr>
          <p:cNvPr id="12" name="TextBox 11"/>
          <p:cNvSpPr txBox="1"/>
          <p:nvPr/>
        </p:nvSpPr>
        <p:spPr>
          <a:xfrm>
            <a:off x="594360" y="36850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New unit of torque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11</a:t>
            </a:r>
          </a:p>
        </p:txBody>
      </p:sp>
      <p:sp>
        <p:nvSpPr>
          <p:cNvPr id="7" name="TextBox 6"/>
          <p:cNvSpPr txBox="1"/>
          <p:nvPr/>
        </p:nvSpPr>
        <p:spPr>
          <a:xfrm>
            <a:off x="594360" y="1078992"/>
            <a:ext cx="11018520" cy="10515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New system: length = 10 m, time = 2 s, mass = 5 kg. Find 1 new unit of torque in SI.</a:t>
            </a:r>
          </a:p>
        </p:txBody>
      </p:sp>
      <p:sp>
        <p:nvSpPr>
          <p:cNvPr id="8" name="Oval 7"/>
          <p:cNvSpPr/>
          <p:nvPr/>
        </p:nvSpPr>
        <p:spPr>
          <a:xfrm>
            <a:off x="594360" y="230428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32257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978408" y="232257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125 N m</a:t>
            </a:r>
          </a:p>
        </p:txBody>
      </p:sp>
      <p:sp>
        <p:nvSpPr>
          <p:cNvPr id="11" name="Oval 10"/>
          <p:cNvSpPr/>
          <p:nvPr/>
        </p:nvSpPr>
        <p:spPr>
          <a:xfrm>
            <a:off x="594360" y="267004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833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978408" y="268833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0.125 N m</a:t>
            </a:r>
          </a:p>
        </p:txBody>
      </p:sp>
      <p:sp>
        <p:nvSpPr>
          <p:cNvPr id="14" name="Oval 13"/>
          <p:cNvSpPr/>
          <p:nvPr/>
        </p:nvSpPr>
        <p:spPr>
          <a:xfrm>
            <a:off x="594360" y="303580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5409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978408" y="305409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8 N m</a:t>
            </a:r>
          </a:p>
        </p:txBody>
      </p:sp>
      <p:sp>
        <p:nvSpPr>
          <p:cNvPr id="17" name="Oval 16"/>
          <p:cNvSpPr/>
          <p:nvPr/>
        </p:nvSpPr>
        <p:spPr>
          <a:xfrm>
            <a:off x="594360" y="340156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1985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978408" y="341985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8 × 10⁻³ N 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New unit of torque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12</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one new torque unit = (new mass)(new length)² / (new time)².</a:t>
            </a:r>
          </a:p>
        </p:txBody>
      </p:sp>
      <p:sp>
        <p:nvSpPr>
          <p:cNvPr id="8" name="TextBox 7"/>
          <p:cNvSpPr txBox="1"/>
          <p:nvPr/>
        </p:nvSpPr>
        <p:spPr>
          <a:xfrm>
            <a:off x="594360" y="151790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Torque has the same dimensions as energy: M L² T⁻²</a:t>
            </a:r>
          </a:p>
        </p:txBody>
      </p:sp>
      <p:sp>
        <p:nvSpPr>
          <p:cNvPr id="9" name="TextBox 8"/>
          <p:cNvSpPr txBox="1"/>
          <p:nvPr/>
        </p:nvSpPr>
        <p:spPr>
          <a:xfrm>
            <a:off x="594360" y="206654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Put the new values: 5 kg × (10 m)² / (2 s)²</a:t>
            </a:r>
          </a:p>
        </p:txBody>
      </p:sp>
      <p:sp>
        <p:nvSpPr>
          <p:cNvPr id="10" name="TextBox 9"/>
          <p:cNvSpPr txBox="1"/>
          <p:nvPr/>
        </p:nvSpPr>
        <p:spPr>
          <a:xfrm>
            <a:off x="594360" y="261518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3: = 5 × 100 / 4 = 125</a:t>
            </a:r>
          </a:p>
        </p:txBody>
      </p:sp>
      <p:sp>
        <p:nvSpPr>
          <p:cNvPr id="11" name="TextBox 10"/>
          <p:cNvSpPr txBox="1"/>
          <p:nvPr/>
        </p:nvSpPr>
        <p:spPr>
          <a:xfrm>
            <a:off x="594360" y="3163824"/>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125 N 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Unitless and dimensionless — two floors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14</a:t>
            </a:r>
          </a:p>
        </p:txBody>
      </p:sp>
      <p:sp>
        <p:nvSpPr>
          <p:cNvPr id="7" name="TextBox 6"/>
          <p:cNvSpPr txBox="1"/>
          <p:nvPr/>
        </p:nvSpPr>
        <p:spPr>
          <a:xfrm>
            <a:off x="594360" y="1078992"/>
            <a:ext cx="11018520" cy="14173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Students often mix two words: unitless and dimensionless. They sound alike, but they live on different floors of the same building. Floor 1 is the unit — the name we write after the number. Floor 2 is the dimension — the powers of M, L and T hidden inside the quantity.</a:t>
            </a:r>
          </a:p>
        </p:txBody>
      </p:sp>
      <p:sp>
        <p:nvSpPr>
          <p:cNvPr id="8" name="TextBox 7"/>
          <p:cNvSpPr txBox="1"/>
          <p:nvPr/>
        </p:nvSpPr>
        <p:spPr>
          <a:xfrm>
            <a:off x="594360" y="263347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Unitless means we do not write a unit after the number. Dimensionless means every power is zero: M⁰ L⁰ T⁰. These two ideas can travel together, but they are not forced to stay together.</a:t>
            </a:r>
          </a:p>
        </p:txBody>
      </p:sp>
      <p:sp>
        <p:nvSpPr>
          <p:cNvPr id="9" name="TextBox 8"/>
          <p:cNvSpPr txBox="1"/>
          <p:nvPr/>
        </p:nvSpPr>
        <p:spPr>
          <a:xfrm>
            <a:off x="594360" y="41422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Learn both words separately. Do not treat them as synonyms.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Unitless and dimensionless (continued)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15</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If a quantity is unitless, it must also be dimensionless. There is nowhere for a hidden M, L or T to hide if there is no unit at all. Strain and refractive index are common examples: they are pure numbers.</a:t>
            </a:r>
          </a:p>
        </p:txBody>
      </p:sp>
      <p:sp>
        <p:nvSpPr>
          <p:cNvPr id="8" name="TextBox 7"/>
          <p:cNvSpPr txBox="1"/>
          <p:nvPr/>
        </p:nvSpPr>
        <p:spPr>
          <a:xfrm>
            <a:off x="594360" y="2496312"/>
            <a:ext cx="11018520" cy="13258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The reverse is not always true. A quantity can be dimensionless and still have a unit. Plane angle is the best school example. Its dimension is none, but its SI unit is radian. Degree is another unit of the same dimensionless quantity.</a:t>
            </a:r>
          </a:p>
        </p:txBody>
      </p:sp>
      <p:sp>
        <p:nvSpPr>
          <p:cNvPr id="9" name="Rectangle 8"/>
          <p:cNvSpPr/>
          <p:nvPr/>
        </p:nvSpPr>
        <p:spPr>
          <a:xfrm>
            <a:off x="594360" y="400507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15137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530" b="1">
                <a:solidFill>
                  <a:srgbClr val="081E3F"/>
                </a:solidFill>
                <a:latin typeface="Aptos"/>
              </a:rPr>
              <a:t>Angle has a unit (radian) but no dimension.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What follows from what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16</a:t>
            </a:r>
          </a:p>
        </p:txBody>
      </p:sp>
      <p:sp>
        <p:nvSpPr>
          <p:cNvPr id="7" name="TextBox 6"/>
          <p:cNvSpPr txBox="1"/>
          <p:nvPr/>
        </p:nvSpPr>
        <p:spPr>
          <a:xfrm>
            <a:off x="594360" y="1078992"/>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Has dimension ⇒ must have a unit. If mass, length or time appear in the formula, we need a unit to measure that quantity. You cannot measure force without newton (or dyne, or some other force unit).</a:t>
            </a:r>
          </a:p>
        </p:txBody>
      </p:sp>
      <p:sp>
        <p:nvSpPr>
          <p:cNvPr id="8" name="TextBox 7"/>
          <p:cNvSpPr txBox="1"/>
          <p:nvPr/>
        </p:nvSpPr>
        <p:spPr>
          <a:xfrm>
            <a:off x="594360" y="2450591"/>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Has a unit ⇒ may or may not have a dimension. Angle has a unit. Force has a unit. Only force has a dimension in the M-L-T sense. So writing a unit does not automatically create a dimension.</a:t>
            </a:r>
          </a:p>
        </p:txBody>
      </p:sp>
      <p:sp>
        <p:nvSpPr>
          <p:cNvPr id="9" name="TextBox 8"/>
          <p:cNvSpPr txBox="1"/>
          <p:nvPr/>
        </p:nvSpPr>
        <p:spPr>
          <a:xfrm>
            <a:off x="594360" y="39136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Unitless ⇒ dimensionless (always).</a:t>
            </a:r>
          </a:p>
        </p:txBody>
      </p:sp>
      <p:sp>
        <p:nvSpPr>
          <p:cNvPr id="10" name="TextBox 9"/>
          <p:cNvSpPr txBox="1"/>
          <p:nvPr/>
        </p:nvSpPr>
        <p:spPr>
          <a:xfrm>
            <a:off x="594360" y="43251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Dimension ⇒ unit (always).</a:t>
            </a:r>
          </a:p>
        </p:txBody>
      </p:sp>
      <p:sp>
        <p:nvSpPr>
          <p:cNvPr id="11" name="TextBox 10"/>
          <p:cNvSpPr txBox="1"/>
          <p:nvPr/>
        </p:nvSpPr>
        <p:spPr>
          <a:xfrm>
            <a:off x="594360" y="47365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Unit ⇒ dimension? Not always. Angle is the counter-example.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CBSE WRITE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True / false lines (copy)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17</a:t>
            </a:r>
          </a:p>
        </p:txBody>
      </p:sp>
      <p:sp>
        <p:nvSpPr>
          <p:cNvPr id="7" name="TextBox 6"/>
          <p:cNvSpPr txBox="1"/>
          <p:nvPr/>
        </p:nvSpPr>
        <p:spPr>
          <a:xfrm>
            <a:off x="594360" y="1078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A unitless quantity may have dimension.  → False</a:t>
            </a:r>
          </a:p>
        </p:txBody>
      </p:sp>
      <p:sp>
        <p:nvSpPr>
          <p:cNvPr id="8" name="TextBox 7"/>
          <p:cNvSpPr txBox="1"/>
          <p:nvPr/>
        </p:nvSpPr>
        <p:spPr>
          <a:xfrm>
            <a:off x="594360" y="15819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A dimensionless quantity may be unitless.  → True  (μ, strain)</a:t>
            </a:r>
          </a:p>
        </p:txBody>
      </p:sp>
      <p:sp>
        <p:nvSpPr>
          <p:cNvPr id="9" name="TextBox 8"/>
          <p:cNvSpPr txBox="1"/>
          <p:nvPr/>
        </p:nvSpPr>
        <p:spPr>
          <a:xfrm>
            <a:off x="594360" y="20848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 A quantity that has a unit must have a dimension.  → False  (angle)</a:t>
            </a:r>
          </a:p>
        </p:txBody>
      </p:sp>
      <p:sp>
        <p:nvSpPr>
          <p:cNvPr id="10" name="TextBox 9"/>
          <p:cNvSpPr txBox="1"/>
          <p:nvPr/>
        </p:nvSpPr>
        <p:spPr>
          <a:xfrm>
            <a:off x="594360" y="25877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A quantity that has a dimension must have a unit.  → True</a:t>
            </a:r>
          </a:p>
        </p:txBody>
      </p:sp>
      <p:sp>
        <p:nvSpPr>
          <p:cNvPr id="11" name="Rectangle 10"/>
          <p:cNvSpPr/>
          <p:nvPr/>
        </p:nvSpPr>
        <p:spPr>
          <a:xfrm>
            <a:off x="594360" y="3227832"/>
            <a:ext cx="11018520" cy="100584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374136"/>
            <a:ext cx="10689336" cy="71323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Has dimension ⇒ must have unit.   Unitless ⇒ must be dimensionless.</a:t>
            </a:r>
          </a:p>
        </p:txBody>
      </p:sp>
      <p:sp>
        <p:nvSpPr>
          <p:cNvPr id="13" name="TextBox 12"/>
          <p:cNvSpPr txBox="1"/>
          <p:nvPr/>
        </p:nvSpPr>
        <p:spPr>
          <a:xfrm>
            <a:off x="594360" y="44622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Best CBSE example: plane angle. Unit = radian. Dimension = none.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COPY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Decision table (easy)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19</a:t>
            </a:r>
          </a:p>
        </p:txBody>
      </p:sp>
      <p:sp>
        <p:nvSpPr>
          <p:cNvPr id="7" name="Rectangle 6"/>
          <p:cNvSpPr/>
          <p:nvPr/>
        </p:nvSpPr>
        <p:spPr>
          <a:xfrm>
            <a:off x="594360" y="1078992"/>
            <a:ext cx="5029200" cy="502920"/>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078992"/>
            <a:ext cx="4956048" cy="502920"/>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FFFFFF"/>
                </a:solidFill>
                <a:latin typeface="Aptos"/>
              </a:rPr>
              <a:t>If you know…</a:t>
            </a:r>
          </a:p>
        </p:txBody>
      </p:sp>
      <p:sp>
        <p:nvSpPr>
          <p:cNvPr id="9" name="Rectangle 8"/>
          <p:cNvSpPr/>
          <p:nvPr/>
        </p:nvSpPr>
        <p:spPr>
          <a:xfrm>
            <a:off x="5623560" y="1078992"/>
            <a:ext cx="5943600" cy="502920"/>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0136" y="1078992"/>
            <a:ext cx="5870448" cy="502920"/>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FFFFFF"/>
                </a:solidFill>
                <a:latin typeface="Aptos"/>
              </a:rPr>
              <a:t>Then…</a:t>
            </a:r>
          </a:p>
        </p:txBody>
      </p:sp>
      <p:sp>
        <p:nvSpPr>
          <p:cNvPr id="11" name="Rectangle 10"/>
          <p:cNvSpPr/>
          <p:nvPr/>
        </p:nvSpPr>
        <p:spPr>
          <a:xfrm>
            <a:off x="594360" y="1581912"/>
            <a:ext cx="5029200" cy="50292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1581912"/>
            <a:ext cx="4956048" cy="502920"/>
          </a:xfrm>
          <a:prstGeom prst="rect">
            <a:avLst/>
          </a:prstGeom>
          <a:noFill/>
        </p:spPr>
        <p:txBody>
          <a:bodyPr wrap="square" lIns="0" rIns="0" tIns="0" bIns="0" anchor="ctr">
            <a:spAutoFit/>
          </a:bodyPr>
          <a:lstStyle/>
          <a:p>
            <a:pPr algn="ctr">
              <a:lnSpc>
                <a:spcPct val="110000"/>
              </a:lnSpc>
              <a:spcBef>
                <a:spcPts val="0"/>
              </a:spcBef>
              <a:spcAft>
                <a:spcPts val="0"/>
              </a:spcAft>
            </a:pPr>
            <a:r>
              <a:rPr sz="1600" b="1">
                <a:solidFill>
                  <a:srgbClr val="5AC8FF"/>
                </a:solidFill>
                <a:latin typeface="Aptos"/>
              </a:rPr>
              <a:t>no unit (unitless)</a:t>
            </a:r>
          </a:p>
        </p:txBody>
      </p:sp>
      <p:sp>
        <p:nvSpPr>
          <p:cNvPr id="13" name="Rectangle 12"/>
          <p:cNvSpPr/>
          <p:nvPr/>
        </p:nvSpPr>
        <p:spPr>
          <a:xfrm>
            <a:off x="5623560" y="1581912"/>
            <a:ext cx="5943600" cy="50292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0136" y="1581912"/>
            <a:ext cx="5870448" cy="502920"/>
          </a:xfrm>
          <a:prstGeom prst="rect">
            <a:avLst/>
          </a:prstGeom>
          <a:noFill/>
        </p:spPr>
        <p:txBody>
          <a:bodyPr wrap="square" lIns="0" rIns="0" tIns="0" bIns="0" anchor="ctr">
            <a:spAutoFit/>
          </a:bodyPr>
          <a:lstStyle/>
          <a:p>
            <a:pPr algn="ctr">
              <a:lnSpc>
                <a:spcPct val="110000"/>
              </a:lnSpc>
              <a:spcBef>
                <a:spcPts val="0"/>
              </a:spcBef>
              <a:spcAft>
                <a:spcPts val="0"/>
              </a:spcAft>
            </a:pPr>
            <a:r>
              <a:rPr sz="1600" b="0">
                <a:solidFill>
                  <a:srgbClr val="FFFFFF"/>
                </a:solidFill>
                <a:latin typeface="Aptos"/>
              </a:rPr>
              <a:t>must be dimensionless</a:t>
            </a:r>
          </a:p>
        </p:txBody>
      </p:sp>
      <p:sp>
        <p:nvSpPr>
          <p:cNvPr id="15" name="Rectangle 14"/>
          <p:cNvSpPr/>
          <p:nvPr/>
        </p:nvSpPr>
        <p:spPr>
          <a:xfrm>
            <a:off x="594360" y="2084832"/>
            <a:ext cx="5029200" cy="50292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 y="2084832"/>
            <a:ext cx="4956048" cy="502920"/>
          </a:xfrm>
          <a:prstGeom prst="rect">
            <a:avLst/>
          </a:prstGeom>
          <a:noFill/>
        </p:spPr>
        <p:txBody>
          <a:bodyPr wrap="square" lIns="0" rIns="0" tIns="0" bIns="0" anchor="ctr">
            <a:spAutoFit/>
          </a:bodyPr>
          <a:lstStyle/>
          <a:p>
            <a:pPr algn="ctr">
              <a:lnSpc>
                <a:spcPct val="110000"/>
              </a:lnSpc>
              <a:spcBef>
                <a:spcPts val="0"/>
              </a:spcBef>
              <a:spcAft>
                <a:spcPts val="0"/>
              </a:spcAft>
            </a:pPr>
            <a:r>
              <a:rPr sz="1600" b="1">
                <a:solidFill>
                  <a:srgbClr val="5AC8FF"/>
                </a:solidFill>
                <a:latin typeface="Aptos"/>
              </a:rPr>
              <a:t>has a unit</a:t>
            </a:r>
          </a:p>
        </p:txBody>
      </p:sp>
      <p:sp>
        <p:nvSpPr>
          <p:cNvPr id="17" name="Rectangle 16"/>
          <p:cNvSpPr/>
          <p:nvPr/>
        </p:nvSpPr>
        <p:spPr>
          <a:xfrm>
            <a:off x="5623560" y="2084832"/>
            <a:ext cx="5943600" cy="50292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0136" y="2084832"/>
            <a:ext cx="5870448" cy="502920"/>
          </a:xfrm>
          <a:prstGeom prst="rect">
            <a:avLst/>
          </a:prstGeom>
          <a:noFill/>
        </p:spPr>
        <p:txBody>
          <a:bodyPr wrap="square" lIns="0" rIns="0" tIns="0" bIns="0" anchor="ctr">
            <a:spAutoFit/>
          </a:bodyPr>
          <a:lstStyle/>
          <a:p>
            <a:pPr algn="ctr">
              <a:lnSpc>
                <a:spcPct val="110000"/>
              </a:lnSpc>
              <a:spcBef>
                <a:spcPts val="0"/>
              </a:spcBef>
              <a:spcAft>
                <a:spcPts val="0"/>
              </a:spcAft>
            </a:pPr>
            <a:r>
              <a:rPr sz="1600" b="0">
                <a:solidFill>
                  <a:srgbClr val="FFFFFF"/>
                </a:solidFill>
                <a:latin typeface="Aptos"/>
              </a:rPr>
              <a:t>may or may not have dimension</a:t>
            </a:r>
          </a:p>
        </p:txBody>
      </p:sp>
      <p:sp>
        <p:nvSpPr>
          <p:cNvPr id="19" name="Rectangle 18"/>
          <p:cNvSpPr/>
          <p:nvPr/>
        </p:nvSpPr>
        <p:spPr>
          <a:xfrm>
            <a:off x="594360" y="2587752"/>
            <a:ext cx="5029200" cy="50292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587752"/>
            <a:ext cx="4956048" cy="502920"/>
          </a:xfrm>
          <a:prstGeom prst="rect">
            <a:avLst/>
          </a:prstGeom>
          <a:noFill/>
        </p:spPr>
        <p:txBody>
          <a:bodyPr wrap="square" lIns="0" rIns="0" tIns="0" bIns="0" anchor="ctr">
            <a:spAutoFit/>
          </a:bodyPr>
          <a:lstStyle/>
          <a:p>
            <a:pPr algn="ctr">
              <a:lnSpc>
                <a:spcPct val="110000"/>
              </a:lnSpc>
              <a:spcBef>
                <a:spcPts val="0"/>
              </a:spcBef>
              <a:spcAft>
                <a:spcPts val="0"/>
              </a:spcAft>
            </a:pPr>
            <a:r>
              <a:rPr sz="1600" b="1">
                <a:solidFill>
                  <a:srgbClr val="5AC8FF"/>
                </a:solidFill>
                <a:latin typeface="Aptos"/>
              </a:rPr>
              <a:t>no dimension</a:t>
            </a:r>
          </a:p>
        </p:txBody>
      </p:sp>
      <p:sp>
        <p:nvSpPr>
          <p:cNvPr id="21" name="Rectangle 20"/>
          <p:cNvSpPr/>
          <p:nvPr/>
        </p:nvSpPr>
        <p:spPr>
          <a:xfrm>
            <a:off x="5623560" y="2587752"/>
            <a:ext cx="5943600" cy="50292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0136" y="2587752"/>
            <a:ext cx="5870448" cy="502920"/>
          </a:xfrm>
          <a:prstGeom prst="rect">
            <a:avLst/>
          </a:prstGeom>
          <a:noFill/>
        </p:spPr>
        <p:txBody>
          <a:bodyPr wrap="square" lIns="0" rIns="0" tIns="0" bIns="0" anchor="ctr">
            <a:spAutoFit/>
          </a:bodyPr>
          <a:lstStyle/>
          <a:p>
            <a:pPr algn="ctr">
              <a:lnSpc>
                <a:spcPct val="110000"/>
              </a:lnSpc>
              <a:spcBef>
                <a:spcPts val="0"/>
              </a:spcBef>
              <a:spcAft>
                <a:spcPts val="0"/>
              </a:spcAft>
            </a:pPr>
            <a:r>
              <a:rPr sz="1600" b="0">
                <a:solidFill>
                  <a:srgbClr val="FFFFFF"/>
                </a:solidFill>
                <a:latin typeface="Aptos"/>
              </a:rPr>
              <a:t>may or may not have a unit</a:t>
            </a:r>
          </a:p>
        </p:txBody>
      </p:sp>
      <p:sp>
        <p:nvSpPr>
          <p:cNvPr id="23" name="Rectangle 22"/>
          <p:cNvSpPr/>
          <p:nvPr/>
        </p:nvSpPr>
        <p:spPr>
          <a:xfrm>
            <a:off x="594360" y="3090672"/>
            <a:ext cx="5029200" cy="50292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3090672"/>
            <a:ext cx="4956048" cy="502920"/>
          </a:xfrm>
          <a:prstGeom prst="rect">
            <a:avLst/>
          </a:prstGeom>
          <a:noFill/>
        </p:spPr>
        <p:txBody>
          <a:bodyPr wrap="square" lIns="0" rIns="0" tIns="0" bIns="0" anchor="ctr">
            <a:spAutoFit/>
          </a:bodyPr>
          <a:lstStyle/>
          <a:p>
            <a:pPr algn="ctr">
              <a:lnSpc>
                <a:spcPct val="110000"/>
              </a:lnSpc>
              <a:spcBef>
                <a:spcPts val="0"/>
              </a:spcBef>
              <a:spcAft>
                <a:spcPts val="0"/>
              </a:spcAft>
            </a:pPr>
            <a:r>
              <a:rPr sz="1600" b="1">
                <a:solidFill>
                  <a:srgbClr val="5AC8FF"/>
                </a:solidFill>
                <a:latin typeface="Aptos"/>
              </a:rPr>
              <a:t>has dimension</a:t>
            </a:r>
          </a:p>
        </p:txBody>
      </p:sp>
      <p:sp>
        <p:nvSpPr>
          <p:cNvPr id="25" name="Rectangle 24"/>
          <p:cNvSpPr/>
          <p:nvPr/>
        </p:nvSpPr>
        <p:spPr>
          <a:xfrm>
            <a:off x="5623560" y="3090672"/>
            <a:ext cx="5943600" cy="50292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0136" y="3090672"/>
            <a:ext cx="5870448" cy="502920"/>
          </a:xfrm>
          <a:prstGeom prst="rect">
            <a:avLst/>
          </a:prstGeom>
          <a:noFill/>
        </p:spPr>
        <p:txBody>
          <a:bodyPr wrap="square" lIns="0" rIns="0" tIns="0" bIns="0" anchor="ctr">
            <a:spAutoFit/>
          </a:bodyPr>
          <a:lstStyle/>
          <a:p>
            <a:pPr algn="ctr">
              <a:lnSpc>
                <a:spcPct val="110000"/>
              </a:lnSpc>
              <a:spcBef>
                <a:spcPts val="0"/>
              </a:spcBef>
              <a:spcAft>
                <a:spcPts val="0"/>
              </a:spcAft>
            </a:pPr>
            <a:r>
              <a:rPr sz="1600" b="0">
                <a:solidFill>
                  <a:srgbClr val="FFFFFF"/>
                </a:solidFill>
                <a:latin typeface="Aptos"/>
              </a:rPr>
              <a:t>must have a unit</a:t>
            </a:r>
          </a:p>
        </p:txBody>
      </p:sp>
      <p:sp>
        <p:nvSpPr>
          <p:cNvPr id="27" name="TextBox 26"/>
          <p:cNvSpPr txBox="1"/>
          <p:nvPr/>
        </p:nvSpPr>
        <p:spPr>
          <a:xfrm>
            <a:off x="594360" y="373075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Floor 1 = unit. Floor 2 = dimension. Unit can exist without dimension.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Principle of homogeneity — meaning</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20</a:t>
            </a:r>
          </a:p>
        </p:txBody>
      </p:sp>
      <p:sp>
        <p:nvSpPr>
          <p:cNvPr id="7" name="TextBox 6"/>
          <p:cNvSpPr txBox="1"/>
          <p:nvPr/>
        </p:nvSpPr>
        <p:spPr>
          <a:xfrm>
            <a:off x="594360" y="1078992"/>
            <a:ext cx="11018520" cy="13716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The principle of homogeneity says that in any correct physical equation, every term that is added, subtracted or compared must have the same dimensions. Left side and right side must also match. Nature does not add metres to kilograms.</a:t>
            </a:r>
          </a:p>
        </p:txBody>
      </p:sp>
      <p:sp>
        <p:nvSpPr>
          <p:cNvPr id="8" name="TextBox 7"/>
          <p:cNvSpPr txBox="1"/>
          <p:nvPr/>
        </p:nvSpPr>
        <p:spPr>
          <a:xfrm>
            <a:off x="594360" y="2587752"/>
            <a:ext cx="11018520" cy="11887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Think of dimensions as the "type" of a quantity. You may multiply or divide different types and get a new type. You may not add different types. That is the whole rule in one sentence.</a:t>
            </a:r>
          </a:p>
        </p:txBody>
      </p:sp>
      <p:sp>
        <p:nvSpPr>
          <p:cNvPr id="9" name="Rectangle 8"/>
          <p:cNvSpPr/>
          <p:nvPr/>
        </p:nvSpPr>
        <p:spPr>
          <a:xfrm>
            <a:off x="594360" y="395935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10565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In any correct equation, every term must have the same dimensions.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Principle of homogeneity (continued)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21</a:t>
            </a:r>
          </a:p>
        </p:txBody>
      </p:sp>
      <p:sp>
        <p:nvSpPr>
          <p:cNvPr id="7" name="TextBox 6"/>
          <p:cNvSpPr txBox="1"/>
          <p:nvPr/>
        </p:nvSpPr>
        <p:spPr>
          <a:xfrm>
            <a:off x="594360" y="1078992"/>
            <a:ext cx="11018520" cy="14173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Why does this rule exist? Because an equation is a statement about equality of physical amounts. Two sides can be equal only if they are the same kind of thing. Force equals mass × acceleration — both sides are M L T⁻². Force cannot equal pressure, because pressure is force per area.</a:t>
            </a:r>
          </a:p>
        </p:txBody>
      </p:sp>
      <p:sp>
        <p:nvSpPr>
          <p:cNvPr id="8" name="TextBox 7"/>
          <p:cNvSpPr txBox="1"/>
          <p:nvPr/>
        </p:nvSpPr>
        <p:spPr>
          <a:xfrm>
            <a:off x="594360" y="263347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Multiplication and division are allowed for unlike dimensions because they create a new quantity. Speed is length divided by time. Density is mass divided by volume. The new quantity simply carries the combined dimensions.</a:t>
            </a:r>
          </a:p>
        </p:txBody>
      </p:sp>
      <p:sp>
        <p:nvSpPr>
          <p:cNvPr id="9" name="TextBox 8"/>
          <p:cNvSpPr txBox="1"/>
          <p:nvPr/>
        </p:nvSpPr>
        <p:spPr>
          <a:xfrm>
            <a:off x="594360" y="41422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4 kg + 8 m is meaningless. 5 m / 2 s = 2.5 m/s is fine.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What homogeneity allows and forbids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22</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Allowed: add or subtract quantities with the same dimensions. Compare them with &gt; , &lt; or = . Multiply or divide any dimensions. Raise a quantity to a power (the dimensions take that power).</a:t>
            </a:r>
          </a:p>
        </p:txBody>
      </p:sp>
      <p:sp>
        <p:nvSpPr>
          <p:cNvPr id="8" name="TextBox 7"/>
          <p:cNvSpPr txBox="1"/>
          <p:nvPr/>
        </p:nvSpPr>
        <p:spPr>
          <a:xfrm>
            <a:off x="594360" y="2359152"/>
            <a:ext cx="11018520" cy="14173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Forbidden: add force to pressure, add energy to torque as if they were different physical ideas that somehow mix, or write an equation where one side is time and the other is length. Same dimensions do not prove same quantity — work and torque share M L² T⁻² but they are not the same.</a:t>
            </a:r>
          </a:p>
        </p:txBody>
      </p:sp>
      <p:sp>
        <p:nvSpPr>
          <p:cNvPr id="9" name="TextBox 8"/>
          <p:cNvSpPr txBox="1"/>
          <p:nvPr/>
        </p:nvSpPr>
        <p:spPr>
          <a:xfrm>
            <a:off x="594360" y="3959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Same dimensions ⇒ may add / subtract / compare.</a:t>
            </a:r>
          </a:p>
        </p:txBody>
      </p:sp>
      <p:sp>
        <p:nvSpPr>
          <p:cNvPr id="10" name="TextBox 9"/>
          <p:cNvSpPr txBox="1"/>
          <p:nvPr/>
        </p:nvSpPr>
        <p:spPr>
          <a:xfrm>
            <a:off x="594360" y="43708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Same dimensions ≠ same physical quantity.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CBSE WRITE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Principle of homogeneity (3 marks)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23</a:t>
            </a:r>
          </a:p>
        </p:txBody>
      </p:sp>
      <p:sp>
        <p:nvSpPr>
          <p:cNvPr id="7" name="TextBox 6"/>
          <p:cNvSpPr txBox="1"/>
          <p:nvPr/>
        </p:nvSpPr>
        <p:spPr>
          <a:xfrm>
            <a:off x="594360" y="1078992"/>
            <a:ext cx="11018520" cy="10515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Definition: The dimensions of each term on both sides of a physical equation must be the same. This is called the principle of homogeneity of dimensions.</a:t>
            </a:r>
          </a:p>
        </p:txBody>
      </p:sp>
      <p:sp>
        <p:nvSpPr>
          <p:cNvPr id="8" name="TextBox 7"/>
          <p:cNvSpPr txBox="1"/>
          <p:nvPr/>
        </p:nvSpPr>
        <p:spPr>
          <a:xfrm>
            <a:off x="594360" y="22677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Use 1: Check if a formula is dimensionally correct.</a:t>
            </a:r>
          </a:p>
        </p:txBody>
      </p:sp>
      <p:sp>
        <p:nvSpPr>
          <p:cNvPr id="9" name="TextBox 8"/>
          <p:cNvSpPr txBox="1"/>
          <p:nvPr/>
        </p:nvSpPr>
        <p:spPr>
          <a:xfrm>
            <a:off x="594360" y="26791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Use 2: Find dimensions of unknown constants in an equation.</a:t>
            </a:r>
          </a:p>
        </p:txBody>
      </p:sp>
      <p:sp>
        <p:nvSpPr>
          <p:cNvPr id="10" name="TextBox 9"/>
          <p:cNvSpPr txBox="1"/>
          <p:nvPr/>
        </p:nvSpPr>
        <p:spPr>
          <a:xfrm>
            <a:off x="594360" y="31363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Use 3: Derive the form of a formula (pendulum, later chapters).</a:t>
            </a:r>
          </a:p>
        </p:txBody>
      </p:sp>
      <p:sp>
        <p:nvSpPr>
          <p:cNvPr id="11" name="Rectangle 10"/>
          <p:cNvSpPr/>
          <p:nvPr/>
        </p:nvSpPr>
        <p:spPr>
          <a:xfrm>
            <a:off x="594360" y="3730752"/>
            <a:ext cx="11018520" cy="91440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877056"/>
            <a:ext cx="10689336" cy="621792"/>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Same dimensions on every + or − term. That is the whole idea.</a:t>
            </a:r>
          </a:p>
        </p:txBody>
      </p:sp>
      <p:sp>
        <p:nvSpPr>
          <p:cNvPr id="13" name="TextBox 12"/>
          <p:cNvSpPr txBox="1"/>
          <p:nvPr/>
        </p:nvSpPr>
        <p:spPr>
          <a:xfrm>
            <a:off x="594360" y="48737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Dimensionally correct does not always mean physically correct.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Board shortcut for checking an equation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25</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When you only want to check dimensions, you may mentally replace +, −, &gt; and &lt; by = . You are not changing the real maths. You are only saying: every piece that sits in those places must carry the same dimensions.</a:t>
            </a:r>
          </a:p>
        </p:txBody>
      </p:sp>
      <p:sp>
        <p:nvSpPr>
          <p:cNvPr id="8" name="TextBox 7"/>
          <p:cNvSpPr txBox="1"/>
          <p:nvPr/>
        </p:nvSpPr>
        <p:spPr>
          <a:xfrm>
            <a:off x="594360" y="2496312"/>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Example: v = u + a t. For dimensions, write [v] = [u] = [a t]. Check each piece. Velocity, initial velocity, and acceleration × time must all be L T⁻¹.</a:t>
            </a:r>
          </a:p>
        </p:txBody>
      </p:sp>
      <p:sp>
        <p:nvSpPr>
          <p:cNvPr id="9" name="Rectangle 8"/>
          <p:cNvSpPr/>
          <p:nvPr/>
        </p:nvSpPr>
        <p:spPr>
          <a:xfrm>
            <a:off x="594360" y="395935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10565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For dimension check only: treat +, −, &gt; , &lt; like =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COPY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What you can and cannot do</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26</a:t>
            </a:r>
          </a:p>
        </p:txBody>
      </p:sp>
      <p:sp>
        <p:nvSpPr>
          <p:cNvPr id="7" name="Rounded Rectangle 6"/>
          <p:cNvSpPr/>
          <p:nvPr/>
        </p:nvSpPr>
        <p:spPr>
          <a:xfrm>
            <a:off x="594360" y="1078992"/>
            <a:ext cx="5303520" cy="1463040"/>
          </a:xfrm>
          <a:prstGeom prst="roundRect">
            <a:avLst/>
          </a:prstGeom>
          <a:solidFill>
            <a:srgbClr val="0C0E12"/>
          </a:solidFill>
          <a:ln w="12700">
            <a:solidFill>
              <a:srgbClr val="5AD6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19"/>
            <a:ext cx="5029200" cy="274320"/>
          </a:xfrm>
          <a:prstGeom prst="rect">
            <a:avLst/>
          </a:prstGeom>
          <a:noFill/>
        </p:spPr>
        <p:txBody>
          <a:bodyPr wrap="square" lIns="0" rIns="0" tIns="0" bIns="0" anchor="t">
            <a:spAutoFit/>
          </a:bodyPr>
          <a:lstStyle/>
          <a:p>
            <a:pPr algn="l">
              <a:lnSpc>
                <a:spcPct val="110000"/>
              </a:lnSpc>
              <a:spcBef>
                <a:spcPts val="0"/>
              </a:spcBef>
              <a:spcAft>
                <a:spcPts val="0"/>
              </a:spcAft>
            </a:pPr>
            <a:r>
              <a:rPr sz="1500" b="1">
                <a:solidFill>
                  <a:srgbClr val="5AD680"/>
                </a:solidFill>
                <a:latin typeface="Aptos"/>
              </a:rPr>
              <a:t>Allowed</a:t>
            </a:r>
          </a:p>
        </p:txBody>
      </p:sp>
      <p:sp>
        <p:nvSpPr>
          <p:cNvPr id="9" name="TextBox 8"/>
          <p:cNvSpPr txBox="1"/>
          <p:nvPr/>
        </p:nvSpPr>
        <p:spPr>
          <a:xfrm>
            <a:off x="731520" y="1517904"/>
            <a:ext cx="5029200" cy="932688"/>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FFFFFF"/>
                </a:solidFill>
                <a:latin typeface="Aptos"/>
              </a:rPr>
              <a:t>Add / subtract same dimensions. Multiply / divide any.</a:t>
            </a:r>
          </a:p>
        </p:txBody>
      </p:sp>
      <p:sp>
        <p:nvSpPr>
          <p:cNvPr id="10" name="Rounded Rectangle 9"/>
          <p:cNvSpPr/>
          <p:nvPr/>
        </p:nvSpPr>
        <p:spPr>
          <a:xfrm>
            <a:off x="6263640" y="1078992"/>
            <a:ext cx="5303520" cy="1463040"/>
          </a:xfrm>
          <a:prstGeom prst="roundRect">
            <a:avLst/>
          </a:prstGeom>
          <a:solidFill>
            <a:srgbClr val="0C0E12"/>
          </a:solidFill>
          <a:ln w="12700">
            <a:solidFill>
              <a:srgbClr val="FF9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188719"/>
            <a:ext cx="5029200" cy="274320"/>
          </a:xfrm>
          <a:prstGeom prst="rect">
            <a:avLst/>
          </a:prstGeom>
          <a:noFill/>
        </p:spPr>
        <p:txBody>
          <a:bodyPr wrap="square" lIns="0" rIns="0" tIns="0" bIns="0" anchor="t">
            <a:spAutoFit/>
          </a:bodyPr>
          <a:lstStyle/>
          <a:p>
            <a:pPr algn="l">
              <a:lnSpc>
                <a:spcPct val="110000"/>
              </a:lnSpc>
              <a:spcBef>
                <a:spcPts val="0"/>
              </a:spcBef>
              <a:spcAft>
                <a:spcPts val="0"/>
              </a:spcAft>
            </a:pPr>
            <a:r>
              <a:rPr sz="1500" b="1">
                <a:solidFill>
                  <a:srgbClr val="FF9E40"/>
                </a:solidFill>
                <a:latin typeface="Aptos"/>
              </a:rPr>
              <a:t>Not allowed</a:t>
            </a:r>
          </a:p>
        </p:txBody>
      </p:sp>
      <p:sp>
        <p:nvSpPr>
          <p:cNvPr id="12" name="TextBox 11"/>
          <p:cNvSpPr txBox="1"/>
          <p:nvPr/>
        </p:nvSpPr>
        <p:spPr>
          <a:xfrm>
            <a:off x="6400800" y="1517904"/>
            <a:ext cx="5029200" cy="932688"/>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FFFFFF"/>
                </a:solidFill>
                <a:latin typeface="Aptos"/>
              </a:rPr>
              <a:t>Add force to pressure. Compare 4 kg with 2 m.</a:t>
            </a:r>
          </a:p>
        </p:txBody>
      </p:sp>
      <p:sp>
        <p:nvSpPr>
          <p:cNvPr id="13" name="TextBox 12"/>
          <p:cNvSpPr txBox="1"/>
          <p:nvPr/>
        </p:nvSpPr>
        <p:spPr>
          <a:xfrm>
            <a:off x="594360" y="286207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kg + 8 kg = 12 kg.   3 kg / 5 m = 0.6 kg/m (linear density).</a:t>
            </a:r>
          </a:p>
        </p:txBody>
      </p:sp>
      <p:sp>
        <p:nvSpPr>
          <p:cNvPr id="14" name="TextBox 13"/>
          <p:cNvSpPr txBox="1"/>
          <p:nvPr/>
        </p:nvSpPr>
        <p:spPr>
          <a:xfrm>
            <a:off x="594360" y="359359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Different names can share dimensions. Same dimensions do not mean same quantity.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Assertion–Reason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27</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Assertion: Force is not added with pressure.</a:t>
            </a:r>
          </a:p>
        </p:txBody>
      </p:sp>
      <p:sp>
        <p:nvSpPr>
          <p:cNvPr id="8" name="TextBox 7"/>
          <p:cNvSpPr txBox="1"/>
          <p:nvPr/>
        </p:nvSpPr>
        <p:spPr>
          <a:xfrm>
            <a:off x="594360" y="1719072"/>
            <a:ext cx="11018520" cy="9144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Reason: Quantities with different dimensions are not added or subtracted.</a:t>
            </a:r>
          </a:p>
        </p:txBody>
      </p:sp>
      <p:sp>
        <p:nvSpPr>
          <p:cNvPr id="9" name="Oval 8"/>
          <p:cNvSpPr/>
          <p:nvPr/>
        </p:nvSpPr>
        <p:spPr>
          <a:xfrm>
            <a:off x="594360" y="285292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87121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1" name="TextBox 10"/>
          <p:cNvSpPr txBox="1"/>
          <p:nvPr/>
        </p:nvSpPr>
        <p:spPr>
          <a:xfrm>
            <a:off x="978408" y="287121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Both true, Reason explains Assertion</a:t>
            </a:r>
          </a:p>
        </p:txBody>
      </p:sp>
      <p:sp>
        <p:nvSpPr>
          <p:cNvPr id="12" name="Oval 11"/>
          <p:cNvSpPr/>
          <p:nvPr/>
        </p:nvSpPr>
        <p:spPr>
          <a:xfrm>
            <a:off x="594360" y="321868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23697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4" name="TextBox 13"/>
          <p:cNvSpPr txBox="1"/>
          <p:nvPr/>
        </p:nvSpPr>
        <p:spPr>
          <a:xfrm>
            <a:off x="978408" y="323697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Both true, Reason does not explain</a:t>
            </a:r>
          </a:p>
        </p:txBody>
      </p:sp>
      <p:sp>
        <p:nvSpPr>
          <p:cNvPr id="15" name="Oval 14"/>
          <p:cNvSpPr/>
          <p:nvPr/>
        </p:nvSpPr>
        <p:spPr>
          <a:xfrm>
            <a:off x="594360" y="358444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0273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7" name="TextBox 16"/>
          <p:cNvSpPr txBox="1"/>
          <p:nvPr/>
        </p:nvSpPr>
        <p:spPr>
          <a:xfrm>
            <a:off x="978408" y="360273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Assertion true, Reason false</a:t>
            </a:r>
          </a:p>
        </p:txBody>
      </p:sp>
      <p:sp>
        <p:nvSpPr>
          <p:cNvPr id="18" name="Oval 17"/>
          <p:cNvSpPr/>
          <p:nvPr/>
        </p:nvSpPr>
        <p:spPr>
          <a:xfrm>
            <a:off x="594360" y="395020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6849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20" name="TextBox 19"/>
          <p:cNvSpPr txBox="1"/>
          <p:nvPr/>
        </p:nvSpPr>
        <p:spPr>
          <a:xfrm>
            <a:off x="978408" y="396849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Both false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Assertion–Reason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28</a:t>
            </a:r>
          </a:p>
        </p:txBody>
      </p:sp>
      <p:sp>
        <p:nvSpPr>
          <p:cNvPr id="7" name="TextBox 6"/>
          <p:cNvSpPr txBox="1"/>
          <p:nvPr/>
        </p:nvSpPr>
        <p:spPr>
          <a:xfrm>
            <a:off x="594360" y="107899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Check Assertion first, then Reason, then the link.</a:t>
            </a:r>
          </a:p>
        </p:txBody>
      </p:sp>
      <p:sp>
        <p:nvSpPr>
          <p:cNvPr id="8" name="TextBox 7"/>
          <p:cNvSpPr txBox="1"/>
          <p:nvPr/>
        </p:nvSpPr>
        <p:spPr>
          <a:xfrm>
            <a:off x="594360" y="14904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1:  Force dimension = M L T⁻². Pressure = F/A = M L⁻¹ T⁻².</a:t>
            </a:r>
          </a:p>
        </p:txBody>
      </p:sp>
      <p:sp>
        <p:nvSpPr>
          <p:cNvPr id="9" name="TextBox 8"/>
          <p:cNvSpPr txBox="1"/>
          <p:nvPr/>
        </p:nvSpPr>
        <p:spPr>
          <a:xfrm>
            <a:off x="594360" y="20391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2:  These are different, so force and pressure cannot be added. Assertion true.</a:t>
            </a:r>
          </a:p>
        </p:txBody>
      </p:sp>
      <p:sp>
        <p:nvSpPr>
          <p:cNvPr id="10" name="TextBox 9"/>
          <p:cNvSpPr txBox="1"/>
          <p:nvPr/>
        </p:nvSpPr>
        <p:spPr>
          <a:xfrm>
            <a:off x="594360" y="258775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3:  Reason says the same rule. So Reason is true and it explains Assertion.</a:t>
            </a:r>
          </a:p>
        </p:txBody>
      </p:sp>
      <p:sp>
        <p:nvSpPr>
          <p:cNvPr id="11" name="TextBox 10"/>
          <p:cNvSpPr txBox="1"/>
          <p:nvPr/>
        </p:nvSpPr>
        <p:spPr>
          <a:xfrm>
            <a:off x="594360" y="31363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Option 1 — both true, Reason explains Assertion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Finding dimensions of unknown constants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29</a:t>
            </a:r>
          </a:p>
        </p:txBody>
      </p:sp>
      <p:sp>
        <p:nvSpPr>
          <p:cNvPr id="7" name="TextBox 6"/>
          <p:cNvSpPr txBox="1"/>
          <p:nvPr/>
        </p:nvSpPr>
        <p:spPr>
          <a:xfrm>
            <a:off x="594360" y="1078992"/>
            <a:ext cx="11018520" cy="13716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Often an equation contains letters a, b, α, β whose dimensions are not given. Homogeneity still works. Wherever two things are added or subtracted, their dimensions match. Wherever something equals the left side, it matches the left side.</a:t>
            </a:r>
          </a:p>
        </p:txBody>
      </p:sp>
      <p:sp>
        <p:nvSpPr>
          <p:cNvPr id="8" name="TextBox 7"/>
          <p:cNvSpPr txBox="1"/>
          <p:nvPr/>
        </p:nvSpPr>
        <p:spPr>
          <a:xfrm>
            <a:off x="594360" y="2587752"/>
            <a:ext cx="11018520" cy="11887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So the equation itself becomes the teacher. You do not invent a new formula. You read the structure: who is added to whom, who is multiplied by whom, and who sits alone on one side.</a:t>
            </a:r>
          </a:p>
        </p:txBody>
      </p:sp>
      <p:sp>
        <p:nvSpPr>
          <p:cNvPr id="9" name="Rectangle 8"/>
          <p:cNvSpPr/>
          <p:nvPr/>
        </p:nvSpPr>
        <p:spPr>
          <a:xfrm>
            <a:off x="594360" y="395935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10565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620" b="1">
                <a:solidFill>
                  <a:srgbClr val="081E3F"/>
                </a:solidFill>
                <a:latin typeface="Aptos"/>
              </a:rPr>
              <a:t>If A + B = C, then [A] = [B] = [C]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Finding constants (method continued)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31</a:t>
            </a:r>
          </a:p>
        </p:txBody>
      </p:sp>
      <p:sp>
        <p:nvSpPr>
          <p:cNvPr id="7" name="TextBox 6"/>
          <p:cNvSpPr txBox="1"/>
          <p:nvPr/>
        </p:nvSpPr>
        <p:spPr>
          <a:xfrm>
            <a:off x="594360" y="1078992"/>
            <a:ext cx="11018520" cy="13716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Step by step method. First mark every + and −. Those pieces must have equal dimensions. Next equate each such piece with the left-hand side if the whole sum equals the left side. Finally solve for the unknown using known dimensions of force, pressure, velocity, and so on.</a:t>
            </a:r>
          </a:p>
        </p:txBody>
      </p:sp>
      <p:sp>
        <p:nvSpPr>
          <p:cNvPr id="8" name="TextBox 7"/>
          <p:cNvSpPr txBox="1"/>
          <p:nvPr/>
        </p:nvSpPr>
        <p:spPr>
          <a:xfrm>
            <a:off x="594360" y="258775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If a quantity is divided or multiplied, rearrange. Example: if F = x / (b t²), then b = x / (F t²). Write dimensions of the right side and simplify. Pure numbers like 2 or π do not change dimensions.</a:t>
            </a:r>
          </a:p>
        </p:txBody>
      </p:sp>
      <p:sp>
        <p:nvSpPr>
          <p:cNvPr id="9" name="TextBox 8"/>
          <p:cNvSpPr txBox="1"/>
          <p:nvPr/>
        </p:nvSpPr>
        <p:spPr>
          <a:xfrm>
            <a:off x="594360" y="409651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Do not invent formulas. Use only what the equation itself tells you.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HOW IT WORKS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Find dimensions — board steps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32</a:t>
            </a:r>
          </a:p>
        </p:txBody>
      </p:sp>
      <p:sp>
        <p:nvSpPr>
          <p:cNvPr id="7" name="TextBox 6"/>
          <p:cNvSpPr txBox="1"/>
          <p:nvPr/>
        </p:nvSpPr>
        <p:spPr>
          <a:xfrm>
            <a:off x="594360" y="107899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Step 1: Mark every + or −. Those pieces must match.</a:t>
            </a:r>
          </a:p>
        </p:txBody>
      </p:sp>
      <p:sp>
        <p:nvSpPr>
          <p:cNvPr id="8" name="TextBox 7"/>
          <p:cNvSpPr txBox="1"/>
          <p:nvPr/>
        </p:nvSpPr>
        <p:spPr>
          <a:xfrm>
            <a:off x="594360" y="15819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Step 2: Equate each piece with the left side (or with its neighbour).</a:t>
            </a:r>
          </a:p>
        </p:txBody>
      </p:sp>
      <p:sp>
        <p:nvSpPr>
          <p:cNvPr id="9" name="TextBox 8"/>
          <p:cNvSpPr txBox="1"/>
          <p:nvPr/>
        </p:nvSpPr>
        <p:spPr>
          <a:xfrm>
            <a:off x="594360" y="208483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Step 3: Solve for the unknown using known dimensions.</a:t>
            </a:r>
          </a:p>
        </p:txBody>
      </p:sp>
      <p:sp>
        <p:nvSpPr>
          <p:cNvPr id="10" name="Rectangle 9"/>
          <p:cNvSpPr/>
          <p:nvPr/>
        </p:nvSpPr>
        <p:spPr>
          <a:xfrm>
            <a:off x="594360" y="2724912"/>
            <a:ext cx="11018520" cy="96012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871216"/>
            <a:ext cx="10689336" cy="667512"/>
          </a:xfrm>
          <a:prstGeom prst="rect">
            <a:avLst/>
          </a:prstGeom>
          <a:noFill/>
        </p:spPr>
        <p:txBody>
          <a:bodyPr wrap="square" lIns="0" rIns="0" tIns="0" bIns="0" anchor="ctr">
            <a:spAutoFit/>
          </a:bodyPr>
          <a:lstStyle/>
          <a:p>
            <a:pPr algn="ctr">
              <a:lnSpc>
                <a:spcPct val="115000"/>
              </a:lnSpc>
              <a:spcBef>
                <a:spcPts val="0"/>
              </a:spcBef>
              <a:spcAft>
                <a:spcPts val="0"/>
              </a:spcAft>
            </a:pPr>
            <a:r>
              <a:rPr sz="1800" b="1">
                <a:solidFill>
                  <a:srgbClr val="081E3F"/>
                </a:solidFill>
                <a:latin typeface="Aptos"/>
              </a:rPr>
              <a:t>If A + B = C, then [A] = [B] = [C]</a:t>
            </a:r>
          </a:p>
        </p:txBody>
      </p:sp>
      <p:sp>
        <p:nvSpPr>
          <p:cNvPr id="12" name="TextBox 11"/>
          <p:cNvSpPr txBox="1"/>
          <p:nvPr/>
        </p:nvSpPr>
        <p:spPr>
          <a:xfrm>
            <a:off x="594360" y="39136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Do not invent formulas. Use only what the equation itself tells you.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Electric field constants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33</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E = (A / x²) î + (B / y³) ĵ. SI units of A and B are</a:t>
            </a:r>
          </a:p>
        </p:txBody>
      </p:sp>
      <p:sp>
        <p:nvSpPr>
          <p:cNvPr id="8" name="Oval 7"/>
          <p:cNvSpPr/>
          <p:nvPr/>
        </p:nvSpPr>
        <p:spPr>
          <a:xfrm>
            <a:off x="594360" y="225856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7685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978408" y="227685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N m³ C⁻¹, N m² C⁻¹</a:t>
            </a:r>
          </a:p>
        </p:txBody>
      </p:sp>
      <p:sp>
        <p:nvSpPr>
          <p:cNvPr id="11" name="Oval 10"/>
          <p:cNvSpPr/>
          <p:nvPr/>
        </p:nvSpPr>
        <p:spPr>
          <a:xfrm>
            <a:off x="594360" y="2624327"/>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42615"/>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978408" y="2642615"/>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N m² C⁻¹, N m³ C⁻¹</a:t>
            </a:r>
          </a:p>
        </p:txBody>
      </p:sp>
      <p:sp>
        <p:nvSpPr>
          <p:cNvPr id="14" name="Oval 13"/>
          <p:cNvSpPr/>
          <p:nvPr/>
        </p:nvSpPr>
        <p:spPr>
          <a:xfrm>
            <a:off x="594360" y="2990087"/>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08375"/>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978408" y="3008375"/>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N m³ C, N m² C</a:t>
            </a:r>
          </a:p>
        </p:txBody>
      </p:sp>
      <p:sp>
        <p:nvSpPr>
          <p:cNvPr id="17" name="Oval 16"/>
          <p:cNvSpPr/>
          <p:nvPr/>
        </p:nvSpPr>
        <p:spPr>
          <a:xfrm>
            <a:off x="594360" y="335584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7413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978408" y="337413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N m² C, N m³ 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Electric field constants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34</a:t>
            </a:r>
          </a:p>
        </p:txBody>
      </p:sp>
      <p:sp>
        <p:nvSpPr>
          <p:cNvPr id="7" name="TextBox 6"/>
          <p:cNvSpPr txBox="1"/>
          <p:nvPr/>
        </p:nvSpPr>
        <p:spPr>
          <a:xfrm>
            <a:off x="594360" y="107899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each term on the right must have the same unit as E.</a:t>
            </a:r>
          </a:p>
        </p:txBody>
      </p:sp>
      <p:sp>
        <p:nvSpPr>
          <p:cNvPr id="8" name="TextBox 7"/>
          <p:cNvSpPr txBox="1"/>
          <p:nvPr/>
        </p:nvSpPr>
        <p:spPr>
          <a:xfrm>
            <a:off x="594360" y="14904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Electric field E = force / charge, so unit of E = N/C</a:t>
            </a:r>
          </a:p>
        </p:txBody>
      </p:sp>
      <p:sp>
        <p:nvSpPr>
          <p:cNvPr id="9" name="TextBox 8"/>
          <p:cNvSpPr txBox="1"/>
          <p:nvPr/>
        </p:nvSpPr>
        <p:spPr>
          <a:xfrm>
            <a:off x="594360" y="20391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A / x² = E  ⇒  A = E × x² = (N/C) × m²</a:t>
            </a:r>
          </a:p>
        </p:txBody>
      </p:sp>
      <p:sp>
        <p:nvSpPr>
          <p:cNvPr id="10" name="TextBox 9"/>
          <p:cNvSpPr txBox="1"/>
          <p:nvPr/>
        </p:nvSpPr>
        <p:spPr>
          <a:xfrm>
            <a:off x="594360" y="258775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B / y³ = E  ⇒  B = E × y³ = (N/C) × m³</a:t>
            </a:r>
          </a:p>
        </p:txBody>
      </p:sp>
      <p:sp>
        <p:nvSpPr>
          <p:cNvPr id="11" name="TextBox 10"/>
          <p:cNvSpPr txBox="1"/>
          <p:nvPr/>
        </p:nvSpPr>
        <p:spPr>
          <a:xfrm>
            <a:off x="594360" y="31363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A → N m² C⁻¹, B → N m³ C⁻¹</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Pressure-style equation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35</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(P + b / V²) = a. P is pressure, V is volume. Find [a] and [b].</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Pressure-style equation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36</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things added must match. Right side must match left side.</a:t>
            </a:r>
          </a:p>
        </p:txBody>
      </p:sp>
      <p:sp>
        <p:nvSpPr>
          <p:cNvPr id="8" name="TextBox 7"/>
          <p:cNvSpPr txBox="1"/>
          <p:nvPr/>
        </p:nvSpPr>
        <p:spPr>
          <a:xfrm>
            <a:off x="594360" y="151790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a sits alone on the right, so [a] = [P] = M L⁻¹ T⁻²</a:t>
            </a:r>
          </a:p>
        </p:txBody>
      </p:sp>
      <p:sp>
        <p:nvSpPr>
          <p:cNvPr id="9" name="TextBox 8"/>
          <p:cNvSpPr txBox="1"/>
          <p:nvPr/>
        </p:nvSpPr>
        <p:spPr>
          <a:xfrm>
            <a:off x="594360" y="206654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P and b/V² are added, so [b/V²] = [P]</a:t>
            </a:r>
          </a:p>
        </p:txBody>
      </p:sp>
      <p:sp>
        <p:nvSpPr>
          <p:cNvPr id="10" name="TextBox 9"/>
          <p:cNvSpPr txBox="1"/>
          <p:nvPr/>
        </p:nvSpPr>
        <p:spPr>
          <a:xfrm>
            <a:off x="594360" y="261518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3:  [b] = [P] × [V]² = M L⁻¹ T⁻² × L⁶ = M L⁵ T⁻²</a:t>
            </a:r>
          </a:p>
        </p:txBody>
      </p:sp>
      <p:sp>
        <p:nvSpPr>
          <p:cNvPr id="11" name="TextBox 10"/>
          <p:cNvSpPr txBox="1"/>
          <p:nvPr/>
        </p:nvSpPr>
        <p:spPr>
          <a:xfrm>
            <a:off x="594360" y="3163824"/>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[a] = M L⁻¹ T⁻², [b] = M L⁵ T⁻²</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v = αt + βx − γ x 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38</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If velocity v = α t + β x − γ x t, find dimensions of α, β and γ.</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v = αt + βx − γ x 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39</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treat each term like it equals velocity. [v] = L T⁻¹.</a:t>
            </a:r>
          </a:p>
        </p:txBody>
      </p:sp>
      <p:sp>
        <p:nvSpPr>
          <p:cNvPr id="8" name="TextBox 7"/>
          <p:cNvSpPr txBox="1"/>
          <p:nvPr/>
        </p:nvSpPr>
        <p:spPr>
          <a:xfrm>
            <a:off x="594360" y="151790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1:  α × time = velocity  ⇒  [α] = velocity / time = L T⁻²</a:t>
            </a:r>
          </a:p>
        </p:txBody>
      </p:sp>
      <p:sp>
        <p:nvSpPr>
          <p:cNvPr id="9" name="TextBox 8"/>
          <p:cNvSpPr txBox="1"/>
          <p:nvPr/>
        </p:nvSpPr>
        <p:spPr>
          <a:xfrm>
            <a:off x="594360" y="206654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2:  β × length = velocity  ⇒  [β] = velocity / length = T⁻¹</a:t>
            </a:r>
          </a:p>
        </p:txBody>
      </p:sp>
      <p:sp>
        <p:nvSpPr>
          <p:cNvPr id="10" name="TextBox 9"/>
          <p:cNvSpPr txBox="1"/>
          <p:nvPr/>
        </p:nvSpPr>
        <p:spPr>
          <a:xfrm>
            <a:off x="594360" y="261518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3:  γ × length × time = velocity  ⇒  [γ] = T⁻²</a:t>
            </a:r>
          </a:p>
        </p:txBody>
      </p:sp>
      <p:sp>
        <p:nvSpPr>
          <p:cNvPr id="11" name="TextBox 10"/>
          <p:cNvSpPr txBox="1"/>
          <p:nvPr/>
        </p:nvSpPr>
        <p:spPr>
          <a:xfrm>
            <a:off x="594360" y="3163824"/>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[α] = L T⁻², [β] = T⁻¹, [γ] = T⁻²</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Force formula F = (a − x) / (b t²)</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40</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Equation of force: F = (a − x)/(b t²). Find dimensions of a and b.</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Force formula F = (a − x) / (b t²)</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41</a:t>
            </a:r>
          </a:p>
        </p:txBody>
      </p:sp>
      <p:sp>
        <p:nvSpPr>
          <p:cNvPr id="7" name="TextBox 6"/>
          <p:cNvSpPr txBox="1"/>
          <p:nvPr/>
        </p:nvSpPr>
        <p:spPr>
          <a:xfrm>
            <a:off x="594360" y="107899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first use the subtraction, then rearrange for b.</a:t>
            </a:r>
          </a:p>
        </p:txBody>
      </p:sp>
      <p:sp>
        <p:nvSpPr>
          <p:cNvPr id="8" name="TextBox 7"/>
          <p:cNvSpPr txBox="1"/>
          <p:nvPr/>
        </p:nvSpPr>
        <p:spPr>
          <a:xfrm>
            <a:off x="594360" y="14904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a − x means [a] = [x]. Distance x is length, so [a] = L</a:t>
            </a:r>
          </a:p>
        </p:txBody>
      </p:sp>
      <p:sp>
        <p:nvSpPr>
          <p:cNvPr id="9" name="TextBox 8"/>
          <p:cNvSpPr txBox="1"/>
          <p:nvPr/>
        </p:nvSpPr>
        <p:spPr>
          <a:xfrm>
            <a:off x="594360" y="20391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From F = x / (b t²), we get b = x / (F t²)</a:t>
            </a:r>
          </a:p>
        </p:txBody>
      </p:sp>
      <p:sp>
        <p:nvSpPr>
          <p:cNvPr id="10" name="TextBox 9"/>
          <p:cNvSpPr txBox="1"/>
          <p:nvPr/>
        </p:nvSpPr>
        <p:spPr>
          <a:xfrm>
            <a:off x="594360" y="258775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[b] = L / (M L T⁻² × T²) = 1/M = M⁻¹</a:t>
            </a:r>
          </a:p>
        </p:txBody>
      </p:sp>
      <p:sp>
        <p:nvSpPr>
          <p:cNvPr id="11" name="TextBox 10"/>
          <p:cNvSpPr txBox="1"/>
          <p:nvPr/>
        </p:nvSpPr>
        <p:spPr>
          <a:xfrm>
            <a:off x="594360" y="31363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[a] = L, [b] = M⁻¹</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Dimensionless functions — why they matter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43</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Trigonometric functions, exponential and logarithm appear often in waves, SHM and decay. For dimensions we treat them in a special way. Their values are pure numbers, so they do not add M, L or T of their own.</a:t>
            </a:r>
          </a:p>
        </p:txBody>
      </p:sp>
      <p:sp>
        <p:nvSpPr>
          <p:cNvPr id="8" name="TextBox 7"/>
          <p:cNvSpPr txBox="1"/>
          <p:nvPr/>
        </p:nvSpPr>
        <p:spPr>
          <a:xfrm>
            <a:off x="594360" y="2496312"/>
            <a:ext cx="11018520" cy="13258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There is a strict rule: the thing sitting inside sin, cos, tan, e , or log( ) must itself be dimensionless. You cannot take sin of a length or log of a force. The argument must reduce to M⁰ L⁰ T⁰.</a:t>
            </a:r>
          </a:p>
        </p:txBody>
      </p:sp>
      <p:sp>
        <p:nvSpPr>
          <p:cNvPr id="9" name="TextBox 8"/>
          <p:cNvSpPr txBox="1"/>
          <p:nvPr/>
        </p:nvSpPr>
        <p:spPr>
          <a:xfrm>
            <a:off x="594360" y="405079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Inside sin, cos, tan, exp, log — that argument must be dimensionless.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Dimensionless functions (continued)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44</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Angle θ is dimensionless because θ = arc length / radius = L/L. So [θ] = 1. Then sin θ, cos θ and tan θ are ratios of sides of a triangle — again length over length — so they are dimensionless too.</a:t>
            </a:r>
          </a:p>
        </p:txBody>
      </p:sp>
      <p:sp>
        <p:nvSpPr>
          <p:cNvPr id="8" name="TextBox 7"/>
          <p:cNvSpPr txBox="1"/>
          <p:nvPr/>
        </p:nvSpPr>
        <p:spPr>
          <a:xfrm>
            <a:off x="594360" y="249631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When you only check dimensions, write θ, sin θ, cos θ, eˣ and log x as the number 1. They do not change the dimensions of whatever they multiply. If P = α sin β, then [α] = [P] and [β] = 1.</a:t>
            </a:r>
          </a:p>
        </p:txBody>
      </p:sp>
      <p:sp>
        <p:nvSpPr>
          <p:cNvPr id="9" name="Rectangle 8"/>
          <p:cNvSpPr/>
          <p:nvPr/>
        </p:nvSpPr>
        <p:spPr>
          <a:xfrm>
            <a:off x="594360" y="400507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15137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530" b="1">
                <a:solidFill>
                  <a:srgbClr val="081E3F"/>
                </a:solidFill>
                <a:latin typeface="Aptos"/>
              </a:rPr>
              <a:t>For dimensions: write θ, sin θ, eˣ, log x as 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CBSE WRITE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Why angle is dimensionless (2 marks)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45</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Plane angle is defined as the ratio of arc length to radius. Both arc and radius are lengths, so their ratio has no dimension: θ = L/L = 1. Therefore [θ] = M⁰ L⁰ T⁰.</a:t>
            </a:r>
          </a:p>
        </p:txBody>
      </p:sp>
      <p:sp>
        <p:nvSpPr>
          <p:cNvPr id="8" name="TextBox 7"/>
          <p:cNvSpPr txBox="1"/>
          <p:nvPr/>
        </p:nvSpPr>
        <p:spPr>
          <a:xfrm>
            <a:off x="594360" y="235915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Still, angle has a unit: radian (or°).</a:t>
            </a:r>
          </a:p>
        </p:txBody>
      </p:sp>
      <p:sp>
        <p:nvSpPr>
          <p:cNvPr id="9" name="Rectangle 8"/>
          <p:cNvSpPr/>
          <p:nvPr/>
        </p:nvSpPr>
        <p:spPr>
          <a:xfrm>
            <a:off x="594360" y="2953511"/>
            <a:ext cx="11018520" cy="91440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99815"/>
            <a:ext cx="10689336" cy="621792"/>
          </a:xfrm>
          <a:prstGeom prst="rect">
            <a:avLst/>
          </a:prstGeom>
          <a:noFill/>
        </p:spPr>
        <p:txBody>
          <a:bodyPr wrap="square" lIns="0" rIns="0" tIns="0" bIns="0" anchor="ctr">
            <a:spAutoFit/>
          </a:bodyPr>
          <a:lstStyle/>
          <a:p>
            <a:pPr algn="ctr">
              <a:lnSpc>
                <a:spcPct val="115000"/>
              </a:lnSpc>
              <a:spcBef>
                <a:spcPts val="0"/>
              </a:spcBef>
              <a:spcAft>
                <a:spcPts val="0"/>
              </a:spcAft>
            </a:pPr>
            <a:r>
              <a:rPr sz="1620" b="1">
                <a:solidFill>
                  <a:srgbClr val="081E3F"/>
                </a:solidFill>
                <a:latin typeface="Aptos"/>
              </a:rPr>
              <a:t>Dimensionless  does not mean  no unit</a:t>
            </a:r>
          </a:p>
        </p:txBody>
      </p:sp>
      <p:sp>
        <p:nvSpPr>
          <p:cNvPr id="11" name="TextBox 10"/>
          <p:cNvSpPr txBox="1"/>
          <p:nvPr/>
        </p:nvSpPr>
        <p:spPr>
          <a:xfrm>
            <a:off x="594360" y="409651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Same idea: strain = ΔL / L. Dimensionless. Usually unitless too.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 = α sin β</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46</a:t>
            </a:r>
          </a:p>
        </p:txBody>
      </p:sp>
      <p:sp>
        <p:nvSpPr>
          <p:cNvPr id="7" name="TextBox 6"/>
          <p:cNvSpPr txBox="1"/>
          <p:nvPr/>
        </p:nvSpPr>
        <p:spPr>
          <a:xfrm>
            <a:off x="594360" y="1078992"/>
            <a:ext cx="11018520" cy="86868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If momentum P = α sin β, find dimensions of α and β.</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P = α sin β</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47</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sin(anything) is just a pure number for dimensions.</a:t>
            </a:r>
          </a:p>
        </p:txBody>
      </p:sp>
      <p:sp>
        <p:nvSpPr>
          <p:cNvPr id="8" name="TextBox 7"/>
          <p:cNvSpPr txBox="1"/>
          <p:nvPr/>
        </p:nvSpPr>
        <p:spPr>
          <a:xfrm>
            <a:off x="594360" y="151790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Inside sin must be dimensionless. So [β] = M⁰ L⁰ T⁰ = 1</a:t>
            </a:r>
          </a:p>
        </p:txBody>
      </p:sp>
      <p:sp>
        <p:nvSpPr>
          <p:cNvPr id="9" name="TextBox 8"/>
          <p:cNvSpPr txBox="1"/>
          <p:nvPr/>
        </p:nvSpPr>
        <p:spPr>
          <a:xfrm>
            <a:off x="594360" y="206654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sin β = 1 (dimensionally). So P = α × 1  ⇒  [α] = [P]</a:t>
            </a:r>
          </a:p>
        </p:txBody>
      </p:sp>
      <p:sp>
        <p:nvSpPr>
          <p:cNvPr id="10" name="TextBox 9"/>
          <p:cNvSpPr txBox="1"/>
          <p:nvPr/>
        </p:nvSpPr>
        <p:spPr>
          <a:xfrm>
            <a:off x="594360" y="261518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3:  Momentum P = m v, so [α] = M L T⁻¹</a:t>
            </a:r>
          </a:p>
        </p:txBody>
      </p:sp>
      <p:sp>
        <p:nvSpPr>
          <p:cNvPr id="11" name="TextBox 10"/>
          <p:cNvSpPr txBox="1"/>
          <p:nvPr/>
        </p:nvSpPr>
        <p:spPr>
          <a:xfrm>
            <a:off x="594360" y="3163824"/>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[α] = M L T⁻¹, [β] = dimensionless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Wave equation: find [c]</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49</a:t>
            </a:r>
          </a:p>
        </p:txBody>
      </p:sp>
      <p:sp>
        <p:nvSpPr>
          <p:cNvPr id="7" name="TextBox 6"/>
          <p:cNvSpPr txBox="1"/>
          <p:nvPr/>
        </p:nvSpPr>
        <p:spPr>
          <a:xfrm>
            <a:off x="594360" y="1078992"/>
            <a:ext cx="11018520" cy="9144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Y = A sin[(2π/λ)(c t − x)]. Find dimension of c.</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Wave equation: find [c]</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50</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look only at (c t − x). Those two must match.</a:t>
            </a:r>
          </a:p>
        </p:txBody>
      </p:sp>
      <p:sp>
        <p:nvSpPr>
          <p:cNvPr id="8" name="TextBox 7"/>
          <p:cNvSpPr txBox="1"/>
          <p:nvPr/>
        </p:nvSpPr>
        <p:spPr>
          <a:xfrm>
            <a:off x="594360" y="151790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c t and x are subtracted, so [c t] = [x]</a:t>
            </a:r>
          </a:p>
        </p:txBody>
      </p:sp>
      <p:sp>
        <p:nvSpPr>
          <p:cNvPr id="9" name="TextBox 8"/>
          <p:cNvSpPr txBox="1"/>
          <p:nvPr/>
        </p:nvSpPr>
        <p:spPr>
          <a:xfrm>
            <a:off x="594360" y="206654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[c] × time = length  ⇒  [c] = length / time = L T⁻¹</a:t>
            </a:r>
          </a:p>
        </p:txBody>
      </p:sp>
      <p:sp>
        <p:nvSpPr>
          <p:cNvPr id="10" name="TextBox 9"/>
          <p:cNvSpPr txBox="1"/>
          <p:nvPr/>
        </p:nvSpPr>
        <p:spPr>
          <a:xfrm>
            <a:off x="594360" y="2615184"/>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[c] = L T⁻¹  (like speed)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Using dimensions to derive a formula</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51</a:t>
            </a:r>
          </a:p>
        </p:txBody>
      </p:sp>
      <p:sp>
        <p:nvSpPr>
          <p:cNvPr id="7" name="TextBox 6"/>
          <p:cNvSpPr txBox="1"/>
          <p:nvPr/>
        </p:nvSpPr>
        <p:spPr>
          <a:xfrm>
            <a:off x="594360" y="1078992"/>
            <a:ext cx="11018520" cy="13716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Sometimes we know which quantities a formula depends on, but we do not know the powers. Dimensional analysis can find those powers. We assume a product form, write dimensions on both sides, and match the powers of M, L and T one by one.</a:t>
            </a:r>
          </a:p>
        </p:txBody>
      </p:sp>
      <p:sp>
        <p:nvSpPr>
          <p:cNvPr id="8" name="TextBox 7"/>
          <p:cNvSpPr txBox="1"/>
          <p:nvPr/>
        </p:nvSpPr>
        <p:spPr>
          <a:xfrm>
            <a:off x="594360" y="2587752"/>
            <a:ext cx="11018520" cy="13258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Example idea: time period T of a simple pendulum depends on length l and acceleration due to gravity g. We write T = k lᵃ gᵇ, where k is a pure number. Then we find a and b. The method cannot give the value of k — experiment or deeper theory gives k = 2π.</a:t>
            </a:r>
          </a:p>
        </p:txBody>
      </p:sp>
      <p:sp>
        <p:nvSpPr>
          <p:cNvPr id="9" name="Rectangle 8"/>
          <p:cNvSpPr/>
          <p:nvPr/>
        </p:nvSpPr>
        <p:spPr>
          <a:xfrm>
            <a:off x="594360" y="4096511"/>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24281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T ∝ lᵃ gᵇ   →   find a and b by comparing powers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Derive formula — what we assume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52</a:t>
            </a:r>
          </a:p>
        </p:txBody>
      </p:sp>
      <p:sp>
        <p:nvSpPr>
          <p:cNvPr id="7" name="TextBox 6"/>
          <p:cNvSpPr txBox="1"/>
          <p:nvPr/>
        </p:nvSpPr>
        <p:spPr>
          <a:xfrm>
            <a:off x="594360" y="1078992"/>
            <a:ext cx="11018520" cy="14173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We assume the unknown relation is a product of powers: quantity = constant × (first quantity)ᵃ × (second)ᵇ × …. This works when each variable appears once as a power. It fails if the true law has a sum of two different terms, or a trigonometric factor that we forgot to treat as dimensionless.</a:t>
            </a:r>
          </a:p>
        </p:txBody>
      </p:sp>
      <p:sp>
        <p:nvSpPr>
          <p:cNvPr id="8" name="TextBox 7"/>
          <p:cNvSpPr txBox="1"/>
          <p:nvPr/>
        </p:nvSpPr>
        <p:spPr>
          <a:xfrm>
            <a:off x="594360" y="2633472"/>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Also, if a quantity depends on more variables than we can balance with M, L, T alone, dimensions may not give a unique answer. Then we need more physics. Keep that honesty for board answers under "limitations".</a:t>
            </a:r>
          </a:p>
        </p:txBody>
      </p:sp>
      <p:sp>
        <p:nvSpPr>
          <p:cNvPr id="9" name="TextBox 8"/>
          <p:cNvSpPr txBox="1"/>
          <p:nvPr/>
        </p:nvSpPr>
        <p:spPr>
          <a:xfrm>
            <a:off x="594360" y="409651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k is a pure number here. Dimensions ignore it.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HOW IT WORKS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Pendulum step by step</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53</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Write T = k lᵃ gᵇ. Now match dimensions of both sides.</a:t>
            </a:r>
          </a:p>
        </p:txBody>
      </p:sp>
      <p:sp>
        <p:nvSpPr>
          <p:cNvPr id="8" name="TextBox 7"/>
          <p:cNvSpPr txBox="1"/>
          <p:nvPr/>
        </p:nvSpPr>
        <p:spPr>
          <a:xfrm>
            <a:off x="594360" y="151790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Left side [T] = T¹. Right side = Lᵃ × (L T⁻²)ᵇ</a:t>
            </a:r>
          </a:p>
        </p:txBody>
      </p:sp>
      <p:sp>
        <p:nvSpPr>
          <p:cNvPr id="9" name="TextBox 8"/>
          <p:cNvSpPr txBox="1"/>
          <p:nvPr/>
        </p:nvSpPr>
        <p:spPr>
          <a:xfrm>
            <a:off x="594360" y="206654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Right side becomes Lᵃ⁺ᵇ T⁻²ᵇ</a:t>
            </a:r>
          </a:p>
        </p:txBody>
      </p:sp>
      <p:sp>
        <p:nvSpPr>
          <p:cNvPr id="10" name="TextBox 9"/>
          <p:cNvSpPr txBox="1"/>
          <p:nvPr/>
        </p:nvSpPr>
        <p:spPr>
          <a:xfrm>
            <a:off x="594360" y="261518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Match time power: 1 = −2b  ⇒  b = −1/2</a:t>
            </a:r>
          </a:p>
        </p:txBody>
      </p:sp>
      <p:sp>
        <p:nvSpPr>
          <p:cNvPr id="11" name="TextBox 10"/>
          <p:cNvSpPr txBox="1"/>
          <p:nvPr/>
        </p:nvSpPr>
        <p:spPr>
          <a:xfrm>
            <a:off x="594360" y="316382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Match length power: 0 = a + b  ⇒  a = +1/2</a:t>
            </a:r>
          </a:p>
        </p:txBody>
      </p:sp>
      <p:sp>
        <p:nvSpPr>
          <p:cNvPr id="12" name="TextBox 11"/>
          <p:cNvSpPr txBox="1"/>
          <p:nvPr/>
        </p:nvSpPr>
        <p:spPr>
          <a:xfrm>
            <a:off x="594360" y="3712463"/>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So T = k √(l/g). Real formula uses k = 2π.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Uses of dimensional analysis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55</a:t>
            </a:r>
          </a:p>
        </p:txBody>
      </p:sp>
      <p:sp>
        <p:nvSpPr>
          <p:cNvPr id="7" name="TextBox 6"/>
          <p:cNvSpPr txBox="1"/>
          <p:nvPr/>
        </p:nvSpPr>
        <p:spPr>
          <a:xfrm>
            <a:off x="594360" y="1078992"/>
            <a:ext cx="11018520" cy="14173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Dimensional analysis has three standard school uses. First, check whether an equation is dimensionally correct. Second, convert a numerical value from one system of units to another using n1 u1 = n2 u2. Third, find how physical quantities are related — the powers in a formula — when we know which quantities matter.</a:t>
            </a:r>
          </a:p>
        </p:txBody>
      </p:sp>
      <p:sp>
        <p:nvSpPr>
          <p:cNvPr id="8" name="TextBox 7"/>
          <p:cNvSpPr txBox="1"/>
          <p:nvPr/>
        </p:nvSpPr>
        <p:spPr>
          <a:xfrm>
            <a:off x="594360" y="263347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For a 3-mark CBSE answer, write the definition of homogeneity briefly, list these three uses, and add one limitation. That structure scores cleanly without long English.</a:t>
            </a:r>
          </a:p>
        </p:txBody>
      </p:sp>
      <p:sp>
        <p:nvSpPr>
          <p:cNvPr id="9" name="Rectangle 8"/>
          <p:cNvSpPr/>
          <p:nvPr/>
        </p:nvSpPr>
        <p:spPr>
          <a:xfrm>
            <a:off x="594360" y="395935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10565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800" b="1">
                <a:solidFill>
                  <a:srgbClr val="081E3F"/>
                </a:solidFill>
                <a:latin typeface="Aptos"/>
              </a:rPr>
              <a:t>Check  ·  Convert  ·  Derive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THEORY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Limitations of dimensional analysis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56</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Dimensional analysis cannot find the value of a dimensionless constant such as 2π, 1/2 or e. Those numbers have no M, L or T, so dimensions never see them. The real formula must come from experiment or from a fuller derivation.</a:t>
            </a:r>
          </a:p>
        </p:txBody>
      </p:sp>
      <p:sp>
        <p:nvSpPr>
          <p:cNvPr id="8" name="TextBox 7"/>
          <p:cNvSpPr txBox="1"/>
          <p:nvPr/>
        </p:nvSpPr>
        <p:spPr>
          <a:xfrm>
            <a:off x="594360" y="2496312"/>
            <a:ext cx="11018520" cy="13258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It also cannot decide between two formulas that already have the same dimensions. And if a quantity depends on more independent variables than the number of base dimensions we use, we may not get unique powers. Write these limits honestly in board answers.</a:t>
            </a:r>
          </a:p>
        </p:txBody>
      </p:sp>
      <p:sp>
        <p:nvSpPr>
          <p:cNvPr id="9" name="TextBox 8"/>
          <p:cNvSpPr txBox="1"/>
          <p:nvPr/>
        </p:nvSpPr>
        <p:spPr>
          <a:xfrm>
            <a:off x="594360" y="4005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Cannot give pure numbers like 2π.</a:t>
            </a:r>
          </a:p>
        </p:txBody>
      </p:sp>
      <p:sp>
        <p:nvSpPr>
          <p:cNvPr id="10" name="TextBox 9"/>
          <p:cNvSpPr txBox="1"/>
          <p:nvPr/>
        </p:nvSpPr>
        <p:spPr>
          <a:xfrm>
            <a:off x="594360" y="44165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Cannot prove a formula is physically true — only dimensionally possible.</a:t>
            </a:r>
          </a:p>
        </p:txBody>
      </p:sp>
      <p:sp>
        <p:nvSpPr>
          <p:cNvPr id="11" name="TextBox 10"/>
          <p:cNvSpPr txBox="1"/>
          <p:nvPr/>
        </p:nvSpPr>
        <p:spPr>
          <a:xfrm>
            <a:off x="594360" y="48280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Fails when too many variables or when the law is not a simple product.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CBSE WRITE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Uses of dimensional analysis (3 marks)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57</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To check whether an equation is dimensionally correct.</a:t>
            </a:r>
          </a:p>
        </p:txBody>
      </p:sp>
      <p:sp>
        <p:nvSpPr>
          <p:cNvPr id="8" name="TextBox 7"/>
          <p:cNvSpPr txBox="1"/>
          <p:nvPr/>
        </p:nvSpPr>
        <p:spPr>
          <a:xfrm>
            <a:off x="594360" y="15819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To convert a value from one system of units to another.</a:t>
            </a:r>
          </a:p>
        </p:txBody>
      </p:sp>
      <p:sp>
        <p:nvSpPr>
          <p:cNvPr id="9" name="TextBox 8"/>
          <p:cNvSpPr txBox="1"/>
          <p:nvPr/>
        </p:nvSpPr>
        <p:spPr>
          <a:xfrm>
            <a:off x="594360" y="20848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 To find the relation between physical quantities (derive formula).</a:t>
            </a:r>
          </a:p>
        </p:txBody>
      </p:sp>
      <p:sp>
        <p:nvSpPr>
          <p:cNvPr id="10" name="Rectangle 9"/>
          <p:cNvSpPr/>
          <p:nvPr/>
        </p:nvSpPr>
        <p:spPr>
          <a:xfrm>
            <a:off x="594360" y="2770632"/>
            <a:ext cx="11018520" cy="91440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916936"/>
            <a:ext cx="10689336" cy="621792"/>
          </a:xfrm>
          <a:prstGeom prst="rect">
            <a:avLst/>
          </a:prstGeom>
          <a:noFill/>
        </p:spPr>
        <p:txBody>
          <a:bodyPr wrap="square" lIns="0" rIns="0" tIns="0" bIns="0" anchor="ctr">
            <a:spAutoFit/>
          </a:bodyPr>
          <a:lstStyle/>
          <a:p>
            <a:pPr algn="ctr">
              <a:lnSpc>
                <a:spcPct val="115000"/>
              </a:lnSpc>
              <a:spcBef>
                <a:spcPts val="0"/>
              </a:spcBef>
              <a:spcAft>
                <a:spcPts val="0"/>
              </a:spcAft>
            </a:pPr>
            <a:r>
              <a:rPr sz="1800" b="1">
                <a:solidFill>
                  <a:srgbClr val="081E3F"/>
                </a:solidFill>
                <a:latin typeface="Aptos"/>
              </a:rPr>
              <a:t>Check  ·  Convert  ·  Derive</a:t>
            </a:r>
          </a:p>
        </p:txBody>
      </p:sp>
      <p:sp>
        <p:nvSpPr>
          <p:cNvPr id="12" name="TextBox 11"/>
          <p:cNvSpPr txBox="1"/>
          <p:nvPr/>
        </p:nvSpPr>
        <p:spPr>
          <a:xfrm>
            <a:off x="594360" y="39136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Limitation: cannot find dimensionless constants like 2π or 1/2.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NEET: time period from α and β</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58</a:t>
            </a:r>
          </a:p>
        </p:txBody>
      </p:sp>
      <p:sp>
        <p:nvSpPr>
          <p:cNvPr id="7" name="TextBox 6"/>
          <p:cNvSpPr txBox="1"/>
          <p:nvPr/>
        </p:nvSpPr>
        <p:spPr>
          <a:xfrm>
            <a:off x="594360" y="1078992"/>
            <a:ext cx="11018520"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Max acceleration of oscillating particle is α, max velocity is β. Time period is</a:t>
            </a:r>
          </a:p>
        </p:txBody>
      </p:sp>
      <p:sp>
        <p:nvSpPr>
          <p:cNvPr id="8" name="Oval 7"/>
          <p:cNvSpPr/>
          <p:nvPr/>
        </p:nvSpPr>
        <p:spPr>
          <a:xfrm>
            <a:off x="594360" y="225856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7685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978408" y="227685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2π α/β</a:t>
            </a:r>
          </a:p>
        </p:txBody>
      </p:sp>
      <p:sp>
        <p:nvSpPr>
          <p:cNvPr id="11" name="Oval 10"/>
          <p:cNvSpPr/>
          <p:nvPr/>
        </p:nvSpPr>
        <p:spPr>
          <a:xfrm>
            <a:off x="594360" y="2624327"/>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42615"/>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978408" y="2642615"/>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2π α β</a:t>
            </a:r>
          </a:p>
        </p:txBody>
      </p:sp>
      <p:sp>
        <p:nvSpPr>
          <p:cNvPr id="14" name="Oval 13"/>
          <p:cNvSpPr/>
          <p:nvPr/>
        </p:nvSpPr>
        <p:spPr>
          <a:xfrm>
            <a:off x="594360" y="2990087"/>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08375"/>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978408" y="3008375"/>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2π β/α</a:t>
            </a:r>
          </a:p>
        </p:txBody>
      </p:sp>
      <p:sp>
        <p:nvSpPr>
          <p:cNvPr id="17" name="Oval 16"/>
          <p:cNvSpPr/>
          <p:nvPr/>
        </p:nvSpPr>
        <p:spPr>
          <a:xfrm>
            <a:off x="594360" y="335584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7413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978408" y="337413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2π α² / β²</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NEET: time period from α and β</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59</a:t>
            </a:r>
          </a:p>
        </p:txBody>
      </p:sp>
      <p:sp>
        <p:nvSpPr>
          <p:cNvPr id="7" name="TextBox 6"/>
          <p:cNvSpPr txBox="1"/>
          <p:nvPr/>
        </p:nvSpPr>
        <p:spPr>
          <a:xfrm>
            <a:off x="594360" y="107899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Easy way: check which option has dimension of time.</a:t>
            </a:r>
          </a:p>
        </p:txBody>
      </p:sp>
      <p:sp>
        <p:nvSpPr>
          <p:cNvPr id="8" name="TextBox 7"/>
          <p:cNvSpPr txBox="1"/>
          <p:nvPr/>
        </p:nvSpPr>
        <p:spPr>
          <a:xfrm>
            <a:off x="594360" y="14904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1:  In SHM, max speed β = A ω, max acceleration α = A ω²</a:t>
            </a:r>
          </a:p>
        </p:txBody>
      </p:sp>
      <p:sp>
        <p:nvSpPr>
          <p:cNvPr id="9" name="TextBox 8"/>
          <p:cNvSpPr txBox="1"/>
          <p:nvPr/>
        </p:nvSpPr>
        <p:spPr>
          <a:xfrm>
            <a:off x="594360" y="20391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Divide: α/β = ω. Time period is T = 2π / ω</a:t>
            </a:r>
          </a:p>
        </p:txBody>
      </p:sp>
      <p:sp>
        <p:nvSpPr>
          <p:cNvPr id="10" name="TextBox 9"/>
          <p:cNvSpPr txBox="1"/>
          <p:nvPr/>
        </p:nvSpPr>
        <p:spPr>
          <a:xfrm>
            <a:off x="594360" y="258775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3:  So T = 2π × (β/α)</a:t>
            </a:r>
          </a:p>
        </p:txBody>
      </p:sp>
      <p:sp>
        <p:nvSpPr>
          <p:cNvPr id="11" name="TextBox 10"/>
          <p:cNvSpPr txBox="1"/>
          <p:nvPr/>
        </p:nvSpPr>
        <p:spPr>
          <a:xfrm>
            <a:off x="594360" y="31363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2π β/α   (option 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Which does NOT have dimension of time?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61</a:t>
            </a:r>
          </a:p>
        </p:txBody>
      </p:sp>
      <p:sp>
        <p:nvSpPr>
          <p:cNvPr id="7" name="TextBox 6"/>
          <p:cNvSpPr txBox="1"/>
          <p:nvPr/>
        </p:nvSpPr>
        <p:spPr>
          <a:xfrm>
            <a:off x="594360" y="1078992"/>
            <a:ext cx="11018520"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L, C, R are inductance, capacitance, resistance. Which has no dimension of time?</a:t>
            </a:r>
          </a:p>
        </p:txBody>
      </p:sp>
      <p:sp>
        <p:nvSpPr>
          <p:cNvPr id="8" name="Oval 7"/>
          <p:cNvSpPr/>
          <p:nvPr/>
        </p:nvSpPr>
        <p:spPr>
          <a:xfrm>
            <a:off x="594360" y="225856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7685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978408" y="227685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RC</a:t>
            </a:r>
          </a:p>
        </p:txBody>
      </p:sp>
      <p:sp>
        <p:nvSpPr>
          <p:cNvPr id="11" name="Oval 10"/>
          <p:cNvSpPr/>
          <p:nvPr/>
        </p:nvSpPr>
        <p:spPr>
          <a:xfrm>
            <a:off x="594360" y="2624327"/>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42615"/>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978408" y="2642615"/>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L/R</a:t>
            </a:r>
          </a:p>
        </p:txBody>
      </p:sp>
      <p:sp>
        <p:nvSpPr>
          <p:cNvPr id="14" name="Oval 13"/>
          <p:cNvSpPr/>
          <p:nvPr/>
        </p:nvSpPr>
        <p:spPr>
          <a:xfrm>
            <a:off x="594360" y="2990087"/>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08375"/>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978408" y="3008375"/>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√(LC)</a:t>
            </a:r>
          </a:p>
        </p:txBody>
      </p:sp>
      <p:sp>
        <p:nvSpPr>
          <p:cNvPr id="17" name="Oval 16"/>
          <p:cNvSpPr/>
          <p:nvPr/>
        </p:nvSpPr>
        <p:spPr>
          <a:xfrm>
            <a:off x="594360" y="3355848"/>
            <a:ext cx="274320" cy="274320"/>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74136"/>
            <a:ext cx="274320" cy="237744"/>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978408" y="3374136"/>
            <a:ext cx="9217152" cy="256032"/>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L/C</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Which does NOT have dimension of time?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62</a:t>
            </a:r>
          </a:p>
        </p:txBody>
      </p:sp>
      <p:sp>
        <p:nvSpPr>
          <p:cNvPr id="7" name="TextBox 6"/>
          <p:cNvSpPr txBox="1"/>
          <p:nvPr/>
        </p:nvSpPr>
        <p:spPr>
          <a:xfrm>
            <a:off x="594360" y="107899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Remember three time formulas from circuits.</a:t>
            </a:r>
          </a:p>
        </p:txBody>
      </p:sp>
      <p:sp>
        <p:nvSpPr>
          <p:cNvPr id="8" name="TextBox 7"/>
          <p:cNvSpPr txBox="1"/>
          <p:nvPr/>
        </p:nvSpPr>
        <p:spPr>
          <a:xfrm>
            <a:off x="594360" y="14904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RC has dimension of time. L/R has dimension of time.</a:t>
            </a:r>
          </a:p>
        </p:txBody>
      </p:sp>
      <p:sp>
        <p:nvSpPr>
          <p:cNvPr id="9" name="TextBox 8"/>
          <p:cNvSpPr txBox="1"/>
          <p:nvPr/>
        </p:nvSpPr>
        <p:spPr>
          <a:xfrm>
            <a:off x="594360" y="20391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√(LC) also has dimension of time.</a:t>
            </a:r>
          </a:p>
        </p:txBody>
      </p:sp>
      <p:sp>
        <p:nvSpPr>
          <p:cNvPr id="10" name="TextBox 9"/>
          <p:cNvSpPr txBox="1"/>
          <p:nvPr/>
        </p:nvSpPr>
        <p:spPr>
          <a:xfrm>
            <a:off x="594360" y="258775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L/C does not become time. That is the odd one out.</a:t>
            </a:r>
          </a:p>
        </p:txBody>
      </p:sp>
      <p:sp>
        <p:nvSpPr>
          <p:cNvPr id="11" name="TextBox 10"/>
          <p:cNvSpPr txBox="1"/>
          <p:nvPr/>
        </p:nvSpPr>
        <p:spPr>
          <a:xfrm>
            <a:off x="594360" y="31363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L/C   (option 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CLASS SUMMARY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Units 02 — theory in one place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63</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Homogeneity: every term that is added, subtracted or compared must have the same dimensions. Unitless always means dimensionless; having a dimension always means having a unit; having a unit does not always mean having a dimension (angle).</a:t>
            </a:r>
          </a:p>
        </p:txBody>
      </p:sp>
      <p:sp>
        <p:nvSpPr>
          <p:cNvPr id="8" name="TextBox 7"/>
          <p:cNvSpPr txBox="1"/>
          <p:nvPr/>
        </p:nvSpPr>
        <p:spPr>
          <a:xfrm>
            <a:off x="594360" y="2496312"/>
            <a:ext cx="11018520" cy="13258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For dimensions, treat θ, sin θ, eˣ and log x as 1. Uses of dimensional analysis: check a formula, convert units, derive a relation. Limitation: cannot find pure numbers like 2π, and cannot prove a formula is physically true.</a:t>
            </a:r>
          </a:p>
        </p:txBody>
      </p:sp>
      <p:sp>
        <p:nvSpPr>
          <p:cNvPr id="9" name="TextBox 8"/>
          <p:cNvSpPr txBox="1"/>
          <p:nvPr/>
        </p:nvSpPr>
        <p:spPr>
          <a:xfrm>
            <a:off x="594360" y="405079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Lock these four ideas before board practice.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CLASS SUMMARY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Units 02 lock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64</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Homogeneity: every + / − / compare term has the same dimensions.</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Unitless ⇒ dimensionless. Has dimension ⇒ must have unit.</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θ, sin θ, eˣ, log x → treat as 1 for dimensions.</a:t>
            </a:r>
          </a:p>
        </p:txBody>
      </p:sp>
      <p:sp>
        <p:nvSpPr>
          <p:cNvPr id="10" name="TextBox 9"/>
          <p:cNvSpPr txBox="1"/>
          <p:nvPr/>
        </p:nvSpPr>
        <p:spPr>
          <a:xfrm>
            <a:off x="594360" y="2724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Uses: check formula, convert units, derive relation.</a:t>
            </a:r>
          </a:p>
        </p:txBody>
      </p:sp>
      <p:sp>
        <p:nvSpPr>
          <p:cNvPr id="11" name="TextBox 10"/>
          <p:cNvSpPr txBox="1"/>
          <p:nvPr/>
        </p:nvSpPr>
        <p:spPr>
          <a:xfrm>
            <a:off x="594360" y="32735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Limitation: cannot get pure numbers like 2π.</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CBSE WRITE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Ready theory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65</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Principle of homogeneity: dimensions of all terms in an equation are equal.</a:t>
            </a:r>
          </a:p>
        </p:txBody>
      </p:sp>
      <p:sp>
        <p:nvSpPr>
          <p:cNvPr id="8" name="TextBox 7"/>
          <p:cNvSpPr txBox="1"/>
          <p:nvPr/>
        </p:nvSpPr>
        <p:spPr>
          <a:xfrm>
            <a:off x="594360" y="15819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Only quantities of the same dimensions can be added or subtracted.</a:t>
            </a:r>
          </a:p>
        </p:txBody>
      </p:sp>
      <p:sp>
        <p:nvSpPr>
          <p:cNvPr id="9" name="TextBox 8"/>
          <p:cNvSpPr txBox="1"/>
          <p:nvPr/>
        </p:nvSpPr>
        <p:spPr>
          <a:xfrm>
            <a:off x="594360" y="208483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 Angle is dimensionless but has unit radian.</a:t>
            </a:r>
          </a:p>
        </p:txBody>
      </p:sp>
      <p:sp>
        <p:nvSpPr>
          <p:cNvPr id="10" name="TextBox 9"/>
          <p:cNvSpPr txBox="1"/>
          <p:nvPr/>
        </p:nvSpPr>
        <p:spPr>
          <a:xfrm>
            <a:off x="594360" y="25877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Arguments of sin, cos, tan, log and exp must be dimensionless.</a:t>
            </a:r>
          </a:p>
        </p:txBody>
      </p:sp>
      <p:sp>
        <p:nvSpPr>
          <p:cNvPr id="11" name="TextBox 10"/>
          <p:cNvSpPr txBox="1"/>
          <p:nvPr/>
        </p:nvSpPr>
        <p:spPr>
          <a:xfrm>
            <a:off x="594360" y="309067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5. Dimensional analysis cannot give the value of a dimensionless constant.</a:t>
            </a:r>
          </a:p>
        </p:txBody>
      </p:sp>
      <p:sp>
        <p:nvSpPr>
          <p:cNvPr id="12" name="TextBox 11"/>
          <p:cNvSpPr txBox="1"/>
          <p:nvPr/>
        </p:nvSpPr>
        <p:spPr>
          <a:xfrm>
            <a:off x="594360" y="37764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For 3 marks: definition + one use + one limitation.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C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AFTER CLASS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Practice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67</a:t>
            </a:r>
          </a:p>
        </p:txBody>
      </p:sp>
      <p:sp>
        <p:nvSpPr>
          <p:cNvPr id="7" name="TextBox 6"/>
          <p:cNvSpPr txBox="1"/>
          <p:nvPr/>
        </p:nvSpPr>
        <p:spPr>
          <a:xfrm>
            <a:off x="594360" y="107899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If F = a / t + b x², find [a] and [b].</a:t>
            </a:r>
          </a:p>
        </p:txBody>
      </p:sp>
      <p:sp>
        <p:nvSpPr>
          <p:cNvPr id="8" name="TextBox 7"/>
          <p:cNvSpPr txBox="1"/>
          <p:nvPr/>
        </p:nvSpPr>
        <p:spPr>
          <a:xfrm>
            <a:off x="594360" y="15819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If y = A cos(ωt − kx), show [ω]/[k] = L T⁻¹.</a:t>
            </a:r>
          </a:p>
        </p:txBody>
      </p:sp>
      <p:sp>
        <p:nvSpPr>
          <p:cNvPr id="9" name="TextBox 8"/>
          <p:cNvSpPr txBox="1"/>
          <p:nvPr/>
        </p:nvSpPr>
        <p:spPr>
          <a:xfrm>
            <a:off x="594360" y="208483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 Write three uses and two limitations of dimensional analysis.</a:t>
            </a:r>
          </a:p>
        </p:txBody>
      </p:sp>
      <p:sp>
        <p:nvSpPr>
          <p:cNvPr id="10" name="TextBox 9"/>
          <p:cNvSpPr txBox="1"/>
          <p:nvPr/>
        </p:nvSpPr>
        <p:spPr>
          <a:xfrm>
            <a:off x="594360" y="258775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Derive T ∝ √(l/g) for a simple pendulum.</a:t>
            </a:r>
          </a:p>
        </p:txBody>
      </p:sp>
      <p:sp>
        <p:nvSpPr>
          <p:cNvPr id="11" name="TextBox 10"/>
          <p:cNvSpPr txBox="1"/>
          <p:nvPr/>
        </p:nvSpPr>
        <p:spPr>
          <a:xfrm>
            <a:off x="594360" y="30906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5. True/False: A quantity with a unit must have a dimension.</a:t>
            </a:r>
          </a:p>
        </p:txBody>
      </p:sp>
      <p:sp>
        <p:nvSpPr>
          <p:cNvPr id="12" name="TextBox 11"/>
          <p:cNvSpPr txBox="1"/>
          <p:nvPr/>
        </p:nvSpPr>
        <p:spPr>
          <a:xfrm>
            <a:off x="594360" y="35935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6. If E = α / β, and E is energy, β is time, find [α].</a:t>
            </a:r>
          </a:p>
        </p:txBody>
      </p:sp>
      <p:sp>
        <p:nvSpPr>
          <p:cNvPr id="13" name="TextBox 12"/>
          <p:cNvSpPr txBox="1"/>
          <p:nvPr/>
        </p:nvSpPr>
        <p:spPr>
          <a:xfrm>
            <a:off x="594360" y="41879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Next: significant figures and errors (PW later lectures).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