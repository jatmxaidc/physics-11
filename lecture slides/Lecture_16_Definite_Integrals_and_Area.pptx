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Move from indefinite integrals to definite integrals and area.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Tonight we add limits and get a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508" y="516636"/>
            <a:ext cx="11018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>
                <a:solidFill>
                  <a:srgbClr val="D2D2DC"/>
                </a:solidFill>
                <a:latin typeface="Arial Black"/>
              </a:rPr>
              <a:t>EXCELLENCE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75488"/>
            <a:ext cx="11018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>
                <a:solidFill>
                  <a:srgbClr val="FFD646"/>
                </a:solidFill>
                <a:latin typeface="Arial Black"/>
              </a:rPr>
              <a:t>EXCELLENCE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508" y="1540763"/>
            <a:ext cx="110185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5A5A64"/>
                </a:solidFill>
                <a:latin typeface="Aptos"/>
              </a:rPr>
              <a:t>CLASS 11   -   2026-27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99616"/>
            <a:ext cx="110185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Aptos"/>
              </a:rPr>
              <a:t>CLASS 11   -   2026-27</a:t>
            </a:r>
          </a:p>
        </p:txBody>
      </p:sp>
      <p:sp>
        <p:nvSpPr>
          <p:cNvPr id="6" name="Rectangle 5"/>
          <p:cNvSpPr/>
          <p:nvPr/>
        </p:nvSpPr>
        <p:spPr>
          <a:xfrm>
            <a:off x="3794760" y="2084831"/>
            <a:ext cx="4572000" cy="25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874519" y="2468880"/>
            <a:ext cx="84124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74519" y="3127248"/>
            <a:ext cx="8412480" cy="1490472"/>
          </a:xfrm>
          <a:prstGeom prst="roundRect">
            <a:avLst/>
          </a:prstGeom>
          <a:solidFill>
            <a:srgbClr val="000000"/>
          </a:solidFill>
          <a:ln w="1587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80759" y="2615184"/>
            <a:ext cx="16459" cy="38404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4519" y="2596896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00000"/>
                </a:solidFill>
                <a:latin typeface="Aptos"/>
              </a:rPr>
              <a:t>Physics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59" y="2596896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00000"/>
                </a:solidFill>
                <a:latin typeface="Aptos"/>
              </a:rPr>
              <a:t>Lecture - 16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401568"/>
            <a:ext cx="84124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Georgia"/>
              </a:rPr>
              <a:t>Basic Maths and Calculus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3950208"/>
            <a:ext cx="8412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D646"/>
                </a:solidFill>
                <a:latin typeface="Aptos"/>
              </a:rPr>
              <a:t>Definite Integrals and Area under a Curve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82803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By - Excellence Programme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30352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0B6C0"/>
                </a:solidFill>
                <a:latin typeface="Aptos"/>
              </a:rPr>
              <a:t>23 September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101852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D646"/>
                </a:solidFill>
                <a:latin typeface="Aptos"/>
              </a:rPr>
              <a:t>Topics to be covered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3108960" cy="32004"/>
          </a:xfrm>
          <a:prstGeom prst="rect">
            <a:avLst/>
          </a:prstGeom>
          <a:solidFill>
            <a:srgbClr val="FFD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42415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042415"/>
            <a:ext cx="101955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5-minute indefinite-integral recap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3736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737360"/>
            <a:ext cx="101955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Definite integral âˆ«_a^b f(x) dx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432304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432304"/>
            <a:ext cx="101955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Fundamental rule: F(b) âˆ’ F(a)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127248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127248"/>
            <a:ext cx="101955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No +C in definite integrals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822191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822191"/>
            <a:ext cx="101955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Area under a curve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517136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517136"/>
            <a:ext cx="101955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Easy definite-integral practice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21208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5212080"/>
            <a:ext cx="101955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Physics: displacement = area under vâ€“t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40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5-MINUTE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Indefinite integrals from last class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âˆ« f(x) dx = F(x) + 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âˆ« xâ¿ dx = xâ¿âºÂ¹/(n+1) + C     (n â‰  âˆ’1)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âˆ« sin x dx = âˆ’cos x + C     Â·     âˆ« cos x dx = sin x +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Check by differentiating: you must recover f(x)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Quick check: indefinite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9E40"/>
                </a:solidFill>
                <a:latin typeface="Aptos"/>
              </a:rPr>
              <a:t>Find âˆ« (3xÂ² âˆ’ 4) dx.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Quick check: indefinite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1:  âˆ« 3xÂ² dx = xÂ³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2:  âˆ« âˆ’4 dx = âˆ’4x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xÂ³ âˆ’ 4x + 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NEW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Definite integral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A definite integral has lower and upper limits. The answer is a number.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56231"/>
            <a:ext cx="11018520" cy="100584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002536"/>
            <a:ext cx="10689336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081E3F"/>
                </a:solidFill>
                <a:latin typeface="Aptos"/>
              </a:rPr>
              <a:t>âˆ«_a^b f(x) dx = [F(x)]_a^b = F(b) âˆ’ F(a)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090672"/>
            <a:ext cx="11018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F is any antiderivative of f. The constant C cancels, so we omit +C.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867911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Never write +C in a definite integral.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Three easy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1. Find the antiderivative F(x) of f(x)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2. Put the upper limit: F(b)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3. Subtract the lower limit: F(b) âˆ’ F(a)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724912"/>
            <a:ext cx="11018520" cy="82296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871216"/>
            <a:ext cx="10689336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89" b="1">
                <a:solidFill>
                  <a:srgbClr val="081E3F"/>
                </a:solidFill>
                <a:latin typeface="Aptos"/>
              </a:rPr>
              <a:t>Answer = F(upper) âˆ’ F(lower)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First definite integral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9E40"/>
                </a:solidFill>
                <a:latin typeface="Aptos"/>
              </a:rPr>
              <a:t>Evaluate âˆ«_0Â² 2x dx.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First definite integral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1:  Antiderivative: F(x) = xÂ²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2:  F(2) âˆ’ F(0) = 4 âˆ’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âˆ«_0Â² 2x dx = 4.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Power definite integral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9E40"/>
                </a:solidFill>
                <a:latin typeface="Aptos"/>
              </a:rPr>
              <a:t>Evaluate âˆ«_1Â³ xÂ² dx.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Power definite integral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1:  F(x) = xÂ³/3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2:  F(3) âˆ’ F(1) = 27/3 âˆ’ 1/3 = 9 âˆ’ 1/3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26/3.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Polynomial definite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9E40"/>
                </a:solidFill>
                <a:latin typeface="Aptos"/>
              </a:rPr>
              <a:t>Evaluate âˆ«_0^1 (4xÂ³ âˆ’ 2x) dx.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Polynomial definite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1:  F(x) = xâ´ âˆ’ xÂ²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2:  F(1) âˆ’ F(0) = (1 âˆ’ 1) âˆ’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0.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Trig definite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9E40"/>
                </a:solidFill>
                <a:latin typeface="Aptos"/>
              </a:rPr>
              <a:t>Evaluate âˆ«_0^{Ï€/2} cos x dx.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Trig definite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1:  F(x) = sin 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F(Ï€/2) âˆ’ F(0) = sin(Ï€/2) âˆ’ sin 0 = 1 âˆ’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1.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Sine definite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9E40"/>
                </a:solidFill>
                <a:latin typeface="Aptos"/>
              </a:rPr>
              <a:t>Evaluate âˆ«_0^{Ï€/2} sin x dx.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Sine definite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1:  F(x) = âˆ’cos 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Step 2:  F(Ï€/2) âˆ’ F(0) = (âˆ’cos Ï€/2) âˆ’ (âˆ’cos 0) = 0 âˆ’ (âˆ’1)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1.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NEW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Area under a curve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When f(x) â‰¥ 0 on [a, b], the definite integral equals the area between the curve and the x-axis.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947672"/>
            <a:ext cx="11018520" cy="91440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093976"/>
            <a:ext cx="10689336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081E3F"/>
                </a:solidFill>
                <a:latin typeface="Aptos"/>
              </a:rPr>
              <a:t>Area = âˆ«_a^b f(x) dx     (f â‰¥ 0)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090672"/>
            <a:ext cx="11018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If the curve dips below the axis, the integral counts that region as negative.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867911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Area of a region below the axis needs absolute value (or split the integral).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EXACT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Area under y = 2x from 0 to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The region is a right triangle of base 2 and height 4.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10512"/>
            <a:ext cx="4937760" cy="86868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956816"/>
            <a:ext cx="4608576" cy="5760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081E3F"/>
                </a:solidFill>
                <a:latin typeface="Aptos"/>
              </a:rPr>
              <a:t>Area = Â½ Â· 2 Â· 4 = 4 = âˆ«_0Â² 2x dx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46520" y="5108170"/>
            <a:ext cx="4754880" cy="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166956" y="1325880"/>
            <a:ext cx="0" cy="416052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1036808" y="5153890"/>
            <a:ext cx="320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B6C0"/>
                </a:solidFill>
                <a:latin typeface="Aptos"/>
              </a:rPr>
              <a:t>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0964" y="1325880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B6C0"/>
                </a:solidFill>
                <a:latin typeface="Aptos"/>
              </a:rPr>
              <a:t>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07829" y="5053306"/>
            <a:ext cx="0" cy="109728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443237" y="5181322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1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048701" y="5053306"/>
            <a:ext cx="0" cy="109728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884109" y="5181322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2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112092" y="3595254"/>
            <a:ext cx="109728" cy="0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746332" y="3494670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2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112092" y="2082338"/>
            <a:ext cx="109728" cy="0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746332" y="1981754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74348" y="5181322"/>
            <a:ext cx="2377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0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7166956" y="5032525"/>
            <a:ext cx="72044" cy="75645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7239000" y="4956879"/>
            <a:ext cx="72043" cy="7564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7311043" y="4881233"/>
            <a:ext cx="72044" cy="7564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7383087" y="4805587"/>
            <a:ext cx="72043" cy="7564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7455130" y="4729941"/>
            <a:ext cx="72044" cy="7564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7527174" y="4654296"/>
            <a:ext cx="72044" cy="75645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7599218" y="4578650"/>
            <a:ext cx="72043" cy="7564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7671261" y="4503004"/>
            <a:ext cx="72044" cy="7564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7743305" y="4427358"/>
            <a:ext cx="72044" cy="7564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7815349" y="4351712"/>
            <a:ext cx="72043" cy="7564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7887392" y="4276066"/>
            <a:ext cx="72044" cy="7564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7959436" y="4200421"/>
            <a:ext cx="72044" cy="75645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8031480" y="4124775"/>
            <a:ext cx="72043" cy="7564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8103523" y="4049129"/>
            <a:ext cx="72044" cy="7564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8175567" y="3973483"/>
            <a:ext cx="72043" cy="7564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8247610" y="3897837"/>
            <a:ext cx="72044" cy="7564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8319654" y="3822191"/>
            <a:ext cx="72044" cy="7564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8391698" y="3746546"/>
            <a:ext cx="72043" cy="75645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8463741" y="3670900"/>
            <a:ext cx="72044" cy="7564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8535785" y="3595254"/>
            <a:ext cx="72044" cy="7564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8607829" y="3519608"/>
            <a:ext cx="72043" cy="7564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8679872" y="3443962"/>
            <a:ext cx="72044" cy="7564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8751916" y="3368317"/>
            <a:ext cx="72044" cy="75645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8823960" y="3292671"/>
            <a:ext cx="72043" cy="7564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8896003" y="3217025"/>
            <a:ext cx="72044" cy="7564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8968047" y="3141379"/>
            <a:ext cx="72043" cy="7564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9040090" y="3065733"/>
            <a:ext cx="72044" cy="7564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9112134" y="2990088"/>
            <a:ext cx="72044" cy="75645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9184178" y="2914442"/>
            <a:ext cx="72043" cy="7564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9256221" y="2838796"/>
            <a:ext cx="72044" cy="7564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9328265" y="2763150"/>
            <a:ext cx="72044" cy="7564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9400309" y="2687504"/>
            <a:ext cx="72043" cy="7564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9472352" y="2611858"/>
            <a:ext cx="72044" cy="7564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9544396" y="2536213"/>
            <a:ext cx="72044" cy="75645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9616440" y="2460567"/>
            <a:ext cx="72043" cy="7564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9688483" y="2384921"/>
            <a:ext cx="72044" cy="7564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9760527" y="2309275"/>
            <a:ext cx="72043" cy="7564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9832570" y="2233629"/>
            <a:ext cx="72044" cy="7564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9904614" y="2157984"/>
            <a:ext cx="72044" cy="75645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9976658" y="2082338"/>
            <a:ext cx="72043" cy="7564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7239000" y="5032525"/>
            <a:ext cx="0" cy="75645"/>
          </a:xfrm>
          <a:prstGeom prst="line">
            <a:avLst/>
          </a:prstGeom>
          <a:ln w="152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7555992" y="4699683"/>
            <a:ext cx="0" cy="408487"/>
          </a:xfrm>
          <a:prstGeom prst="line">
            <a:avLst/>
          </a:prstGeom>
          <a:ln w="152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7872983" y="4366841"/>
            <a:ext cx="0" cy="741329"/>
          </a:xfrm>
          <a:prstGeom prst="line">
            <a:avLst/>
          </a:prstGeom>
          <a:ln w="152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8189976" y="4034000"/>
            <a:ext cx="0" cy="1074170"/>
          </a:xfrm>
          <a:prstGeom prst="line">
            <a:avLst/>
          </a:prstGeom>
          <a:ln w="152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8506968" y="3701158"/>
            <a:ext cx="0" cy="1407012"/>
          </a:xfrm>
          <a:prstGeom prst="line">
            <a:avLst/>
          </a:prstGeom>
          <a:ln w="152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8823960" y="3368317"/>
            <a:ext cx="0" cy="1739853"/>
          </a:xfrm>
          <a:prstGeom prst="line">
            <a:avLst/>
          </a:prstGeom>
          <a:ln w="152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9140952" y="3035475"/>
            <a:ext cx="0" cy="2072695"/>
          </a:xfrm>
          <a:prstGeom prst="line">
            <a:avLst/>
          </a:prstGeom>
          <a:ln w="152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9457944" y="2702633"/>
            <a:ext cx="0" cy="2405537"/>
          </a:xfrm>
          <a:prstGeom prst="line">
            <a:avLst/>
          </a:prstGeom>
          <a:ln w="152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9774936" y="2369792"/>
            <a:ext cx="0" cy="2738378"/>
          </a:xfrm>
          <a:prstGeom prst="line">
            <a:avLst/>
          </a:prstGeom>
          <a:ln w="152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Oval 71"/>
          <p:cNvSpPr/>
          <p:nvPr/>
        </p:nvSpPr>
        <p:spPr>
          <a:xfrm>
            <a:off x="9998409" y="2032046"/>
            <a:ext cx="100584" cy="100584"/>
          </a:xfrm>
          <a:prstGeom prst="ellipse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140141" y="1826306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AD680"/>
                </a:solidFill>
                <a:latin typeface="Aptos"/>
              </a:rPr>
              <a:t>(2, 4)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Area under a 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9E40"/>
                </a:solidFill>
                <a:latin typeface="Aptos"/>
              </a:rPr>
              <a:t>Find the area under y = x from x = 0 to x = 4.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Area under a 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1:  Area = âˆ«_0â´ x dx = [xÂ²/2]_0â´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2: = 16/2 âˆ’ 0 =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Area = 8 square units.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Area under a parabola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9E40"/>
                </a:solidFill>
                <a:latin typeface="Aptos"/>
              </a:rPr>
              <a:t>Find the area under y = xÂ² from x = 0 to x = 2.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Area under a parabola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1:  Area = âˆ«_0Â² xÂ² dx = [xÂ³/3]_0Â²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2: = 8/3 âˆ’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Area = 8/3 square units.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Area under cosine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9E40"/>
                </a:solidFill>
                <a:latin typeface="Aptos"/>
              </a:rPr>
              <a:t>Find the area under y = cos x from x = 0 to x = Ï€/2.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Area under cosine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Area = âˆ«_0^{Ï€/2} cos x dx = [sin x]_0^{Ï€/2}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2: = 1 âˆ’ 0 =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Area = 1 square unit.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Two useful properties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31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11018520" cy="82296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25295"/>
            <a:ext cx="10689336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081E3F"/>
                </a:solidFill>
                <a:latin typeface="Aptos"/>
              </a:rPr>
              <a:t>âˆ«_a^b f = âˆ’ âˆ«_b^a f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176272"/>
            <a:ext cx="11018520" cy="86868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322576"/>
            <a:ext cx="10689336" cy="5760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1E3F"/>
                </a:solidFill>
                <a:latin typeface="Aptos"/>
              </a:rPr>
              <a:t>âˆ«_a^b f = âˆ«_a^c f + âˆ«_c^b 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3192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You may split an interval at a convenient point 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050791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Swapping limits changes the sign of the integral.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Swap limits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9E40"/>
                </a:solidFill>
                <a:latin typeface="Aptos"/>
              </a:rPr>
              <a:t>If âˆ«_0Â² 2x dx = 4, find âˆ«_2â° 2x dx.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Swap limits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1:  Swapping limits multiplies by âˆ’1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âˆ«_2â° 2x dx = âˆ’4.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Split the interval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9E40"/>
                </a:solidFill>
                <a:latin typeface="Aptos"/>
              </a:rPr>
              <a:t>Evaluate âˆ«_0â´ x dx by splitting at x = 2.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Split the interval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1:  âˆ«_0â´ = âˆ«_0Â² + âˆ«_2â´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2:  âˆ«_0Â² x dx = 2     Â·     âˆ«_2â´ x dx = [xÂ²/2]_2â´ = 8 âˆ’ 2 =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2 + 6 = 8.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Constant integrand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9E40"/>
                </a:solidFill>
                <a:latin typeface="Aptos"/>
              </a:rPr>
              <a:t>Evaluate âˆ«_1âµ 3 dx.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Constant integrand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1:  F(x) = 3x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2:  F(5) âˆ’ F(1) = 15 âˆ’ 3 =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12.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Exponential definite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9E40"/>
                </a:solidFill>
                <a:latin typeface="Aptos"/>
              </a:rPr>
              <a:t>Evaluate âˆ«_0^1 eË£ dx.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Exponential definite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1:  F(x) = eË£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2:  F(1) âˆ’ F(0) = e âˆ’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e âˆ’ 1.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Mixed polynomial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9E40"/>
                </a:solidFill>
                <a:latin typeface="Aptos"/>
              </a:rPr>
              <a:t>Evaluate âˆ«_0Â² (xÂ³ + 2x) dx.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Mixed polynomial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1:  F(x) = xâ´/4 + xÂ²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2:  F(2) âˆ’ F(0) = (4 + 4) âˆ’ 0 =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8.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NEW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Physics: area under vâ€“t graph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On a velocityâ€“time graph, the area between the curve and the t-axis is displacement.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901952"/>
            <a:ext cx="11018520" cy="96012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048256"/>
            <a:ext cx="10689336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081E3F"/>
                </a:solidFill>
                <a:latin typeface="Aptos"/>
              </a:rPr>
              <a:t>displacement = âˆ«_{tâ‚}^{tâ‚‚} v(t) dt = area under vâ€“t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090672"/>
            <a:ext cx="11018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Same idea as last class: integrating velocity recovers position change.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867911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Area below the t-axis means displacement in the opposite direction.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Constant velocity displacement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9E40"/>
                </a:solidFill>
                <a:latin typeface="Aptos"/>
              </a:rPr>
              <a:t>If v = 5 m sâ»Â¹ from t = 0 to t = 4 s, find the displacement.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Constant velocity displacement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1:  s = âˆ«_0â´ 5 dt = [5t]_0â´ = 20 âˆ’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2:  Area of rectangle = 5 Ã— 4 = 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Displacement = 20 m.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Linear velocity displacement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9E40"/>
                </a:solidFill>
                <a:latin typeface="Aptos"/>
              </a:rPr>
              <a:t>If v = 2t (m sâ»Â¹) from t = 0 to t = 3 s, find the displacement.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Linear velocity displacement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1:  s = âˆ«_0Â³ 2t dt = [tÂ²]_0Â³ =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2:  Triangle area = Â½ Â· 3 Â· 6 =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Displacement = 9 m.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From a to Î”v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9E40"/>
                </a:solidFill>
                <a:latin typeface="Aptos"/>
              </a:rPr>
              <a:t>If a = 3 m sâ»Â² (constant) from t = 0 to t = 2 s and u = 0, find v at t = 2.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From a to Î”v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1:  Î”v = âˆ«_0Â² a dt = âˆ«_0Â² 3 dt =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2:  v = u + Î”v = 0 + 6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v = 6 m sâ»Â¹.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Homework: definite power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9E40"/>
                </a:solidFill>
                <a:latin typeface="Aptos"/>
              </a:rPr>
              <a:t>Evaluate âˆ«_1Â² (3xÂ² âˆ’ 1) dx.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Homework: definite power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1:  F(x) = xÂ³ âˆ’ 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2:  F(2) âˆ’ F(1) = (8 âˆ’ 2) âˆ’ (1 âˆ’ 1) =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6.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Homework: area under 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9E40"/>
                </a:solidFill>
                <a:latin typeface="Aptos"/>
              </a:rPr>
              <a:t>Find the area under y = 3x from x = 1 to x = 3.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Homework: area under 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Area = âˆ«_1Â³ 3x dx = [3xÂ²/2]_1Â³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2: = (27/2) âˆ’ (3/2) = 24/2 =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Area = 12 square units.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Homework: check by graph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9E40"/>
                </a:solidFill>
                <a:latin typeface="Aptos"/>
              </a:rPr>
              <a:t>v falls from 10 m/s to 0 in 5 s on a straight vâ€“t graph. Find displacement.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Homework: check by graph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1:  Triangle area = Â½ Â· 5 Â· 10 =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2:  Or: v = 10 âˆ’ 2t;  âˆ«_0âµ (10 âˆ’ 2t) dt = [10t âˆ’ tÂ²]_0âµ = 50 âˆ’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Displacement = 25 m.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CLASS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Definite-integral lock lines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âˆ«_a^b f(x) dx = F(b) âˆ’ F(a)     (no +C)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If f â‰¥ 0, this equals area under the curve from a to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âˆ«_a^b f = âˆ’âˆ«_b^a f     Â·     split intervals when useful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Displacement = area under the vâ€“t graph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C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AFTER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Practice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1. Redo every definite-integral question without the solution.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37360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2. For each area question, also sketch the region.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95728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3. Convert one vâ€“t triangle or rectangle into an âˆ« statement.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054096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4. Write: indefinite needs +C; definite does not.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822191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Forgetting to subtract F(a) is the most common definite-integral error.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