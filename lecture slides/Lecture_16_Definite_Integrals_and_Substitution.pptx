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4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Move from indefinite integrals to definite integrals and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Tonight we add limits and get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 panose="020B0A04020102020204"/>
              </a:rPr>
              <a:t>EXCELLENCE</a:t>
            </a:r>
            <a:endParaRPr sz="6200" b="1">
              <a:solidFill>
                <a:srgbClr val="D2D2DC"/>
              </a:solidFill>
              <a:latin typeface="Arial Black" panose="020B0A040201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 panose="020B0A04020102020204"/>
              </a:rPr>
              <a:t>EXCELLENCE</a:t>
            </a:r>
            <a:endParaRPr sz="6200" b="1">
              <a:solidFill>
                <a:srgbClr val="FFD646"/>
              </a:solidFill>
              <a:latin typeface="Arial Black" panose="020B0A040201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-  2026-27</a:t>
            </a:r>
            <a:endParaRPr sz="3000" b="1">
              <a:solidFill>
                <a:srgbClr val="5A5A6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-  2026-27</a:t>
            </a:r>
            <a:endParaRPr sz="3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  <a:endParaRPr sz="25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- 16</a:t>
            </a:r>
            <a:endParaRPr sz="2500" b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 panose="02040502050405020303"/>
              </a:rPr>
              <a:t>Basic Maths and Calculus</a:t>
            </a:r>
            <a:endParaRPr sz="32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D646"/>
                </a:solidFill>
                <a:latin typeface="Aptos"/>
              </a:rPr>
              <a:t>Definite Integrals, Area and Substitution</a:t>
            </a:r>
            <a:endParaRPr sz="17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23 September 2026</a:t>
            </a:r>
            <a:endParaRPr sz="18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  <a:endParaRPr sz="32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7320" y="1042415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Indefinite-integral recap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Definite integral: ∫ f(x) dx from a to b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2432304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Fundamental rule: F(b) − F(a)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No +C in definite integrals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1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Area under a curve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451713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20" y="4517136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Definite practice · then substitution (u, du)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52120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  <a:endParaRPr sz="23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17320" y="5212080"/>
            <a:ext cx="101955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Displacement = area under v–t · Substitution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Indefinite-integral recap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∫ f(x) dx = F(x) + C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∫ xⁿ dx = xⁿ⁺¹/(n+1) + C  (n ≠ −1)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∫ sin x dx = −cos x + C  ·  ∫ cos x dx = sin x + C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Check by differentiating: you must recover f(x)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Quick check: indefinite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(3x² − 4) dx.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Quick check: indefinite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∫ 3x² dx = x³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−4 dx = −4x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x³ − 4x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integral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definite integral has lower and upper limits. The answer is a number.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02536"/>
            <a:ext cx="106893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∫ f(x) dx from a to b = [F(x)]_a^b = F(b) − F(a)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 is any antiderivative of f. The constant C cancels, so we omit +C.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write +C in a definite integral.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easy steps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1. Find the antiderivative F(x) of f(x)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2. Put the upper limit: F(b)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3. Subtract the lower limit: F(b) − F(a)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272491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71216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81E3F"/>
                </a:solidFill>
                <a:latin typeface="Aptos"/>
              </a:rPr>
              <a:t>Answer = F(upper) − F(lower)</a:t>
            </a:r>
            <a:endParaRPr sz="1890" b="1">
              <a:solidFill>
                <a:srgbClr val="081E3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First definite integral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∫ 2x dx from 0 to 2.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First definite integral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Antiderivative: F(x) = x²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F(2) − F(0) = 4 − 0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∫ 2x dx from 0 to 2 = 4.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Power definite integral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∫ x² dx from 1 to 3.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Power definite integral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x³/3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F(3) − F(1) = 27/3 − 1/3 = 9 − 1/3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26/3.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Polynomial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 (4x³ − 2x) dx from 0 to 1.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Polynomial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x⁴ − x²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F(1) − F(0) = (1 − 1) − 0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0.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Trig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 cos x dx from 0 to π/2.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Trig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sin 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F(π/2) − F(0) = sin(π/2) − sin 0 = 1 − 0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Sine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 sin x dx from 0 to π/2.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Sine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−cos 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F(π/2) − F(0) = (−cos π/2) − (−cos 0) = 0 − (−1)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a curve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f(x) ≥ 0 on [a, b], the definite integral equals the area between the curve and the x-axis.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Area = ∫ f(x) dx  (f ≥ 0) from a to b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curve dips below the axis, the integral counts that region as negative.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Area of a region below the axis needs absolute value (or split the integral).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EXACT GRAPH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y = 2x from 0 to 2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region is a right triangle of base 2 and height 4.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810512"/>
            <a:ext cx="493776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56816"/>
            <a:ext cx="460857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081E3F"/>
                </a:solidFill>
                <a:latin typeface="Aptos"/>
              </a:rPr>
              <a:t>Area = ½ · 2 · 4 = 4 = ∫ 2x dx from 0 to 2</a:t>
            </a:r>
            <a:endParaRPr sz="1530" b="1">
              <a:solidFill>
                <a:srgbClr val="081E3F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446520" y="5108170"/>
            <a:ext cx="475488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66956" y="1325880"/>
            <a:ext cx="0" cy="416052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036808" y="515389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  <a:endParaRPr sz="13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30964" y="132588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  <a:endParaRPr sz="13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607829" y="505330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43237" y="5181322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22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0048701" y="5053306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84109" y="5181322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22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112092" y="3595254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46332" y="349467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22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112092" y="2082338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46332" y="1981754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22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74348" y="5181322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22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7166956" y="5032525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39000" y="4956879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311043" y="4881233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83087" y="4805587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455130" y="4729941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527174" y="4654296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599218" y="4578650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671261" y="4503004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43305" y="4427358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815349" y="4351712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887392" y="4276066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959436" y="4200421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031480" y="4124775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03523" y="4049129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175567" y="3973483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247610" y="3897837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19654" y="3822191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391698" y="3746546"/>
            <a:ext cx="72043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463741" y="3670900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535785" y="3595254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07829" y="3519608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679872" y="3443962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751916" y="3368317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823960" y="3292671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896003" y="3217025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968047" y="3141379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40090" y="3065733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12134" y="2990088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184178" y="2914442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256221" y="2838796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328265" y="2763150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400309" y="2687504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472352" y="2611858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544396" y="2536213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616440" y="2460567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688483" y="2384921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760527" y="2309275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832570" y="2233629"/>
            <a:ext cx="72044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904614" y="2157984"/>
            <a:ext cx="72044" cy="75645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976658" y="2082338"/>
            <a:ext cx="72043" cy="75646"/>
          </a:xfrm>
          <a:prstGeom prst="line">
            <a:avLst/>
          </a:prstGeom>
          <a:ln w="3302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239000" y="5032525"/>
            <a:ext cx="0" cy="75645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555992" y="4699683"/>
            <a:ext cx="0" cy="408487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872983" y="4366841"/>
            <a:ext cx="0" cy="741329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189976" y="4034000"/>
            <a:ext cx="0" cy="1074170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506968" y="3701158"/>
            <a:ext cx="0" cy="1407012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823960" y="3368317"/>
            <a:ext cx="0" cy="1739853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140952" y="3035475"/>
            <a:ext cx="0" cy="2072695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457944" y="2702633"/>
            <a:ext cx="0" cy="2405537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774936" y="2369792"/>
            <a:ext cx="0" cy="2738378"/>
          </a:xfrm>
          <a:prstGeom prst="line">
            <a:avLst/>
          </a:prstGeom>
          <a:ln w="152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998409" y="2032046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40141" y="1826306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(2, 4)</a:t>
            </a:r>
            <a:endParaRPr sz="120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a line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the area under y = x from x = 0 to x = 4.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under a line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Area = ∫ x dx from 0 to 4 = [x²/2] from 0 to 4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16/2 − 0 = 8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8 square units.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a parabola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the area under y = x² from x = 0 to x = 2.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under a parabola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Area = ∫ x² dx from 0 to 2 = [x³/3] from 0 to 2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8/3 − 0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8/3 square units.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under cosine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under y = cos x from x = 0 to x = π/2.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under cosine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Area = ∫ cos x dx from 0 to π/2 = [sin x] from 0 to π/2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1 − 0 = 1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1 square unit.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useful properties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∫ f from a to b = − ∫ f from b to a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217627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22576"/>
            <a:ext cx="1068933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∫ f from a to b = ∫_a^c f + ∫_c^b f</a:t>
            </a:r>
            <a:endParaRPr sz="18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319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You may split an interval at a convenient point c.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4050791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Swapping limits changes the sign of the integral.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Swap limits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If ∫ 2x dx from 0 to 2 = 4, find ∫ 2x dx from 2 to 0.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Swap limits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Swapping limits multiplies by −1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∫ 2x dx from 2 to 0 = −4.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Split the interval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 x dx from 0 to 4 by splitting at x = 2.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Split the interval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∫ = ∫ + ∫ from 2 to 4 from 0 to 4 from 0 to 2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∫ x dx from 0 to 2 = 2  ·  ∫ x dx from 2 to 4 = [x²/2] from 2 to 4 = 8 − 2 = 6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 + 6 = 8.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Constant integrand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∫ 3 dx from 1 to 5.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Constant integrand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3x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F(5) − F(1) = 15 − 3 = 12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12.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∫ e^x dx from 0 to 1.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e^x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F(1) − F(0) = e − 1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e − 1.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 polynomial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 (x³ + 2x) dx from 0 to 2.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 polynomial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x⁴/4 + x²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F(2) − F(0) = (4 + 4) − 0 = 8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8.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Physics: area under v–t graph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On a velocity–time graph, the area between the curve and the t-axis is displacement.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displacement = ∫ v(t) dt from t₁ to t₂ = area under v–t</a:t>
            </a:r>
            <a:endParaRPr sz="171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Same idea as last class: integrating velocity recovers position change.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Area below the t-axis means displacement in the opposite direction.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Constant velocity displacement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5 m s⁻¹ from t = 0 to t = 4 s, find the displacement.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Constant velocity displacement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s = ∫ 5 dt from 0 to 4 = [5t] from 0 to 4 = 20 − 0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Area of rectangle = 5 Ã— 4 = 20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= 20 m.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Linear velocity displacement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2t (m s⁻¹) from t = 0 to t = 3 s, find the displacement.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Linear velocity displacement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s = ∫ 2t dt from 0 to 3 = [t²] from 0 to 3 = 9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Triangle area = ½ · 3 · 6 = 9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= 9 m.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From a to Δv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If a = 3 m s⁻² (constant) from t = 0 to t = 2 s and u = 0, find v at t = 2.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From a to Δv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Δv = ∫ a dt from 0 to 2 = ∫ 3 dt from 0 to 2 = 6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v = u + Δv = 0 + 6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 = 6 m s⁻¹.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definite power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 (3x² − 1) dx from 1 to 2.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definite power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x³ − 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F(2) − F(1) = (8 − 2) − (1 − 1) = 6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6.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area under line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under y = 3x from x = 1 to x = 3.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area under line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Area = ∫ 3x dx from 1 to 3 = [3x²/2] from 1 to 3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= (27/2) − (3/2) = 24/2 = 12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12 square units.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check by graph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v falls from 10 m/s to 0 in 5 s on a straight v–t graph. Find displacement.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check by graph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Triangle area = ½ · 5 · 10 = 25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Or: v = 10 − 2t;  ∫ (10 − 2t) dt from 0 to 5 = [10t − t²] from 0 to 5 = 50 − 25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= 25 m.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Definite-integral lock lines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∫ f(x) dx from a to b = F(b) − F(a)  (no +C)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If f ≥ 0, this equals area under the curve from a to b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∫ f from a to b = −∫ f from b to a  ·  split intervals when useful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Displacement = area under the v–t graph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every definite-integral question without the solution.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For each area question, also sketch the region.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Convert one v–t triangle or rectangle into an ∫ statement.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Write: indefinite needs +C; definite does not.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Forgetting to subtract F(a) is the most common definite-integral error.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Quick recap, then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∫ f(x) dx from a to b = F(b) − F(a)  (no +C)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If f ≥ 0, this is the area under the curve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Displacement = area under the v–t graph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∫ xⁿ dx = xⁿ⁺¹/(n+1) + C  (n ≠ −1)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Quick check: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Evaluate ∫ 2x dx from 0 to 3.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Quick check: definite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F(x) = x²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F(3) − F(0) = 9 − 0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9.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Substitution: chain rule in reverse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Chain rule: d/dx [F(u)] = F'(u) · du/dx.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So if the integrand looks like f(u) · (du/dx), integrate with respect to u.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249631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642616"/>
            <a:ext cx="10689336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∫ f(u) (du/dx) dx = ∫ f(u) du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replace dx as well — do not leave a mixture of u and x.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Four board steps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1. Choose u = (the inside function)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2. Differentiate: du/dx = …  →  write du = (…) dx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3. Rewrite the whole integral in u only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4. Integrate, then put x back (or change limits)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Simple linear inside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(2x + 3)³ · 2 dx.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Simple linear inside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Let u = 2x + 3  →  du = 2 dx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Integral becomes ∫ u³ du = u⁴/4 + C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(2x + 3)⁴/4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Missing constant factor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(2x + 3)³ dx.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Missing constant factor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 = 2x + 3  →  du = 2 dx  →  dx = du/2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∫ u³ (du/2) = (1/2) · u⁴/4 + C = u⁴/8 + C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(2x + 3)⁴/8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95935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du has a constant factor, bring 1/that factor outside.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Power of a linear expression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√(3x + 1) dx.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Power of a linear expression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 = 3x + 1  →  du = 3 dx  →  dx = du/3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∫ u¹ᐟ² (du/3) = (1/3) · u³ᐟ²/(3/2) + C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= (1/3)·(2/3) u³ᐟ² + C = (2/9) u³ᐟ² + C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(2/9)(3x + 1)³ᐟ²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e^(2x) · 2 dx.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2x  →  du = 2 dx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e^u du = e^u + C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e^(2x)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without the 2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e^(2x) dx.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 without the 2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2x  →  dx = du/2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∫ e^u (du/2) = (1/2) e^u + C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(1/2) e^(2x)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Sine of a linear angle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sin(3x) dx.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Sine of a linear angle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3x  →  dx = du/3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∫ sin u (du/3) = −(1/3) cos u + C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−(1/3) cos(3x)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Cosine of a linear angle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cos(5x) dx.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Cosine of a linear angle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5x  →  dx = du/5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(1/5) sin(5x)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Chain-rule lookalike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2x cos(x²) dx.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Chain-rule lookalike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x²  →  du = 2x dx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cos u du = sin u + C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sin(x²)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Reciprocal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(2x)/(x² + 1) dx.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Reciprocal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u = x² + 1  →  du = 2x dx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du/u = ln|u| + C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ln|x² + 1|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integrals with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Two clean options: change the limits to u, or substitute back to x then use F(b) − F(a).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Preferred: change limits with u  →  no need to return to x</a:t>
            </a:r>
            <a:endParaRPr sz="171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13639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you change variable, you must also change both limits.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Changing limits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When x = a, compute u(a)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When x = b, compute u(b)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Then evaluate ∫ f(u) du from u(a) to u(b)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Do not put x-limits on a u-integral.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with linear u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 (2x + 1)³ from 0 to 1 · 2 dx.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with linear u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u = 2x + 1  →  du = 2 dx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x = 0 → u = 1;  x = 1 → u = 3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∫ u³ du from 1 to 3 = [u⁴/4] from 1 to 3 = 81/4 − 1/4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20.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sine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 cos(3x) from 0 to π/6 · 3 dx.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sine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u = 3x  →  du = 3 dx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x = 0 → u = 0;  x = π/6 → u = π/2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∫ cos u du from 0 to π/2 = [sin u] from 0 to π/2 = 1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without the factor ready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 e^(2x) dx from 0 to 1.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without the factor ready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u = 2x  →  dx = du/2;  x = 0 → u = 0;  x = 1 → u = 2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∫ e^u (du/2) from 0 to 2 = (1/2)[e^u] from 0 to 2 = (1/2)(e² − 1)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(e² − 1)/2.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Definite reciprocal form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 2x/(x² + 1) dx from 0 to 1.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Definite reciprocal form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u = x² + 1  →  du = 2x dx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x = 0 → u = 1;  x = 1 → u = 2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∫ du/u from 1 to 2 = [ln|u|] from 1 to 2 = ln 2 − ln 1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ln 2.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 with substitution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acceleration or velocity is a composite function of time, substitute the inside.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Same four steps — then put the physical limits of t</a:t>
            </a:r>
            <a:endParaRPr sz="171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Keep units on the final number.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Velocity from a = 2t + 1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a = 2t + 1 and v = 0 at t = 0, find v at t = 2.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Velocity from a = 2t + 1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v = ∫ (2t + 1) dt from 0 to 2 = [t² + t] from 0 to 2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(4 + 2) − 0 = 6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 = 6 m s⁻¹.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Displacement with v = 3t²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3t² and x = 0 at t = 0, find x at t = 2.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Displacement with v = 3t²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x = ∫ 3t² dt from 0 to 2 = [t³] from 0 to 2 = 8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8 m.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Composite velocity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v = 2t cos(t²) and x = 0 at t = 0, find x at t = √(π/2).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Composite velocity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u = t²  →  du = 2t dt;  t = 0 → u = 0;  t = √(π/2) → u = π/2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x = ∫ cos u du from 0 to π/2 = [sin u] from 0 to π/2 = 1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1 m.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Mixed: identify u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∫ 6x² (x³ + 4)⁵ dx.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Mixed: identify u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u = x³ + 4  →  du = 3x² dx  →  6x² dx = 2 du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∫ 2 u⁵ du = 2 · u⁶/6 + C = u⁶/3 + C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(x³ + 4)⁶/3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Mixed: definite power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 4x (x² + 1)³ dx from 0 to 1.</a:t>
            </a:r>
            <a:endParaRPr sz="21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Mixed: definite power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u = x² + 1  →  du = 2x dx  →  4x dx = 2 du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x = 0 → u = 1;  x = 1 → u = 2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∫ 2 u³ du from 1 to 2 = 2[u⁴/4] from 1 to 2 = (1/2)(16 − 1)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15/2.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sin(2x)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9E40"/>
                </a:solidFill>
                <a:latin typeface="Aptos"/>
              </a:rPr>
              <a:t>Find ∫ sin(2x) dx.</a:t>
            </a:r>
            <a:endParaRPr sz="23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sin(2x)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2x  →  dx = du/2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−(1/2) cos(2x)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definite e^(3x)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Evaluate ∫ e^(3x) dx from 0 to 1.</a:t>
            </a:r>
            <a:endParaRPr sz="22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definite e^(3x)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 = 3x  →  dx = du/3;  limits 0 → 3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(1/3)[e^u] from 0 to 3 = (e³ − 1)/3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(e³ − 1)/3.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check by differentiate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Differentiate y = (1/5) sin(5x) and confirm it matches cos(5x).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check by differentiate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dy/dx = (1/5) · cos(5x) · 5 = cos(5x)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Check successful — so ∫ cos(5x) dx = (1/5) sin(5x) + C.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Substitution lock lines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Substitution = chain rule written backwards</a:t>
            </a:r>
            <a:endParaRPr sz="171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Choose u, write du, rewrite the whole integral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For definite integrals, change both limits with u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Always check by differentiating the answer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every substitution question without looking.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For each indefinite answer, differentiate and recover the integrand.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Practise changing limits on three definite examples.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Write one physics ∫ with a composite function of t.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Leaving a mix of u and x in the same integral is the classic trap.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14062</Words>
  <Application>WPS Presentation</Application>
  <PresentationFormat>On-screen Show (4:3)</PresentationFormat>
  <Paragraphs>1324</Paragraphs>
  <Slides>125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35" baseType="lpstr">
      <vt:lpstr>Arial</vt:lpstr>
      <vt:lpstr>SimSun</vt:lpstr>
      <vt:lpstr>Wingdings</vt:lpstr>
      <vt:lpstr>Arial</vt:lpstr>
      <vt:lpstr>Arial Black</vt:lpstr>
      <vt:lpstr>Aptos</vt:lpstr>
      <vt:lpstr>Segoe UI</vt:lpstr>
      <vt:lpstr>Georgia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manish jat</cp:lastModifiedBy>
  <cp:revision>2</cp:revision>
  <dcterms:created xsi:type="dcterms:W3CDTF">2013-01-27T09:14:00Z</dcterms:created>
  <dcterms:modified xsi:type="dcterms:W3CDTF">2026-09-24T13:26:59Z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6431471B6055443ABAB0488F106BB7FD_12</vt:lpwstr>
  </property>
  <property fmtid="{D5CDD505-2E9C-101B-9397-08002B2CF9AE}" pid="3" name="KSOProductBuildVer">
    <vt:lpwstr>1033-12.1.0.28485</vt:lpwstr>
  </property>
</Properties>
</file>