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  <p:sldId id="295" r:id="rId47"/>
    <p:sldId id="296" r:id="rId48"/>
    <p:sldId id="297" r:id="rId49"/>
    <p:sldId id="298" r:id="rId50"/>
    <p:sldId id="299" r:id="rId51"/>
    <p:sldId id="300" r:id="rId52"/>
    <p:sldId id="301" r:id="rId53"/>
    <p:sldId id="302" r:id="rId54"/>
    <p:sldId id="303" r:id="rId55"/>
    <p:sldId id="304" r:id="rId5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Relationship Id="rId43" Type="http://schemas.openxmlformats.org/officeDocument/2006/relationships/slide" Target="slides/slide36.xml"/><Relationship Id="rId44" Type="http://schemas.openxmlformats.org/officeDocument/2006/relationships/slide" Target="slides/slide37.xml"/><Relationship Id="rId45" Type="http://schemas.openxmlformats.org/officeDocument/2006/relationships/slide" Target="slides/slide38.xml"/><Relationship Id="rId46" Type="http://schemas.openxmlformats.org/officeDocument/2006/relationships/slide" Target="slides/slide39.xml"/><Relationship Id="rId47" Type="http://schemas.openxmlformats.org/officeDocument/2006/relationships/slide" Target="slides/slide40.xml"/><Relationship Id="rId48" Type="http://schemas.openxmlformats.org/officeDocument/2006/relationships/slide" Target="slides/slide41.xml"/><Relationship Id="rId49" Type="http://schemas.openxmlformats.org/officeDocument/2006/relationships/slide" Target="slides/slide42.xml"/><Relationship Id="rId50" Type="http://schemas.openxmlformats.org/officeDocument/2006/relationships/slide" Target="slides/slide43.xml"/><Relationship Id="rId51" Type="http://schemas.openxmlformats.org/officeDocument/2006/relationships/slide" Target="slides/slide44.xml"/><Relationship Id="rId52" Type="http://schemas.openxmlformats.org/officeDocument/2006/relationships/slide" Target="slides/slide45.xml"/><Relationship Id="rId53" Type="http://schemas.openxmlformats.org/officeDocument/2006/relationships/slide" Target="slides/slide46.xml"/><Relationship Id="rId54" Type="http://schemas.openxmlformats.org/officeDocument/2006/relationships/slide" Target="slides/slide47.xml"/><Relationship Id="rId55" Type="http://schemas.openxmlformats.org/officeDocument/2006/relationships/slide" Target="slides/slide48.xml"/><Relationship Id="rId56" Type="http://schemas.openxmlformats.org/officeDocument/2006/relationships/slide" Target="slides/slide49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2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8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PW Motion in a Straight Line Lecture 01. Full figures + explanations.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Empty board for extra working.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Empty board for extra working.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Empty board for extra working.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Empty board for extra working.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Empty board for extra working.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Empty board for extra working.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Empty board for extra working.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Empty board for extra working.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35508" y="516636"/>
            <a:ext cx="1101852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6200" b="1">
                <a:solidFill>
                  <a:srgbClr val="D2D2DC"/>
                </a:solidFill>
                <a:latin typeface="Arial Black"/>
              </a:rPr>
              <a:t>EXCELLENCE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475488"/>
            <a:ext cx="1101852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6200" b="1">
                <a:solidFill>
                  <a:srgbClr val="FFD646"/>
                </a:solidFill>
                <a:latin typeface="Arial Black"/>
              </a:rPr>
              <a:t>EXCELLENCE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35508" y="1540763"/>
            <a:ext cx="11018520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5A5A64"/>
                </a:solidFill>
                <a:latin typeface="Aptos"/>
              </a:rPr>
              <a:t>CLASS 11   -   2026-27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499616"/>
            <a:ext cx="11018520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FFFFFF"/>
                </a:solidFill>
                <a:latin typeface="Aptos"/>
              </a:rPr>
              <a:t>CLASS 11   -   2026-27</a:t>
            </a:r>
          </a:p>
        </p:txBody>
      </p:sp>
      <p:sp>
        <p:nvSpPr>
          <p:cNvPr id="6" name="Rectangle 5"/>
          <p:cNvSpPr/>
          <p:nvPr/>
        </p:nvSpPr>
        <p:spPr>
          <a:xfrm>
            <a:off x="3794760" y="2084831"/>
            <a:ext cx="4572000" cy="25603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874519" y="2468880"/>
            <a:ext cx="8412480" cy="2148840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874519" y="3127248"/>
            <a:ext cx="8412480" cy="1490472"/>
          </a:xfrm>
          <a:prstGeom prst="roundRect">
            <a:avLst/>
          </a:prstGeom>
          <a:solidFill>
            <a:srgbClr val="000000"/>
          </a:solidFill>
          <a:ln w="15875"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080759" y="2615184"/>
            <a:ext cx="16459" cy="384048"/>
          </a:xfrm>
          <a:prstGeom prst="rect">
            <a:avLst/>
          </a:prstGeom>
          <a:solidFill>
            <a:srgbClr val="28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874519" y="2596896"/>
            <a:ext cx="4114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>
                <a:solidFill>
                  <a:srgbClr val="000000"/>
                </a:solidFill>
                <a:latin typeface="Aptos"/>
              </a:rPr>
              <a:t>Physics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80759" y="2596896"/>
            <a:ext cx="42062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>
                <a:solidFill>
                  <a:srgbClr val="000000"/>
                </a:solidFill>
                <a:latin typeface="Aptos"/>
              </a:rPr>
              <a:t>Motion 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74519" y="3401568"/>
            <a:ext cx="841248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FFFFFF"/>
                </a:solidFill>
                <a:latin typeface="Georgia"/>
              </a:rPr>
              <a:t>Motion in a Straight Line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74519" y="3950208"/>
            <a:ext cx="84124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D646"/>
                </a:solidFill>
                <a:latin typeface="Aptos"/>
              </a:rPr>
              <a:t>Frame of Reference · Rest &amp; Motion · Distance &amp; Displacement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4828032"/>
            <a:ext cx="110185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>
                <a:solidFill>
                  <a:srgbClr val="FFFFFF"/>
                </a:solidFill>
                <a:latin typeface="Aptos"/>
              </a:rPr>
              <a:t>By - Excellence Programme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5303520"/>
            <a:ext cx="110185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B0B6C0"/>
                </a:solidFill>
                <a:latin typeface="Aptos"/>
              </a:rPr>
              <a:t>20 October 2026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90" b="1">
                <a:solidFill>
                  <a:srgbClr val="B0B6C0"/>
                </a:solidFill>
                <a:latin typeface="Aptos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1018520" cy="5852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3200" b="1">
                <a:solidFill>
                  <a:srgbClr val="FFD646"/>
                </a:solidFill>
                <a:latin typeface="Aptos"/>
              </a:rPr>
              <a:t>What we learn today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914400"/>
            <a:ext cx="3108960" cy="32004"/>
          </a:xfrm>
          <a:prstGeom prst="rect">
            <a:avLst/>
          </a:prstGeom>
          <a:solidFill>
            <a:srgbClr val="FFD6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594360" y="1097280"/>
            <a:ext cx="384048" cy="384048"/>
          </a:xfrm>
          <a:prstGeom prst="ellipse">
            <a:avLst/>
          </a:prstGeom>
          <a:solidFill>
            <a:srgbClr val="28B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1143000"/>
            <a:ext cx="384048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ptos"/>
              </a:rP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43000"/>
            <a:ext cx="9601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>
                <a:solidFill>
                  <a:srgbClr val="FFFFFF"/>
                </a:solidFill>
                <a:latin typeface="Aptos"/>
              </a:rPr>
              <a:t>Frame of reference and the observer</a:t>
            </a:r>
          </a:p>
        </p:txBody>
      </p:sp>
      <p:sp>
        <p:nvSpPr>
          <p:cNvPr id="7" name="Oval 6"/>
          <p:cNvSpPr/>
          <p:nvPr/>
        </p:nvSpPr>
        <p:spPr>
          <a:xfrm>
            <a:off x="594360" y="1755648"/>
            <a:ext cx="384048" cy="384048"/>
          </a:xfrm>
          <a:prstGeom prst="ellipse">
            <a:avLst/>
          </a:prstGeom>
          <a:solidFill>
            <a:srgbClr val="28B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1801368"/>
            <a:ext cx="384048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ptos"/>
              </a:rPr>
              <a:t>02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1801368"/>
            <a:ext cx="9601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>
                <a:solidFill>
                  <a:srgbClr val="FFFFFF"/>
                </a:solidFill>
                <a:latin typeface="Aptos"/>
              </a:rPr>
              <a:t>Position → rest and motion (with x–t graphs)</a:t>
            </a:r>
          </a:p>
        </p:txBody>
      </p:sp>
      <p:sp>
        <p:nvSpPr>
          <p:cNvPr id="10" name="Oval 9"/>
          <p:cNvSpPr/>
          <p:nvPr/>
        </p:nvSpPr>
        <p:spPr>
          <a:xfrm>
            <a:off x="594360" y="2414015"/>
            <a:ext cx="384048" cy="384048"/>
          </a:xfrm>
          <a:prstGeom prst="ellipse">
            <a:avLst/>
          </a:prstGeom>
          <a:solidFill>
            <a:srgbClr val="28B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4360" y="2459735"/>
            <a:ext cx="384048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ptos"/>
              </a:rPr>
              <a:t>03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43000" y="2459735"/>
            <a:ext cx="9601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>
                <a:solidFill>
                  <a:srgbClr val="FFFFFF"/>
                </a:solidFill>
                <a:latin typeface="Aptos"/>
              </a:rPr>
              <a:t>Distance vs displacement — definitions and figures</a:t>
            </a:r>
          </a:p>
        </p:txBody>
      </p:sp>
      <p:sp>
        <p:nvSpPr>
          <p:cNvPr id="13" name="Oval 12"/>
          <p:cNvSpPr/>
          <p:nvPr/>
        </p:nvSpPr>
        <p:spPr>
          <a:xfrm>
            <a:off x="594360" y="3072384"/>
            <a:ext cx="384048" cy="384048"/>
          </a:xfrm>
          <a:prstGeom prst="ellipse">
            <a:avLst/>
          </a:prstGeom>
          <a:solidFill>
            <a:srgbClr val="28B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94360" y="3118104"/>
            <a:ext cx="384048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ptos"/>
              </a:rPr>
              <a:t>04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43000" y="3118104"/>
            <a:ext cx="9601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>
                <a:solidFill>
                  <a:srgbClr val="FFFFFF"/>
                </a:solidFill>
                <a:latin typeface="Aptos"/>
              </a:rPr>
              <a:t>Rules: distance ≥ |displacement|</a:t>
            </a:r>
          </a:p>
        </p:txBody>
      </p:sp>
      <p:sp>
        <p:nvSpPr>
          <p:cNvPr id="16" name="Oval 15"/>
          <p:cNvSpPr/>
          <p:nvPr/>
        </p:nvSpPr>
        <p:spPr>
          <a:xfrm>
            <a:off x="594360" y="3730752"/>
            <a:ext cx="384048" cy="384048"/>
          </a:xfrm>
          <a:prstGeom prst="ellipse">
            <a:avLst/>
          </a:prstGeom>
          <a:solidFill>
            <a:srgbClr val="28B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94360" y="3776472"/>
            <a:ext cx="384048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ptos"/>
              </a:rPr>
              <a:t>05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43000" y="3776472"/>
            <a:ext cx="9601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>
                <a:solidFill>
                  <a:srgbClr val="FFFFFF"/>
                </a:solidFill>
                <a:latin typeface="Aptos"/>
              </a:rPr>
              <a:t>Number-line, plane-path and 3-D examples</a:t>
            </a:r>
          </a:p>
        </p:txBody>
      </p:sp>
      <p:sp>
        <p:nvSpPr>
          <p:cNvPr id="19" name="Oval 18"/>
          <p:cNvSpPr/>
          <p:nvPr/>
        </p:nvSpPr>
        <p:spPr>
          <a:xfrm>
            <a:off x="594360" y="4389120"/>
            <a:ext cx="384048" cy="384048"/>
          </a:xfrm>
          <a:prstGeom prst="ellipse">
            <a:avLst/>
          </a:prstGeom>
          <a:solidFill>
            <a:srgbClr val="28B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94360" y="4434840"/>
            <a:ext cx="384048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ptos"/>
              </a:rPr>
              <a:t>06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43000" y="4434840"/>
            <a:ext cx="9601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>
                <a:solidFill>
                  <a:srgbClr val="FFFFFF"/>
                </a:solidFill>
                <a:latin typeface="Aptos"/>
              </a:rPr>
              <a:t>Zero cases, square park, board MCQs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90" b="1">
                <a:solidFill>
                  <a:srgbClr val="B0B6C0"/>
                </a:solidFill>
                <a:latin typeface="Aptos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28B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FFFFFF"/>
                </a:solidFill>
                <a:latin typeface="Aptos"/>
              </a:rPr>
              <a:t>CLASS NOTE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40" b="1">
                <a:solidFill>
                  <a:srgbClr val="FFD646"/>
                </a:solidFill>
                <a:latin typeface="Aptos"/>
              </a:rPr>
              <a:t>How to study this lecture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90" b="1">
                <a:solidFill>
                  <a:srgbClr val="B0B6C0"/>
                </a:solidFill>
                <a:latin typeface="Aptos"/>
              </a:rPr>
              <a:t>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FFFFFF"/>
                </a:solidFill>
                <a:latin typeface="Aptos"/>
              </a:rPr>
              <a:t>Every idea comes with a picture. First look at the figure, then read the boxed rule, then try the green solution steps without peeking.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2359152"/>
            <a:ext cx="11018520" cy="1234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FFFFFF"/>
                </a:solidFill>
                <a:latin typeface="Aptos"/>
              </a:rPr>
              <a:t>We start Motion in a Straight Line after Vectors. Today is only foundations: frame, rest–motion, distance and displacement. Speed and acceleration come later.</a:t>
            </a:r>
          </a:p>
        </p:txBody>
      </p:sp>
      <p:sp>
        <p:nvSpPr>
          <p:cNvPr id="9" name="Rectangle 8"/>
          <p:cNvSpPr/>
          <p:nvPr/>
        </p:nvSpPr>
        <p:spPr>
          <a:xfrm>
            <a:off x="594360" y="3822191"/>
            <a:ext cx="11018520" cy="868680"/>
          </a:xfrm>
          <a:prstGeom prst="rect">
            <a:avLst/>
          </a:prstGeom>
          <a:solidFill>
            <a:srgbClr val="FFF8E1"/>
          </a:solidFill>
          <a:ln w="19050">
            <a:solidFill>
              <a:srgbClr val="DAA8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58952" y="3968496"/>
            <a:ext cx="10689336" cy="57607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081E3F"/>
                </a:solidFill>
                <a:latin typeface="Aptos"/>
              </a:rPr>
              <a:t>Class notes come after teaching. These slides are for the board.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FF9E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FFFFFF"/>
                </a:solidFill>
                <a:latin typeface="Aptos"/>
              </a:rPr>
              <a:t>IDEA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40" b="1">
                <a:solidFill>
                  <a:srgbClr val="FFD646"/>
                </a:solidFill>
                <a:latin typeface="Aptos"/>
              </a:rPr>
              <a:t>Why “distance of Delhi?” fails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90" b="1">
                <a:solidFill>
                  <a:srgbClr val="B0B6C0"/>
                </a:solidFill>
                <a:latin typeface="Aptos"/>
              </a:rPr>
              <a:t>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5852160" cy="1234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FFFFFF"/>
                </a:solidFill>
                <a:latin typeface="Aptos"/>
              </a:rPr>
              <a:t>Someone asks: “What is the distance of Delhi railway station?” Without saying from where we measure, the question has no meaning.</a:t>
            </a:r>
          </a:p>
        </p:txBody>
      </p:sp>
      <p:sp>
        <p:nvSpPr>
          <p:cNvPr id="8" name="Rectangle 7"/>
          <p:cNvSpPr/>
          <p:nvPr/>
        </p:nvSpPr>
        <p:spPr>
          <a:xfrm>
            <a:off x="594360" y="2496312"/>
            <a:ext cx="5852160" cy="960120"/>
          </a:xfrm>
          <a:prstGeom prst="rect">
            <a:avLst/>
          </a:prstGeom>
          <a:solidFill>
            <a:srgbClr val="FFF8E1"/>
          </a:solidFill>
          <a:ln w="19050">
            <a:solidFill>
              <a:srgbClr val="DAA8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58952" y="2642616"/>
            <a:ext cx="5522976" cy="6675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60" b="1">
                <a:solidFill>
                  <a:srgbClr val="081E3F"/>
                </a:solidFill>
                <a:latin typeface="Aptos"/>
              </a:rPr>
              <a:t>Every length needs a starting place — a frame of reference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3685032"/>
            <a:ext cx="58521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FFFFFF"/>
                </a:solidFill>
                <a:latin typeface="Aptos"/>
              </a:rPr>
              <a:t>•  Wrong question → reference not given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4187952"/>
            <a:ext cx="585216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FFFFFF"/>
                </a:solidFill>
                <a:latin typeface="Aptos"/>
              </a:rPr>
              <a:t>•  Better: distance of Delhi from Patna along a named path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0" y="1325880"/>
            <a:ext cx="4023360" cy="4023360"/>
          </a:xfrm>
          <a:prstGeom prst="roundRect">
            <a:avLst/>
          </a:prstGeom>
          <a:solidFill>
            <a:srgbClr val="0E1016"/>
          </a:solidFill>
          <a:ln w="17780">
            <a:solidFill>
              <a:srgbClr val="28B4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98079" y="1508760"/>
            <a:ext cx="3657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D646"/>
                </a:solidFill>
                <a:latin typeface="Aptos"/>
              </a:rPr>
              <a:t>Need a start point</a:t>
            </a:r>
          </a:p>
        </p:txBody>
      </p:sp>
      <p:sp>
        <p:nvSpPr>
          <p:cNvPr id="14" name="Oval 13"/>
          <p:cNvSpPr/>
          <p:nvPr/>
        </p:nvSpPr>
        <p:spPr>
          <a:xfrm>
            <a:off x="8371331" y="4165091"/>
            <a:ext cx="82296" cy="82296"/>
          </a:xfrm>
          <a:prstGeom prst="ellipse">
            <a:avLst/>
          </a:prstGeom>
          <a:solidFill>
            <a:srgbClr val="5AD6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772400" y="4434840"/>
            <a:ext cx="13716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5AD680"/>
                </a:solidFill>
                <a:latin typeface="Aptos"/>
              </a:rPr>
              <a:t>You (here)</a:t>
            </a:r>
          </a:p>
        </p:txBody>
      </p:sp>
      <p:sp>
        <p:nvSpPr>
          <p:cNvPr id="16" name="Oval 15"/>
          <p:cNvSpPr/>
          <p:nvPr/>
        </p:nvSpPr>
        <p:spPr>
          <a:xfrm>
            <a:off x="10383012" y="2153412"/>
            <a:ext cx="82296" cy="82296"/>
          </a:xfrm>
          <a:prstGeom prst="ellipse">
            <a:avLst/>
          </a:prstGeom>
          <a:solidFill>
            <a:srgbClr val="FF9E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058400" y="1874519"/>
            <a:ext cx="10972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FF9E40"/>
                </a:solidFill>
                <a:latin typeface="Aptos"/>
              </a:rPr>
              <a:t>Delhi</a:t>
            </a:r>
          </a:p>
        </p:txBody>
      </p:sp>
      <p:cxnSp>
        <p:nvCxnSpPr>
          <p:cNvPr id="18" name="Connector 17"/>
          <p:cNvCxnSpPr/>
          <p:nvPr/>
        </p:nvCxnSpPr>
        <p:spPr>
          <a:xfrm flipV="1">
            <a:off x="8549640" y="2377440"/>
            <a:ext cx="1691640" cy="1691640"/>
          </a:xfrm>
          <a:prstGeom prst="line">
            <a:avLst/>
          </a:prstGeom>
          <a:ln w="27940">
            <a:solidFill>
              <a:srgbClr val="FFD646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9052560" y="2926080"/>
            <a:ext cx="9144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B0B6C0"/>
                </a:solidFill>
                <a:latin typeface="Aptos"/>
              </a:rPr>
              <a:t>path?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409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FFFFFF"/>
                </a:solidFill>
                <a:latin typeface="Aptos"/>
              </a:rPr>
              <a:t>IDEA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40" b="1">
                <a:solidFill>
                  <a:srgbClr val="FFD646"/>
                </a:solidFill>
                <a:latin typeface="Aptos"/>
              </a:rPr>
              <a:t>Frame of reference — the stand we stand on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90" b="1">
                <a:solidFill>
                  <a:srgbClr val="B0B6C0"/>
                </a:solidFill>
                <a:latin typeface="Aptos"/>
              </a:rPr>
              <a:t>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FFFFFF"/>
                </a:solidFill>
                <a:latin typeface="Aptos"/>
              </a:rPr>
              <a:t>A frame of reference is the place (and the axes) from which we take the observation. The observer is the person who takes that observation.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97280" y="2331720"/>
            <a:ext cx="4206240" cy="3200400"/>
          </a:xfrm>
          <a:prstGeom prst="roundRect">
            <a:avLst/>
          </a:prstGeom>
          <a:solidFill>
            <a:srgbClr val="0E1016"/>
          </a:solidFill>
          <a:ln w="25400">
            <a:solidFill>
              <a:srgbClr val="5AD6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280160" y="2468880"/>
            <a:ext cx="38404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5AD680"/>
                </a:solidFill>
                <a:latin typeface="Aptos"/>
              </a:rPr>
              <a:t>Lift = frame</a:t>
            </a:r>
          </a:p>
        </p:txBody>
      </p:sp>
      <p:sp>
        <p:nvSpPr>
          <p:cNvPr id="10" name="Oval 9"/>
          <p:cNvSpPr/>
          <p:nvPr/>
        </p:nvSpPr>
        <p:spPr>
          <a:xfrm>
            <a:off x="3118104" y="3931920"/>
            <a:ext cx="164592" cy="164592"/>
          </a:xfrm>
          <a:prstGeom prst="ellipse">
            <a:avLst/>
          </a:prstGeom>
          <a:solidFill>
            <a:srgbClr val="FFD6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1" name="Connector 10"/>
          <p:cNvCxnSpPr/>
          <p:nvPr/>
        </p:nvCxnSpPr>
        <p:spPr>
          <a:xfrm>
            <a:off x="3200400" y="4096511"/>
            <a:ext cx="0" cy="475489"/>
          </a:xfrm>
          <a:prstGeom prst="line">
            <a:avLst/>
          </a:prstGeom>
          <a:ln w="2540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 flipH="1">
            <a:off x="3054096" y="4283964"/>
            <a:ext cx="146304" cy="192024"/>
          </a:xfrm>
          <a:prstGeom prst="line">
            <a:avLst/>
          </a:prstGeom>
          <a:ln w="2032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3200400" y="4283964"/>
            <a:ext cx="146304" cy="192024"/>
          </a:xfrm>
          <a:prstGeom prst="line">
            <a:avLst/>
          </a:prstGeom>
          <a:ln w="2032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H="1">
            <a:off x="3090672" y="4572000"/>
            <a:ext cx="109728" cy="201168"/>
          </a:xfrm>
          <a:prstGeom prst="line">
            <a:avLst/>
          </a:prstGeom>
          <a:ln w="2032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3200400" y="4572000"/>
            <a:ext cx="109728" cy="201168"/>
          </a:xfrm>
          <a:prstGeom prst="line">
            <a:avLst/>
          </a:prstGeom>
          <a:ln w="2032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2880360" y="4809744"/>
            <a:ext cx="640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FFD646"/>
                </a:solidFill>
                <a:latin typeface="Aptos"/>
              </a:rPr>
              <a:t>observer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80160" y="5074920"/>
            <a:ext cx="3840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B0B6C0"/>
                </a:solidFill>
                <a:latin typeface="Aptos"/>
              </a:rPr>
              <a:t>Observer rides with the lift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675120" y="2331720"/>
            <a:ext cx="4572000" cy="3200400"/>
          </a:xfrm>
          <a:prstGeom prst="roundRect">
            <a:avLst/>
          </a:prstGeom>
          <a:solidFill>
            <a:srgbClr val="0E1016"/>
          </a:solidFill>
          <a:ln w="25400">
            <a:solidFill>
              <a:srgbClr val="FF9E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0" y="2468880"/>
            <a:ext cx="42062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FF9E40"/>
                </a:solidFill>
                <a:latin typeface="Aptos"/>
              </a:rPr>
              <a:t>Ground = another frame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6949440" y="4892040"/>
            <a:ext cx="3931920" cy="0"/>
          </a:xfrm>
          <a:prstGeom prst="line">
            <a:avLst/>
          </a:prstGeom>
          <a:ln w="25400">
            <a:solidFill>
              <a:srgbClr val="B0B6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 flipH="1">
            <a:off x="7068312" y="4892040"/>
            <a:ext cx="109728" cy="128015"/>
          </a:xfrm>
          <a:prstGeom prst="line">
            <a:avLst/>
          </a:prstGeom>
          <a:ln w="15240">
            <a:solidFill>
              <a:srgbClr val="B0B6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 flipH="1">
            <a:off x="7577763" y="4892040"/>
            <a:ext cx="109728" cy="128015"/>
          </a:xfrm>
          <a:prstGeom prst="line">
            <a:avLst/>
          </a:prstGeom>
          <a:ln w="15240">
            <a:solidFill>
              <a:srgbClr val="B0B6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 flipH="1">
            <a:off x="8087214" y="4892040"/>
            <a:ext cx="109728" cy="128015"/>
          </a:xfrm>
          <a:prstGeom prst="line">
            <a:avLst/>
          </a:prstGeom>
          <a:ln w="15240">
            <a:solidFill>
              <a:srgbClr val="B0B6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 flipH="1">
            <a:off x="8596666" y="4892040"/>
            <a:ext cx="109728" cy="128015"/>
          </a:xfrm>
          <a:prstGeom prst="line">
            <a:avLst/>
          </a:prstGeom>
          <a:ln w="15240">
            <a:solidFill>
              <a:srgbClr val="B0B6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 flipH="1">
            <a:off x="9106117" y="4892040"/>
            <a:ext cx="109728" cy="128015"/>
          </a:xfrm>
          <a:prstGeom prst="line">
            <a:avLst/>
          </a:prstGeom>
          <a:ln w="15240">
            <a:solidFill>
              <a:srgbClr val="B0B6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 flipH="1">
            <a:off x="9615569" y="4892040"/>
            <a:ext cx="109728" cy="128015"/>
          </a:xfrm>
          <a:prstGeom prst="line">
            <a:avLst/>
          </a:prstGeom>
          <a:ln w="15240">
            <a:solidFill>
              <a:srgbClr val="B0B6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 flipH="1">
            <a:off x="10125020" y="4892040"/>
            <a:ext cx="109728" cy="128015"/>
          </a:xfrm>
          <a:prstGeom prst="line">
            <a:avLst/>
          </a:prstGeom>
          <a:ln w="15240">
            <a:solidFill>
              <a:srgbClr val="B0B6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 flipH="1">
            <a:off x="10634472" y="4892040"/>
            <a:ext cx="109728" cy="128015"/>
          </a:xfrm>
          <a:prstGeom prst="line">
            <a:avLst/>
          </a:prstGeom>
          <a:ln w="15240">
            <a:solidFill>
              <a:srgbClr val="B0B6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8458200" y="5038344"/>
            <a:ext cx="9144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B0B6C0"/>
                </a:solidFill>
                <a:latin typeface="Aptos"/>
              </a:rPr>
              <a:t>ground</a:t>
            </a:r>
          </a:p>
        </p:txBody>
      </p:sp>
      <p:sp>
        <p:nvSpPr>
          <p:cNvPr id="30" name="Oval 29"/>
          <p:cNvSpPr/>
          <p:nvPr/>
        </p:nvSpPr>
        <p:spPr>
          <a:xfrm>
            <a:off x="8695944" y="4114800"/>
            <a:ext cx="164592" cy="16459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1" name="Connector 30"/>
          <p:cNvCxnSpPr/>
          <p:nvPr/>
        </p:nvCxnSpPr>
        <p:spPr>
          <a:xfrm>
            <a:off x="8778240" y="4279392"/>
            <a:ext cx="0" cy="429768"/>
          </a:xfrm>
          <a:prstGeom prst="line">
            <a:avLst/>
          </a:prstGeom>
          <a:ln w="2540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 flipH="1">
            <a:off x="8631936" y="4441698"/>
            <a:ext cx="146304" cy="178308"/>
          </a:xfrm>
          <a:prstGeom prst="line">
            <a:avLst/>
          </a:prstGeom>
          <a:ln w="2032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8778240" y="4441698"/>
            <a:ext cx="146304" cy="178308"/>
          </a:xfrm>
          <a:prstGeom prst="line">
            <a:avLst/>
          </a:prstGeom>
          <a:ln w="2032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 flipH="1">
            <a:off x="8668512" y="4709160"/>
            <a:ext cx="109728" cy="201168"/>
          </a:xfrm>
          <a:prstGeom prst="line">
            <a:avLst/>
          </a:prstGeom>
          <a:ln w="2032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8778240" y="4709160"/>
            <a:ext cx="109727" cy="201168"/>
          </a:xfrm>
          <a:prstGeom prst="line">
            <a:avLst/>
          </a:prstGeom>
          <a:ln w="2032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TextBox 35"/>
          <p:cNvSpPr txBox="1"/>
          <p:nvPr/>
        </p:nvSpPr>
        <p:spPr>
          <a:xfrm>
            <a:off x="8458200" y="4946904"/>
            <a:ext cx="640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ptos"/>
              </a:rPr>
              <a:t>on ground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B0B6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FFFFFF"/>
                </a:solidFill>
                <a:latin typeface="Aptos"/>
              </a:rPr>
              <a:t>ROUGH WORK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980" b="1">
                <a:solidFill>
                  <a:srgbClr val="FFD646"/>
                </a:solidFill>
                <a:latin typeface="Aptos"/>
              </a:rPr>
              <a:t>Rough work  /  extra work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90" b="1">
                <a:solidFill>
                  <a:srgbClr val="B0B6C0"/>
                </a:solidFill>
                <a:latin typeface="Aptos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28B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FFFFFF"/>
                </a:solidFill>
                <a:latin typeface="Aptos"/>
              </a:rPr>
              <a:t>FIGURE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40" b="1">
                <a:solidFill>
                  <a:srgbClr val="FFD646"/>
                </a:solidFill>
                <a:latin typeface="Aptos"/>
              </a:rPr>
              <a:t>Bus at 25 m/s — who is at rest?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90" b="1">
                <a:solidFill>
                  <a:srgbClr val="B0B6C0"/>
                </a:solidFill>
                <a:latin typeface="Aptos"/>
              </a:rPr>
              <a:t>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FFFFFF"/>
                </a:solidFill>
                <a:latin typeface="Aptos"/>
              </a:rPr>
              <a:t>The bus moves to the right at 25 m/s relative to the ground. Passengers A, B, C sit inside. Person D stands on the ground.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926080" y="2103120"/>
            <a:ext cx="6949440" cy="2331720"/>
          </a:xfrm>
          <a:prstGeom prst="roundRect">
            <a:avLst/>
          </a:prstGeom>
          <a:solidFill>
            <a:srgbClr val="12161E"/>
          </a:solidFill>
          <a:ln w="27940">
            <a:solidFill>
              <a:srgbClr val="409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108960" y="2194560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409CFF"/>
                </a:solidFill>
                <a:latin typeface="Aptos"/>
              </a:rPr>
              <a:t>BUS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9601200" y="3108960"/>
            <a:ext cx="1554480" cy="0"/>
          </a:xfrm>
          <a:prstGeom prst="line">
            <a:avLst/>
          </a:prstGeom>
          <a:ln w="35560">
            <a:solidFill>
              <a:srgbClr val="FFD646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9692640" y="269748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D646"/>
                </a:solidFill>
                <a:latin typeface="Aptos"/>
              </a:rPr>
              <a:t>v = 25 m/s</a:t>
            </a:r>
          </a:p>
        </p:txBody>
      </p:sp>
      <p:sp>
        <p:nvSpPr>
          <p:cNvPr id="12" name="Oval 11"/>
          <p:cNvSpPr/>
          <p:nvPr/>
        </p:nvSpPr>
        <p:spPr>
          <a:xfrm>
            <a:off x="4123944" y="3291840"/>
            <a:ext cx="164592" cy="164592"/>
          </a:xfrm>
          <a:prstGeom prst="ellipse">
            <a:avLst/>
          </a:prstGeom>
          <a:solidFill>
            <a:srgbClr val="FF6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3" name="Connector 12"/>
          <p:cNvCxnSpPr/>
          <p:nvPr/>
        </p:nvCxnSpPr>
        <p:spPr>
          <a:xfrm>
            <a:off x="4206240" y="3456432"/>
            <a:ext cx="0" cy="338328"/>
          </a:xfrm>
          <a:prstGeom prst="line">
            <a:avLst/>
          </a:prstGeom>
          <a:ln w="25400">
            <a:solidFill>
              <a:srgbClr val="FF6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H="1">
            <a:off x="4059935" y="3568446"/>
            <a:ext cx="146305" cy="150876"/>
          </a:xfrm>
          <a:prstGeom prst="line">
            <a:avLst/>
          </a:prstGeom>
          <a:ln w="20320">
            <a:solidFill>
              <a:srgbClr val="FF6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4206240" y="3568446"/>
            <a:ext cx="146304" cy="150876"/>
          </a:xfrm>
          <a:prstGeom prst="line">
            <a:avLst/>
          </a:prstGeom>
          <a:ln w="20320">
            <a:solidFill>
              <a:srgbClr val="FF6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 flipH="1">
            <a:off x="4096511" y="3794760"/>
            <a:ext cx="109729" cy="201168"/>
          </a:xfrm>
          <a:prstGeom prst="line">
            <a:avLst/>
          </a:prstGeom>
          <a:ln w="20320">
            <a:solidFill>
              <a:srgbClr val="FF6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4206240" y="3794760"/>
            <a:ext cx="109728" cy="201168"/>
          </a:xfrm>
          <a:prstGeom prst="line">
            <a:avLst/>
          </a:prstGeom>
          <a:ln w="20320">
            <a:solidFill>
              <a:srgbClr val="FF6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3886200" y="4032504"/>
            <a:ext cx="640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FF6060"/>
                </a:solidFill>
                <a:latin typeface="Aptos"/>
              </a:rPr>
              <a:t>A</a:t>
            </a:r>
          </a:p>
        </p:txBody>
      </p:sp>
      <p:sp>
        <p:nvSpPr>
          <p:cNvPr id="19" name="Oval 18"/>
          <p:cNvSpPr/>
          <p:nvPr/>
        </p:nvSpPr>
        <p:spPr>
          <a:xfrm>
            <a:off x="5952744" y="3291840"/>
            <a:ext cx="164592" cy="164592"/>
          </a:xfrm>
          <a:prstGeom prst="ellipse">
            <a:avLst/>
          </a:prstGeom>
          <a:solidFill>
            <a:srgbClr val="FF6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0" name="Connector 19"/>
          <p:cNvCxnSpPr/>
          <p:nvPr/>
        </p:nvCxnSpPr>
        <p:spPr>
          <a:xfrm>
            <a:off x="6035040" y="3456432"/>
            <a:ext cx="0" cy="338328"/>
          </a:xfrm>
          <a:prstGeom prst="line">
            <a:avLst/>
          </a:prstGeom>
          <a:ln w="25400">
            <a:solidFill>
              <a:srgbClr val="FF6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 flipH="1">
            <a:off x="5888736" y="3568446"/>
            <a:ext cx="146304" cy="150876"/>
          </a:xfrm>
          <a:prstGeom prst="line">
            <a:avLst/>
          </a:prstGeom>
          <a:ln w="20320">
            <a:solidFill>
              <a:srgbClr val="FF6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6035040" y="3568446"/>
            <a:ext cx="146304" cy="150876"/>
          </a:xfrm>
          <a:prstGeom prst="line">
            <a:avLst/>
          </a:prstGeom>
          <a:ln w="20320">
            <a:solidFill>
              <a:srgbClr val="FF6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 flipH="1">
            <a:off x="5925312" y="3794760"/>
            <a:ext cx="109728" cy="201168"/>
          </a:xfrm>
          <a:prstGeom prst="line">
            <a:avLst/>
          </a:prstGeom>
          <a:ln w="20320">
            <a:solidFill>
              <a:srgbClr val="FF6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6035040" y="3794760"/>
            <a:ext cx="109728" cy="201168"/>
          </a:xfrm>
          <a:prstGeom prst="line">
            <a:avLst/>
          </a:prstGeom>
          <a:ln w="20320">
            <a:solidFill>
              <a:srgbClr val="FF6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5715000" y="4032504"/>
            <a:ext cx="640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FF6060"/>
                </a:solidFill>
                <a:latin typeface="Aptos"/>
              </a:rPr>
              <a:t>B</a:t>
            </a:r>
          </a:p>
        </p:txBody>
      </p:sp>
      <p:sp>
        <p:nvSpPr>
          <p:cNvPr id="26" name="Oval 25"/>
          <p:cNvSpPr/>
          <p:nvPr/>
        </p:nvSpPr>
        <p:spPr>
          <a:xfrm>
            <a:off x="7781544" y="3291840"/>
            <a:ext cx="164592" cy="164592"/>
          </a:xfrm>
          <a:prstGeom prst="ellipse">
            <a:avLst/>
          </a:prstGeom>
          <a:solidFill>
            <a:srgbClr val="5AD6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7" name="Connector 26"/>
          <p:cNvCxnSpPr/>
          <p:nvPr/>
        </p:nvCxnSpPr>
        <p:spPr>
          <a:xfrm>
            <a:off x="7863840" y="3456432"/>
            <a:ext cx="0" cy="338328"/>
          </a:xfrm>
          <a:prstGeom prst="line">
            <a:avLst/>
          </a:prstGeom>
          <a:ln w="25400">
            <a:solidFill>
              <a:srgbClr val="5AD6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 flipH="1">
            <a:off x="7717536" y="3568446"/>
            <a:ext cx="146304" cy="150876"/>
          </a:xfrm>
          <a:prstGeom prst="line">
            <a:avLst/>
          </a:prstGeom>
          <a:ln w="20320">
            <a:solidFill>
              <a:srgbClr val="5AD6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7863840" y="3568446"/>
            <a:ext cx="146304" cy="150876"/>
          </a:xfrm>
          <a:prstGeom prst="line">
            <a:avLst/>
          </a:prstGeom>
          <a:ln w="20320">
            <a:solidFill>
              <a:srgbClr val="5AD6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 flipH="1">
            <a:off x="7754112" y="3794760"/>
            <a:ext cx="109728" cy="201168"/>
          </a:xfrm>
          <a:prstGeom prst="line">
            <a:avLst/>
          </a:prstGeom>
          <a:ln w="20320">
            <a:solidFill>
              <a:srgbClr val="5AD6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7863840" y="3794760"/>
            <a:ext cx="109727" cy="201168"/>
          </a:xfrm>
          <a:prstGeom prst="line">
            <a:avLst/>
          </a:prstGeom>
          <a:ln w="20320">
            <a:solidFill>
              <a:srgbClr val="5AD6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7543800" y="4032504"/>
            <a:ext cx="640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5AD680"/>
                </a:solidFill>
                <a:latin typeface="Aptos"/>
              </a:rPr>
              <a:t>C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914400" y="5074920"/>
            <a:ext cx="10515600" cy="0"/>
          </a:xfrm>
          <a:prstGeom prst="line">
            <a:avLst/>
          </a:prstGeom>
          <a:ln w="25400">
            <a:solidFill>
              <a:srgbClr val="B0B6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 flipH="1">
            <a:off x="1033271" y="5074920"/>
            <a:ext cx="109729" cy="128016"/>
          </a:xfrm>
          <a:prstGeom prst="line">
            <a:avLst/>
          </a:prstGeom>
          <a:ln w="15240">
            <a:solidFill>
              <a:srgbClr val="B0B6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 flipH="1">
            <a:off x="2483249" y="5074920"/>
            <a:ext cx="109728" cy="128016"/>
          </a:xfrm>
          <a:prstGeom prst="line">
            <a:avLst/>
          </a:prstGeom>
          <a:ln w="15240">
            <a:solidFill>
              <a:srgbClr val="B0B6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 flipH="1">
            <a:off x="3933226" y="5074920"/>
            <a:ext cx="109728" cy="128016"/>
          </a:xfrm>
          <a:prstGeom prst="line">
            <a:avLst/>
          </a:prstGeom>
          <a:ln w="15240">
            <a:solidFill>
              <a:srgbClr val="B0B6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 flipH="1">
            <a:off x="5383203" y="5074920"/>
            <a:ext cx="109728" cy="128016"/>
          </a:xfrm>
          <a:prstGeom prst="line">
            <a:avLst/>
          </a:prstGeom>
          <a:ln w="15240">
            <a:solidFill>
              <a:srgbClr val="B0B6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 flipH="1">
            <a:off x="6833180" y="5074920"/>
            <a:ext cx="109728" cy="128016"/>
          </a:xfrm>
          <a:prstGeom prst="line">
            <a:avLst/>
          </a:prstGeom>
          <a:ln w="15240">
            <a:solidFill>
              <a:srgbClr val="B0B6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 flipH="1">
            <a:off x="8283157" y="5074920"/>
            <a:ext cx="109728" cy="128016"/>
          </a:xfrm>
          <a:prstGeom prst="line">
            <a:avLst/>
          </a:prstGeom>
          <a:ln w="15240">
            <a:solidFill>
              <a:srgbClr val="B0B6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 flipH="1">
            <a:off x="9733134" y="5074920"/>
            <a:ext cx="109728" cy="128016"/>
          </a:xfrm>
          <a:prstGeom prst="line">
            <a:avLst/>
          </a:prstGeom>
          <a:ln w="15240">
            <a:solidFill>
              <a:srgbClr val="B0B6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 flipH="1">
            <a:off x="11183112" y="5074920"/>
            <a:ext cx="109728" cy="128016"/>
          </a:xfrm>
          <a:prstGeom prst="line">
            <a:avLst/>
          </a:prstGeom>
          <a:ln w="15240">
            <a:solidFill>
              <a:srgbClr val="B0B6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TextBox 41"/>
          <p:cNvSpPr txBox="1"/>
          <p:nvPr/>
        </p:nvSpPr>
        <p:spPr>
          <a:xfrm>
            <a:off x="5715000" y="5221224"/>
            <a:ext cx="9144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B0B6C0"/>
                </a:solidFill>
                <a:latin typeface="Aptos"/>
              </a:rPr>
              <a:t>ground</a:t>
            </a:r>
          </a:p>
        </p:txBody>
      </p:sp>
      <p:sp>
        <p:nvSpPr>
          <p:cNvPr id="43" name="Oval 42"/>
          <p:cNvSpPr/>
          <p:nvPr/>
        </p:nvSpPr>
        <p:spPr>
          <a:xfrm>
            <a:off x="1563624" y="4389120"/>
            <a:ext cx="164592" cy="16459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4" name="Connector 43"/>
          <p:cNvCxnSpPr/>
          <p:nvPr/>
        </p:nvCxnSpPr>
        <p:spPr>
          <a:xfrm>
            <a:off x="1645920" y="4553712"/>
            <a:ext cx="0" cy="338328"/>
          </a:xfrm>
          <a:prstGeom prst="line">
            <a:avLst/>
          </a:prstGeom>
          <a:ln w="2540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 flipH="1">
            <a:off x="1499616" y="4665726"/>
            <a:ext cx="146304" cy="150876"/>
          </a:xfrm>
          <a:prstGeom prst="line">
            <a:avLst/>
          </a:prstGeom>
          <a:ln w="2032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>
            <a:off x="1645920" y="4665726"/>
            <a:ext cx="146304" cy="150876"/>
          </a:xfrm>
          <a:prstGeom prst="line">
            <a:avLst/>
          </a:prstGeom>
          <a:ln w="2032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 flipH="1">
            <a:off x="1536192" y="4892040"/>
            <a:ext cx="109728" cy="201167"/>
          </a:xfrm>
          <a:prstGeom prst="line">
            <a:avLst/>
          </a:prstGeom>
          <a:ln w="2032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>
            <a:off x="1645920" y="4892040"/>
            <a:ext cx="109728" cy="201167"/>
          </a:xfrm>
          <a:prstGeom prst="line">
            <a:avLst/>
          </a:prstGeom>
          <a:ln w="2032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TextBox 48"/>
          <p:cNvSpPr txBox="1"/>
          <p:nvPr/>
        </p:nvSpPr>
        <p:spPr>
          <a:xfrm>
            <a:off x="1325880" y="5129783"/>
            <a:ext cx="640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ptos"/>
              </a:rPr>
              <a:t>D (ground)</a:t>
            </a:r>
          </a:p>
        </p:txBody>
      </p:sp>
      <p:sp>
        <p:nvSpPr>
          <p:cNvPr id="50" name="Rectangle 49"/>
          <p:cNvSpPr/>
          <p:nvPr/>
        </p:nvSpPr>
        <p:spPr>
          <a:xfrm>
            <a:off x="594360" y="5239512"/>
            <a:ext cx="11018520" cy="777240"/>
          </a:xfrm>
          <a:prstGeom prst="rect">
            <a:avLst/>
          </a:prstGeom>
          <a:solidFill>
            <a:srgbClr val="FFF8E1"/>
          </a:solidFill>
          <a:ln w="19050">
            <a:solidFill>
              <a:srgbClr val="DAA8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758952" y="5385816"/>
            <a:ext cx="10689336" cy="4846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70" b="1">
                <a:solidFill>
                  <a:srgbClr val="081E3F"/>
                </a:solidFill>
                <a:latin typeface="Aptos"/>
              </a:rPr>
              <a:t>A is at rest with respect to A. Observer always assumes he is at rest w.r.t. himself.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5AD6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FFFFFF"/>
                </a:solidFill>
                <a:latin typeface="Aptos"/>
              </a:rPr>
              <a:t>RULE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40" b="1">
                <a:solidFill>
                  <a:srgbClr val="FFD646"/>
                </a:solidFill>
                <a:latin typeface="Aptos"/>
              </a:rPr>
              <a:t>Rest and motion are relative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90" b="1">
                <a:solidFill>
                  <a:srgbClr val="B0B6C0"/>
                </a:solidFill>
                <a:latin typeface="Aptos"/>
              </a:rPr>
              <a:t>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FFFFFF"/>
                </a:solidFill>
                <a:latin typeface="Aptos"/>
              </a:rPr>
              <a:t>Relative to passenger A, B may be at rest (both sit still in the bus). Relative to ground observer D, both A and B move at 25 m/s with the bus.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2404872"/>
            <a:ext cx="1101852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FFFFFF"/>
                </a:solidFill>
                <a:latin typeface="Aptos"/>
              </a:rPr>
              <a:t>•  Same object can be “at rest” in one frame and “in motion” in another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999232"/>
            <a:ext cx="1101852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FFFFFF"/>
                </a:solidFill>
                <a:latin typeface="Aptos"/>
              </a:rPr>
              <a:t>•  Never say rest or motion without naming the frame</a:t>
            </a:r>
          </a:p>
        </p:txBody>
      </p:sp>
      <p:sp>
        <p:nvSpPr>
          <p:cNvPr id="10" name="Rectangle 9"/>
          <p:cNvSpPr/>
          <p:nvPr/>
        </p:nvSpPr>
        <p:spPr>
          <a:xfrm>
            <a:off x="594360" y="3730752"/>
            <a:ext cx="11018520" cy="914400"/>
          </a:xfrm>
          <a:prstGeom prst="rect">
            <a:avLst/>
          </a:prstGeom>
          <a:solidFill>
            <a:srgbClr val="FFF8E1"/>
          </a:solidFill>
          <a:ln w="19050">
            <a:solidFill>
              <a:srgbClr val="DAA8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58952" y="3877056"/>
            <a:ext cx="10689336" cy="6217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081E3F"/>
                </a:solidFill>
                <a:latin typeface="Aptos"/>
              </a:rPr>
              <a:t>Nothing is absolute for rest and motion in this universe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4873752"/>
            <a:ext cx="110185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FF9E40"/>
                </a:solidFill>
                <a:latin typeface="Aptos"/>
              </a:rPr>
              <a:t>“When will Delhi come?” — from the bus frame, Delhi approaches you. Physics allows that language.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409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FFFFFF"/>
                </a:solidFill>
                <a:latin typeface="Aptos"/>
              </a:rPr>
              <a:t>IDEA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40" b="1">
                <a:solidFill>
                  <a:srgbClr val="FFD646"/>
                </a:solidFill>
                <a:latin typeface="Aptos"/>
              </a:rPr>
              <a:t>Position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90" b="1">
                <a:solidFill>
                  <a:srgbClr val="B0B6C0"/>
                </a:solidFill>
                <a:latin typeface="Aptos"/>
              </a:rPr>
              <a:t>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5943600" cy="1234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FFFFFF"/>
                </a:solidFill>
                <a:latin typeface="Aptos"/>
              </a:rPr>
              <a:t>Position means the location of an object with respect to a chosen frame of reference. On a number line we write it as a coordinate (with a unit).</a:t>
            </a:r>
          </a:p>
        </p:txBody>
      </p:sp>
      <p:sp>
        <p:nvSpPr>
          <p:cNvPr id="8" name="Rectangle 7"/>
          <p:cNvSpPr/>
          <p:nvPr/>
        </p:nvSpPr>
        <p:spPr>
          <a:xfrm>
            <a:off x="594360" y="2496312"/>
            <a:ext cx="5943600" cy="868680"/>
          </a:xfrm>
          <a:prstGeom prst="rect">
            <a:avLst/>
          </a:prstGeom>
          <a:solidFill>
            <a:srgbClr val="FFF8E1"/>
          </a:solidFill>
          <a:ln w="19050">
            <a:solidFill>
              <a:srgbClr val="DAA8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58952" y="2642616"/>
            <a:ext cx="5614416" cy="57607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081E3F"/>
                </a:solidFill>
                <a:latin typeface="Aptos"/>
              </a:rPr>
              <a:t>Position = location of object w.r.t. the frame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1097280" y="4206240"/>
            <a:ext cx="10058400" cy="0"/>
          </a:xfrm>
          <a:prstGeom prst="line">
            <a:avLst/>
          </a:prstGeom>
          <a:ln w="25400">
            <a:solidFill>
              <a:srgbClr val="B0B6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11018519" y="4206240"/>
            <a:ext cx="182881" cy="0"/>
          </a:xfrm>
          <a:prstGeom prst="line">
            <a:avLst/>
          </a:prstGeom>
          <a:ln w="20320">
            <a:solidFill>
              <a:srgbClr val="B0B6C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1097280" y="4133087"/>
            <a:ext cx="0" cy="146305"/>
          </a:xfrm>
          <a:prstGeom prst="line">
            <a:avLst/>
          </a:prstGeom>
          <a:ln w="15240">
            <a:solidFill>
              <a:srgbClr val="B0B6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932688" y="4297679"/>
            <a:ext cx="329184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B0B6C0"/>
                </a:solidFill>
                <a:latin typeface="Aptos"/>
              </a:rPr>
              <a:t>-2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2354580" y="4133087"/>
            <a:ext cx="0" cy="146305"/>
          </a:xfrm>
          <a:prstGeom prst="line">
            <a:avLst/>
          </a:prstGeom>
          <a:ln w="15240">
            <a:solidFill>
              <a:srgbClr val="B0B6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2189988" y="4297679"/>
            <a:ext cx="329184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B0B6C0"/>
                </a:solidFill>
                <a:latin typeface="Aptos"/>
              </a:rPr>
              <a:t>-1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3611880" y="4133087"/>
            <a:ext cx="0" cy="146305"/>
          </a:xfrm>
          <a:prstGeom prst="line">
            <a:avLst/>
          </a:prstGeom>
          <a:ln w="15240">
            <a:solidFill>
              <a:srgbClr val="B0B6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3447288" y="4297679"/>
            <a:ext cx="329184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B0B6C0"/>
                </a:solidFill>
                <a:latin typeface="Aptos"/>
              </a:rPr>
              <a:t>0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4869180" y="4133087"/>
            <a:ext cx="0" cy="146305"/>
          </a:xfrm>
          <a:prstGeom prst="line">
            <a:avLst/>
          </a:prstGeom>
          <a:ln w="15240">
            <a:solidFill>
              <a:srgbClr val="B0B6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4704588" y="4297679"/>
            <a:ext cx="329184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B0B6C0"/>
                </a:solidFill>
                <a:latin typeface="Aptos"/>
              </a:rPr>
              <a:t>1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6126480" y="4133087"/>
            <a:ext cx="0" cy="146305"/>
          </a:xfrm>
          <a:prstGeom prst="line">
            <a:avLst/>
          </a:prstGeom>
          <a:ln w="15240">
            <a:solidFill>
              <a:srgbClr val="B0B6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5961888" y="4297679"/>
            <a:ext cx="329184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B0B6C0"/>
                </a:solidFill>
                <a:latin typeface="Aptos"/>
              </a:rPr>
              <a:t>2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7383779" y="4133087"/>
            <a:ext cx="0" cy="146305"/>
          </a:xfrm>
          <a:prstGeom prst="line">
            <a:avLst/>
          </a:prstGeom>
          <a:ln w="15240">
            <a:solidFill>
              <a:srgbClr val="B0B6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7219188" y="4297679"/>
            <a:ext cx="329184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B0B6C0"/>
                </a:solidFill>
                <a:latin typeface="Aptos"/>
              </a:rPr>
              <a:t>3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8641080" y="4133087"/>
            <a:ext cx="0" cy="146305"/>
          </a:xfrm>
          <a:prstGeom prst="line">
            <a:avLst/>
          </a:prstGeom>
          <a:ln w="15240">
            <a:solidFill>
              <a:srgbClr val="B0B6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8476488" y="4297679"/>
            <a:ext cx="329184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B0B6C0"/>
                </a:solidFill>
                <a:latin typeface="Aptos"/>
              </a:rPr>
              <a:t>4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9898380" y="4133087"/>
            <a:ext cx="0" cy="146305"/>
          </a:xfrm>
          <a:prstGeom prst="line">
            <a:avLst/>
          </a:prstGeom>
          <a:ln w="15240">
            <a:solidFill>
              <a:srgbClr val="B0B6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9733788" y="4297679"/>
            <a:ext cx="329184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B0B6C0"/>
                </a:solidFill>
                <a:latin typeface="Aptos"/>
              </a:rPr>
              <a:t>5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11155680" y="4133087"/>
            <a:ext cx="0" cy="146305"/>
          </a:xfrm>
          <a:prstGeom prst="line">
            <a:avLst/>
          </a:prstGeom>
          <a:ln w="15240">
            <a:solidFill>
              <a:srgbClr val="B0B6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10991088" y="4297679"/>
            <a:ext cx="329184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B0B6C0"/>
                </a:solidFill>
                <a:latin typeface="Aptos"/>
              </a:rPr>
              <a:t>6</a:t>
            </a:r>
          </a:p>
        </p:txBody>
      </p:sp>
      <p:sp>
        <p:nvSpPr>
          <p:cNvPr id="30" name="Oval 29"/>
          <p:cNvSpPr/>
          <p:nvPr/>
        </p:nvSpPr>
        <p:spPr>
          <a:xfrm>
            <a:off x="3570732" y="4165091"/>
            <a:ext cx="82296" cy="82296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291840" y="3913631"/>
            <a:ext cx="640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ptos"/>
              </a:rPr>
              <a:t>O</a:t>
            </a:r>
          </a:p>
        </p:txBody>
      </p:sp>
      <p:sp>
        <p:nvSpPr>
          <p:cNvPr id="32" name="Oval 31"/>
          <p:cNvSpPr/>
          <p:nvPr/>
        </p:nvSpPr>
        <p:spPr>
          <a:xfrm>
            <a:off x="7342631" y="4165091"/>
            <a:ext cx="82296" cy="82296"/>
          </a:xfrm>
          <a:prstGeom prst="ellipse">
            <a:avLst/>
          </a:prstGeom>
          <a:solidFill>
            <a:srgbClr val="FFD6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063740" y="3913631"/>
            <a:ext cx="640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FFD646"/>
                </a:solidFill>
                <a:latin typeface="Aptos"/>
              </a:rPr>
              <a:t>object at x = 3 m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412480" y="4892040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B0B6C0"/>
                </a:solidFill>
                <a:latin typeface="Aptos"/>
              </a:rPr>
              <a:t>Frame axis (+x →)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FF9E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FFFFFF"/>
                </a:solidFill>
                <a:latin typeface="Aptos"/>
              </a:rPr>
              <a:t>IDEA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40" b="1">
                <a:solidFill>
                  <a:srgbClr val="FFD646"/>
                </a:solidFill>
                <a:latin typeface="Aptos"/>
              </a:rPr>
              <a:t>Rest and motion from position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90" b="1">
                <a:solidFill>
                  <a:srgbClr val="B0B6C0"/>
                </a:solidFill>
                <a:latin typeface="Aptos"/>
              </a:rPr>
              <a:t>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FFFFFF"/>
                </a:solidFill>
                <a:latin typeface="Aptos"/>
              </a:rPr>
              <a:t>Watch the position as time passes in the same frame.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1901952"/>
            <a:ext cx="5212080" cy="1417320"/>
          </a:xfrm>
          <a:prstGeom prst="roundRect">
            <a:avLst/>
          </a:prstGeom>
          <a:solidFill>
            <a:srgbClr val="0C0E12"/>
          </a:solidFill>
          <a:ln w="12700">
            <a:solidFill>
              <a:srgbClr val="5AD6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2011680"/>
            <a:ext cx="4937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5AD680"/>
                </a:solidFill>
                <a:latin typeface="Aptos"/>
              </a:rPr>
              <a:t>Rest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340864"/>
            <a:ext cx="4937760" cy="8869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FFFFFF"/>
                </a:solidFill>
                <a:latin typeface="Aptos"/>
              </a:rPr>
              <a:t>Position does not change with time.
x stays the same.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63640" y="1901952"/>
            <a:ext cx="5212080" cy="1417320"/>
          </a:xfrm>
          <a:prstGeom prst="roundRect">
            <a:avLst/>
          </a:prstGeom>
          <a:solidFill>
            <a:srgbClr val="0C0E12"/>
          </a:solidFill>
          <a:ln w="12700">
            <a:solidFill>
              <a:srgbClr val="FF9E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0" y="2011680"/>
            <a:ext cx="4937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FF9E40"/>
                </a:solidFill>
                <a:latin typeface="Aptos"/>
              </a:rPr>
              <a:t>Motion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2340864"/>
            <a:ext cx="4937760" cy="8869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FFFFFF"/>
                </a:solidFill>
                <a:latin typeface="Aptos"/>
              </a:rPr>
              <a:t>Position changes with time.
x moves to a new value.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94360" y="3639311"/>
            <a:ext cx="11018520" cy="914400"/>
          </a:xfrm>
          <a:prstGeom prst="rect">
            <a:avLst/>
          </a:prstGeom>
          <a:solidFill>
            <a:srgbClr val="FFF8E1"/>
          </a:solidFill>
          <a:ln w="19050">
            <a:solidFill>
              <a:srgbClr val="DAA8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58952" y="3785615"/>
            <a:ext cx="10689336" cy="6217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081E3F"/>
                </a:solidFill>
                <a:latin typeface="Aptos"/>
              </a:rPr>
              <a:t>Rest &amp; motion are relative to the frame of reference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5AD6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FFFFFF"/>
                </a:solidFill>
                <a:latin typeface="Aptos"/>
              </a:rPr>
              <a:t>GRAPH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40" b="1">
                <a:solidFill>
                  <a:srgbClr val="FFD646"/>
                </a:solidFill>
                <a:latin typeface="Aptos"/>
              </a:rPr>
              <a:t>x–t picture: rest vs motion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90" b="1">
                <a:solidFill>
                  <a:srgbClr val="B0B6C0"/>
                </a:solidFill>
                <a:latin typeface="Aptos"/>
              </a:rPr>
              <a:t>11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FFFFFF"/>
                </a:solidFill>
                <a:latin typeface="Aptos"/>
              </a:rPr>
              <a:t>On a position–time graph, rest is a horizontal line. Motion is a rising or falling line (or curve).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914400" y="5257800"/>
            <a:ext cx="4572000" cy="0"/>
          </a:xfrm>
          <a:prstGeom prst="line">
            <a:avLst/>
          </a:prstGeom>
          <a:ln w="17780">
            <a:solidFill>
              <a:srgbClr val="B0B6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914400" y="1965960"/>
            <a:ext cx="0" cy="3291840"/>
          </a:xfrm>
          <a:prstGeom prst="line">
            <a:avLst/>
          </a:prstGeom>
          <a:ln w="17780">
            <a:solidFill>
              <a:srgbClr val="B0B6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5321808" y="5303520"/>
            <a:ext cx="3200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B0B6C0"/>
                </a:solidFill>
                <a:latin typeface="Aptos"/>
              </a:rPr>
              <a:t>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78408" y="1965960"/>
            <a:ext cx="4114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B0B6C0"/>
                </a:solidFill>
                <a:latin typeface="Aptos"/>
              </a:rPr>
              <a:t>x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057400" y="5202936"/>
            <a:ext cx="0" cy="109728"/>
          </a:xfrm>
          <a:prstGeom prst="line">
            <a:avLst/>
          </a:prstGeom>
          <a:ln w="13970">
            <a:solidFill>
              <a:srgbClr val="B0B6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1892807" y="5330952"/>
            <a:ext cx="329184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B0B6C0"/>
                </a:solidFill>
                <a:latin typeface="Aptos"/>
              </a:rPr>
              <a:t>1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3200400" y="5202936"/>
            <a:ext cx="0" cy="109728"/>
          </a:xfrm>
          <a:prstGeom prst="line">
            <a:avLst/>
          </a:prstGeom>
          <a:ln w="13970">
            <a:solidFill>
              <a:srgbClr val="B0B6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3035808" y="5330952"/>
            <a:ext cx="329184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B0B6C0"/>
                </a:solidFill>
                <a:latin typeface="Aptos"/>
              </a:rPr>
              <a:t>2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4343400" y="5202936"/>
            <a:ext cx="0" cy="109728"/>
          </a:xfrm>
          <a:prstGeom prst="line">
            <a:avLst/>
          </a:prstGeom>
          <a:ln w="13970">
            <a:solidFill>
              <a:srgbClr val="B0B6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4178808" y="5330952"/>
            <a:ext cx="329184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B0B6C0"/>
                </a:solidFill>
                <a:latin typeface="Aptos"/>
              </a:rPr>
              <a:t>3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859536" y="3886200"/>
            <a:ext cx="109728" cy="0"/>
          </a:xfrm>
          <a:prstGeom prst="line">
            <a:avLst/>
          </a:prstGeom>
          <a:ln w="13970">
            <a:solidFill>
              <a:srgbClr val="B0B6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493776" y="3785615"/>
            <a:ext cx="347472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B0B6C0"/>
                </a:solidFill>
                <a:latin typeface="Aptos"/>
              </a:rPr>
              <a:t>5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859536" y="2514600"/>
            <a:ext cx="109728" cy="0"/>
          </a:xfrm>
          <a:prstGeom prst="line">
            <a:avLst/>
          </a:prstGeom>
          <a:ln w="13970">
            <a:solidFill>
              <a:srgbClr val="B0B6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493776" y="2414016"/>
            <a:ext cx="347472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B0B6C0"/>
                </a:solidFill>
                <a:latin typeface="Aptos"/>
              </a:rPr>
              <a:t>10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1792" y="5330952"/>
            <a:ext cx="237744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B0B6C0"/>
                </a:solidFill>
                <a:latin typeface="Aptos"/>
              </a:rPr>
              <a:t>0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914400" y="2514600"/>
            <a:ext cx="4114800" cy="0"/>
          </a:xfrm>
          <a:prstGeom prst="line">
            <a:avLst/>
          </a:prstGeom>
          <a:ln w="33020">
            <a:solidFill>
              <a:srgbClr val="5AD6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1051560" y="2057400"/>
            <a:ext cx="23774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5AD680"/>
                </a:solidFill>
                <a:latin typeface="Aptos"/>
              </a:rPr>
              <a:t>Rest: x = 10 m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6675120" y="5257800"/>
            <a:ext cx="4572000" cy="0"/>
          </a:xfrm>
          <a:prstGeom prst="line">
            <a:avLst/>
          </a:prstGeom>
          <a:ln w="17780">
            <a:solidFill>
              <a:srgbClr val="B0B6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6675120" y="1965960"/>
            <a:ext cx="0" cy="3291840"/>
          </a:xfrm>
          <a:prstGeom prst="line">
            <a:avLst/>
          </a:prstGeom>
          <a:ln w="17780">
            <a:solidFill>
              <a:srgbClr val="B0B6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11082528" y="5303520"/>
            <a:ext cx="3200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B0B6C0"/>
                </a:solidFill>
                <a:latin typeface="Aptos"/>
              </a:rPr>
              <a:t>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739128" y="1965960"/>
            <a:ext cx="4114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B0B6C0"/>
                </a:solidFill>
                <a:latin typeface="Aptos"/>
              </a:rPr>
              <a:t>x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7818120" y="5202936"/>
            <a:ext cx="0" cy="109728"/>
          </a:xfrm>
          <a:prstGeom prst="line">
            <a:avLst/>
          </a:prstGeom>
          <a:ln w="13970">
            <a:solidFill>
              <a:srgbClr val="B0B6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7653528" y="5330952"/>
            <a:ext cx="329184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B0B6C0"/>
                </a:solidFill>
                <a:latin typeface="Aptos"/>
              </a:rPr>
              <a:t>1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8961120" y="5202936"/>
            <a:ext cx="0" cy="109728"/>
          </a:xfrm>
          <a:prstGeom prst="line">
            <a:avLst/>
          </a:prstGeom>
          <a:ln w="13970">
            <a:solidFill>
              <a:srgbClr val="B0B6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8796528" y="5330952"/>
            <a:ext cx="329184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B0B6C0"/>
                </a:solidFill>
                <a:latin typeface="Aptos"/>
              </a:rPr>
              <a:t>2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10104120" y="5202936"/>
            <a:ext cx="0" cy="109728"/>
          </a:xfrm>
          <a:prstGeom prst="line">
            <a:avLst/>
          </a:prstGeom>
          <a:ln w="13970">
            <a:solidFill>
              <a:srgbClr val="B0B6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TextBox 33"/>
          <p:cNvSpPr txBox="1"/>
          <p:nvPr/>
        </p:nvSpPr>
        <p:spPr>
          <a:xfrm>
            <a:off x="9939528" y="5330952"/>
            <a:ext cx="329184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B0B6C0"/>
                </a:solidFill>
                <a:latin typeface="Aptos"/>
              </a:rPr>
              <a:t>3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6620256" y="3886200"/>
            <a:ext cx="109727" cy="0"/>
          </a:xfrm>
          <a:prstGeom prst="line">
            <a:avLst/>
          </a:prstGeom>
          <a:ln w="13970">
            <a:solidFill>
              <a:srgbClr val="B0B6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TextBox 35"/>
          <p:cNvSpPr txBox="1"/>
          <p:nvPr/>
        </p:nvSpPr>
        <p:spPr>
          <a:xfrm>
            <a:off x="6254496" y="3785615"/>
            <a:ext cx="347472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B0B6C0"/>
                </a:solidFill>
                <a:latin typeface="Aptos"/>
              </a:rPr>
              <a:t>5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6620256" y="2514600"/>
            <a:ext cx="109727" cy="0"/>
          </a:xfrm>
          <a:prstGeom prst="line">
            <a:avLst/>
          </a:prstGeom>
          <a:ln w="13970">
            <a:solidFill>
              <a:srgbClr val="B0B6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TextBox 37"/>
          <p:cNvSpPr txBox="1"/>
          <p:nvPr/>
        </p:nvSpPr>
        <p:spPr>
          <a:xfrm>
            <a:off x="6254496" y="2414016"/>
            <a:ext cx="347472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B0B6C0"/>
                </a:solidFill>
                <a:latin typeface="Aptos"/>
              </a:rPr>
              <a:t>10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382512" y="5330952"/>
            <a:ext cx="237744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B0B6C0"/>
                </a:solidFill>
                <a:latin typeface="Aptos"/>
              </a:rPr>
              <a:t>0</a:t>
            </a:r>
          </a:p>
        </p:txBody>
      </p:sp>
      <p:cxnSp>
        <p:nvCxnSpPr>
          <p:cNvPr id="40" name="Connector 39"/>
          <p:cNvCxnSpPr/>
          <p:nvPr/>
        </p:nvCxnSpPr>
        <p:spPr>
          <a:xfrm flipV="1">
            <a:off x="6675120" y="2240279"/>
            <a:ext cx="4114800" cy="2468881"/>
          </a:xfrm>
          <a:prstGeom prst="line">
            <a:avLst/>
          </a:prstGeom>
          <a:ln w="3302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TextBox 40"/>
          <p:cNvSpPr txBox="1"/>
          <p:nvPr/>
        </p:nvSpPr>
        <p:spPr>
          <a:xfrm>
            <a:off x="6812280" y="2057400"/>
            <a:ext cx="25603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FFD646"/>
                </a:solidFill>
                <a:latin typeface="Aptos"/>
              </a:rPr>
              <a:t>Motion: x changes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B0B6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FFFFFF"/>
                </a:solidFill>
                <a:latin typeface="Aptos"/>
              </a:rPr>
              <a:t>ROUGH WORK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980" b="1">
                <a:solidFill>
                  <a:srgbClr val="FFD646"/>
                </a:solidFill>
                <a:latin typeface="Aptos"/>
              </a:rPr>
              <a:t>Rough work  /  extra work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90" b="1">
                <a:solidFill>
                  <a:srgbClr val="B0B6C0"/>
                </a:solidFill>
                <a:latin typeface="Aptos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FF9E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FFFFFF"/>
                </a:solidFill>
                <a:latin typeface="Aptos"/>
              </a:rPr>
              <a:t>IDEA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40" b="1">
                <a:solidFill>
                  <a:srgbClr val="FFD646"/>
                </a:solidFill>
                <a:latin typeface="Aptos"/>
              </a:rPr>
              <a:t>Distance — the path you really walked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90" b="1">
                <a:solidFill>
                  <a:srgbClr val="B0B6C0"/>
                </a:solidFill>
                <a:latin typeface="Aptos"/>
              </a:rPr>
              <a:t>13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5760720" cy="1051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FFFFFF"/>
                </a:solidFill>
                <a:latin typeface="Aptos"/>
              </a:rPr>
              <a:t>Distance is the length of the actual path covered by the object. A vehicle odometer reading is distance.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2313432"/>
            <a:ext cx="57607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FFFFFF"/>
                </a:solidFill>
                <a:latin typeface="Aptos"/>
              </a:rPr>
              <a:t>•  Scalar — only size, no direction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770632"/>
            <a:ext cx="57607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FFFFFF"/>
                </a:solidFill>
                <a:latin typeface="Aptos"/>
              </a:rPr>
              <a:t>•  Unit: metre (m)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3227832"/>
            <a:ext cx="57607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FFFFFF"/>
                </a:solidFill>
                <a:latin typeface="Aptos"/>
              </a:rPr>
              <a:t>•  Cannot be negative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3685032"/>
            <a:ext cx="57607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FFFFFF"/>
                </a:solidFill>
                <a:latin typeface="Aptos"/>
              </a:rPr>
              <a:t>•  Keeps increasing while the object moves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4142232"/>
            <a:ext cx="57607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FFFFFF"/>
                </a:solidFill>
                <a:latin typeface="Aptos"/>
              </a:rPr>
              <a:t>•  Depends on the path between two points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4782312"/>
            <a:ext cx="57607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FF9E40"/>
                </a:solidFill>
                <a:latin typeface="Aptos"/>
              </a:rPr>
              <a:t>If the path is unknown, you cannot calculate distance.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0" y="1371600"/>
            <a:ext cx="4023360" cy="4206240"/>
          </a:xfrm>
          <a:prstGeom prst="roundRect">
            <a:avLst/>
          </a:prstGeom>
          <a:solidFill>
            <a:srgbClr val="0E1016"/>
          </a:solidFill>
          <a:ln w="19050">
            <a:solidFill>
              <a:srgbClr val="FF9E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498079" y="1554480"/>
            <a:ext cx="3657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FF9E40"/>
                </a:solidFill>
                <a:latin typeface="Aptos"/>
              </a:rPr>
              <a:t>Odometer idea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98079" y="2011680"/>
            <a:ext cx="3657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Aptos"/>
              </a:rPr>
              <a:t>Adds every metre of path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498079" y="2468880"/>
            <a:ext cx="3657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B0B6C0"/>
                </a:solidFill>
                <a:latin typeface="Aptos"/>
              </a:rPr>
              <a:t>never goes backwards</a:t>
            </a:r>
          </a:p>
        </p:txBody>
      </p:sp>
      <p:cxnSp>
        <p:nvCxnSpPr>
          <p:cNvPr id="18" name="Connector 17"/>
          <p:cNvCxnSpPr/>
          <p:nvPr/>
        </p:nvCxnSpPr>
        <p:spPr>
          <a:xfrm flipV="1">
            <a:off x="7863840" y="4023360"/>
            <a:ext cx="640080" cy="822960"/>
          </a:xfrm>
          <a:prstGeom prst="line">
            <a:avLst/>
          </a:prstGeom>
          <a:ln w="27940">
            <a:solidFill>
              <a:srgbClr val="FFD646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8503920" y="4023360"/>
            <a:ext cx="822960" cy="548640"/>
          </a:xfrm>
          <a:prstGeom prst="line">
            <a:avLst/>
          </a:prstGeom>
          <a:ln w="27940">
            <a:solidFill>
              <a:srgbClr val="FFD646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 flipV="1">
            <a:off x="9326880" y="3566160"/>
            <a:ext cx="731520" cy="1005840"/>
          </a:xfrm>
          <a:prstGeom prst="line">
            <a:avLst/>
          </a:prstGeom>
          <a:ln w="27940">
            <a:solidFill>
              <a:srgbClr val="FFD646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10058400" y="3566160"/>
            <a:ext cx="548640" cy="822960"/>
          </a:xfrm>
          <a:prstGeom prst="line">
            <a:avLst/>
          </a:prstGeom>
          <a:ln w="27940">
            <a:solidFill>
              <a:srgbClr val="FFD646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7589520" y="5074920"/>
            <a:ext cx="3474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FFD646"/>
                </a:solidFill>
                <a:latin typeface="Aptos"/>
              </a:rPr>
              <a:t>long path = large distance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28B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FFFFFF"/>
                </a:solidFill>
                <a:latin typeface="Aptos"/>
              </a:rPr>
              <a:t>IDEA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40" b="1">
                <a:solidFill>
                  <a:srgbClr val="FFD646"/>
                </a:solidFill>
                <a:latin typeface="Aptos"/>
              </a:rPr>
              <a:t>Displacement — the net shift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90" b="1">
                <a:solidFill>
                  <a:srgbClr val="B0B6C0"/>
                </a:solidFill>
                <a:latin typeface="Aptos"/>
              </a:rPr>
              <a:t>14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FFFFFF"/>
                </a:solidFill>
                <a:latin typeface="Aptos"/>
              </a:rPr>
              <a:t>Displacement is how much the position shifted, and in which direction. It is the shortest directed jump from start to finish.</a:t>
            </a:r>
          </a:p>
        </p:txBody>
      </p:sp>
      <p:sp>
        <p:nvSpPr>
          <p:cNvPr id="8" name="Rectangle 7"/>
          <p:cNvSpPr/>
          <p:nvPr/>
        </p:nvSpPr>
        <p:spPr>
          <a:xfrm>
            <a:off x="594360" y="2221991"/>
            <a:ext cx="11018520" cy="822960"/>
          </a:xfrm>
          <a:prstGeom prst="rect">
            <a:avLst/>
          </a:prstGeom>
          <a:solidFill>
            <a:srgbClr val="FFF8E1"/>
          </a:solidFill>
          <a:ln w="19050">
            <a:solidFill>
              <a:srgbClr val="DAA8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58952" y="2368296"/>
            <a:ext cx="10689336" cy="5303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081E3F"/>
                </a:solidFill>
                <a:latin typeface="Aptos"/>
              </a:rPr>
              <a:t>Δr = r</a:t>
            </a:r>
            <a:r>
              <a:rPr sz="1800" b="1">
                <a:solidFill>
                  <a:srgbClr val="081E3F"/>
                </a:solidFill>
                <a:latin typeface="Aptos"/>
                <a:baseline val="-25000"/>
              </a:rPr>
              <a:t>f</a:t>
            </a:r>
            <a:r>
              <a:rPr sz="1800" b="1">
                <a:solidFill>
                  <a:srgbClr val="081E3F"/>
                </a:solidFill>
                <a:latin typeface="Aptos"/>
              </a:rPr>
              <a:t> − rᵢ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3273552"/>
            <a:ext cx="110185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FFFFFF"/>
                </a:solidFill>
                <a:latin typeface="Aptos"/>
              </a:rPr>
              <a:t>•  Vector — size and direction; unit metre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3730752"/>
            <a:ext cx="110185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FFFFFF"/>
                </a:solidFill>
                <a:latin typeface="Aptos"/>
              </a:rPr>
              <a:t>•  Does not depend on the path taken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4187952"/>
            <a:ext cx="110185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FFFFFF"/>
                </a:solidFill>
                <a:latin typeface="Aptos"/>
              </a:rPr>
              <a:t>•  Can be positive or negative on a line (sign = direction)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4645152"/>
            <a:ext cx="110185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FFFFFF"/>
                </a:solidFill>
                <a:latin typeface="Aptos"/>
              </a:rPr>
              <a:t>•  Can decrease even while the object is still moving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5239512"/>
            <a:ext cx="1101852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FF9E40"/>
                </a:solidFill>
                <a:latin typeface="Aptos"/>
              </a:rPr>
              <a:t>If initial and final positions are the same → displacement = 0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5AD6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FFFFFF"/>
                </a:solidFill>
                <a:latin typeface="Aptos"/>
              </a:rPr>
              <a:t>FIGURE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40" b="1">
                <a:solidFill>
                  <a:srgbClr val="FFD646"/>
                </a:solidFill>
                <a:latin typeface="Aptos"/>
              </a:rPr>
              <a:t>Path (distance) vs straight jump (displacement)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90" b="1">
                <a:solidFill>
                  <a:srgbClr val="B0B6C0"/>
                </a:solidFill>
                <a:latin typeface="Aptos"/>
              </a:rPr>
              <a:t>15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FFFFFF"/>
                </a:solidFill>
                <a:latin typeface="Aptos"/>
              </a:rPr>
              <a:t>Same start A and end B. The winding route is distance. The straight arrow is displacement.</a:t>
            </a:r>
          </a:p>
        </p:txBody>
      </p:sp>
      <p:sp>
        <p:nvSpPr>
          <p:cNvPr id="8" name="Oval 7"/>
          <p:cNvSpPr/>
          <p:nvPr/>
        </p:nvSpPr>
        <p:spPr>
          <a:xfrm>
            <a:off x="2244852" y="4896612"/>
            <a:ext cx="82296" cy="82296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737360" y="5166360"/>
            <a:ext cx="12801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ptos"/>
              </a:rPr>
              <a:t>A  (start)</a:t>
            </a:r>
          </a:p>
        </p:txBody>
      </p:sp>
      <p:sp>
        <p:nvSpPr>
          <p:cNvPr id="10" name="Oval 9"/>
          <p:cNvSpPr/>
          <p:nvPr/>
        </p:nvSpPr>
        <p:spPr>
          <a:xfrm>
            <a:off x="9560052" y="2336292"/>
            <a:ext cx="82296" cy="82296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326880" y="2011680"/>
            <a:ext cx="12801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ptos"/>
              </a:rPr>
              <a:t>B  (end)</a:t>
            </a:r>
          </a:p>
        </p:txBody>
      </p:sp>
      <p:cxnSp>
        <p:nvCxnSpPr>
          <p:cNvPr id="12" name="Connector 11"/>
          <p:cNvCxnSpPr/>
          <p:nvPr/>
        </p:nvCxnSpPr>
        <p:spPr>
          <a:xfrm flipV="1">
            <a:off x="2286000" y="2926080"/>
            <a:ext cx="1188720" cy="2011680"/>
          </a:xfrm>
          <a:prstGeom prst="line">
            <a:avLst/>
          </a:prstGeom>
          <a:ln w="30480">
            <a:solidFill>
              <a:srgbClr val="FF9E4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3474720" y="2926080"/>
            <a:ext cx="1554480" cy="1645920"/>
          </a:xfrm>
          <a:prstGeom prst="line">
            <a:avLst/>
          </a:prstGeom>
          <a:ln w="30480">
            <a:solidFill>
              <a:srgbClr val="FF9E4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V="1">
            <a:off x="5029200" y="2651760"/>
            <a:ext cx="1554480" cy="1920240"/>
          </a:xfrm>
          <a:prstGeom prst="line">
            <a:avLst/>
          </a:prstGeom>
          <a:ln w="30480">
            <a:solidFill>
              <a:srgbClr val="FF9E4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6583680" y="2651760"/>
            <a:ext cx="1463040" cy="1554480"/>
          </a:xfrm>
          <a:prstGeom prst="line">
            <a:avLst/>
          </a:prstGeom>
          <a:ln w="30480">
            <a:solidFill>
              <a:srgbClr val="FF9E4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 flipV="1">
            <a:off x="8046720" y="2377440"/>
            <a:ext cx="1554480" cy="1828800"/>
          </a:xfrm>
          <a:prstGeom prst="line">
            <a:avLst/>
          </a:prstGeom>
          <a:ln w="30480">
            <a:solidFill>
              <a:srgbClr val="FF9E4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3200400" y="5349240"/>
            <a:ext cx="5029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9E40"/>
                </a:solidFill>
                <a:latin typeface="Aptos"/>
              </a:rPr>
              <a:t>distance = length of orange path</a:t>
            </a:r>
          </a:p>
        </p:txBody>
      </p:sp>
      <p:cxnSp>
        <p:nvCxnSpPr>
          <p:cNvPr id="18" name="Connector 17"/>
          <p:cNvCxnSpPr/>
          <p:nvPr/>
        </p:nvCxnSpPr>
        <p:spPr>
          <a:xfrm flipV="1">
            <a:off x="2286000" y="2377440"/>
            <a:ext cx="7315200" cy="2560320"/>
          </a:xfrm>
          <a:prstGeom prst="line">
            <a:avLst/>
          </a:prstGeom>
          <a:ln w="38100">
            <a:solidFill>
              <a:srgbClr val="5AD68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5303520" y="3291840"/>
            <a:ext cx="2011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5AD680"/>
                </a:solidFill>
                <a:latin typeface="Aptos"/>
              </a:rPr>
              <a:t>displacement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409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FFFFFF"/>
                </a:solidFill>
                <a:latin typeface="Aptos"/>
              </a:rPr>
              <a:t>RULE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40" b="1">
                <a:solidFill>
                  <a:srgbClr val="FFD646"/>
                </a:solidFill>
                <a:latin typeface="Aptos"/>
              </a:rPr>
              <a:t>Three inequalities you must own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90" b="1">
                <a:solidFill>
                  <a:srgbClr val="B0B6C0"/>
                </a:solidFill>
                <a:latin typeface="Aptos"/>
              </a:rPr>
              <a:t>16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1051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FFFFFF"/>
                </a:solidFill>
                <a:latin typeface="Aptos"/>
              </a:rPr>
              <a:t>In one dimension, if the object never turns back, the size of displacement equals the distance. In every case, distance cannot be smaller than |displacement|.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2313432"/>
            <a:ext cx="110185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40" b="1">
                <a:solidFill>
                  <a:srgbClr val="5AC8FF"/>
                </a:solidFill>
                <a:latin typeface="Aptos"/>
              </a:rPr>
              <a:t>No change of direction (1-D):   |displacement| = distance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862072"/>
            <a:ext cx="110185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30" b="1">
                <a:solidFill>
                  <a:srgbClr val="5AC8FF"/>
                </a:solidFill>
                <a:latin typeface="Aptos"/>
              </a:rPr>
              <a:t>Always (any path):   distance ≥ |displacement|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3410712"/>
            <a:ext cx="110185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30" b="1">
                <a:solidFill>
                  <a:srgbClr val="5AC8FF"/>
                </a:solidFill>
                <a:latin typeface="Aptos"/>
              </a:rPr>
              <a:t>distance / |displacement|  ≥  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4325112"/>
            <a:ext cx="1101852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FF9E40"/>
                </a:solidFill>
                <a:latin typeface="Aptos"/>
              </a:rPr>
              <a:t>|displacement| &gt; distance is never possible.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FF9E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FFFFFF"/>
                </a:solidFill>
                <a:latin typeface="Aptos"/>
              </a:rPr>
              <a:t>QUESTION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40" b="1">
                <a:solidFill>
                  <a:srgbClr val="FFD646"/>
                </a:solidFill>
                <a:latin typeface="Aptos"/>
              </a:rPr>
              <a:t>MCQ — motion in a straight line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90" b="1">
                <a:solidFill>
                  <a:srgbClr val="B0B6C0"/>
                </a:solidFill>
                <a:latin typeface="Aptos"/>
              </a:rPr>
              <a:t>17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FF9E40"/>
                </a:solidFill>
                <a:latin typeface="Aptos"/>
              </a:rPr>
              <a:t>Which option is correct for motion in a straight line (1-D)?</a:t>
            </a:r>
          </a:p>
        </p:txBody>
      </p:sp>
      <p:sp>
        <p:nvSpPr>
          <p:cNvPr id="8" name="Oval 7"/>
          <p:cNvSpPr/>
          <p:nvPr/>
        </p:nvSpPr>
        <p:spPr>
          <a:xfrm>
            <a:off x="594360" y="1865376"/>
            <a:ext cx="292608" cy="292608"/>
          </a:xfrm>
          <a:prstGeom prst="ellipse">
            <a:avLst/>
          </a:prstGeom>
          <a:solidFill>
            <a:srgbClr val="28B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1883664"/>
            <a:ext cx="292608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14984" y="1847088"/>
            <a:ext cx="10597896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FFFFFF"/>
                </a:solidFill>
                <a:latin typeface="Aptos"/>
              </a:rPr>
              <a:t>distance = |displacement|</a:t>
            </a:r>
          </a:p>
        </p:txBody>
      </p:sp>
      <p:sp>
        <p:nvSpPr>
          <p:cNvPr id="11" name="Oval 10"/>
          <p:cNvSpPr/>
          <p:nvPr/>
        </p:nvSpPr>
        <p:spPr>
          <a:xfrm>
            <a:off x="594360" y="2340864"/>
            <a:ext cx="292608" cy="292608"/>
          </a:xfrm>
          <a:prstGeom prst="ellipse">
            <a:avLst/>
          </a:prstGeom>
          <a:solidFill>
            <a:srgbClr val="28B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94360" y="2359152"/>
            <a:ext cx="292608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14984" y="2322576"/>
            <a:ext cx="10597896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FFFFFF"/>
                </a:solidFill>
                <a:latin typeface="Aptos"/>
              </a:rPr>
              <a:t>distance &gt; |displacement|</a:t>
            </a:r>
          </a:p>
        </p:txBody>
      </p:sp>
      <p:sp>
        <p:nvSpPr>
          <p:cNvPr id="14" name="Oval 13"/>
          <p:cNvSpPr/>
          <p:nvPr/>
        </p:nvSpPr>
        <p:spPr>
          <a:xfrm>
            <a:off x="594360" y="2816352"/>
            <a:ext cx="292608" cy="292608"/>
          </a:xfrm>
          <a:prstGeom prst="ellipse">
            <a:avLst/>
          </a:prstGeom>
          <a:solidFill>
            <a:srgbClr val="28B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94360" y="2834640"/>
            <a:ext cx="292608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14984" y="2798064"/>
            <a:ext cx="10597896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FFFFFF"/>
                </a:solidFill>
                <a:latin typeface="Aptos"/>
              </a:rPr>
              <a:t>distance ≥ |displacement|</a:t>
            </a:r>
          </a:p>
        </p:txBody>
      </p:sp>
      <p:sp>
        <p:nvSpPr>
          <p:cNvPr id="17" name="Oval 16"/>
          <p:cNvSpPr/>
          <p:nvPr/>
        </p:nvSpPr>
        <p:spPr>
          <a:xfrm>
            <a:off x="594360" y="3291840"/>
            <a:ext cx="292608" cy="292608"/>
          </a:xfrm>
          <a:prstGeom prst="ellipse">
            <a:avLst/>
          </a:prstGeom>
          <a:solidFill>
            <a:srgbClr val="28B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94360" y="3310128"/>
            <a:ext cx="292608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14984" y="3273552"/>
            <a:ext cx="10597896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FFFFFF"/>
                </a:solidFill>
                <a:latin typeface="Aptos"/>
              </a:rPr>
              <a:t>distance &lt; |displacement|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5AD6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FFFFFF"/>
                </a:solidFill>
                <a:latin typeface="Aptos"/>
              </a:rPr>
              <a:t>ANSWER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40" b="1">
                <a:solidFill>
                  <a:srgbClr val="FFD646"/>
                </a:solidFill>
                <a:latin typeface="Aptos"/>
              </a:rPr>
              <a:t>Solution: MCQ — motion in a straight line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90" b="1">
                <a:solidFill>
                  <a:srgbClr val="B0B6C0"/>
                </a:solidFill>
                <a:latin typeface="Aptos"/>
              </a:rPr>
              <a:t>18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FFFFFF"/>
                </a:solidFill>
                <a:latin typeface="Aptos"/>
              </a:rPr>
              <a:t>Idea: without a turn, equal; with a turn, distance is larger. Both sit under ≥.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810512"/>
            <a:ext cx="110185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30" b="1">
                <a:solidFill>
                  <a:srgbClr val="5AC8FF"/>
                </a:solidFill>
                <a:latin typeface="Aptos"/>
              </a:rPr>
              <a:t>Step 1:  Correct: distance ≥ |displacement|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542032"/>
            <a:ext cx="11018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20" b="1">
                <a:solidFill>
                  <a:srgbClr val="5AD680"/>
                </a:solidFill>
                <a:latin typeface="Aptos"/>
              </a:rPr>
              <a:t>Answer: option 3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B0B6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FFFFFF"/>
                </a:solidFill>
                <a:latin typeface="Aptos"/>
              </a:rPr>
              <a:t>ROUGH WORK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980" b="1">
                <a:solidFill>
                  <a:srgbClr val="FFD646"/>
                </a:solidFill>
                <a:latin typeface="Aptos"/>
              </a:rPr>
              <a:t>Rough work  /  extra work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90" b="1">
                <a:solidFill>
                  <a:srgbClr val="B0B6C0"/>
                </a:solidFill>
                <a:latin typeface="Aptos"/>
              </a:rPr>
              <a:t>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FF9E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FFFFFF"/>
                </a:solidFill>
                <a:latin typeface="Aptos"/>
              </a:rPr>
              <a:t>QUESTION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40" b="1">
                <a:solidFill>
                  <a:srgbClr val="FFD646"/>
                </a:solidFill>
                <a:latin typeface="Aptos"/>
              </a:rPr>
              <a:t>MCQ — numerical ratio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90" b="1">
                <a:solidFill>
                  <a:srgbClr val="B0B6C0"/>
                </a:solidFill>
                <a:latin typeface="Aptos"/>
              </a:rPr>
              <a:t>20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FF9E40"/>
                </a:solidFill>
                <a:latin typeface="Aptos"/>
              </a:rPr>
              <a:t>The numerical ratio of distance to |displacement| is always</a:t>
            </a:r>
          </a:p>
        </p:txBody>
      </p:sp>
      <p:sp>
        <p:nvSpPr>
          <p:cNvPr id="8" name="Oval 7"/>
          <p:cNvSpPr/>
          <p:nvPr/>
        </p:nvSpPr>
        <p:spPr>
          <a:xfrm>
            <a:off x="594360" y="1956816"/>
            <a:ext cx="292608" cy="292608"/>
          </a:xfrm>
          <a:prstGeom prst="ellipse">
            <a:avLst/>
          </a:prstGeom>
          <a:solidFill>
            <a:srgbClr val="28B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1975104"/>
            <a:ext cx="292608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14984" y="1938528"/>
            <a:ext cx="10597896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FFFFFF"/>
                </a:solidFill>
                <a:latin typeface="Aptos"/>
              </a:rPr>
              <a:t>less than one</a:t>
            </a:r>
          </a:p>
        </p:txBody>
      </p:sp>
      <p:sp>
        <p:nvSpPr>
          <p:cNvPr id="11" name="Oval 10"/>
          <p:cNvSpPr/>
          <p:nvPr/>
        </p:nvSpPr>
        <p:spPr>
          <a:xfrm>
            <a:off x="594360" y="2432304"/>
            <a:ext cx="292608" cy="292608"/>
          </a:xfrm>
          <a:prstGeom prst="ellipse">
            <a:avLst/>
          </a:prstGeom>
          <a:solidFill>
            <a:srgbClr val="28B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94360" y="2450592"/>
            <a:ext cx="292608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14984" y="2414016"/>
            <a:ext cx="10597896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FFFFFF"/>
                </a:solidFill>
                <a:latin typeface="Aptos"/>
              </a:rPr>
              <a:t>equal to one</a:t>
            </a:r>
          </a:p>
        </p:txBody>
      </p:sp>
      <p:sp>
        <p:nvSpPr>
          <p:cNvPr id="14" name="Oval 13"/>
          <p:cNvSpPr/>
          <p:nvPr/>
        </p:nvSpPr>
        <p:spPr>
          <a:xfrm>
            <a:off x="594360" y="2907792"/>
            <a:ext cx="292608" cy="292608"/>
          </a:xfrm>
          <a:prstGeom prst="ellipse">
            <a:avLst/>
          </a:prstGeom>
          <a:solidFill>
            <a:srgbClr val="28B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94360" y="2926080"/>
            <a:ext cx="292608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14984" y="2889504"/>
            <a:ext cx="10597896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FFFFFF"/>
                </a:solidFill>
                <a:latin typeface="Aptos"/>
              </a:rPr>
              <a:t>equal to or less than one</a:t>
            </a:r>
          </a:p>
        </p:txBody>
      </p:sp>
      <p:sp>
        <p:nvSpPr>
          <p:cNvPr id="17" name="Oval 16"/>
          <p:cNvSpPr/>
          <p:nvPr/>
        </p:nvSpPr>
        <p:spPr>
          <a:xfrm>
            <a:off x="594360" y="3383280"/>
            <a:ext cx="292608" cy="292608"/>
          </a:xfrm>
          <a:prstGeom prst="ellipse">
            <a:avLst/>
          </a:prstGeom>
          <a:solidFill>
            <a:srgbClr val="28B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94360" y="3401568"/>
            <a:ext cx="292608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14984" y="3364992"/>
            <a:ext cx="10597896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FFFFFF"/>
                </a:solidFill>
                <a:latin typeface="Aptos"/>
              </a:rPr>
              <a:t>equal to or greater than one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5AD6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FFFFFF"/>
                </a:solidFill>
                <a:latin typeface="Aptos"/>
              </a:rPr>
              <a:t>ANSWER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40" b="1">
                <a:solidFill>
                  <a:srgbClr val="FFD646"/>
                </a:solidFill>
                <a:latin typeface="Aptos"/>
              </a:rPr>
              <a:t>Solution: MCQ — numerical ratio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90" b="1">
                <a:solidFill>
                  <a:srgbClr val="B0B6C0"/>
                </a:solidFill>
                <a:latin typeface="Aptos"/>
              </a:rPr>
              <a:t>21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20" b="1">
                <a:solidFill>
                  <a:srgbClr val="5AC8FF"/>
                </a:solidFill>
                <a:latin typeface="Aptos"/>
              </a:rPr>
              <a:t>Step 1:  distance / |displacement|  ≥ 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947672"/>
            <a:ext cx="110185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20" b="1">
                <a:solidFill>
                  <a:srgbClr val="5AD680"/>
                </a:solidFill>
                <a:latin typeface="Aptos"/>
              </a:rPr>
              <a:t>Answer: equal to or greater than one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FF9E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FFFFFF"/>
                </a:solidFill>
                <a:latin typeface="Aptos"/>
              </a:rPr>
              <a:t>QUESTION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40" b="1">
                <a:solidFill>
                  <a:srgbClr val="FFD646"/>
                </a:solidFill>
                <a:latin typeface="Aptos"/>
              </a:rPr>
              <a:t>MCQ — 1-D without change of direction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90" b="1">
                <a:solidFill>
                  <a:srgbClr val="B0B6C0"/>
                </a:solidFill>
                <a:latin typeface="Aptos"/>
              </a:rPr>
              <a:t>22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FF9E40"/>
                </a:solidFill>
                <a:latin typeface="Aptos"/>
              </a:rPr>
              <a:t>For 1-D motion without change in direction, which is correct?</a:t>
            </a:r>
          </a:p>
        </p:txBody>
      </p:sp>
      <p:sp>
        <p:nvSpPr>
          <p:cNvPr id="8" name="Oval 7"/>
          <p:cNvSpPr/>
          <p:nvPr/>
        </p:nvSpPr>
        <p:spPr>
          <a:xfrm>
            <a:off x="594360" y="1911095"/>
            <a:ext cx="292608" cy="292608"/>
          </a:xfrm>
          <a:prstGeom prst="ellipse">
            <a:avLst/>
          </a:prstGeom>
          <a:solidFill>
            <a:srgbClr val="28B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1929384"/>
            <a:ext cx="292608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14984" y="1892807"/>
            <a:ext cx="10597896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FFFFFF"/>
                </a:solidFill>
                <a:latin typeface="Aptos"/>
              </a:rPr>
              <a:t>distance = |displacement|</a:t>
            </a:r>
          </a:p>
        </p:txBody>
      </p:sp>
      <p:sp>
        <p:nvSpPr>
          <p:cNvPr id="11" name="Oval 10"/>
          <p:cNvSpPr/>
          <p:nvPr/>
        </p:nvSpPr>
        <p:spPr>
          <a:xfrm>
            <a:off x="594360" y="2386584"/>
            <a:ext cx="292608" cy="292608"/>
          </a:xfrm>
          <a:prstGeom prst="ellipse">
            <a:avLst/>
          </a:prstGeom>
          <a:solidFill>
            <a:srgbClr val="28B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94360" y="2404872"/>
            <a:ext cx="292608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14984" y="2368296"/>
            <a:ext cx="10597896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FFFFFF"/>
                </a:solidFill>
                <a:latin typeface="Aptos"/>
              </a:rPr>
              <a:t>distance &gt; |displacement|</a:t>
            </a:r>
          </a:p>
        </p:txBody>
      </p:sp>
      <p:sp>
        <p:nvSpPr>
          <p:cNvPr id="14" name="Oval 13"/>
          <p:cNvSpPr/>
          <p:nvPr/>
        </p:nvSpPr>
        <p:spPr>
          <a:xfrm>
            <a:off x="594360" y="2862072"/>
            <a:ext cx="292608" cy="292608"/>
          </a:xfrm>
          <a:prstGeom prst="ellipse">
            <a:avLst/>
          </a:prstGeom>
          <a:solidFill>
            <a:srgbClr val="28B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94360" y="2880360"/>
            <a:ext cx="292608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14984" y="2843784"/>
            <a:ext cx="10597896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FFFFFF"/>
                </a:solidFill>
                <a:latin typeface="Aptos"/>
              </a:rPr>
              <a:t>distance ≥ |displacement|</a:t>
            </a:r>
          </a:p>
        </p:txBody>
      </p:sp>
      <p:sp>
        <p:nvSpPr>
          <p:cNvPr id="17" name="Oval 16"/>
          <p:cNvSpPr/>
          <p:nvPr/>
        </p:nvSpPr>
        <p:spPr>
          <a:xfrm>
            <a:off x="594360" y="3337560"/>
            <a:ext cx="292608" cy="292608"/>
          </a:xfrm>
          <a:prstGeom prst="ellipse">
            <a:avLst/>
          </a:prstGeom>
          <a:solidFill>
            <a:srgbClr val="28B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94360" y="3355848"/>
            <a:ext cx="292608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14984" y="3319272"/>
            <a:ext cx="10597896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FFFFFF"/>
                </a:solidFill>
                <a:latin typeface="Aptos"/>
              </a:rPr>
              <a:t>distance &lt; |displacement|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5AD6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FFFFFF"/>
                </a:solidFill>
                <a:latin typeface="Aptos"/>
              </a:rPr>
              <a:t>ANSWER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40" b="1">
                <a:solidFill>
                  <a:srgbClr val="FFD646"/>
                </a:solidFill>
                <a:latin typeface="Aptos"/>
              </a:rPr>
              <a:t>Solution: MCQ — 1-D without change of direction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90" b="1">
                <a:solidFill>
                  <a:srgbClr val="B0B6C0"/>
                </a:solidFill>
                <a:latin typeface="Aptos"/>
              </a:rPr>
              <a:t>23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FFFFFF"/>
                </a:solidFill>
                <a:latin typeface="Aptos"/>
              </a:rPr>
              <a:t>Idea: the object never turns, so path length equals net shift size.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856231"/>
            <a:ext cx="110185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20" b="1">
                <a:solidFill>
                  <a:srgbClr val="5AD680"/>
                </a:solidFill>
                <a:latin typeface="Aptos"/>
              </a:rPr>
              <a:t>Answer: distance = |displacement|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B0B6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FFFFFF"/>
                </a:solidFill>
                <a:latin typeface="Aptos"/>
              </a:rPr>
              <a:t>ROUGH WORK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980" b="1">
                <a:solidFill>
                  <a:srgbClr val="FFD646"/>
                </a:solidFill>
                <a:latin typeface="Aptos"/>
              </a:rPr>
              <a:t>Rough work  /  extra work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90" b="1">
                <a:solidFill>
                  <a:srgbClr val="B0B6C0"/>
                </a:solidFill>
                <a:latin typeface="Aptos"/>
              </a:rPr>
              <a:t>24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FF9E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FFFFFF"/>
                </a:solidFill>
                <a:latin typeface="Aptos"/>
              </a:rPr>
              <a:t>QUESTION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40" b="1">
                <a:solidFill>
                  <a:srgbClr val="FFD646"/>
                </a:solidFill>
                <a:latin typeface="Aptos"/>
              </a:rPr>
              <a:t>MCQ — 1-D with change of direction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90" b="1">
                <a:solidFill>
                  <a:srgbClr val="B0B6C0"/>
                </a:solidFill>
                <a:latin typeface="Aptos"/>
              </a:rPr>
              <a:t>25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FF9E40"/>
                </a:solidFill>
                <a:latin typeface="Aptos"/>
              </a:rPr>
              <a:t>For 1-D motion with a change of direction, which is correct?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6858000" y="1828800"/>
            <a:ext cx="4572000" cy="0"/>
          </a:xfrm>
          <a:prstGeom prst="line">
            <a:avLst/>
          </a:prstGeom>
          <a:ln w="25400">
            <a:solidFill>
              <a:srgbClr val="B0B6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11292840" y="1828800"/>
            <a:ext cx="182880" cy="0"/>
          </a:xfrm>
          <a:prstGeom prst="line">
            <a:avLst/>
          </a:prstGeom>
          <a:ln w="20320">
            <a:solidFill>
              <a:srgbClr val="B0B6C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6858000" y="1755648"/>
            <a:ext cx="0" cy="146304"/>
          </a:xfrm>
          <a:prstGeom prst="line">
            <a:avLst/>
          </a:prstGeom>
          <a:ln w="15240">
            <a:solidFill>
              <a:srgbClr val="B0B6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6693408" y="1920240"/>
            <a:ext cx="329184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B0B6C0"/>
                </a:solidFill>
                <a:latin typeface="Aptos"/>
              </a:rPr>
              <a:t>0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8381999" y="1755648"/>
            <a:ext cx="0" cy="146304"/>
          </a:xfrm>
          <a:prstGeom prst="line">
            <a:avLst/>
          </a:prstGeom>
          <a:ln w="15240">
            <a:solidFill>
              <a:srgbClr val="B0B6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8217408" y="1920240"/>
            <a:ext cx="329184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B0B6C0"/>
                </a:solidFill>
                <a:latin typeface="Aptos"/>
              </a:rPr>
              <a:t>2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9906000" y="1755648"/>
            <a:ext cx="0" cy="146304"/>
          </a:xfrm>
          <a:prstGeom prst="line">
            <a:avLst/>
          </a:prstGeom>
          <a:ln w="15240">
            <a:solidFill>
              <a:srgbClr val="B0B6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9741408" y="1920240"/>
            <a:ext cx="329184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B0B6C0"/>
                </a:solidFill>
                <a:latin typeface="Aptos"/>
              </a:rPr>
              <a:t>4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11430000" y="1755648"/>
            <a:ext cx="0" cy="146304"/>
          </a:xfrm>
          <a:prstGeom prst="line">
            <a:avLst/>
          </a:prstGeom>
          <a:ln w="15240">
            <a:solidFill>
              <a:srgbClr val="B0B6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11265408" y="1920240"/>
            <a:ext cx="329184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B0B6C0"/>
                </a:solidFill>
                <a:latin typeface="Aptos"/>
              </a:rPr>
              <a:t>6</a:t>
            </a:r>
          </a:p>
        </p:txBody>
      </p:sp>
      <p:sp>
        <p:nvSpPr>
          <p:cNvPr id="18" name="Oval 17"/>
          <p:cNvSpPr/>
          <p:nvPr/>
        </p:nvSpPr>
        <p:spPr>
          <a:xfrm>
            <a:off x="7578852" y="1787652"/>
            <a:ext cx="82296" cy="82296"/>
          </a:xfrm>
          <a:prstGeom prst="ellipse">
            <a:avLst/>
          </a:prstGeom>
          <a:solidFill>
            <a:srgbClr val="5AD6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299960" y="1536192"/>
            <a:ext cx="640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5AD680"/>
                </a:solidFill>
                <a:latin typeface="Aptos"/>
              </a:rPr>
              <a:t>A</a:t>
            </a:r>
          </a:p>
        </p:txBody>
      </p:sp>
      <p:sp>
        <p:nvSpPr>
          <p:cNvPr id="20" name="Oval 19"/>
          <p:cNvSpPr/>
          <p:nvPr/>
        </p:nvSpPr>
        <p:spPr>
          <a:xfrm>
            <a:off x="10626852" y="1787652"/>
            <a:ext cx="82296" cy="82296"/>
          </a:xfrm>
          <a:prstGeom prst="ellipse">
            <a:avLst/>
          </a:prstGeom>
          <a:solidFill>
            <a:srgbClr val="FF9E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347960" y="1993392"/>
            <a:ext cx="640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FF9E40"/>
                </a:solidFill>
                <a:latin typeface="Aptos"/>
              </a:rPr>
              <a:t>turn</a:t>
            </a:r>
          </a:p>
        </p:txBody>
      </p:sp>
      <p:sp>
        <p:nvSpPr>
          <p:cNvPr id="22" name="Oval 21"/>
          <p:cNvSpPr/>
          <p:nvPr/>
        </p:nvSpPr>
        <p:spPr>
          <a:xfrm>
            <a:off x="8340851" y="1787652"/>
            <a:ext cx="82296" cy="82296"/>
          </a:xfrm>
          <a:prstGeom prst="ellipse">
            <a:avLst/>
          </a:prstGeom>
          <a:solidFill>
            <a:srgbClr val="FFD6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061960" y="1536192"/>
            <a:ext cx="640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FFD646"/>
                </a:solidFill>
                <a:latin typeface="Aptos"/>
              </a:rPr>
              <a:t>B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7620000" y="1600200"/>
            <a:ext cx="3048000" cy="0"/>
          </a:xfrm>
          <a:prstGeom prst="line">
            <a:avLst/>
          </a:prstGeom>
          <a:ln w="25400">
            <a:solidFill>
              <a:srgbClr val="FF9E4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 flipH="1">
            <a:off x="8381999" y="1417320"/>
            <a:ext cx="2286001" cy="0"/>
          </a:xfrm>
          <a:prstGeom prst="line">
            <a:avLst/>
          </a:prstGeom>
          <a:ln w="25400">
            <a:solidFill>
              <a:srgbClr val="FF9E4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Oval 25"/>
          <p:cNvSpPr/>
          <p:nvPr/>
        </p:nvSpPr>
        <p:spPr>
          <a:xfrm>
            <a:off x="594360" y="1911095"/>
            <a:ext cx="292608" cy="292608"/>
          </a:xfrm>
          <a:prstGeom prst="ellipse">
            <a:avLst/>
          </a:prstGeom>
          <a:solidFill>
            <a:srgbClr val="28B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94360" y="1929384"/>
            <a:ext cx="292608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14984" y="1892807"/>
            <a:ext cx="5248656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FFFFFF"/>
                </a:solidFill>
                <a:latin typeface="Aptos"/>
              </a:rPr>
              <a:t>distance = |displacement|</a:t>
            </a:r>
          </a:p>
        </p:txBody>
      </p:sp>
      <p:sp>
        <p:nvSpPr>
          <p:cNvPr id="29" name="Oval 28"/>
          <p:cNvSpPr/>
          <p:nvPr/>
        </p:nvSpPr>
        <p:spPr>
          <a:xfrm>
            <a:off x="594360" y="2386584"/>
            <a:ext cx="292608" cy="292608"/>
          </a:xfrm>
          <a:prstGeom prst="ellipse">
            <a:avLst/>
          </a:prstGeom>
          <a:solidFill>
            <a:srgbClr val="28B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94360" y="2404872"/>
            <a:ext cx="292608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14984" y="2368296"/>
            <a:ext cx="5248656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FFFFFF"/>
                </a:solidFill>
                <a:latin typeface="Aptos"/>
              </a:rPr>
              <a:t>distance &gt; |displacement|</a:t>
            </a:r>
          </a:p>
        </p:txBody>
      </p:sp>
      <p:sp>
        <p:nvSpPr>
          <p:cNvPr id="32" name="Oval 31"/>
          <p:cNvSpPr/>
          <p:nvPr/>
        </p:nvSpPr>
        <p:spPr>
          <a:xfrm>
            <a:off x="594360" y="2862072"/>
            <a:ext cx="292608" cy="292608"/>
          </a:xfrm>
          <a:prstGeom prst="ellipse">
            <a:avLst/>
          </a:prstGeom>
          <a:solidFill>
            <a:srgbClr val="28B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94360" y="2880360"/>
            <a:ext cx="292608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14984" y="2843784"/>
            <a:ext cx="5248656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FFFFFF"/>
                </a:solidFill>
                <a:latin typeface="Aptos"/>
              </a:rPr>
              <a:t>distance ≥ |displacement|</a:t>
            </a:r>
          </a:p>
        </p:txBody>
      </p:sp>
      <p:sp>
        <p:nvSpPr>
          <p:cNvPr id="35" name="Oval 34"/>
          <p:cNvSpPr/>
          <p:nvPr/>
        </p:nvSpPr>
        <p:spPr>
          <a:xfrm>
            <a:off x="594360" y="3337560"/>
            <a:ext cx="292608" cy="292608"/>
          </a:xfrm>
          <a:prstGeom prst="ellipse">
            <a:avLst/>
          </a:prstGeom>
          <a:solidFill>
            <a:srgbClr val="28B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94360" y="3355848"/>
            <a:ext cx="292608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14984" y="3319272"/>
            <a:ext cx="5248656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FFFFFF"/>
                </a:solidFill>
                <a:latin typeface="Aptos"/>
              </a:rPr>
              <a:t>distance &lt; |displacement|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5AD6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FFFFFF"/>
                </a:solidFill>
                <a:latin typeface="Aptos"/>
              </a:rPr>
              <a:t>ANSWER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40" b="1">
                <a:solidFill>
                  <a:srgbClr val="FFD646"/>
                </a:solidFill>
                <a:latin typeface="Aptos"/>
              </a:rPr>
              <a:t>Solution: MCQ — 1-D with change of direction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90" b="1">
                <a:solidFill>
                  <a:srgbClr val="B0B6C0"/>
                </a:solidFill>
                <a:latin typeface="Aptos"/>
              </a:rPr>
              <a:t>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20" b="1">
                <a:solidFill>
                  <a:srgbClr val="5AD680"/>
                </a:solidFill>
                <a:latin typeface="Aptos"/>
              </a:rPr>
              <a:t>Answer: distance &gt; |displacement|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764792"/>
            <a:ext cx="1101852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FF9E40"/>
                </a:solidFill>
                <a:latin typeface="Aptos"/>
              </a:rPr>
              <a:t>Because it turned, the path is longer than the straight jump.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28B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FFFFFF"/>
                </a:solidFill>
                <a:latin typeface="Aptos"/>
              </a:rPr>
              <a:t>METHOD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40" b="1">
                <a:solidFill>
                  <a:srgbClr val="FFD646"/>
                </a:solidFill>
                <a:latin typeface="Aptos"/>
              </a:rPr>
              <a:t>Number-line method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90" b="1">
                <a:solidFill>
                  <a:srgbClr val="B0B6C0"/>
                </a:solidFill>
                <a:latin typeface="Aptos"/>
              </a:rPr>
              <a:t>27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1051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FFFFFF"/>
                </a:solidFill>
                <a:latin typeface="Aptos"/>
              </a:rPr>
              <a:t>Mark start and end on a line. Distance = sum of every segment you walk. Displacement = final coordinate − initial coordinate (as a vector along î).</a:t>
            </a:r>
          </a:p>
        </p:txBody>
      </p:sp>
      <p:sp>
        <p:nvSpPr>
          <p:cNvPr id="8" name="Rectangle 7"/>
          <p:cNvSpPr/>
          <p:nvPr/>
        </p:nvSpPr>
        <p:spPr>
          <a:xfrm>
            <a:off x="594360" y="2313432"/>
            <a:ext cx="11018520" cy="914400"/>
          </a:xfrm>
          <a:prstGeom prst="rect">
            <a:avLst/>
          </a:prstGeom>
          <a:solidFill>
            <a:srgbClr val="FFF8E1"/>
          </a:solidFill>
          <a:ln w="19050">
            <a:solidFill>
              <a:srgbClr val="DAA8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58952" y="2459736"/>
            <a:ext cx="10689336" cy="6217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081E3F"/>
                </a:solidFill>
                <a:latin typeface="Aptos"/>
              </a:rPr>
              <a:t>displacement = r</a:t>
            </a:r>
            <a:r>
              <a:rPr sz="1350" b="1">
                <a:solidFill>
                  <a:srgbClr val="081E3F"/>
                </a:solidFill>
                <a:latin typeface="Aptos"/>
                <a:baseline val="-25000"/>
              </a:rPr>
              <a:t>f</a:t>
            </a:r>
            <a:r>
              <a:rPr sz="1350" b="1">
                <a:solidFill>
                  <a:srgbClr val="081E3F"/>
                </a:solidFill>
                <a:latin typeface="Aptos"/>
              </a:rPr>
              <a:t> − rᵢ    →    on a line: (x</a:t>
            </a:r>
            <a:r>
              <a:rPr sz="1350" b="1">
                <a:solidFill>
                  <a:srgbClr val="081E3F"/>
                </a:solidFill>
                <a:latin typeface="Aptos"/>
                <a:baseline val="-25000"/>
              </a:rPr>
              <a:t>f</a:t>
            </a:r>
            <a:r>
              <a:rPr sz="1350" b="1">
                <a:solidFill>
                  <a:srgbClr val="081E3F"/>
                </a:solidFill>
                <a:latin typeface="Aptos"/>
              </a:rPr>
              <a:t> − xᵢ) î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1371600" y="3931920"/>
            <a:ext cx="9601200" cy="0"/>
          </a:xfrm>
          <a:prstGeom prst="line">
            <a:avLst/>
          </a:prstGeom>
          <a:ln w="25400">
            <a:solidFill>
              <a:srgbClr val="B0B6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10835640" y="3931920"/>
            <a:ext cx="182880" cy="0"/>
          </a:xfrm>
          <a:prstGeom prst="line">
            <a:avLst/>
          </a:prstGeom>
          <a:ln w="20320">
            <a:solidFill>
              <a:srgbClr val="B0B6C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1371600" y="3858768"/>
            <a:ext cx="0" cy="146304"/>
          </a:xfrm>
          <a:prstGeom prst="line">
            <a:avLst/>
          </a:prstGeom>
          <a:ln w="15240">
            <a:solidFill>
              <a:srgbClr val="B0B6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1207008" y="4023359"/>
            <a:ext cx="329184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B0B6C0"/>
                </a:solidFill>
                <a:latin typeface="Aptos"/>
              </a:rPr>
              <a:t>0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2971800" y="3858768"/>
            <a:ext cx="0" cy="146304"/>
          </a:xfrm>
          <a:prstGeom prst="line">
            <a:avLst/>
          </a:prstGeom>
          <a:ln w="15240">
            <a:solidFill>
              <a:srgbClr val="B0B6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2807208" y="4023359"/>
            <a:ext cx="329184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B0B6C0"/>
                </a:solidFill>
                <a:latin typeface="Aptos"/>
              </a:rPr>
              <a:t>1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4572000" y="3858768"/>
            <a:ext cx="0" cy="146304"/>
          </a:xfrm>
          <a:prstGeom prst="line">
            <a:avLst/>
          </a:prstGeom>
          <a:ln w="15240">
            <a:solidFill>
              <a:srgbClr val="B0B6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4407408" y="4023359"/>
            <a:ext cx="329184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B0B6C0"/>
                </a:solidFill>
                <a:latin typeface="Aptos"/>
              </a:rPr>
              <a:t>2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6172200" y="3858768"/>
            <a:ext cx="0" cy="146304"/>
          </a:xfrm>
          <a:prstGeom prst="line">
            <a:avLst/>
          </a:prstGeom>
          <a:ln w="15240">
            <a:solidFill>
              <a:srgbClr val="B0B6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6007608" y="4023359"/>
            <a:ext cx="329184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B0B6C0"/>
                </a:solidFill>
                <a:latin typeface="Aptos"/>
              </a:rPr>
              <a:t>3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7772400" y="3858768"/>
            <a:ext cx="0" cy="146304"/>
          </a:xfrm>
          <a:prstGeom prst="line">
            <a:avLst/>
          </a:prstGeom>
          <a:ln w="15240">
            <a:solidFill>
              <a:srgbClr val="B0B6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7607808" y="4023359"/>
            <a:ext cx="329184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B0B6C0"/>
                </a:solidFill>
                <a:latin typeface="Aptos"/>
              </a:rPr>
              <a:t>4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9372600" y="3858768"/>
            <a:ext cx="0" cy="146304"/>
          </a:xfrm>
          <a:prstGeom prst="line">
            <a:avLst/>
          </a:prstGeom>
          <a:ln w="15240">
            <a:solidFill>
              <a:srgbClr val="B0B6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9208008" y="4023359"/>
            <a:ext cx="329184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B0B6C0"/>
                </a:solidFill>
                <a:latin typeface="Aptos"/>
              </a:rPr>
              <a:t>5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10972800" y="3858768"/>
            <a:ext cx="0" cy="146304"/>
          </a:xfrm>
          <a:prstGeom prst="line">
            <a:avLst/>
          </a:prstGeom>
          <a:ln w="15240">
            <a:solidFill>
              <a:srgbClr val="B0B6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10808208" y="4023359"/>
            <a:ext cx="329184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B0B6C0"/>
                </a:solidFill>
                <a:latin typeface="Aptos"/>
              </a:rPr>
              <a:t>6</a:t>
            </a:r>
          </a:p>
        </p:txBody>
      </p:sp>
      <p:sp>
        <p:nvSpPr>
          <p:cNvPr id="26" name="Oval 25"/>
          <p:cNvSpPr/>
          <p:nvPr/>
        </p:nvSpPr>
        <p:spPr>
          <a:xfrm>
            <a:off x="2930652" y="3890772"/>
            <a:ext cx="82296" cy="82296"/>
          </a:xfrm>
          <a:prstGeom prst="ellipse">
            <a:avLst/>
          </a:prstGeom>
          <a:solidFill>
            <a:srgbClr val="5AD6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651760" y="3639312"/>
            <a:ext cx="640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5AD680"/>
                </a:solidFill>
                <a:latin typeface="Aptos"/>
              </a:rPr>
              <a:t>A</a:t>
            </a:r>
          </a:p>
        </p:txBody>
      </p:sp>
      <p:sp>
        <p:nvSpPr>
          <p:cNvPr id="28" name="Oval 27"/>
          <p:cNvSpPr/>
          <p:nvPr/>
        </p:nvSpPr>
        <p:spPr>
          <a:xfrm>
            <a:off x="9331452" y="3890772"/>
            <a:ext cx="82296" cy="82296"/>
          </a:xfrm>
          <a:prstGeom prst="ellipse">
            <a:avLst/>
          </a:prstGeom>
          <a:solidFill>
            <a:srgbClr val="FFD6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052560" y="3639312"/>
            <a:ext cx="640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FFD646"/>
                </a:solidFill>
                <a:latin typeface="Aptos"/>
              </a:rPr>
              <a:t>B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2971800" y="3611880"/>
            <a:ext cx="6400800" cy="0"/>
          </a:xfrm>
          <a:prstGeom prst="line">
            <a:avLst/>
          </a:prstGeom>
          <a:ln w="30480">
            <a:solidFill>
              <a:srgbClr val="FFD646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594360" y="5102352"/>
            <a:ext cx="110185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5AC8FF"/>
                </a:solidFill>
                <a:latin typeface="Aptos"/>
              </a:rPr>
              <a:t>① A at +1 → B at +5:   distance = 4 m , displacement = +4 î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5AD6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FFFFFF"/>
                </a:solidFill>
                <a:latin typeface="Aptos"/>
              </a:rPr>
              <a:t>EXAMPLE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40" b="1">
                <a:solidFill>
                  <a:srgbClr val="FFD646"/>
                </a:solidFill>
                <a:latin typeface="Aptos"/>
              </a:rPr>
              <a:t>With a turn on the line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90" b="1">
                <a:solidFill>
                  <a:srgbClr val="B0B6C0"/>
                </a:solidFill>
                <a:latin typeface="Aptos"/>
              </a:rPr>
              <a:t>28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FFFFFF"/>
                </a:solidFill>
                <a:latin typeface="Aptos"/>
              </a:rPr>
              <a:t>Start at +1 m, go to +4 m, then reverse and stop at −3 m.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1097280" y="2331720"/>
            <a:ext cx="10058400" cy="0"/>
          </a:xfrm>
          <a:prstGeom prst="line">
            <a:avLst/>
          </a:prstGeom>
          <a:ln w="25400">
            <a:solidFill>
              <a:srgbClr val="B0B6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11018519" y="2331720"/>
            <a:ext cx="182881" cy="0"/>
          </a:xfrm>
          <a:prstGeom prst="line">
            <a:avLst/>
          </a:prstGeom>
          <a:ln w="20320">
            <a:solidFill>
              <a:srgbClr val="B0B6C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1097280" y="2258568"/>
            <a:ext cx="0" cy="146304"/>
          </a:xfrm>
          <a:prstGeom prst="line">
            <a:avLst/>
          </a:prstGeom>
          <a:ln w="15240">
            <a:solidFill>
              <a:srgbClr val="B0B6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932688" y="2423160"/>
            <a:ext cx="329184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B0B6C0"/>
                </a:solidFill>
                <a:latin typeface="Aptos"/>
              </a:rPr>
              <a:t>-4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214880" y="2258568"/>
            <a:ext cx="0" cy="146304"/>
          </a:xfrm>
          <a:prstGeom prst="line">
            <a:avLst/>
          </a:prstGeom>
          <a:ln w="15240">
            <a:solidFill>
              <a:srgbClr val="B0B6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2050288" y="2423160"/>
            <a:ext cx="329184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B0B6C0"/>
                </a:solidFill>
                <a:latin typeface="Aptos"/>
              </a:rPr>
              <a:t>-3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3332480" y="2258568"/>
            <a:ext cx="0" cy="146304"/>
          </a:xfrm>
          <a:prstGeom prst="line">
            <a:avLst/>
          </a:prstGeom>
          <a:ln w="15240">
            <a:solidFill>
              <a:srgbClr val="B0B6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3167888" y="2423160"/>
            <a:ext cx="329184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B0B6C0"/>
                </a:solidFill>
                <a:latin typeface="Aptos"/>
              </a:rPr>
              <a:t>-2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4450080" y="2258568"/>
            <a:ext cx="0" cy="146304"/>
          </a:xfrm>
          <a:prstGeom prst="line">
            <a:avLst/>
          </a:prstGeom>
          <a:ln w="15240">
            <a:solidFill>
              <a:srgbClr val="B0B6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4285488" y="2423160"/>
            <a:ext cx="329184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B0B6C0"/>
                </a:solidFill>
                <a:latin typeface="Aptos"/>
              </a:rPr>
              <a:t>-1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5567680" y="2258568"/>
            <a:ext cx="0" cy="146304"/>
          </a:xfrm>
          <a:prstGeom prst="line">
            <a:avLst/>
          </a:prstGeom>
          <a:ln w="15240">
            <a:solidFill>
              <a:srgbClr val="B0B6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5403088" y="2423160"/>
            <a:ext cx="329184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B0B6C0"/>
                </a:solidFill>
                <a:latin typeface="Aptos"/>
              </a:rPr>
              <a:t>0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6685280" y="2258568"/>
            <a:ext cx="0" cy="146304"/>
          </a:xfrm>
          <a:prstGeom prst="line">
            <a:avLst/>
          </a:prstGeom>
          <a:ln w="15240">
            <a:solidFill>
              <a:srgbClr val="B0B6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6520688" y="2423160"/>
            <a:ext cx="329184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B0B6C0"/>
                </a:solidFill>
                <a:latin typeface="Aptos"/>
              </a:rPr>
              <a:t>1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7802880" y="2258568"/>
            <a:ext cx="0" cy="146304"/>
          </a:xfrm>
          <a:prstGeom prst="line">
            <a:avLst/>
          </a:prstGeom>
          <a:ln w="15240">
            <a:solidFill>
              <a:srgbClr val="B0B6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7638288" y="2423160"/>
            <a:ext cx="329184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B0B6C0"/>
                </a:solidFill>
                <a:latin typeface="Aptos"/>
              </a:rPr>
              <a:t>2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8920480" y="2258568"/>
            <a:ext cx="0" cy="146304"/>
          </a:xfrm>
          <a:prstGeom prst="line">
            <a:avLst/>
          </a:prstGeom>
          <a:ln w="15240">
            <a:solidFill>
              <a:srgbClr val="B0B6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8755888" y="2423160"/>
            <a:ext cx="329184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B0B6C0"/>
                </a:solidFill>
                <a:latin typeface="Aptos"/>
              </a:rPr>
              <a:t>3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10038080" y="2258568"/>
            <a:ext cx="0" cy="146304"/>
          </a:xfrm>
          <a:prstGeom prst="line">
            <a:avLst/>
          </a:prstGeom>
          <a:ln w="15240">
            <a:solidFill>
              <a:srgbClr val="B0B6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9873488" y="2423160"/>
            <a:ext cx="329184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B0B6C0"/>
                </a:solidFill>
                <a:latin typeface="Aptos"/>
              </a:rPr>
              <a:t>4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11155680" y="2258568"/>
            <a:ext cx="0" cy="146304"/>
          </a:xfrm>
          <a:prstGeom prst="line">
            <a:avLst/>
          </a:prstGeom>
          <a:ln w="15240">
            <a:solidFill>
              <a:srgbClr val="B0B6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10991088" y="2423160"/>
            <a:ext cx="329184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B0B6C0"/>
                </a:solidFill>
                <a:latin typeface="Aptos"/>
              </a:rPr>
              <a:t>5</a:t>
            </a:r>
          </a:p>
        </p:txBody>
      </p:sp>
      <p:sp>
        <p:nvSpPr>
          <p:cNvPr id="30" name="Oval 29"/>
          <p:cNvSpPr/>
          <p:nvPr/>
        </p:nvSpPr>
        <p:spPr>
          <a:xfrm>
            <a:off x="6644132" y="2290572"/>
            <a:ext cx="82296" cy="82296"/>
          </a:xfrm>
          <a:prstGeom prst="ellipse">
            <a:avLst/>
          </a:prstGeom>
          <a:solidFill>
            <a:srgbClr val="5AD6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365240" y="2039112"/>
            <a:ext cx="640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5AD680"/>
                </a:solidFill>
                <a:latin typeface="Aptos"/>
              </a:rPr>
              <a:t>start</a:t>
            </a:r>
          </a:p>
        </p:txBody>
      </p:sp>
      <p:sp>
        <p:nvSpPr>
          <p:cNvPr id="32" name="Oval 31"/>
          <p:cNvSpPr/>
          <p:nvPr/>
        </p:nvSpPr>
        <p:spPr>
          <a:xfrm>
            <a:off x="9996932" y="2290572"/>
            <a:ext cx="82296" cy="82296"/>
          </a:xfrm>
          <a:prstGeom prst="ellipse">
            <a:avLst/>
          </a:prstGeom>
          <a:solidFill>
            <a:srgbClr val="FF9E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718040" y="2496312"/>
            <a:ext cx="640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FF9E40"/>
                </a:solidFill>
                <a:latin typeface="Aptos"/>
              </a:rPr>
              <a:t>turn</a:t>
            </a:r>
          </a:p>
        </p:txBody>
      </p:sp>
      <p:sp>
        <p:nvSpPr>
          <p:cNvPr id="34" name="Oval 33"/>
          <p:cNvSpPr/>
          <p:nvPr/>
        </p:nvSpPr>
        <p:spPr>
          <a:xfrm>
            <a:off x="2173732" y="2290572"/>
            <a:ext cx="82296" cy="82296"/>
          </a:xfrm>
          <a:prstGeom prst="ellipse">
            <a:avLst/>
          </a:prstGeom>
          <a:solidFill>
            <a:srgbClr val="FFD6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894840" y="2039112"/>
            <a:ext cx="640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FFD646"/>
                </a:solidFill>
                <a:latin typeface="Aptos"/>
              </a:rPr>
              <a:t>end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6685280" y="2011680"/>
            <a:ext cx="3352800" cy="0"/>
          </a:xfrm>
          <a:prstGeom prst="line">
            <a:avLst/>
          </a:prstGeom>
          <a:ln w="27940">
            <a:solidFill>
              <a:srgbClr val="FF9E4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 flipH="1">
            <a:off x="2214880" y="1783080"/>
            <a:ext cx="7823200" cy="0"/>
          </a:xfrm>
          <a:prstGeom prst="line">
            <a:avLst/>
          </a:prstGeom>
          <a:ln w="27940">
            <a:solidFill>
              <a:srgbClr val="FF9E4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 flipH="1">
            <a:off x="2214880" y="2788920"/>
            <a:ext cx="4470400" cy="0"/>
          </a:xfrm>
          <a:prstGeom prst="line">
            <a:avLst/>
          </a:prstGeom>
          <a:ln w="33020">
            <a:solidFill>
              <a:srgbClr val="5AD68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TextBox 38"/>
          <p:cNvSpPr txBox="1"/>
          <p:nvPr/>
        </p:nvSpPr>
        <p:spPr>
          <a:xfrm>
            <a:off x="4114800" y="2880360"/>
            <a:ext cx="18288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5AD680"/>
                </a:solidFill>
                <a:latin typeface="Aptos"/>
              </a:rPr>
              <a:t>displacement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94360" y="4142232"/>
            <a:ext cx="110185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40" b="1">
                <a:solidFill>
                  <a:srgbClr val="5AC8FF"/>
                </a:solidFill>
                <a:latin typeface="Aptos"/>
              </a:rPr>
              <a:t>distance = 3 + 7 = 10 m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94360" y="4690872"/>
            <a:ext cx="110185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40" b="1">
                <a:solidFill>
                  <a:srgbClr val="5AC8FF"/>
                </a:solidFill>
                <a:latin typeface="Aptos"/>
              </a:rPr>
              <a:t>displacement = (−3)î − (1)î = −4 î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409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FFFFFF"/>
                </a:solidFill>
                <a:latin typeface="Aptos"/>
              </a:rPr>
              <a:t>EXAMPLE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40" b="1">
                <a:solidFill>
                  <a:srgbClr val="FFD646"/>
                </a:solidFill>
                <a:latin typeface="Aptos"/>
              </a:rPr>
              <a:t>Two more line drills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90" b="1">
                <a:solidFill>
                  <a:srgbClr val="B0B6C0"/>
                </a:solidFill>
                <a:latin typeface="Aptos"/>
              </a:rPr>
              <a:t>29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5AC8FF"/>
                </a:solidFill>
                <a:latin typeface="Aptos"/>
              </a:rPr>
              <a:t>③ Start +2 → go to −4 → end −1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627631"/>
            <a:ext cx="110185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60" b="1">
                <a:solidFill>
                  <a:srgbClr val="5AC8FF"/>
                </a:solidFill>
                <a:latin typeface="Aptos"/>
              </a:rPr>
              <a:t>distance = 6 + 3 = 9 m , displacement = (−1 − 2)î = −3 î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1371600" y="2880360"/>
            <a:ext cx="9601200" cy="0"/>
          </a:xfrm>
          <a:prstGeom prst="line">
            <a:avLst/>
          </a:prstGeom>
          <a:ln w="25400">
            <a:solidFill>
              <a:srgbClr val="B0B6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10835640" y="2880360"/>
            <a:ext cx="182880" cy="0"/>
          </a:xfrm>
          <a:prstGeom prst="line">
            <a:avLst/>
          </a:prstGeom>
          <a:ln w="20320">
            <a:solidFill>
              <a:srgbClr val="B0B6C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1371600" y="2807208"/>
            <a:ext cx="0" cy="146304"/>
          </a:xfrm>
          <a:prstGeom prst="line">
            <a:avLst/>
          </a:prstGeom>
          <a:ln w="15240">
            <a:solidFill>
              <a:srgbClr val="B0B6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1207008" y="2971800"/>
            <a:ext cx="329184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B0B6C0"/>
                </a:solidFill>
                <a:latin typeface="Aptos"/>
              </a:rPr>
              <a:t>-5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2571750" y="2807208"/>
            <a:ext cx="0" cy="146304"/>
          </a:xfrm>
          <a:prstGeom prst="line">
            <a:avLst/>
          </a:prstGeom>
          <a:ln w="15240">
            <a:solidFill>
              <a:srgbClr val="B0B6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2407158" y="2971800"/>
            <a:ext cx="329184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B0B6C0"/>
                </a:solidFill>
                <a:latin typeface="Aptos"/>
              </a:rPr>
              <a:t>-4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3771900" y="2807208"/>
            <a:ext cx="0" cy="146304"/>
          </a:xfrm>
          <a:prstGeom prst="line">
            <a:avLst/>
          </a:prstGeom>
          <a:ln w="15240">
            <a:solidFill>
              <a:srgbClr val="B0B6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3607308" y="2971800"/>
            <a:ext cx="329184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B0B6C0"/>
                </a:solidFill>
                <a:latin typeface="Aptos"/>
              </a:rPr>
              <a:t>-3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4972050" y="2807208"/>
            <a:ext cx="0" cy="146304"/>
          </a:xfrm>
          <a:prstGeom prst="line">
            <a:avLst/>
          </a:prstGeom>
          <a:ln w="15240">
            <a:solidFill>
              <a:srgbClr val="B0B6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4807458" y="2971800"/>
            <a:ext cx="329184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B0B6C0"/>
                </a:solidFill>
                <a:latin typeface="Aptos"/>
              </a:rPr>
              <a:t>-2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6172200" y="2807208"/>
            <a:ext cx="0" cy="146304"/>
          </a:xfrm>
          <a:prstGeom prst="line">
            <a:avLst/>
          </a:prstGeom>
          <a:ln w="15240">
            <a:solidFill>
              <a:srgbClr val="B0B6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6007608" y="2971800"/>
            <a:ext cx="329184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B0B6C0"/>
                </a:solidFill>
                <a:latin typeface="Aptos"/>
              </a:rPr>
              <a:t>-1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7372350" y="2807208"/>
            <a:ext cx="0" cy="146304"/>
          </a:xfrm>
          <a:prstGeom prst="line">
            <a:avLst/>
          </a:prstGeom>
          <a:ln w="15240">
            <a:solidFill>
              <a:srgbClr val="B0B6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7207758" y="2971800"/>
            <a:ext cx="329184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B0B6C0"/>
                </a:solidFill>
                <a:latin typeface="Aptos"/>
              </a:rPr>
              <a:t>0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8572500" y="2807208"/>
            <a:ext cx="0" cy="146304"/>
          </a:xfrm>
          <a:prstGeom prst="line">
            <a:avLst/>
          </a:prstGeom>
          <a:ln w="15240">
            <a:solidFill>
              <a:srgbClr val="B0B6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8407908" y="2971800"/>
            <a:ext cx="329184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B0B6C0"/>
                </a:solidFill>
                <a:latin typeface="Aptos"/>
              </a:rPr>
              <a:t>1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9772650" y="2807208"/>
            <a:ext cx="0" cy="146304"/>
          </a:xfrm>
          <a:prstGeom prst="line">
            <a:avLst/>
          </a:prstGeom>
          <a:ln w="15240">
            <a:solidFill>
              <a:srgbClr val="B0B6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9608058" y="2971800"/>
            <a:ext cx="329184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B0B6C0"/>
                </a:solidFill>
                <a:latin typeface="Aptos"/>
              </a:rPr>
              <a:t>2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10972800" y="2807208"/>
            <a:ext cx="0" cy="146304"/>
          </a:xfrm>
          <a:prstGeom prst="line">
            <a:avLst/>
          </a:prstGeom>
          <a:ln w="15240">
            <a:solidFill>
              <a:srgbClr val="B0B6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10808208" y="2971800"/>
            <a:ext cx="329184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B0B6C0"/>
                </a:solidFill>
                <a:latin typeface="Aptos"/>
              </a:rPr>
              <a:t>3</a:t>
            </a:r>
          </a:p>
        </p:txBody>
      </p:sp>
      <p:sp>
        <p:nvSpPr>
          <p:cNvPr id="29" name="Oval 28"/>
          <p:cNvSpPr/>
          <p:nvPr/>
        </p:nvSpPr>
        <p:spPr>
          <a:xfrm>
            <a:off x="9731502" y="2839212"/>
            <a:ext cx="82296" cy="82296"/>
          </a:xfrm>
          <a:prstGeom prst="ellipse">
            <a:avLst/>
          </a:prstGeom>
          <a:solidFill>
            <a:srgbClr val="5AD6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452610" y="2587752"/>
            <a:ext cx="640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5AD680"/>
                </a:solidFill>
                <a:latin typeface="Aptos"/>
              </a:rPr>
              <a:t>A</a:t>
            </a:r>
          </a:p>
        </p:txBody>
      </p:sp>
      <p:sp>
        <p:nvSpPr>
          <p:cNvPr id="31" name="Oval 30"/>
          <p:cNvSpPr/>
          <p:nvPr/>
        </p:nvSpPr>
        <p:spPr>
          <a:xfrm>
            <a:off x="2530602" y="2839212"/>
            <a:ext cx="82296" cy="82296"/>
          </a:xfrm>
          <a:prstGeom prst="ellipse">
            <a:avLst/>
          </a:prstGeom>
          <a:solidFill>
            <a:srgbClr val="FF9E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2251710" y="3044952"/>
            <a:ext cx="640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33" name="Oval 32"/>
          <p:cNvSpPr/>
          <p:nvPr/>
        </p:nvSpPr>
        <p:spPr>
          <a:xfrm>
            <a:off x="6131052" y="2839212"/>
            <a:ext cx="82296" cy="82296"/>
          </a:xfrm>
          <a:prstGeom prst="ellipse">
            <a:avLst/>
          </a:prstGeom>
          <a:solidFill>
            <a:srgbClr val="FFD6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852160" y="2587752"/>
            <a:ext cx="640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FFD646"/>
                </a:solidFill>
                <a:latin typeface="Aptos"/>
              </a:rPr>
              <a:t>B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94360" y="3410711"/>
            <a:ext cx="110185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5AC8FF"/>
                </a:solidFill>
                <a:latin typeface="Aptos"/>
              </a:rPr>
              <a:t>④ Start −3 → go to +4 → end −4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94360" y="3959351"/>
            <a:ext cx="110185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60" b="1">
                <a:solidFill>
                  <a:srgbClr val="5AC8FF"/>
                </a:solidFill>
                <a:latin typeface="Aptos"/>
              </a:rPr>
              <a:t>distance = 7 + 8 = 15 m , displacement = (−4 − (−3))î = −1 î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B0B6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FFFFFF"/>
                </a:solidFill>
                <a:latin typeface="Aptos"/>
              </a:rPr>
              <a:t>ROUGH WORK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980" b="1">
                <a:solidFill>
                  <a:srgbClr val="FFD646"/>
                </a:solidFill>
                <a:latin typeface="Aptos"/>
              </a:rPr>
              <a:t>Rough work  /  extra work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90" b="1">
                <a:solidFill>
                  <a:srgbClr val="B0B6C0"/>
                </a:solidFill>
                <a:latin typeface="Aptos"/>
              </a:rPr>
              <a:t>30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FF9E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FFFFFF"/>
                </a:solidFill>
                <a:latin typeface="Aptos"/>
              </a:rPr>
              <a:t>EXAMPLE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40" b="1">
                <a:solidFill>
                  <a:srgbClr val="FFD646"/>
                </a:solidFill>
                <a:latin typeface="Aptos"/>
              </a:rPr>
              <a:t>3-D shift of position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90" b="1">
                <a:solidFill>
                  <a:srgbClr val="B0B6C0"/>
                </a:solidFill>
                <a:latin typeface="Aptos"/>
              </a:rPr>
              <a:t>31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FF9E40"/>
                </a:solidFill>
                <a:latin typeface="Aptos"/>
              </a:rPr>
              <a:t>Initial (2, 4, 7), final (5, 8, 12). Find displacement.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498079" y="1737360"/>
            <a:ext cx="3931920" cy="2926080"/>
          </a:xfrm>
          <a:prstGeom prst="roundRect">
            <a:avLst/>
          </a:prstGeom>
          <a:solidFill>
            <a:srgbClr val="0E1016"/>
          </a:solidFill>
          <a:ln w="19050">
            <a:solidFill>
              <a:srgbClr val="FFD6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188452" y="3982212"/>
            <a:ext cx="82296" cy="82296"/>
          </a:xfrm>
          <a:prstGeom prst="ellipse">
            <a:avLst/>
          </a:prstGeom>
          <a:solidFill>
            <a:srgbClr val="5AD6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863840" y="4160520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5AD680"/>
                </a:solidFill>
                <a:latin typeface="Aptos"/>
              </a:rPr>
              <a:t>rᵢ</a:t>
            </a:r>
          </a:p>
        </p:txBody>
      </p:sp>
      <p:sp>
        <p:nvSpPr>
          <p:cNvPr id="11" name="Oval 10"/>
          <p:cNvSpPr/>
          <p:nvPr/>
        </p:nvSpPr>
        <p:spPr>
          <a:xfrm>
            <a:off x="10383012" y="2244852"/>
            <a:ext cx="82296" cy="82296"/>
          </a:xfrm>
          <a:prstGeom prst="ellipse">
            <a:avLst/>
          </a:prstGeom>
          <a:solidFill>
            <a:srgbClr val="FF9E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241280" y="1965960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FF9E40"/>
                </a:solidFill>
                <a:latin typeface="Aptos"/>
              </a:rPr>
              <a:t>r</a:t>
            </a:r>
            <a:r>
              <a:rPr sz="1200" b="1">
                <a:solidFill>
                  <a:srgbClr val="FF9E40"/>
                </a:solidFill>
                <a:latin typeface="Aptos"/>
                <a:baseline val="-25000"/>
              </a:rPr>
              <a:t>f</a:t>
            </a:r>
          </a:p>
        </p:txBody>
      </p:sp>
      <p:cxnSp>
        <p:nvCxnSpPr>
          <p:cNvPr id="13" name="Connector 12"/>
          <p:cNvCxnSpPr/>
          <p:nvPr/>
        </p:nvCxnSpPr>
        <p:spPr>
          <a:xfrm flipV="1">
            <a:off x="8321040" y="2423160"/>
            <a:ext cx="1965960" cy="1463040"/>
          </a:xfrm>
          <a:prstGeom prst="line">
            <a:avLst/>
          </a:prstGeom>
          <a:ln w="35560">
            <a:solidFill>
              <a:srgbClr val="FFD646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8961120" y="2926080"/>
            <a:ext cx="7315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D646"/>
                </a:solidFill>
                <a:latin typeface="Aptos"/>
              </a:rPr>
              <a:t>Δr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1810512"/>
            <a:ext cx="658368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60" b="1">
                <a:solidFill>
                  <a:srgbClr val="5AC8FF"/>
                </a:solidFill>
                <a:latin typeface="Aptos"/>
              </a:rPr>
              <a:t>Δr = (5−2)î + (8−4)ĵ + (12−7)k̂ = 3î + 4ĵ + 5k̂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" y="2359152"/>
            <a:ext cx="658368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5AC8FF"/>
                </a:solidFill>
                <a:latin typeface="Aptos"/>
              </a:rPr>
              <a:t>|Δr| = √(9 + 16 + 25) = √50 = 5√2 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" y="3273552"/>
            <a:ext cx="658368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20" b="1">
                <a:solidFill>
                  <a:srgbClr val="5AD680"/>
                </a:solidFill>
                <a:latin typeface="Aptos"/>
              </a:rPr>
              <a:t>Displacement 3î + 4ĵ + 5k̂ ; magnitude 5√2 m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28B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FFFFFF"/>
                </a:solidFill>
                <a:latin typeface="Aptos"/>
              </a:rPr>
              <a:t>FIGURE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40" b="1">
                <a:solidFill>
                  <a:srgbClr val="FFD646"/>
                </a:solidFill>
                <a:latin typeface="Aptos"/>
              </a:rPr>
              <a:t>Broken path A → B on a plane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90" b="1">
                <a:solidFill>
                  <a:srgbClr val="B0B6C0"/>
                </a:solidFill>
                <a:latin typeface="Aptos"/>
              </a:rPr>
              <a:t>32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FFFFFF"/>
                </a:solidFill>
                <a:latin typeface="Aptos"/>
              </a:rPr>
              <a:t>Walk: 4 m right, 5 m down, 1 m left, 2 m up. Find distance and displacement.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3200400" y="2194560"/>
            <a:ext cx="1536192" cy="0"/>
          </a:xfrm>
          <a:prstGeom prst="line">
            <a:avLst/>
          </a:prstGeom>
          <a:ln w="33020">
            <a:solidFill>
              <a:srgbClr val="FF9E4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4736592" y="2194560"/>
            <a:ext cx="0" cy="1920240"/>
          </a:xfrm>
          <a:prstGeom prst="line">
            <a:avLst/>
          </a:prstGeom>
          <a:ln w="33020">
            <a:solidFill>
              <a:srgbClr val="FF9E4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H="1">
            <a:off x="4352544" y="4114800"/>
            <a:ext cx="384048" cy="0"/>
          </a:xfrm>
          <a:prstGeom prst="line">
            <a:avLst/>
          </a:prstGeom>
          <a:ln w="33020">
            <a:solidFill>
              <a:srgbClr val="FF9E4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V="1">
            <a:off x="4352544" y="3346704"/>
            <a:ext cx="0" cy="768096"/>
          </a:xfrm>
          <a:prstGeom prst="line">
            <a:avLst/>
          </a:prstGeom>
          <a:ln w="33020">
            <a:solidFill>
              <a:srgbClr val="FF9E4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Oval 11"/>
          <p:cNvSpPr/>
          <p:nvPr/>
        </p:nvSpPr>
        <p:spPr>
          <a:xfrm>
            <a:off x="3159252" y="2153412"/>
            <a:ext cx="82296" cy="82296"/>
          </a:xfrm>
          <a:prstGeom prst="ellipse">
            <a:avLst/>
          </a:prstGeom>
          <a:solidFill>
            <a:srgbClr val="5AD6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788920" y="2057400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5AD680"/>
                </a:solidFill>
                <a:latin typeface="Aptos"/>
              </a:rPr>
              <a:t>A</a:t>
            </a:r>
          </a:p>
        </p:txBody>
      </p:sp>
      <p:sp>
        <p:nvSpPr>
          <p:cNvPr id="14" name="Oval 13"/>
          <p:cNvSpPr/>
          <p:nvPr/>
        </p:nvSpPr>
        <p:spPr>
          <a:xfrm>
            <a:off x="4311396" y="3305556"/>
            <a:ext cx="82296" cy="82296"/>
          </a:xfrm>
          <a:prstGeom prst="ellipse">
            <a:avLst/>
          </a:prstGeom>
          <a:solidFill>
            <a:srgbClr val="FFD6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489704" y="320954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D646"/>
                </a:solidFill>
                <a:latin typeface="Aptos"/>
              </a:rPr>
              <a:t>B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3200400" y="2194560"/>
            <a:ext cx="1152144" cy="1152144"/>
          </a:xfrm>
          <a:prstGeom prst="line">
            <a:avLst/>
          </a:prstGeom>
          <a:ln w="35560">
            <a:solidFill>
              <a:srgbClr val="5AD68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3776472" y="1874519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B0B6C0"/>
                </a:solidFill>
                <a:latin typeface="Aptos"/>
              </a:rPr>
              <a:t>4 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28031" y="3039465"/>
            <a:ext cx="6400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B0B6C0"/>
                </a:solidFill>
                <a:latin typeface="Aptos"/>
              </a:rPr>
              <a:t>5 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0" y="2103120"/>
            <a:ext cx="457200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5AC8FF"/>
                </a:solidFill>
                <a:latin typeface="Aptos"/>
              </a:rPr>
              <a:t>distance = 4+5+1+2 = 12 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0" y="2651760"/>
            <a:ext cx="457200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60" b="1">
                <a:solidFill>
                  <a:srgbClr val="5AC8FF"/>
                </a:solidFill>
                <a:latin typeface="Aptos"/>
              </a:rPr>
              <a:t>net: 3 m right, 3 m down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58000" y="3200400"/>
            <a:ext cx="457200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5AC8FF"/>
                </a:solidFill>
                <a:latin typeface="Aptos"/>
              </a:rPr>
              <a:t>Δr = 3î − 3ĵ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8000" y="3749039"/>
            <a:ext cx="457200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5AC8FF"/>
                </a:solidFill>
                <a:latin typeface="Aptos"/>
              </a:rPr>
              <a:t>|Δr| = 3√2 m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5AD6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FFFFFF"/>
                </a:solidFill>
                <a:latin typeface="Aptos"/>
              </a:rPr>
              <a:t>FIGURE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40" b="1">
                <a:solidFill>
                  <a:srgbClr val="FFD646"/>
                </a:solidFill>
                <a:latin typeface="Aptos"/>
              </a:rPr>
              <a:t>Spiral path (segments 1 to 8)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90" b="1">
                <a:solidFill>
                  <a:srgbClr val="B0B6C0"/>
                </a:solidFill>
                <a:latin typeface="Aptos"/>
              </a:rPr>
              <a:t>33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FFFFFF"/>
                </a:solidFill>
                <a:latin typeface="Aptos"/>
              </a:rPr>
              <a:t>Path lengths 1, 2, 3, 4, 5, 6, 7, 8 m in turn (right, up, left, down, …).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3657600" y="4206240"/>
            <a:ext cx="201168" cy="0"/>
          </a:xfrm>
          <a:prstGeom prst="line">
            <a:avLst/>
          </a:prstGeom>
          <a:ln w="27940">
            <a:solidFill>
              <a:srgbClr val="FF9E4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 flipV="1">
            <a:off x="3858768" y="3803903"/>
            <a:ext cx="0" cy="402337"/>
          </a:xfrm>
          <a:prstGeom prst="line">
            <a:avLst/>
          </a:prstGeom>
          <a:ln w="27940">
            <a:solidFill>
              <a:srgbClr val="FF9E4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H="1">
            <a:off x="3255263" y="3803903"/>
            <a:ext cx="603505" cy="0"/>
          </a:xfrm>
          <a:prstGeom prst="line">
            <a:avLst/>
          </a:prstGeom>
          <a:ln w="27940">
            <a:solidFill>
              <a:srgbClr val="FF9E4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3255263" y="3803903"/>
            <a:ext cx="0" cy="804672"/>
          </a:xfrm>
          <a:prstGeom prst="line">
            <a:avLst/>
          </a:prstGeom>
          <a:ln w="27940">
            <a:solidFill>
              <a:srgbClr val="FF9E4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3255263" y="4608575"/>
            <a:ext cx="1005841" cy="0"/>
          </a:xfrm>
          <a:prstGeom prst="line">
            <a:avLst/>
          </a:prstGeom>
          <a:ln w="27940">
            <a:solidFill>
              <a:srgbClr val="FF9E4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 flipV="1">
            <a:off x="4261104" y="3401567"/>
            <a:ext cx="0" cy="1207008"/>
          </a:xfrm>
          <a:prstGeom prst="line">
            <a:avLst/>
          </a:prstGeom>
          <a:ln w="27940">
            <a:solidFill>
              <a:srgbClr val="FF9E4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H="1">
            <a:off x="2852928" y="3401567"/>
            <a:ext cx="1408176" cy="0"/>
          </a:xfrm>
          <a:prstGeom prst="line">
            <a:avLst/>
          </a:prstGeom>
          <a:ln w="27940">
            <a:solidFill>
              <a:srgbClr val="FF9E4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2852928" y="3401567"/>
            <a:ext cx="0" cy="1609344"/>
          </a:xfrm>
          <a:prstGeom prst="line">
            <a:avLst/>
          </a:prstGeom>
          <a:ln w="27940">
            <a:solidFill>
              <a:srgbClr val="FF9E4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Oval 15"/>
          <p:cNvSpPr/>
          <p:nvPr/>
        </p:nvSpPr>
        <p:spPr>
          <a:xfrm>
            <a:off x="3616452" y="4165091"/>
            <a:ext cx="82296" cy="82296"/>
          </a:xfrm>
          <a:prstGeom prst="ellipse">
            <a:avLst/>
          </a:prstGeom>
          <a:solidFill>
            <a:srgbClr val="5AD6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291840" y="4297679"/>
            <a:ext cx="3657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5AD680"/>
                </a:solidFill>
                <a:latin typeface="Aptos"/>
              </a:rPr>
              <a:t>A</a:t>
            </a:r>
          </a:p>
        </p:txBody>
      </p:sp>
      <p:sp>
        <p:nvSpPr>
          <p:cNvPr id="18" name="Oval 17"/>
          <p:cNvSpPr/>
          <p:nvPr/>
        </p:nvSpPr>
        <p:spPr>
          <a:xfrm>
            <a:off x="2811780" y="4969763"/>
            <a:ext cx="82296" cy="82296"/>
          </a:xfrm>
          <a:prstGeom prst="ellipse">
            <a:avLst/>
          </a:prstGeom>
          <a:solidFill>
            <a:srgbClr val="FFD6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990088" y="5010911"/>
            <a:ext cx="3657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FFD646"/>
                </a:solidFill>
                <a:latin typeface="Aptos"/>
              </a:rPr>
              <a:t>B</a:t>
            </a:r>
          </a:p>
        </p:txBody>
      </p:sp>
      <p:cxnSp>
        <p:nvCxnSpPr>
          <p:cNvPr id="20" name="Connector 19"/>
          <p:cNvCxnSpPr/>
          <p:nvPr/>
        </p:nvCxnSpPr>
        <p:spPr>
          <a:xfrm flipH="1">
            <a:off x="2852928" y="4206240"/>
            <a:ext cx="804672" cy="804671"/>
          </a:xfrm>
          <a:prstGeom prst="line">
            <a:avLst/>
          </a:prstGeom>
          <a:ln w="31750">
            <a:solidFill>
              <a:srgbClr val="5AD68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7315200" y="2011680"/>
            <a:ext cx="420624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5AC8FF"/>
                </a:solidFill>
                <a:latin typeface="Aptos"/>
              </a:rPr>
              <a:t>distance = 1+2+…+8 = 36 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0" y="2560320"/>
            <a:ext cx="420624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60" b="1">
                <a:solidFill>
                  <a:srgbClr val="5AC8FF"/>
                </a:solidFill>
                <a:latin typeface="Aptos"/>
              </a:rPr>
              <a:t>net forms 4–4 right triangle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15200" y="3108960"/>
            <a:ext cx="420624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5AC8FF"/>
                </a:solidFill>
                <a:latin typeface="Aptos"/>
              </a:rPr>
              <a:t>|Δr| = √(16+16) = 4√2 m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FF9E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FFFFFF"/>
                </a:solidFill>
                <a:latin typeface="Aptos"/>
              </a:rPr>
              <a:t>RULE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40" b="1">
                <a:solidFill>
                  <a:srgbClr val="FFD646"/>
                </a:solidFill>
                <a:latin typeface="Aptos"/>
              </a:rPr>
              <a:t>Zero distance / zero displacement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90" b="1">
                <a:solidFill>
                  <a:srgbClr val="B0B6C0"/>
                </a:solidFill>
                <a:latin typeface="Aptos"/>
              </a:rPr>
              <a:t>34</a:t>
            </a:r>
          </a:p>
        </p:txBody>
      </p:sp>
      <p:sp>
        <p:nvSpPr>
          <p:cNvPr id="7" name="Rectangle 6"/>
          <p:cNvSpPr/>
          <p:nvPr/>
        </p:nvSpPr>
        <p:spPr>
          <a:xfrm>
            <a:off x="594360" y="1078992"/>
            <a:ext cx="3657600" cy="502920"/>
          </a:xfrm>
          <a:prstGeom prst="rect">
            <a:avLst/>
          </a:prstGeom>
          <a:solidFill>
            <a:srgbClr val="1C2434"/>
          </a:solidFill>
          <a:ln>
            <a:solidFill>
              <a:srgbClr val="1C24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30936" y="1078992"/>
            <a:ext cx="3584448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ptos"/>
              </a:rPr>
              <a:t>If …</a:t>
            </a:r>
          </a:p>
        </p:txBody>
      </p:sp>
      <p:sp>
        <p:nvSpPr>
          <p:cNvPr id="9" name="Rectangle 8"/>
          <p:cNvSpPr/>
          <p:nvPr/>
        </p:nvSpPr>
        <p:spPr>
          <a:xfrm>
            <a:off x="4251960" y="1078992"/>
            <a:ext cx="7132320" cy="502920"/>
          </a:xfrm>
          <a:prstGeom prst="rect">
            <a:avLst/>
          </a:prstGeom>
          <a:solidFill>
            <a:srgbClr val="1C2434"/>
          </a:solidFill>
          <a:ln>
            <a:solidFill>
              <a:srgbClr val="1C24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288536" y="1078992"/>
            <a:ext cx="7059168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ptos"/>
              </a:rPr>
              <a:t>Then …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94360" y="1581912"/>
            <a:ext cx="3657600" cy="502920"/>
          </a:xfrm>
          <a:prstGeom prst="rect">
            <a:avLst/>
          </a:prstGeom>
          <a:solidFill>
            <a:srgbClr val="101014"/>
          </a:solidFill>
          <a:ln w="6350">
            <a:solidFill>
              <a:srgbClr val="484E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0936" y="1581912"/>
            <a:ext cx="3584448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5AC8FF"/>
                </a:solidFill>
                <a:latin typeface="Aptos"/>
              </a:rPr>
              <a:t>distance = 0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251960" y="1581912"/>
            <a:ext cx="7132320" cy="502920"/>
          </a:xfrm>
          <a:prstGeom prst="rect">
            <a:avLst/>
          </a:prstGeom>
          <a:solidFill>
            <a:srgbClr val="101014"/>
          </a:solidFill>
          <a:ln w="6350">
            <a:solidFill>
              <a:srgbClr val="484E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288536" y="1581912"/>
            <a:ext cx="7059168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Aptos"/>
              </a:rPr>
              <a:t>displacement must be 0 (did not move)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94360" y="2084832"/>
            <a:ext cx="3657600" cy="502920"/>
          </a:xfrm>
          <a:prstGeom prst="rect">
            <a:avLst/>
          </a:prstGeom>
          <a:solidFill>
            <a:srgbClr val="16181C"/>
          </a:solidFill>
          <a:ln w="6350">
            <a:solidFill>
              <a:srgbClr val="484E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0936" y="2084832"/>
            <a:ext cx="3584448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5AC8FF"/>
                </a:solidFill>
                <a:latin typeface="Aptos"/>
              </a:rPr>
              <a:t>distance ≠ 0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251960" y="2084832"/>
            <a:ext cx="7132320" cy="502920"/>
          </a:xfrm>
          <a:prstGeom prst="rect">
            <a:avLst/>
          </a:prstGeom>
          <a:solidFill>
            <a:srgbClr val="16181C"/>
          </a:solidFill>
          <a:ln w="6350">
            <a:solidFill>
              <a:srgbClr val="484E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288536" y="2084832"/>
            <a:ext cx="7059168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Aptos"/>
              </a:rPr>
              <a:t>displacement may be 0 or not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94360" y="2587752"/>
            <a:ext cx="3657600" cy="502920"/>
          </a:xfrm>
          <a:prstGeom prst="rect">
            <a:avLst/>
          </a:prstGeom>
          <a:solidFill>
            <a:srgbClr val="101014"/>
          </a:solidFill>
          <a:ln w="6350">
            <a:solidFill>
              <a:srgbClr val="484E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0936" y="2587752"/>
            <a:ext cx="3584448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5AC8FF"/>
                </a:solidFill>
                <a:latin typeface="Aptos"/>
              </a:rPr>
              <a:t>displacement = 0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251960" y="2587752"/>
            <a:ext cx="7132320" cy="502920"/>
          </a:xfrm>
          <a:prstGeom prst="rect">
            <a:avLst/>
          </a:prstGeom>
          <a:solidFill>
            <a:srgbClr val="101014"/>
          </a:solidFill>
          <a:ln w="6350">
            <a:solidFill>
              <a:srgbClr val="484E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288536" y="2587752"/>
            <a:ext cx="7059168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Aptos"/>
              </a:rPr>
              <a:t>distance may be 0 or not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94360" y="3090672"/>
            <a:ext cx="3657600" cy="502920"/>
          </a:xfrm>
          <a:prstGeom prst="rect">
            <a:avLst/>
          </a:prstGeom>
          <a:solidFill>
            <a:srgbClr val="16181C"/>
          </a:solidFill>
          <a:ln w="6350">
            <a:solidFill>
              <a:srgbClr val="484E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30936" y="3090672"/>
            <a:ext cx="3584448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5AC8FF"/>
                </a:solidFill>
                <a:latin typeface="Aptos"/>
              </a:rPr>
              <a:t>displacement ≠ 0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251960" y="3090672"/>
            <a:ext cx="7132320" cy="502920"/>
          </a:xfrm>
          <a:prstGeom prst="rect">
            <a:avLst/>
          </a:prstGeom>
          <a:solidFill>
            <a:srgbClr val="16181C"/>
          </a:solidFill>
          <a:ln w="6350">
            <a:solidFill>
              <a:srgbClr val="484E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288536" y="3090672"/>
            <a:ext cx="7059168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Aptos"/>
              </a:rPr>
              <a:t>distance must be &gt; 0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046720" y="3657600"/>
            <a:ext cx="3383280" cy="2011680"/>
          </a:xfrm>
          <a:prstGeom prst="roundRect">
            <a:avLst/>
          </a:prstGeom>
          <a:solidFill>
            <a:srgbClr val="0E1016"/>
          </a:solidFill>
          <a:ln w="15240">
            <a:solidFill>
              <a:srgbClr val="28B4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9468612" y="4896612"/>
            <a:ext cx="82296" cy="82296"/>
          </a:xfrm>
          <a:prstGeom prst="ellipse">
            <a:avLst/>
          </a:prstGeom>
          <a:solidFill>
            <a:srgbClr val="FFD6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052560" y="5074920"/>
            <a:ext cx="10972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FFD646"/>
                </a:solidFill>
                <a:latin typeface="Aptos"/>
              </a:rPr>
              <a:t>A = B</a:t>
            </a:r>
          </a:p>
        </p:txBody>
      </p:sp>
      <p:cxnSp>
        <p:nvCxnSpPr>
          <p:cNvPr id="30" name="Connector 29"/>
          <p:cNvCxnSpPr/>
          <p:nvPr/>
        </p:nvCxnSpPr>
        <p:spPr>
          <a:xfrm flipV="1">
            <a:off x="9509760" y="4114800"/>
            <a:ext cx="1005840" cy="822960"/>
          </a:xfrm>
          <a:prstGeom prst="line">
            <a:avLst/>
          </a:prstGeom>
          <a:ln w="25400">
            <a:solidFill>
              <a:srgbClr val="FF9E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 flipH="1" flipV="1">
            <a:off x="9509760" y="3931920"/>
            <a:ext cx="1005840" cy="182880"/>
          </a:xfrm>
          <a:prstGeom prst="line">
            <a:avLst/>
          </a:prstGeom>
          <a:ln w="25400">
            <a:solidFill>
              <a:srgbClr val="FF9E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 flipH="1">
            <a:off x="8503920" y="3931920"/>
            <a:ext cx="1005840" cy="182880"/>
          </a:xfrm>
          <a:prstGeom prst="line">
            <a:avLst/>
          </a:prstGeom>
          <a:ln w="25400">
            <a:solidFill>
              <a:srgbClr val="FF9E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8503920" y="4114800"/>
            <a:ext cx="1005840" cy="822960"/>
          </a:xfrm>
          <a:prstGeom prst="line">
            <a:avLst/>
          </a:prstGeom>
          <a:ln w="25400">
            <a:solidFill>
              <a:srgbClr val="FF9E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TextBox 33"/>
          <p:cNvSpPr txBox="1"/>
          <p:nvPr/>
        </p:nvSpPr>
        <p:spPr>
          <a:xfrm>
            <a:off x="8183879" y="5349240"/>
            <a:ext cx="31089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FF9E40"/>
                </a:solidFill>
                <a:latin typeface="Aptos"/>
              </a:rPr>
              <a:t>disp = 0, distance &gt; 0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FF9E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FFFFFF"/>
                </a:solidFill>
                <a:latin typeface="Aptos"/>
              </a:rPr>
              <a:t>QUESTION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40" b="1">
                <a:solidFill>
                  <a:srgbClr val="FFD646"/>
                </a:solidFill>
                <a:latin typeface="Aptos"/>
              </a:rPr>
              <a:t>True / False — lock these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90" b="1">
                <a:solidFill>
                  <a:srgbClr val="B0B6C0"/>
                </a:solidFill>
                <a:latin typeface="Aptos"/>
              </a:rPr>
              <a:t>35</a:t>
            </a:r>
          </a:p>
        </p:txBody>
      </p:sp>
      <p:sp>
        <p:nvSpPr>
          <p:cNvPr id="7" name="Oval 6"/>
          <p:cNvSpPr/>
          <p:nvPr/>
        </p:nvSpPr>
        <p:spPr>
          <a:xfrm>
            <a:off x="594360" y="1133856"/>
            <a:ext cx="292608" cy="292608"/>
          </a:xfrm>
          <a:prstGeom prst="ellipse">
            <a:avLst/>
          </a:prstGeom>
          <a:solidFill>
            <a:srgbClr val="28B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1152144"/>
            <a:ext cx="292608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14984" y="1115568"/>
            <a:ext cx="10597896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FFFFFF"/>
                </a:solidFill>
                <a:latin typeface="Aptos"/>
              </a:rPr>
              <a:t>Distance must equal |displacement| in every 1-D motion.  → False</a:t>
            </a:r>
          </a:p>
        </p:txBody>
      </p:sp>
      <p:sp>
        <p:nvSpPr>
          <p:cNvPr id="10" name="Oval 9"/>
          <p:cNvSpPr/>
          <p:nvPr/>
        </p:nvSpPr>
        <p:spPr>
          <a:xfrm>
            <a:off x="594360" y="1609344"/>
            <a:ext cx="292608" cy="292608"/>
          </a:xfrm>
          <a:prstGeom prst="ellipse">
            <a:avLst/>
          </a:prstGeom>
          <a:solidFill>
            <a:srgbClr val="28B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4360" y="1627632"/>
            <a:ext cx="292608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14984" y="1591056"/>
            <a:ext cx="10597896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FFFFFF"/>
                </a:solidFill>
                <a:latin typeface="Aptos"/>
              </a:rPr>
              <a:t>If displacement is zero, distance must be zero.  → False</a:t>
            </a:r>
          </a:p>
        </p:txBody>
      </p:sp>
      <p:sp>
        <p:nvSpPr>
          <p:cNvPr id="13" name="Oval 12"/>
          <p:cNvSpPr/>
          <p:nvPr/>
        </p:nvSpPr>
        <p:spPr>
          <a:xfrm>
            <a:off x="594360" y="2084831"/>
            <a:ext cx="292608" cy="292608"/>
          </a:xfrm>
          <a:prstGeom prst="ellipse">
            <a:avLst/>
          </a:prstGeom>
          <a:solidFill>
            <a:srgbClr val="28B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94360" y="2103120"/>
            <a:ext cx="292608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14984" y="2066543"/>
            <a:ext cx="10597896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FFFFFF"/>
                </a:solidFill>
                <a:latin typeface="Aptos"/>
              </a:rPr>
              <a:t>If distance is zero, displacement must be zero.  → True</a:t>
            </a:r>
          </a:p>
        </p:txBody>
      </p:sp>
      <p:sp>
        <p:nvSpPr>
          <p:cNvPr id="16" name="Oval 15"/>
          <p:cNvSpPr/>
          <p:nvPr/>
        </p:nvSpPr>
        <p:spPr>
          <a:xfrm>
            <a:off x="594360" y="2560320"/>
            <a:ext cx="292608" cy="292608"/>
          </a:xfrm>
          <a:prstGeom prst="ellipse">
            <a:avLst/>
          </a:prstGeom>
          <a:solidFill>
            <a:srgbClr val="28B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94360" y="2578608"/>
            <a:ext cx="292608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14984" y="2542032"/>
            <a:ext cx="10597896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FFFFFF"/>
                </a:solidFill>
                <a:latin typeface="Aptos"/>
              </a:rPr>
              <a:t>|displacement| is always equal to distance.  → False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4360" y="3547872"/>
            <a:ext cx="11018520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FFFFFF"/>
                </a:solidFill>
                <a:latin typeface="Aptos"/>
              </a:rPr>
              <a:t>Only when direction never changes in 1-D can we say |displacement| equals distance.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B0B6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FFFFFF"/>
                </a:solidFill>
                <a:latin typeface="Aptos"/>
              </a:rPr>
              <a:t>ROUGH WORK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980" b="1">
                <a:solidFill>
                  <a:srgbClr val="FFD646"/>
                </a:solidFill>
                <a:latin typeface="Aptos"/>
              </a:rPr>
              <a:t>Rough work  /  extra work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90" b="1">
                <a:solidFill>
                  <a:srgbClr val="B0B6C0"/>
                </a:solidFill>
                <a:latin typeface="Aptos"/>
              </a:rPr>
              <a:t>36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409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FFFFFF"/>
                </a:solidFill>
                <a:latin typeface="Aptos"/>
              </a:rPr>
              <a:t>FIGURE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40" b="1">
                <a:solidFill>
                  <a:srgbClr val="FFD646"/>
                </a:solidFill>
                <a:latin typeface="Aptos"/>
              </a:rPr>
              <a:t>Square park of side ℓ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90" b="1">
                <a:solidFill>
                  <a:srgbClr val="B0B6C0"/>
                </a:solidFill>
                <a:latin typeface="Aptos"/>
              </a:rPr>
              <a:t>37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FFFFFF"/>
                </a:solidFill>
                <a:latin typeface="Aptos"/>
              </a:rPr>
              <a:t>Start at corner A of square ABCD. Walk on the boundary. Side length = ℓ.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011680" y="5029200"/>
            <a:ext cx="2377440" cy="0"/>
          </a:xfrm>
          <a:prstGeom prst="line">
            <a:avLst/>
          </a:prstGeom>
          <a:ln w="2540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 flipV="1">
            <a:off x="4389120" y="2651760"/>
            <a:ext cx="0" cy="2377440"/>
          </a:xfrm>
          <a:prstGeom prst="line">
            <a:avLst/>
          </a:prstGeom>
          <a:ln w="2540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H="1">
            <a:off x="2011680" y="2651760"/>
            <a:ext cx="2377440" cy="0"/>
          </a:xfrm>
          <a:prstGeom prst="line">
            <a:avLst/>
          </a:prstGeom>
          <a:ln w="2540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2011680" y="2651760"/>
            <a:ext cx="0" cy="2377440"/>
          </a:xfrm>
          <a:prstGeom prst="line">
            <a:avLst/>
          </a:prstGeom>
          <a:ln w="2540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 flipV="1">
            <a:off x="2011680" y="2651760"/>
            <a:ext cx="2377440" cy="2377440"/>
          </a:xfrm>
          <a:prstGeom prst="line">
            <a:avLst/>
          </a:prstGeom>
          <a:ln w="30480">
            <a:solidFill>
              <a:srgbClr val="FFD646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1691640" y="5074920"/>
            <a:ext cx="3200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5AD680"/>
                </a:solidFill>
                <a:latin typeface="Aptos"/>
              </a:rPr>
              <a:t>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62272" y="5074920"/>
            <a:ext cx="3200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ptos"/>
              </a:rPr>
              <a:t>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62272" y="2377440"/>
            <a:ext cx="3200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ptos"/>
              </a:rPr>
              <a:t>C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91640" y="2377440"/>
            <a:ext cx="3200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ptos"/>
              </a:rPr>
              <a:t>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651760" y="3657600"/>
            <a:ext cx="1371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FFD646"/>
                </a:solidFill>
                <a:latin typeface="Aptos"/>
              </a:rPr>
              <a:t>diagonal AC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760720" y="1856231"/>
            <a:ext cx="3017520" cy="438912"/>
          </a:xfrm>
          <a:prstGeom prst="rect">
            <a:avLst/>
          </a:prstGeom>
          <a:solidFill>
            <a:srgbClr val="1C2434"/>
          </a:solidFill>
          <a:ln>
            <a:solidFill>
              <a:srgbClr val="1C24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797296" y="1856231"/>
            <a:ext cx="2944368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ptos"/>
              </a:rPr>
              <a:t>Path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778240" y="1856231"/>
            <a:ext cx="2194560" cy="438912"/>
          </a:xfrm>
          <a:prstGeom prst="rect">
            <a:avLst/>
          </a:prstGeom>
          <a:solidFill>
            <a:srgbClr val="1C2434"/>
          </a:solidFill>
          <a:ln>
            <a:solidFill>
              <a:srgbClr val="1C24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814815" y="1856231"/>
            <a:ext cx="2121408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ptos"/>
              </a:rPr>
              <a:t>distance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0972800" y="1856231"/>
            <a:ext cx="2194560" cy="438912"/>
          </a:xfrm>
          <a:prstGeom prst="rect">
            <a:avLst/>
          </a:prstGeom>
          <a:solidFill>
            <a:srgbClr val="1C2434"/>
          </a:solidFill>
          <a:ln>
            <a:solidFill>
              <a:srgbClr val="1C24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1009376" y="1856231"/>
            <a:ext cx="2121408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ptos"/>
              </a:rPr>
              <a:t>|disp|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760720" y="2295144"/>
            <a:ext cx="3017520" cy="438912"/>
          </a:xfrm>
          <a:prstGeom prst="rect">
            <a:avLst/>
          </a:prstGeom>
          <a:solidFill>
            <a:srgbClr val="101014"/>
          </a:solidFill>
          <a:ln w="6350">
            <a:solidFill>
              <a:srgbClr val="484E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797296" y="2295144"/>
            <a:ext cx="2944368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5AC8FF"/>
                </a:solidFill>
                <a:latin typeface="Aptos"/>
              </a:rPr>
              <a:t>A → B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778240" y="2295144"/>
            <a:ext cx="2194560" cy="438912"/>
          </a:xfrm>
          <a:prstGeom prst="rect">
            <a:avLst/>
          </a:prstGeom>
          <a:solidFill>
            <a:srgbClr val="101014"/>
          </a:solidFill>
          <a:ln w="6350">
            <a:solidFill>
              <a:srgbClr val="484E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814815" y="2295144"/>
            <a:ext cx="2121408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Aptos"/>
              </a:rPr>
              <a:t>ℓ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0972800" y="2295144"/>
            <a:ext cx="2194560" cy="438912"/>
          </a:xfrm>
          <a:prstGeom prst="rect">
            <a:avLst/>
          </a:prstGeom>
          <a:solidFill>
            <a:srgbClr val="101014"/>
          </a:solidFill>
          <a:ln w="6350">
            <a:solidFill>
              <a:srgbClr val="484E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1009376" y="2295144"/>
            <a:ext cx="2121408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Aptos"/>
              </a:rPr>
              <a:t>ℓ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760720" y="2734056"/>
            <a:ext cx="3017520" cy="438912"/>
          </a:xfrm>
          <a:prstGeom prst="rect">
            <a:avLst/>
          </a:prstGeom>
          <a:solidFill>
            <a:srgbClr val="16181C"/>
          </a:solidFill>
          <a:ln w="6350">
            <a:solidFill>
              <a:srgbClr val="484E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797296" y="2734056"/>
            <a:ext cx="2944368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5AC8FF"/>
                </a:solidFill>
                <a:latin typeface="Aptos"/>
              </a:rPr>
              <a:t>A → C (via B)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778240" y="2734056"/>
            <a:ext cx="2194560" cy="438912"/>
          </a:xfrm>
          <a:prstGeom prst="rect">
            <a:avLst/>
          </a:prstGeom>
          <a:solidFill>
            <a:srgbClr val="16181C"/>
          </a:solidFill>
          <a:ln w="6350">
            <a:solidFill>
              <a:srgbClr val="484E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814815" y="2734056"/>
            <a:ext cx="2121408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Aptos"/>
              </a:rPr>
              <a:t>2ℓ</a:t>
            </a:r>
          </a:p>
        </p:txBody>
      </p:sp>
      <p:sp>
        <p:nvSpPr>
          <p:cNvPr id="34" name="Rectangle 33"/>
          <p:cNvSpPr/>
          <p:nvPr/>
        </p:nvSpPr>
        <p:spPr>
          <a:xfrm>
            <a:off x="10972800" y="2734056"/>
            <a:ext cx="2194560" cy="438912"/>
          </a:xfrm>
          <a:prstGeom prst="rect">
            <a:avLst/>
          </a:prstGeom>
          <a:solidFill>
            <a:srgbClr val="16181C"/>
          </a:solidFill>
          <a:ln w="6350">
            <a:solidFill>
              <a:srgbClr val="484E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1009376" y="2734056"/>
            <a:ext cx="2121408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Aptos"/>
              </a:rPr>
              <a:t>ℓ√2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760720" y="3172968"/>
            <a:ext cx="3017520" cy="438912"/>
          </a:xfrm>
          <a:prstGeom prst="rect">
            <a:avLst/>
          </a:prstGeom>
          <a:solidFill>
            <a:srgbClr val="101014"/>
          </a:solidFill>
          <a:ln w="6350">
            <a:solidFill>
              <a:srgbClr val="484E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797296" y="3172968"/>
            <a:ext cx="2944368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5AC8FF"/>
                </a:solidFill>
                <a:latin typeface="Aptos"/>
              </a:rPr>
              <a:t>A → D (via B, C)</a:t>
            </a:r>
          </a:p>
        </p:txBody>
      </p:sp>
      <p:sp>
        <p:nvSpPr>
          <p:cNvPr id="38" name="Rectangle 37"/>
          <p:cNvSpPr/>
          <p:nvPr/>
        </p:nvSpPr>
        <p:spPr>
          <a:xfrm>
            <a:off x="8778240" y="3172968"/>
            <a:ext cx="2194560" cy="438912"/>
          </a:xfrm>
          <a:prstGeom prst="rect">
            <a:avLst/>
          </a:prstGeom>
          <a:solidFill>
            <a:srgbClr val="101014"/>
          </a:solidFill>
          <a:ln w="6350">
            <a:solidFill>
              <a:srgbClr val="484E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814815" y="3172968"/>
            <a:ext cx="2121408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Aptos"/>
              </a:rPr>
              <a:t>3ℓ</a:t>
            </a:r>
          </a:p>
        </p:txBody>
      </p:sp>
      <p:sp>
        <p:nvSpPr>
          <p:cNvPr id="40" name="Rectangle 39"/>
          <p:cNvSpPr/>
          <p:nvPr/>
        </p:nvSpPr>
        <p:spPr>
          <a:xfrm>
            <a:off x="10972800" y="3172968"/>
            <a:ext cx="2194560" cy="438912"/>
          </a:xfrm>
          <a:prstGeom prst="rect">
            <a:avLst/>
          </a:prstGeom>
          <a:solidFill>
            <a:srgbClr val="101014"/>
          </a:solidFill>
          <a:ln w="6350">
            <a:solidFill>
              <a:srgbClr val="484E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1009376" y="3172968"/>
            <a:ext cx="2121408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Aptos"/>
              </a:rPr>
              <a:t>ℓ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760720" y="3611879"/>
            <a:ext cx="3017520" cy="438912"/>
          </a:xfrm>
          <a:prstGeom prst="rect">
            <a:avLst/>
          </a:prstGeom>
          <a:solidFill>
            <a:srgbClr val="16181C"/>
          </a:solidFill>
          <a:ln w="6350">
            <a:solidFill>
              <a:srgbClr val="484E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5797296" y="3611879"/>
            <a:ext cx="2944368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5AC8FF"/>
                </a:solidFill>
                <a:latin typeface="Aptos"/>
              </a:rPr>
              <a:t>A → A (full lap)</a:t>
            </a:r>
          </a:p>
        </p:txBody>
      </p:sp>
      <p:sp>
        <p:nvSpPr>
          <p:cNvPr id="44" name="Rectangle 43"/>
          <p:cNvSpPr/>
          <p:nvPr/>
        </p:nvSpPr>
        <p:spPr>
          <a:xfrm>
            <a:off x="8778240" y="3611879"/>
            <a:ext cx="2194560" cy="438912"/>
          </a:xfrm>
          <a:prstGeom prst="rect">
            <a:avLst/>
          </a:prstGeom>
          <a:solidFill>
            <a:srgbClr val="16181C"/>
          </a:solidFill>
          <a:ln w="6350">
            <a:solidFill>
              <a:srgbClr val="484E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814815" y="3611879"/>
            <a:ext cx="2121408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Aptos"/>
              </a:rPr>
              <a:t>4ℓ</a:t>
            </a:r>
          </a:p>
        </p:txBody>
      </p:sp>
      <p:sp>
        <p:nvSpPr>
          <p:cNvPr id="46" name="Rectangle 45"/>
          <p:cNvSpPr/>
          <p:nvPr/>
        </p:nvSpPr>
        <p:spPr>
          <a:xfrm>
            <a:off x="10972800" y="3611879"/>
            <a:ext cx="2194560" cy="438912"/>
          </a:xfrm>
          <a:prstGeom prst="rect">
            <a:avLst/>
          </a:prstGeom>
          <a:solidFill>
            <a:srgbClr val="16181C"/>
          </a:solidFill>
          <a:ln w="6350">
            <a:solidFill>
              <a:srgbClr val="484E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11009376" y="3611879"/>
            <a:ext cx="2121408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Aptos"/>
              </a:rPr>
              <a:t>0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28B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FFFFFF"/>
                </a:solidFill>
                <a:latin typeface="Aptos"/>
              </a:rPr>
              <a:t>EXAMPLE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40" b="1">
                <a:solidFill>
                  <a:srgbClr val="FFD646"/>
                </a:solidFill>
                <a:latin typeface="Aptos"/>
              </a:rPr>
              <a:t>When distance cannot be found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90" b="1">
                <a:solidFill>
                  <a:srgbClr val="B0B6C0"/>
                </a:solidFill>
                <a:latin typeface="Aptos"/>
              </a:rPr>
              <a:t>38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FFFFFF"/>
                </a:solidFill>
                <a:latin typeface="Aptos"/>
              </a:rPr>
              <a:t>Particle goes from (0, 0) to (2, −4) on a curved flight path. Without the exact path length, distance is unknown — displacement is still easy.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1371600" y="4389120"/>
            <a:ext cx="3657600" cy="0"/>
          </a:xfrm>
          <a:prstGeom prst="line">
            <a:avLst/>
          </a:prstGeom>
          <a:ln w="19050">
            <a:solidFill>
              <a:srgbClr val="B0B6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 flipV="1">
            <a:off x="2926080" y="2377440"/>
            <a:ext cx="0" cy="2011680"/>
          </a:xfrm>
          <a:prstGeom prst="line">
            <a:avLst/>
          </a:prstGeom>
          <a:ln w="19050">
            <a:solidFill>
              <a:srgbClr val="B0B6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Oval 9"/>
          <p:cNvSpPr/>
          <p:nvPr/>
        </p:nvSpPr>
        <p:spPr>
          <a:xfrm>
            <a:off x="1787652" y="4347972"/>
            <a:ext cx="82296" cy="82296"/>
          </a:xfrm>
          <a:prstGeom prst="ellipse">
            <a:avLst/>
          </a:prstGeom>
          <a:solidFill>
            <a:srgbClr val="5AD6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371600" y="4572000"/>
            <a:ext cx="1371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5AD680"/>
                </a:solidFill>
                <a:latin typeface="Aptos"/>
              </a:rPr>
              <a:t>A (0, 0)</a:t>
            </a:r>
          </a:p>
        </p:txBody>
      </p:sp>
      <p:sp>
        <p:nvSpPr>
          <p:cNvPr id="12" name="Oval 11"/>
          <p:cNvSpPr/>
          <p:nvPr/>
        </p:nvSpPr>
        <p:spPr>
          <a:xfrm>
            <a:off x="4165091" y="2884932"/>
            <a:ext cx="82296" cy="82296"/>
          </a:xfrm>
          <a:prstGeom prst="ellipse">
            <a:avLst/>
          </a:prstGeom>
          <a:solidFill>
            <a:srgbClr val="FFD6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931920" y="2606040"/>
            <a:ext cx="14630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FFD646"/>
                </a:solidFill>
                <a:latin typeface="Aptos"/>
              </a:rPr>
              <a:t>B (2, −4)</a:t>
            </a:r>
          </a:p>
        </p:txBody>
      </p:sp>
      <p:cxnSp>
        <p:nvCxnSpPr>
          <p:cNvPr id="14" name="Connector 13"/>
          <p:cNvCxnSpPr/>
          <p:nvPr/>
        </p:nvCxnSpPr>
        <p:spPr>
          <a:xfrm flipV="1">
            <a:off x="1828800" y="3566160"/>
            <a:ext cx="548640" cy="822960"/>
          </a:xfrm>
          <a:prstGeom prst="line">
            <a:avLst/>
          </a:prstGeom>
          <a:ln w="27940">
            <a:solidFill>
              <a:srgbClr val="FF9E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 flipV="1">
            <a:off x="2377440" y="3017520"/>
            <a:ext cx="731520" cy="548640"/>
          </a:xfrm>
          <a:prstGeom prst="line">
            <a:avLst/>
          </a:prstGeom>
          <a:ln w="27940">
            <a:solidFill>
              <a:srgbClr val="FF9E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 flipV="1">
            <a:off x="3108960" y="2926080"/>
            <a:ext cx="1097280" cy="91440"/>
          </a:xfrm>
          <a:prstGeom prst="line">
            <a:avLst/>
          </a:prstGeom>
          <a:ln w="27940">
            <a:solidFill>
              <a:srgbClr val="FF9E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 flipV="1">
            <a:off x="1828800" y="2926080"/>
            <a:ext cx="2377440" cy="1463040"/>
          </a:xfrm>
          <a:prstGeom prst="line">
            <a:avLst/>
          </a:prstGeom>
          <a:ln w="30480">
            <a:solidFill>
              <a:srgbClr val="5AD68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5943600" y="2194560"/>
            <a:ext cx="548640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5AC8FF"/>
                </a:solidFill>
                <a:latin typeface="Aptos"/>
              </a:rPr>
              <a:t>Δr = 2î − 4ĵ , |Δr| = 2√5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43600" y="3017520"/>
            <a:ext cx="548640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Aptos"/>
              </a:rPr>
              <a:t>Straight drop (0, 0) → (0, −18): distance = 18 m and displacement = −18 ĵ.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5AD6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FFFFFF"/>
                </a:solidFill>
                <a:latin typeface="Aptos"/>
              </a:rPr>
              <a:t>FIGURE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40" b="1">
                <a:solidFill>
                  <a:srgbClr val="FFD646"/>
                </a:solidFill>
                <a:latin typeface="Aptos"/>
              </a:rPr>
              <a:t>L-shaped path on axes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90" b="1">
                <a:solidFill>
                  <a:srgbClr val="B0B6C0"/>
                </a:solidFill>
                <a:latin typeface="Aptos"/>
              </a:rPr>
              <a:t>39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FFFFFF"/>
                </a:solidFill>
                <a:latin typeface="Aptos"/>
              </a:rPr>
              <a:t>A → B = 4 m right, B → C = 6 m up, C → D = 4 m right.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1828800" y="5120640"/>
            <a:ext cx="1645920" cy="0"/>
          </a:xfrm>
          <a:prstGeom prst="line">
            <a:avLst/>
          </a:prstGeom>
          <a:ln w="33020">
            <a:solidFill>
              <a:srgbClr val="FF9E4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 flipV="1">
            <a:off x="3474720" y="2651759"/>
            <a:ext cx="0" cy="2468881"/>
          </a:xfrm>
          <a:prstGeom prst="line">
            <a:avLst/>
          </a:prstGeom>
          <a:ln w="33020">
            <a:solidFill>
              <a:srgbClr val="FF9E4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3474720" y="2651759"/>
            <a:ext cx="1645920" cy="0"/>
          </a:xfrm>
          <a:prstGeom prst="line">
            <a:avLst/>
          </a:prstGeom>
          <a:ln w="33020">
            <a:solidFill>
              <a:srgbClr val="FF9E4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Oval 10"/>
          <p:cNvSpPr/>
          <p:nvPr/>
        </p:nvSpPr>
        <p:spPr>
          <a:xfrm>
            <a:off x="1787652" y="5079492"/>
            <a:ext cx="82296" cy="82296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691640" y="5257800"/>
            <a:ext cx="3657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ptos"/>
              </a:rPr>
              <a:t>A</a:t>
            </a:r>
          </a:p>
        </p:txBody>
      </p:sp>
      <p:sp>
        <p:nvSpPr>
          <p:cNvPr id="13" name="Oval 12"/>
          <p:cNvSpPr/>
          <p:nvPr/>
        </p:nvSpPr>
        <p:spPr>
          <a:xfrm>
            <a:off x="3433572" y="5079492"/>
            <a:ext cx="82296" cy="82296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337560" y="5257800"/>
            <a:ext cx="3657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ptos"/>
              </a:rPr>
              <a:t>B</a:t>
            </a:r>
          </a:p>
        </p:txBody>
      </p:sp>
      <p:sp>
        <p:nvSpPr>
          <p:cNvPr id="15" name="Oval 14"/>
          <p:cNvSpPr/>
          <p:nvPr/>
        </p:nvSpPr>
        <p:spPr>
          <a:xfrm>
            <a:off x="3433572" y="2610611"/>
            <a:ext cx="82296" cy="82296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337560" y="2788919"/>
            <a:ext cx="3657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ptos"/>
              </a:rPr>
              <a:t>C</a:t>
            </a:r>
          </a:p>
        </p:txBody>
      </p:sp>
      <p:sp>
        <p:nvSpPr>
          <p:cNvPr id="17" name="Oval 16"/>
          <p:cNvSpPr/>
          <p:nvPr/>
        </p:nvSpPr>
        <p:spPr>
          <a:xfrm>
            <a:off x="5079492" y="2610611"/>
            <a:ext cx="82296" cy="82296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983479" y="2788919"/>
            <a:ext cx="3657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ptos"/>
              </a:rPr>
              <a:t>D</a:t>
            </a:r>
          </a:p>
        </p:txBody>
      </p:sp>
      <p:cxnSp>
        <p:nvCxnSpPr>
          <p:cNvPr id="19" name="Connector 18"/>
          <p:cNvCxnSpPr/>
          <p:nvPr/>
        </p:nvCxnSpPr>
        <p:spPr>
          <a:xfrm flipV="1">
            <a:off x="1828800" y="2651759"/>
            <a:ext cx="3291840" cy="2468881"/>
          </a:xfrm>
          <a:prstGeom prst="line">
            <a:avLst/>
          </a:prstGeom>
          <a:ln w="33020">
            <a:solidFill>
              <a:srgbClr val="5AD68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2446020" y="5257800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B0B6C0"/>
                </a:solidFill>
                <a:latin typeface="Aptos"/>
              </a:rPr>
              <a:t>4 m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584448" y="3886200"/>
            <a:ext cx="6400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B0B6C0"/>
                </a:solidFill>
                <a:latin typeface="Aptos"/>
              </a:rPr>
              <a:t>6 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297680" y="2331719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B0B6C0"/>
                </a:solidFill>
                <a:latin typeface="Aptos"/>
              </a:rPr>
              <a:t>4 m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15200" y="2286000"/>
            <a:ext cx="411480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40" b="1">
                <a:solidFill>
                  <a:srgbClr val="5AC8FF"/>
                </a:solidFill>
                <a:latin typeface="Aptos"/>
              </a:rPr>
              <a:t>distance = 14 m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15200" y="2834640"/>
            <a:ext cx="411480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5AC8FF"/>
                </a:solidFill>
                <a:latin typeface="Aptos"/>
              </a:rPr>
              <a:t>net: 8 m right, 6 m up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15200" y="3383280"/>
            <a:ext cx="411480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40" b="1">
                <a:solidFill>
                  <a:srgbClr val="5AC8FF"/>
                </a:solidFill>
                <a:latin typeface="Aptos"/>
              </a:rPr>
              <a:t>|Δr| = √(64+36) = 10 m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315200" y="4206240"/>
            <a:ext cx="4114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20" b="1">
                <a:solidFill>
                  <a:srgbClr val="5AD680"/>
                </a:solidFill>
                <a:latin typeface="Aptos"/>
              </a:rPr>
              <a:t>distance 14 m , |displacement| 10 m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FF9E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FFFFFF"/>
                </a:solidFill>
                <a:latin typeface="Aptos"/>
              </a:rPr>
              <a:t>QUESTION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40" b="1">
                <a:solidFill>
                  <a:srgbClr val="FFD646"/>
                </a:solidFill>
                <a:latin typeface="Aptos"/>
              </a:rPr>
              <a:t>MCQ — displacement P → Q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90" b="1">
                <a:solidFill>
                  <a:srgbClr val="B0B6C0"/>
                </a:solidFill>
                <a:latin typeface="Aptos"/>
              </a:rPr>
              <a:t>40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FF9E40"/>
                </a:solidFill>
                <a:latin typeface="Aptos"/>
              </a:rPr>
              <a:t>Particle moves from P(2, 3, 5) to Q(3, 4, 5). Displacement is</a:t>
            </a:r>
          </a:p>
        </p:txBody>
      </p:sp>
      <p:sp>
        <p:nvSpPr>
          <p:cNvPr id="8" name="Oval 7"/>
          <p:cNvSpPr/>
          <p:nvPr/>
        </p:nvSpPr>
        <p:spPr>
          <a:xfrm>
            <a:off x="594360" y="1956816"/>
            <a:ext cx="292608" cy="292608"/>
          </a:xfrm>
          <a:prstGeom prst="ellipse">
            <a:avLst/>
          </a:prstGeom>
          <a:solidFill>
            <a:srgbClr val="28B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1975104"/>
            <a:ext cx="292608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14984" y="1938528"/>
            <a:ext cx="10597896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FFFFFF"/>
                </a:solidFill>
                <a:latin typeface="Aptos"/>
              </a:rPr>
              <a:t>î + ĵ + 10 k̂</a:t>
            </a:r>
          </a:p>
        </p:txBody>
      </p:sp>
      <p:sp>
        <p:nvSpPr>
          <p:cNvPr id="11" name="Oval 10"/>
          <p:cNvSpPr/>
          <p:nvPr/>
        </p:nvSpPr>
        <p:spPr>
          <a:xfrm>
            <a:off x="594360" y="2432304"/>
            <a:ext cx="292608" cy="292608"/>
          </a:xfrm>
          <a:prstGeom prst="ellipse">
            <a:avLst/>
          </a:prstGeom>
          <a:solidFill>
            <a:srgbClr val="28B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94360" y="2450592"/>
            <a:ext cx="292608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14984" y="2414016"/>
            <a:ext cx="10597896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FFFFFF"/>
                </a:solidFill>
                <a:latin typeface="Aptos"/>
              </a:rPr>
              <a:t>î + ĵ + 5 k̂</a:t>
            </a:r>
          </a:p>
        </p:txBody>
      </p:sp>
      <p:sp>
        <p:nvSpPr>
          <p:cNvPr id="14" name="Oval 13"/>
          <p:cNvSpPr/>
          <p:nvPr/>
        </p:nvSpPr>
        <p:spPr>
          <a:xfrm>
            <a:off x="594360" y="2907792"/>
            <a:ext cx="292608" cy="292608"/>
          </a:xfrm>
          <a:prstGeom prst="ellipse">
            <a:avLst/>
          </a:prstGeom>
          <a:solidFill>
            <a:srgbClr val="28B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94360" y="2926080"/>
            <a:ext cx="292608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14984" y="2889504"/>
            <a:ext cx="10597896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FFFFFF"/>
                </a:solidFill>
                <a:latin typeface="Aptos"/>
              </a:rPr>
              <a:t>î + ĵ</a:t>
            </a:r>
          </a:p>
        </p:txBody>
      </p:sp>
      <p:sp>
        <p:nvSpPr>
          <p:cNvPr id="17" name="Oval 16"/>
          <p:cNvSpPr/>
          <p:nvPr/>
        </p:nvSpPr>
        <p:spPr>
          <a:xfrm>
            <a:off x="594360" y="3383280"/>
            <a:ext cx="292608" cy="292608"/>
          </a:xfrm>
          <a:prstGeom prst="ellipse">
            <a:avLst/>
          </a:prstGeom>
          <a:solidFill>
            <a:srgbClr val="28B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94360" y="3401568"/>
            <a:ext cx="292608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14984" y="3364992"/>
            <a:ext cx="10597896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FFFFFF"/>
                </a:solidFill>
                <a:latin typeface="Aptos"/>
              </a:rPr>
              <a:t>2î + 4ĵ + 6k̂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5AD6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FFFFFF"/>
                </a:solidFill>
                <a:latin typeface="Aptos"/>
              </a:rPr>
              <a:t>ANSWER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40" b="1">
                <a:solidFill>
                  <a:srgbClr val="FFD646"/>
                </a:solidFill>
                <a:latin typeface="Aptos"/>
              </a:rPr>
              <a:t>Solution: MCQ — displacement P → Q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90" b="1">
                <a:solidFill>
                  <a:srgbClr val="B0B6C0"/>
                </a:solidFill>
                <a:latin typeface="Aptos"/>
              </a:rPr>
              <a:t>41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40" b="1">
                <a:solidFill>
                  <a:srgbClr val="5AC8FF"/>
                </a:solidFill>
                <a:latin typeface="Aptos"/>
              </a:rPr>
              <a:t>Step 1:  Δr = (3−2)î + (4−3)ĵ + (5−5)k̂ = î + ĵ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947672"/>
            <a:ext cx="11018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20" b="1">
                <a:solidFill>
                  <a:srgbClr val="5AD680"/>
                </a:solidFill>
                <a:latin typeface="Aptos"/>
              </a:rPr>
              <a:t>Answer: î + ĵ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B0B6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FFFFFF"/>
                </a:solidFill>
                <a:latin typeface="Aptos"/>
              </a:rPr>
              <a:t>ROUGH WORK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980" b="1">
                <a:solidFill>
                  <a:srgbClr val="FFD646"/>
                </a:solidFill>
                <a:latin typeface="Aptos"/>
              </a:rPr>
              <a:t>Rough work  /  extra work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90" b="1">
                <a:solidFill>
                  <a:srgbClr val="B0B6C0"/>
                </a:solidFill>
                <a:latin typeface="Aptos"/>
              </a:rPr>
              <a:t>42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FF9E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FFFFFF"/>
                </a:solidFill>
                <a:latin typeface="Aptos"/>
              </a:rPr>
              <a:t>QUESTION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40" b="1">
                <a:solidFill>
                  <a:srgbClr val="FFD646"/>
                </a:solidFill>
                <a:latin typeface="Aptos"/>
              </a:rPr>
              <a:t>MCQ — correct statement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90" b="1">
                <a:solidFill>
                  <a:srgbClr val="B0B6C0"/>
                </a:solidFill>
                <a:latin typeface="Aptos"/>
              </a:rPr>
              <a:t>43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FF9E40"/>
                </a:solidFill>
                <a:latin typeface="Aptos"/>
              </a:rPr>
              <a:t>Correct statement among the following is:</a:t>
            </a:r>
          </a:p>
        </p:txBody>
      </p:sp>
      <p:sp>
        <p:nvSpPr>
          <p:cNvPr id="8" name="Oval 7"/>
          <p:cNvSpPr/>
          <p:nvPr/>
        </p:nvSpPr>
        <p:spPr>
          <a:xfrm>
            <a:off x="594360" y="1819656"/>
            <a:ext cx="292608" cy="292608"/>
          </a:xfrm>
          <a:prstGeom prst="ellipse">
            <a:avLst/>
          </a:prstGeom>
          <a:solidFill>
            <a:srgbClr val="28B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1837943"/>
            <a:ext cx="292608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14984" y="1801368"/>
            <a:ext cx="10597896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FFFFFF"/>
                </a:solidFill>
                <a:latin typeface="Aptos"/>
              </a:rPr>
              <a:t>When displacement is zero, distance travelled is not zero.</a:t>
            </a:r>
          </a:p>
        </p:txBody>
      </p:sp>
      <p:sp>
        <p:nvSpPr>
          <p:cNvPr id="11" name="Oval 10"/>
          <p:cNvSpPr/>
          <p:nvPr/>
        </p:nvSpPr>
        <p:spPr>
          <a:xfrm>
            <a:off x="594360" y="2295144"/>
            <a:ext cx="292608" cy="292608"/>
          </a:xfrm>
          <a:prstGeom prst="ellipse">
            <a:avLst/>
          </a:prstGeom>
          <a:solidFill>
            <a:srgbClr val="28B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94360" y="2313432"/>
            <a:ext cx="292608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14984" y="2276856"/>
            <a:ext cx="10597896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FFFFFF"/>
                </a:solidFill>
                <a:latin typeface="Aptos"/>
              </a:rPr>
              <a:t>When displacement is zero, distance travelled is also zero.</a:t>
            </a:r>
          </a:p>
        </p:txBody>
      </p:sp>
      <p:sp>
        <p:nvSpPr>
          <p:cNvPr id="14" name="Oval 13"/>
          <p:cNvSpPr/>
          <p:nvPr/>
        </p:nvSpPr>
        <p:spPr>
          <a:xfrm>
            <a:off x="594360" y="2770632"/>
            <a:ext cx="292608" cy="292608"/>
          </a:xfrm>
          <a:prstGeom prst="ellipse">
            <a:avLst/>
          </a:prstGeom>
          <a:solidFill>
            <a:srgbClr val="28B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94360" y="2788920"/>
            <a:ext cx="292608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14984" y="2752344"/>
            <a:ext cx="10597896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FFFFFF"/>
                </a:solidFill>
                <a:latin typeface="Aptos"/>
              </a:rPr>
              <a:t>When distance is zero, displacement is not zero.</a:t>
            </a:r>
          </a:p>
        </p:txBody>
      </p:sp>
      <p:sp>
        <p:nvSpPr>
          <p:cNvPr id="17" name="Oval 16"/>
          <p:cNvSpPr/>
          <p:nvPr/>
        </p:nvSpPr>
        <p:spPr>
          <a:xfrm>
            <a:off x="594360" y="3246120"/>
            <a:ext cx="292608" cy="292608"/>
          </a:xfrm>
          <a:prstGeom prst="ellipse">
            <a:avLst/>
          </a:prstGeom>
          <a:solidFill>
            <a:srgbClr val="28B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94360" y="3264408"/>
            <a:ext cx="292608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14984" y="3227832"/>
            <a:ext cx="10597896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FFFFFF"/>
                </a:solidFill>
                <a:latin typeface="Aptos"/>
              </a:rPr>
              <a:t>Distance travelled and displacement are always equal.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4360" y="4096511"/>
            <a:ext cx="110185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FF9E40"/>
                </a:solidFill>
                <a:latin typeface="Aptos"/>
              </a:rPr>
              <a:t>Option 1 can happen (round trip) but is not always true. Option 3 is impossible.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5AD6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FFFFFF"/>
                </a:solidFill>
                <a:latin typeface="Aptos"/>
              </a:rPr>
              <a:t>ANSWER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40" b="1">
                <a:solidFill>
                  <a:srgbClr val="FFD646"/>
                </a:solidFill>
                <a:latin typeface="Aptos"/>
              </a:rPr>
              <a:t>Solution: MCQ — correct statement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90" b="1">
                <a:solidFill>
                  <a:srgbClr val="B0B6C0"/>
                </a:solidFill>
                <a:latin typeface="Aptos"/>
              </a:rPr>
              <a:t>44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FFFFFF"/>
                </a:solidFill>
                <a:latin typeface="Aptos"/>
              </a:rPr>
              <a:t>Idea: none of 2–4 are always true. The useful lock line is: displacement zero does not force distance zero.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2039112"/>
            <a:ext cx="1101852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FFFFFF"/>
                </a:solidFill>
                <a:latin typeface="Aptos"/>
              </a:rPr>
              <a:t>Best teaching answer from the logic table: if displacement = 0, distance may or may not be zero. Statement 1 describes a possible case (return trip).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3364991"/>
            <a:ext cx="110185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20" b="1">
                <a:solidFill>
                  <a:srgbClr val="5AD680"/>
                </a:solidFill>
                <a:latin typeface="Aptos"/>
              </a:rPr>
              <a:t>Focus: zero displacement ⇏ zero distance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409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FFFFFF"/>
                </a:solidFill>
                <a:latin typeface="Aptos"/>
              </a:rPr>
              <a:t>EXAMPLE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40" b="1">
                <a:solidFill>
                  <a:srgbClr val="FFD646"/>
                </a:solidFill>
                <a:latin typeface="Aptos"/>
              </a:rPr>
              <a:t>East–South–North-West walk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90" b="1">
                <a:solidFill>
                  <a:srgbClr val="B0B6C0"/>
                </a:solidFill>
                <a:latin typeface="Aptos"/>
              </a:rPr>
              <a:t>45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FFFFFF"/>
                </a:solidFill>
                <a:latin typeface="Aptos"/>
              </a:rPr>
              <a:t>Walk 10 m east, then 20 m south, then 20√2 m north-west. Find displacement.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926080" y="4389120"/>
            <a:ext cx="1828800" cy="0"/>
          </a:xfrm>
          <a:prstGeom prst="line">
            <a:avLst/>
          </a:prstGeom>
          <a:ln w="30480">
            <a:solidFill>
              <a:srgbClr val="FF9E4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3474720" y="4526280"/>
            <a:ext cx="914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FF9E40"/>
                </a:solidFill>
                <a:latin typeface="Aptos"/>
              </a:rPr>
              <a:t>10 E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4754880" y="4389120"/>
            <a:ext cx="0" cy="1828800"/>
          </a:xfrm>
          <a:prstGeom prst="line">
            <a:avLst/>
          </a:prstGeom>
          <a:ln w="30480">
            <a:solidFill>
              <a:srgbClr val="FF9E4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4892040" y="5120640"/>
            <a:ext cx="914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FF9E40"/>
                </a:solidFill>
                <a:latin typeface="Aptos"/>
              </a:rPr>
              <a:t>20 S</a:t>
            </a:r>
          </a:p>
        </p:txBody>
      </p:sp>
      <p:cxnSp>
        <p:nvCxnSpPr>
          <p:cNvPr id="12" name="Connector 11"/>
          <p:cNvCxnSpPr/>
          <p:nvPr/>
        </p:nvCxnSpPr>
        <p:spPr>
          <a:xfrm flipH="1" flipV="1">
            <a:off x="2926080" y="4389120"/>
            <a:ext cx="1828800" cy="1828800"/>
          </a:xfrm>
          <a:prstGeom prst="line">
            <a:avLst/>
          </a:prstGeom>
          <a:ln w="30480">
            <a:solidFill>
              <a:srgbClr val="FFD646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3200400" y="5760720"/>
            <a:ext cx="14630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FFD646"/>
                </a:solidFill>
                <a:latin typeface="Aptos"/>
              </a:rPr>
              <a:t>20√2 NW</a:t>
            </a:r>
          </a:p>
        </p:txBody>
      </p:sp>
      <p:cxnSp>
        <p:nvCxnSpPr>
          <p:cNvPr id="14" name="Connector 13"/>
          <p:cNvCxnSpPr/>
          <p:nvPr/>
        </p:nvCxnSpPr>
        <p:spPr>
          <a:xfrm flipH="1">
            <a:off x="1554480" y="4389120"/>
            <a:ext cx="1371600" cy="0"/>
          </a:xfrm>
          <a:prstGeom prst="line">
            <a:avLst/>
          </a:prstGeom>
          <a:ln w="35560">
            <a:solidFill>
              <a:srgbClr val="5AD68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1554480" y="4023359"/>
            <a:ext cx="10972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5AD680"/>
                </a:solidFill>
                <a:latin typeface="Aptos"/>
              </a:rPr>
              <a:t>10 W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2011680"/>
            <a:ext cx="502920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70" b="1">
                <a:solidFill>
                  <a:srgbClr val="5AC8FF"/>
                </a:solidFill>
                <a:latin typeface="Aptos"/>
              </a:rPr>
              <a:t>NW step = 20√2 × (−î + ĵ)/√2 = −20 î + 20 ĵ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2560320"/>
            <a:ext cx="502920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60" b="1">
                <a:solidFill>
                  <a:srgbClr val="5AC8FF"/>
                </a:solidFill>
                <a:latin typeface="Aptos"/>
              </a:rPr>
              <a:t>Net = 10î − 20ĵ − 20î + 20ĵ = −10 î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3657600"/>
            <a:ext cx="5029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20" b="1">
                <a:solidFill>
                  <a:srgbClr val="5AD680"/>
                </a:solidFill>
                <a:latin typeface="Aptos"/>
              </a:rPr>
              <a:t>Displacement = 10 m due west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28B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FFFFFF"/>
                </a:solidFill>
                <a:latin typeface="Aptos"/>
              </a:rPr>
              <a:t>EXAMPLE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40" b="1">
                <a:solidFill>
                  <a:srgbClr val="FFD646"/>
                </a:solidFill>
                <a:latin typeface="Aptos"/>
              </a:rPr>
              <a:t>Curved path on a slope (2, 4) → (8, 10)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90" b="1">
                <a:solidFill>
                  <a:srgbClr val="B0B6C0"/>
                </a:solidFill>
                <a:latin typeface="Aptos"/>
              </a:rPr>
              <a:t>46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FFFFFF"/>
                </a:solidFill>
                <a:latin typeface="Aptos"/>
              </a:rPr>
              <a:t>Object moves from (2, 4) to (8, 10) along a curved path on a line. Path length may be unknown; displacement is not.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1097280" y="5394960"/>
            <a:ext cx="5029200" cy="0"/>
          </a:xfrm>
          <a:prstGeom prst="line">
            <a:avLst/>
          </a:prstGeom>
          <a:ln w="17780">
            <a:solidFill>
              <a:srgbClr val="B0B6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1097280" y="2194560"/>
            <a:ext cx="0" cy="3200400"/>
          </a:xfrm>
          <a:prstGeom prst="line">
            <a:avLst/>
          </a:prstGeom>
          <a:ln w="17780">
            <a:solidFill>
              <a:srgbClr val="B0B6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5961888" y="5440680"/>
            <a:ext cx="3200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B0B6C0"/>
                </a:solidFill>
                <a:latin typeface="Aptos"/>
              </a:rPr>
              <a:t>x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61288" y="2194560"/>
            <a:ext cx="4114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B0B6C0"/>
                </a:solidFill>
                <a:latin typeface="Aptos"/>
              </a:rPr>
              <a:t>y</a:t>
            </a:r>
          </a:p>
        </p:txBody>
      </p:sp>
      <p:sp>
        <p:nvSpPr>
          <p:cNvPr id="12" name="Oval 11"/>
          <p:cNvSpPr/>
          <p:nvPr/>
        </p:nvSpPr>
        <p:spPr>
          <a:xfrm>
            <a:off x="2061972" y="4287012"/>
            <a:ext cx="82296" cy="82296"/>
          </a:xfrm>
          <a:prstGeom prst="ellipse">
            <a:avLst/>
          </a:prstGeom>
          <a:solidFill>
            <a:srgbClr val="5AD6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645919" y="4465320"/>
            <a:ext cx="914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D680"/>
                </a:solidFill>
                <a:latin typeface="Aptos"/>
              </a:rPr>
              <a:t>(2, 4)</a:t>
            </a:r>
          </a:p>
        </p:txBody>
      </p:sp>
      <p:sp>
        <p:nvSpPr>
          <p:cNvPr id="14" name="Oval 13"/>
          <p:cNvSpPr/>
          <p:nvPr/>
        </p:nvSpPr>
        <p:spPr>
          <a:xfrm>
            <a:off x="5079492" y="2686812"/>
            <a:ext cx="82296" cy="82296"/>
          </a:xfrm>
          <a:prstGeom prst="ellipse">
            <a:avLst/>
          </a:prstGeom>
          <a:solidFill>
            <a:srgbClr val="FFD6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846320" y="2362200"/>
            <a:ext cx="10058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FFD646"/>
                </a:solidFill>
                <a:latin typeface="Aptos"/>
              </a:rPr>
              <a:t>(8, 10)</a:t>
            </a:r>
          </a:p>
        </p:txBody>
      </p:sp>
      <p:cxnSp>
        <p:nvCxnSpPr>
          <p:cNvPr id="16" name="Connector 15"/>
          <p:cNvCxnSpPr/>
          <p:nvPr/>
        </p:nvCxnSpPr>
        <p:spPr>
          <a:xfrm flipV="1">
            <a:off x="2103120" y="3528060"/>
            <a:ext cx="1005840" cy="800100"/>
          </a:xfrm>
          <a:prstGeom prst="line">
            <a:avLst/>
          </a:prstGeom>
          <a:ln w="27940">
            <a:solidFill>
              <a:srgbClr val="FF9E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 flipV="1">
            <a:off x="3108960" y="3128010"/>
            <a:ext cx="1005840" cy="400050"/>
          </a:xfrm>
          <a:prstGeom prst="line">
            <a:avLst/>
          </a:prstGeom>
          <a:ln w="27940">
            <a:solidFill>
              <a:srgbClr val="FF9E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 flipV="1">
            <a:off x="4114800" y="2727960"/>
            <a:ext cx="1005840" cy="400050"/>
          </a:xfrm>
          <a:prstGeom prst="line">
            <a:avLst/>
          </a:prstGeom>
          <a:ln w="27940">
            <a:solidFill>
              <a:srgbClr val="FF9E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 flipV="1">
            <a:off x="2103120" y="2727960"/>
            <a:ext cx="3017520" cy="1600200"/>
          </a:xfrm>
          <a:prstGeom prst="line">
            <a:avLst/>
          </a:prstGeom>
          <a:ln w="30480">
            <a:solidFill>
              <a:srgbClr val="5AD68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6675120" y="2377440"/>
            <a:ext cx="48463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60" b="1">
                <a:solidFill>
                  <a:srgbClr val="5AC8FF"/>
                </a:solidFill>
                <a:latin typeface="Aptos"/>
              </a:rPr>
              <a:t>Δr = (8î+10ĵ) − (2î+4ĵ) = 6î + 6ĵ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75120" y="2926080"/>
            <a:ext cx="48463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5AC8FF"/>
                </a:solidFill>
                <a:latin typeface="Aptos"/>
              </a:rPr>
              <a:t>|Δr| = 6√2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5AD6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FFFFFF"/>
                </a:solidFill>
                <a:latin typeface="Aptos"/>
              </a:rPr>
              <a:t>LOCK LINES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40" b="1">
                <a:solidFill>
                  <a:srgbClr val="FFD646"/>
                </a:solidFill>
                <a:latin typeface="Aptos"/>
              </a:rPr>
              <a:t>Say these aloud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90" b="1">
                <a:solidFill>
                  <a:srgbClr val="B0B6C0"/>
                </a:solidFill>
                <a:latin typeface="Aptos"/>
              </a:rPr>
              <a:t>47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FFFFFF"/>
                </a:solidFill>
                <a:latin typeface="Aptos"/>
              </a:rPr>
              <a:t>•  Frame first — every observation needs a reference.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554480"/>
            <a:ext cx="11018520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FFFFFF"/>
                </a:solidFill>
                <a:latin typeface="Aptos"/>
              </a:rPr>
              <a:t>•  Observer assumes he is at rest with respect to himself.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029967"/>
            <a:ext cx="11018520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FFFFFF"/>
                </a:solidFill>
                <a:latin typeface="Aptos"/>
              </a:rPr>
              <a:t>•  Position changes with time → motion; else rest (in that frame).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2505456"/>
            <a:ext cx="11018520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FFFFFF"/>
                </a:solidFill>
                <a:latin typeface="Aptos"/>
              </a:rPr>
              <a:t>•  Distance = path length (scalar). Displacement = r</a:t>
            </a:r>
            <a:r>
              <a:rPr sz="1600" b="0">
                <a:solidFill>
                  <a:srgbClr val="FFFFFF"/>
                </a:solidFill>
                <a:latin typeface="Aptos"/>
                <a:baseline val="-25000"/>
              </a:rPr>
              <a:t>f</a:t>
            </a:r>
            <a:r>
              <a:rPr sz="1600" b="0">
                <a:solidFill>
                  <a:srgbClr val="FFFFFF"/>
                </a:solidFill>
                <a:latin typeface="Aptos"/>
              </a:rPr>
              <a:t> − rᵢ (vector).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2999232"/>
            <a:ext cx="11018520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FFFFFF"/>
                </a:solidFill>
                <a:latin typeface="Aptos"/>
              </a:rPr>
              <a:t>•  Always: distance ≥ |displacement|. Never the reverse.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3474720"/>
            <a:ext cx="11018520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FFFFFF"/>
                </a:solidFill>
                <a:latin typeface="Aptos"/>
              </a:rPr>
              <a:t>•  Same start and end → displacement = 0 (distance may still be large).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3968496"/>
            <a:ext cx="11018520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FFFFFF"/>
                </a:solidFill>
                <a:latin typeface="Aptos"/>
              </a:rPr>
              <a:t>•  No turn in 1-D → |displacement| = distance.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94360" y="4599432"/>
            <a:ext cx="11018520" cy="822960"/>
          </a:xfrm>
          <a:prstGeom prst="rect">
            <a:avLst/>
          </a:prstGeom>
          <a:solidFill>
            <a:srgbClr val="FFF8E1"/>
          </a:solidFill>
          <a:ln w="19050">
            <a:solidFill>
              <a:srgbClr val="DAA8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58952" y="4745736"/>
            <a:ext cx="10689336" cy="5303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60" b="1">
                <a:solidFill>
                  <a:srgbClr val="081E3F"/>
                </a:solidFill>
                <a:latin typeface="Aptos"/>
              </a:rPr>
              <a:t>Next: deeper distance–displacement practice (PW 02).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B0B6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FFFFFF"/>
                </a:solidFill>
                <a:latin typeface="Aptos"/>
              </a:rPr>
              <a:t>ROUGH WORK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980" b="1">
                <a:solidFill>
                  <a:srgbClr val="FFD646"/>
                </a:solidFill>
                <a:latin typeface="Aptos"/>
              </a:rPr>
              <a:t>Rough work  /  extra work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90" b="1">
                <a:solidFill>
                  <a:srgbClr val="B0B6C0"/>
                </a:solidFill>
                <a:latin typeface="Aptos"/>
              </a:rPr>
              <a:t>48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FFD6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FFFFFF"/>
                </a:solidFill>
                <a:latin typeface="Aptos"/>
              </a:rPr>
              <a:t>END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35508" y="2235708"/>
            <a:ext cx="1101852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4800" b="1">
                <a:solidFill>
                  <a:srgbClr val="787882"/>
                </a:solidFill>
                <a:latin typeface="Arial Black"/>
              </a:rPr>
              <a:t>Thank you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2194560"/>
            <a:ext cx="1101852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4800" b="1">
                <a:solidFill>
                  <a:srgbClr val="FFD646"/>
                </a:solidFill>
                <a:latin typeface="Arial Black"/>
              </a:rPr>
              <a:t>Thank you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3383280"/>
            <a:ext cx="110185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B0B6C0"/>
                </a:solidFill>
                <a:latin typeface="Aptos"/>
              </a:rPr>
              <a:t>Excellence  ·  Motion 01  ·  Frame · Rest–Motion · Distance · Displacement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90" b="1">
                <a:solidFill>
                  <a:srgbClr val="B0B6C0"/>
                </a:solidFill>
                <a:latin typeface="Aptos"/>
              </a:rPr>
              <a:t>49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