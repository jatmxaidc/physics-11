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recap, then continue with higher derivatives and the chain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recap to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Higher Derivatives, Chain Rule and Partial Differentiation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16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Product and quotient rule continuation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9222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92224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5-minute differentiation recap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0545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05456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Higher-order derivatives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18687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18687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Chain rule: function inside a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931920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S.H.M.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4515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4515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Partial differentiation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358383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358383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Parametric and reciprocal derivatives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Product and quotient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D646"/>
                </a:solidFill>
                <a:latin typeface="Aptos"/>
              </a:rPr>
              <a:t>PRODUCT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90472"/>
            <a:ext cx="5257800" cy="98755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36775"/>
            <a:ext cx="4928616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d(AB)/dx = A dB/dx + B dA/dx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1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Differentiate one factor at a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078992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D646"/>
                </a:solidFill>
                <a:latin typeface="Aptos"/>
              </a:rPr>
              <a:t>QUOTIENT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490472"/>
            <a:ext cx="5257800" cy="987552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636775"/>
            <a:ext cx="4928616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081E3F"/>
                </a:solidFill>
                <a:latin typeface="Aptos"/>
              </a:rPr>
              <a:t>d(A/B)/dx = (B dA/dx - A dB/dx)/B²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79191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Keep the denominator squared.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For a quotient, remember: denominator × derivative of numerator minus numerator × derivative of denominator.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Differentiate a simple polynomial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For y = 4x³-5x²+2x-7, find dy/dx.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Differentiate a simple polynomial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d(4x³)/dx = 12x²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d(-5x²)/dx = -10x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3:  d(2x)/dx = 2 and d(-7)/dx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12x²-10x+2.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Product-rule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Differentiate y = tan x · logₑx.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Product-rule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Use d(AB)/dx = A dB/dx + B dA/dx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d(tan x)/dx = sec²x and d(logₑx)/dx = 1/x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tan x/x + logₑx·sec²x.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Stationary-point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y = A/x³-B/x⁴, find x for which dy/dx = 0. Assume A and B are non-zero constants.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Stationary-point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Write y = Ax⁻³-Bx⁻⁴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dy/dx = -3Ax⁻⁴+4Bx⁻⁵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Set zero and multiply by x⁵: -3Ax+4B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 = 4B/(3A).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Quotient-rule practice: exponential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Differentiate y = eˣ/x², where x≠0.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Quotient-rule practice: exponential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Take A = eˣ and B = x²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dy/dx = [x²eˣ-eˣ(2x)]/x⁴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Factor eˣ x from the numerator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eˣ(x-2)/x³.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Quotient-rule practice: algebraic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Differentiate y = (x²-1)/(x²+1).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Quotient-rule practice: algebraic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Use the quotient rule with A = x²-1 and B = x²+1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dy/dx = [(x²+1)(2x)-(x²-1)(2x)]/(x²+1)²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The numerator becomes 2x[(x²+1)-(x²-1)] = 4x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4x/(x²+1)².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Mixed trigonometric-algebraic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Differentiate y = cos x+2/x³, where x≠0.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Mixed trigonometric-algebraic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Write 2/x³ as 2x⁻³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d(cos x)/dx = -sin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3:  d(2x⁻³)/dx = -6x⁻⁴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-sin x-6/x⁴.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Simplify before differentiating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Differentiate y = (√(x)+1/√(x))² for x &gt; 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Simplify before differentiating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Expand first: y = x+2+1/x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Write 1/x as x⁻¹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3:  dy/dx = 1+0-x⁻²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1-1/x².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5-MINUTE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Differentiation formula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78992"/>
            <a:ext cx="3977639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82496" y="1078992"/>
            <a:ext cx="39044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Function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59" y="1078992"/>
            <a:ext cx="489204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0136" y="1078992"/>
            <a:ext cx="481888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Derivative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1645919"/>
            <a:ext cx="3977639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496" y="1645919"/>
            <a:ext cx="39044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59" y="1645919"/>
            <a:ext cx="489204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0136" y="1645919"/>
            <a:ext cx="481888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2212848"/>
            <a:ext cx="3977639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82496" y="2212848"/>
            <a:ext cx="39044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xⁿ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3559" y="2212848"/>
            <a:ext cx="489204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0136" y="2212848"/>
            <a:ext cx="481888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nxⁿ⁻¹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2779776"/>
            <a:ext cx="3977639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82496" y="2779776"/>
            <a:ext cx="39044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sin 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59" y="2779776"/>
            <a:ext cx="489204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0136" y="2779776"/>
            <a:ext cx="481888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cos 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0" y="3346703"/>
            <a:ext cx="3977639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82496" y="3346703"/>
            <a:ext cx="39044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cos 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23559" y="3346703"/>
            <a:ext cx="489204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0136" y="3346703"/>
            <a:ext cx="481888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-sin 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0" y="3913631"/>
            <a:ext cx="3977639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82496" y="3913631"/>
            <a:ext cx="39044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eˣ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559" y="3913631"/>
            <a:ext cx="489204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0136" y="3913631"/>
            <a:ext cx="481888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eˣ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0" y="4480560"/>
            <a:ext cx="3977639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82496" y="4480560"/>
            <a:ext cx="39044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logₑx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23559" y="4480560"/>
            <a:ext cx="489204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0136" y="4480560"/>
            <a:ext cx="481888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321808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Use radians for trigonometric derivatives.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5-MINUTE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Rules used in the last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constant multiple: d[kf]/dx = kf'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sum or difference: differentiate each term separately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product: d(AB)/dx = A B' + B A'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quotient: d(A/B)/dx = (B A' - A B')/B²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Before differentiating, simplify powers and fractions whenever possible.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Recap check: slope at a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For y = x³-5x+x², find dy/dx at x = 1.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Recap check: slope at a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dy/dx = 3x²-5+2x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At x = 1: dy/dx = 3-5+2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Slope at x = 1 is 0.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Higher-order derivatives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Differentiate y once to get the first derivative.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19072"/>
            <a:ext cx="11018520" cy="786384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65376"/>
            <a:ext cx="1068933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70" b="1">
                <a:solidFill>
                  <a:srgbClr val="081E3F"/>
                </a:solidFill>
                <a:latin typeface="Aptos"/>
              </a:rPr>
              <a:t>first derivative: dy/dx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06624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Differentiate the first derivative again to get the second derivative.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401568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547872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second derivative: d²y/dx² = d/dx(dy/dx)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89704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Continue in the same way for d³y/dx³, d⁴y/dx⁴ and higher orders.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Meaning of the second derivative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first derivative measures how y changes with 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00784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second derivative measures how that first derivative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position x(t) → velocity v = dx/dt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54096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velocity v(t) → acceleration a = dv/dt = d²x/dt²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40480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For a graph, the second derivative helps describe its curvature.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Repeated derivatives of sin 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y = sin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dy/dx = cos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d²y/dx² = -sin 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d³y/dx³ = -cos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d⁴y/dx⁴ = sin 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2219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The derivatives repeat after every four differentiations.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Higher derivatives: mixed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For y = 4x³+3sin x-4eˣ, find the first four derivatives.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Higher derivatives: mixed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dy/dx = 12x²+3cos x-4eˣ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d²y/dx² = 24x-3sin x-4eˣ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d³y/dx³ = 24-3cos x-4eˣ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d⁴y/dx⁴ = 3sin x-4eˣ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Higher derivatives: polynomial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For y = x⁵+2x⁴+3x³+4x²+5x+6, find derivatives up to d⁴y/dx⁴.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Higher derivatives: polynomial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dy/dx = 5x⁴+8x³+9x²+8x+5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d²y/dx² = 20x³+24x²+18x+8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d³y/dx³ = 60x²+48x+18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4:  d⁴y/dx⁴ = 120x+48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Chain rule: a function inside a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Use the chain rule when one function is placed inside another.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sin(x³): sine outside, x³ inside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39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eˢⁱⁿˣ: exponential outside, sin x inside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62656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(2x+3)⁵: fifth power outside, 2x+3 inside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67328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Product rule is for multiplied functions. Chain rule is for nested functions.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Outside–inside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Let y = f(u) and u = g(x). Differentiate in two stages.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92224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38528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81E3F"/>
                </a:solidFill>
                <a:latin typeface="Aptos"/>
              </a:rPr>
              <a:t>dy/dx = (dy/du)(du/dx)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44368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Step 1: Differentiate the outer function, keeping the inner expression unchanged.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3931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Step 2: Multiply by the derivative of the inner expression.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8912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d[f(g(x))]/dx = f'(g(x))g'(x)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WORKED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Recognising the inner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D646"/>
                </a:solidFill>
                <a:latin typeface="Aptos"/>
              </a:rPr>
              <a:t>y = sin(x³)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19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dy/dx = cos(x³)·3x²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0789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D646"/>
                </a:solidFill>
                <a:latin typeface="Aptos"/>
              </a:rPr>
              <a:t>y = cos(eˣ)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45919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dy/dx = -sin(eˣ)·eˣ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AC8FF"/>
                </a:solidFill>
                <a:latin typeface="Aptos"/>
              </a:rPr>
              <a:t>Outer derivative keeps the inner expression as it 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236976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383280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outer derivative × inner derivative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Chain rule: trigonometric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Differentiate y = sin(2x³+4).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Chain rule: trigonometric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Outer derivative: cos(2x³+4)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Inner derivative: d(2x³+4)/dx = 6x²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6x²cos(2x³+4).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Chain rule: exponential of x²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Differentiate y = eˣ².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Chain rule: exponential of x²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Outer function eᵘ differentiates to eᵘ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Inner function u = x² has du/dx = 2x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2x eˣ².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Chain rule: exponential of sin 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Differentiate y = eˢⁱⁿˣ.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Chain rule: exponential of sin 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Outer derivative: eˢⁱⁿˣ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Inner derivative: d(sin x)/dx = cos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eˢⁱⁿˣ cos x.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Chain rule: power of a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Differentiate y = (x²+2x)³.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Chain rule: power of a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Keep the inner expression: 3(x²+2x)²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Differentiate inside: d(x²+2x)/dx = 2x+2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3(x²+2x)²(2x+2).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Chain rule: linear expression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Differentiate y = (2x+3)⁵.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Chain rule: linear expression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Outer derivative: 5(2x+3)⁴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Inner derivative: d(2x+3)/dx =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10(2x+3)⁴.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Chain rule: logarithm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Differentiate y = logₑ(sin x).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Chain rule: logarithm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For logₑu: derivative = (1/u)(du/dx)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u = sin x and du/dx = cos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cos x/sin x = cot x.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Chain rule: sine of a logarithm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Differentiate y = sin(logₑx), where x &gt; 0.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Chain rule: sine of a logarithm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Outer derivative: cos(logₑx)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Inner derivative: d(logₑx)/dx = 1/x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cos(logₑx)/x.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Chain rule: square root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Differentiate y = √(x+4), where x &gt; -4.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Chain rule: square root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Write y = (x+4)¹ᐟ²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dy/dx = (1/2)(x+4)⁻¹ᐟ²·1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1/[2√(x+4)].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Chain rule: square of 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Differentiate y = sin²x.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Chain rule: square of 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Treat y = (sin x)²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dy/dx = 2sin x·cos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sin(2x).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Nested chain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Differentiate y = eˢⁱⁿ⁽ˣ³⁾.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Nested chain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Differentiate eᵘ: eᵘ·du/dx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For u = sin(x³): du/dx = cos(x³)·3x²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3x² eˢⁱⁿ⁽ˣ³⁾ cos(x³).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PHYSICS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S.H.M. differential equation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For displacement y = A sin(ωt), differentiate with respect to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73936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dy/dt = Aωcos(ωt)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d²y/dt² = -Aω²sin(ωt)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72384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Since y = A sin(ωt), replace A sin(ωt) by 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749039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895344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d²y/dt² = -ω²y     or     d²y/dt²+ω²y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901183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Acceleration is opposite to displacement: a = -ω²y.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Partial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Some physical quantities depend on more than one independent variable.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5AC8FF"/>
                </a:solidFill>
                <a:latin typeface="Aptos"/>
              </a:rPr>
              <a:t>V = V(x, y, 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0545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partial derivative measures change with respect to one variable while the others are held constant.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383280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529584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81E3F"/>
                </a:solidFill>
                <a:latin typeface="Aptos"/>
              </a:rPr>
              <a:t>∂V/∂x, ∂V/∂y, ∂V/∂z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Hold the other variables constant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To find ∂V/∂x, treat y and z as constants.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82495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To find ∂V/∂y, treat x and z as constants.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To find ∂V/∂z, treat x and y as constants.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7238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If V = x²y, then ∂V/∂x = 2xy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60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For the same V, ∂V/∂y = x²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25696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The symbol ∂ is used because only one variable changes at a time.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Partial derivatives of three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For V = x²y²z⁴, find ∂V/∂x, ∂V/∂y and ∂V/∂z.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Partial derivatives of three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∂V/∂x = 2xy²z⁴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∂V/∂y = 2x²yz⁴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3:  ∂V/∂z = 4x²y²z³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Differentiate one variable; keep the other factors unchanged.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Parametric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Sometimes x and y are both written in terms of a third variable 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5AC8FF"/>
                </a:solidFill>
                <a:latin typeface="Aptos"/>
              </a:rPr>
              <a:t>x = f(t), y = g(t)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05456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Differentiate each equation with respect to t, then divide.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218687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364991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dy/dx = (dy/dt)/(dx/dt), provided dx/dt≠0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Reciprocal derivative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dy/dx is known and non-zero, reverse it to obtain dx/dy.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47088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93392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81E3F"/>
                </a:solidFill>
                <a:latin typeface="Aptos"/>
              </a:rPr>
              <a:t>dx/dy = 1/(dy/dx)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35808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This is useful when the question asks for x changing with y instead of y changing with 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58768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The reciprocal rule needs dy/dx≠0.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Parametric derivative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If y = 2t³+1 and x = t², find dy/dx.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Parametric derivative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dy/dt = 6t²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dx/dt = 2t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3:  dy/dx = (6t²)/(2t)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3t, for t≠0.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Reciprocal derivative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If y = sin u and u = 3x, find dx/dy.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Reciprocal derivative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dy/du = cos u and du/dx =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dy/dx = 3cos u = 3cos(3x)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3:  Take the reciprocal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dx/dy = 1/[3cos(3x)], where cos(3x)≠0.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Slope using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Find the slope of y = 3x²+5x-4 at x = 1.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Slope using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dy/dx = 6x+5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At x = 1: slope = 6(1)+5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Slope = 11.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trigonometric chain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Differentiate y = A cos(kx), where A and k are constants.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trigonometric chain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Outer derivative: -A sin(kx)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Inner derivative: d(kx)/dx =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-Ak sin(kx).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exponential chain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Differentiate y = 5e³ˣ.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exponential chain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Keep 5 outside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d(e³ˣ)/dx = e³ˣ·3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15e³ˣ.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negative exponent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Differentiate y = e⁻ˣ.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negative exponent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Outer derivative remains e⁻ˣ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Inner derivative: d(-x)/dx = 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-e⁻ˣ.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nested 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Differentiate y = 3sin(x²+2).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nested 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Keep 3 outside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Outer derivative: cos(x²+2)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3:  Inner derivative: d(x²+2)/dx = 2x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6x cos(x²+2).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Higher differentiation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differentiate again to obtain d²y/dx², d³y/dx³,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chain rule: outer derivative × inner derivative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S.H.M.: d²y/dt² = -ω²y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partial derivative: change one variable, hold the others constant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parametric: dy/dx = (dy/dt)/(dx/dt)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Redo all chain-rule questions without seeing the solutions.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Write the first four derivatives of sin x and cos 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Prove the S.H.M. differential equation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9923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Practise one partial and one parametric derivative.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40480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For nested functions, never forget the derivative of the inside.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