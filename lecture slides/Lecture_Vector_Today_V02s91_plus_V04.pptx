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</p:sldIdLst>
  <p:sldSz cx="1219136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bleStyles" Target="tableStyles.xml"/><Relationship Id="rId96" Type="http://schemas.openxmlformats.org/officeDocument/2006/relationships/viewProps" Target="viewProps.xml"/><Relationship Id="rId95" Type="http://schemas.openxmlformats.org/officeDocument/2006/relationships/presProps" Target="presProps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notesMaster" Target="notesMasters/notesMaster1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Empty board for extra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Adding by components is adding columns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x-parts combine with x-parts. The y-parts combine with y-parts. This is the cleanest method for many vectors.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005840" y="3836822"/>
            <a:ext cx="429768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724912" y="1874519"/>
            <a:ext cx="0" cy="3383281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57800" y="389168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98064" y="1874519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2724912" y="2785262"/>
            <a:ext cx="1645920" cy="105156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21024" y="305501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370832" y="2785262"/>
            <a:ext cx="0" cy="105156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24912" y="3836822"/>
            <a:ext cx="1645920" cy="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24912" y="3836822"/>
            <a:ext cx="1143000" cy="13258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69564" y="424373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 flipV="1">
            <a:off x="3867912" y="3836822"/>
            <a:ext cx="0" cy="1325880"/>
          </a:xfrm>
          <a:prstGeom prst="line">
            <a:avLst/>
          </a:prstGeom>
          <a:ln w="152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24912" y="3836822"/>
            <a:ext cx="1143000" cy="0"/>
          </a:xfrm>
          <a:prstGeom prst="line">
            <a:avLst/>
          </a:prstGeom>
          <a:ln w="1524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35040" y="1920240"/>
            <a:ext cx="49834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2066544"/>
            <a:ext cx="465429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A + B = (Aₓ + Bₓ) î + (Aᵧ + Bᵧ) ĵ</a:t>
            </a:r>
            <a:endParaRPr sz="171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35040" y="3246120"/>
            <a:ext cx="49834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35584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Column idea</a:t>
            </a:r>
            <a:endParaRPr sz="1500" b="1">
              <a:solidFill>
                <a:srgbClr val="28B4BE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72200" y="3685031"/>
            <a:ext cx="470916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x-column decides left-right. y-column decides up-down.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35040" y="4572000"/>
            <a:ext cx="4983480" cy="105156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68172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3D same rule</a:t>
            </a:r>
            <a:endParaRPr sz="150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72200" y="5010912"/>
            <a:ext cx="470916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A + B = (Aₓ+Bₓ)î + (Aᵧ+Bᵧ)ĵ + (A_z+B_z)k̂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Add by components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4 î + 3 ĵ and B = 3 î - 4 ĵ. Find A + B, A - B, and |A| + |B|.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Add by components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+ B = 7 î - 1 ĵ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- B = 1 î + 7 ĵ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|A| = 5 and |B| = 5, so |A| + |B| = 10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Sum of magnitudes is 10. Magnitude of the sum is √50.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4326940"/>
            <a:ext cx="329184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60536" y="2788920"/>
            <a:ext cx="0" cy="265175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89919" y="438180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3688" y="278892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8860536" y="3366820"/>
            <a:ext cx="1325879" cy="96012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96628" y="35908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860536" y="4326940"/>
            <a:ext cx="1005840" cy="123444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436607" y="46881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8860536" y="4326940"/>
            <a:ext cx="1874519" cy="27432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870948" y="42080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A+B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Change in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Velocity changes from 10 m/s east to 10 m/s north. Find the change in velocity.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Change in velocity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Change = final - initial = 10 ĵ - 10 î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Magnitude = √(100 + 100) = 10 √2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10 √2 m/s, pointing north of west.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680960" y="4365345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24544" y="2880360"/>
            <a:ext cx="0" cy="256031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20209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97696" y="288036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924544" y="4365345"/>
            <a:ext cx="14173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06356" y="410931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vᵢ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8924544" y="2948025"/>
            <a:ext cx="0" cy="14173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97696" y="340065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vᶠ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8924544" y="2948025"/>
            <a:ext cx="1417320" cy="141732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06356" y="340065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Δv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Rotate 2 î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is rotated by 90°, 180°, 270° and 360° anticlockwise. Write each new vector.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Rotate 2 î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90°: 2 ĵ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180°: -2 î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270°: -2 ĵ.   360°: 2 î again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Rotation keeps the magnitude and changes only the direction.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4326940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924544" y="2788920"/>
            <a:ext cx="0" cy="2651759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44200" y="438180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97696" y="278892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924544" y="4326940"/>
            <a:ext cx="11430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69196" y="40709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0°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 flipV="1">
            <a:off x="8924544" y="3183940"/>
            <a:ext cx="0" cy="114300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97696" y="34994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90°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 flipH="1">
            <a:off x="7781544" y="4326940"/>
            <a:ext cx="1143000" cy="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26196" y="40709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180°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924544" y="4326940"/>
            <a:ext cx="0" cy="114300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97696" y="46424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270°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product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A · B = A B cos θ = Aₓ Bₓ + Aᵧ Bᵧ + A_z B_z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dot product is 0, the vectors are perpendicular.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cos θ = (A · B) / (A B). That is how the angle is found from components.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3192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Component of B along A = (A · B) / A.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· î = 1. î · ĵ = 0. The same rule holds for ĵ and k̂.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455371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unit vector dotted with itself is 1.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452360" y="4663440"/>
            <a:ext cx="21488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9932" y="440740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7452360" y="3383280"/>
            <a:ext cx="1371600" cy="12801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11312" y="37673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8823960" y="3383280"/>
            <a:ext cx="0" cy="128016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4663440"/>
            <a:ext cx="1371600" cy="0"/>
          </a:xfrm>
          <a:prstGeom prst="line">
            <a:avLst/>
          </a:prstGeom>
          <a:ln w="2540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477316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B cos θ</a:t>
            </a:r>
            <a:endParaRPr sz="13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03920" y="495604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projection of B along A</a:t>
            </a:r>
            <a:endParaRPr sz="130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product tells alignment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Dot product is positive when vectors face mostly the same way, zero at 90°, and negative when they face opposite way.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143000" y="2743200"/>
            <a:ext cx="16916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61972" y="24871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2057400"/>
            <a:ext cx="1463040" cy="68580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47672" y="21442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691478" y="2729901"/>
            <a:ext cx="162" cy="1329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1690995" y="2716611"/>
            <a:ext cx="483" cy="132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690189" y="2703336"/>
            <a:ext cx="806" cy="1327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1689062" y="2690085"/>
            <a:ext cx="1127" cy="1325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687615" y="2676865"/>
            <a:ext cx="1447" cy="1322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685847" y="2663684"/>
            <a:ext cx="1768" cy="1318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683760" y="2650550"/>
            <a:ext cx="2087" cy="1313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1681355" y="2637470"/>
            <a:ext cx="2405" cy="1308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678635" y="2624452"/>
            <a:ext cx="2720" cy="130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675599" y="2611504"/>
            <a:ext cx="3036" cy="1294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1672250" y="2598633"/>
            <a:ext cx="3349" cy="128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668591" y="2585848"/>
            <a:ext cx="3659" cy="1278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664623" y="2573155"/>
            <a:ext cx="3968" cy="126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660348" y="2560561"/>
            <a:ext cx="4275" cy="125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1655769" y="2548075"/>
            <a:ext cx="4579" cy="1248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650889" y="2535704"/>
            <a:ext cx="4880" cy="123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1645710" y="2523455"/>
            <a:ext cx="5179" cy="1224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640236" y="2511334"/>
            <a:ext cx="5474" cy="1212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50053" y="2608619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 &lt; 90°</a:t>
            </a:r>
            <a:endParaRPr sz="13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34440" y="3246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D680"/>
                </a:solidFill>
                <a:latin typeface="Aptos"/>
              </a:rPr>
              <a:t>A · B &gt; 0</a:t>
            </a:r>
            <a:endParaRPr sz="17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4892040" y="2971800"/>
            <a:ext cx="15544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42431" y="27157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34" name="Connector 33"/>
          <p:cNvCxnSpPr/>
          <p:nvPr/>
        </p:nvCxnSpPr>
        <p:spPr>
          <a:xfrm flipV="1">
            <a:off x="4892040" y="1463040"/>
            <a:ext cx="0" cy="15087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965192" y="19613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5438592" y="2923982"/>
            <a:ext cx="2087" cy="478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5432344" y="2876529"/>
            <a:ext cx="6248" cy="4745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5421985" y="2829801"/>
            <a:ext cx="10359" cy="467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5407592" y="2784154"/>
            <a:ext cx="14393" cy="456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5389276" y="2739934"/>
            <a:ext cx="18316" cy="4422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5367176" y="2697480"/>
            <a:ext cx="22100" cy="4245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5341459" y="2657113"/>
            <a:ext cx="25717" cy="4036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5312322" y="2619141"/>
            <a:ext cx="29137" cy="379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5279987" y="2583852"/>
            <a:ext cx="32335" cy="3528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5244698" y="2551517"/>
            <a:ext cx="35289" cy="3233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5206726" y="2522380"/>
            <a:ext cx="37972" cy="2913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5166359" y="2496663"/>
            <a:ext cx="40367" cy="2571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5123905" y="2474563"/>
            <a:ext cx="42454" cy="221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5079685" y="2456247"/>
            <a:ext cx="44220" cy="1831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5034038" y="2441854"/>
            <a:ext cx="45647" cy="1439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4987310" y="2431495"/>
            <a:ext cx="46728" cy="1035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4939857" y="2425247"/>
            <a:ext cx="47453" cy="624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4892040" y="2423160"/>
            <a:ext cx="47817" cy="208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331713" y="253212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90°</a:t>
            </a:r>
            <a:endParaRPr sz="13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92040" y="34290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AC8FF"/>
                </a:solidFill>
                <a:latin typeface="Aptos"/>
              </a:rPr>
              <a:t>A · B = 0</a:t>
            </a:r>
            <a:endParaRPr sz="17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366760" y="2743200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262872" y="24871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7178040" y="2011680"/>
            <a:ext cx="1188720" cy="7315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845552" y="21214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60" name="Connector 59"/>
          <p:cNvCxnSpPr/>
          <p:nvPr/>
        </p:nvCxnSpPr>
        <p:spPr>
          <a:xfrm flipH="1">
            <a:off x="7896982" y="2361152"/>
            <a:ext cx="14471" cy="1794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883217" y="2379094"/>
            <a:ext cx="13765" cy="184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870179" y="2397584"/>
            <a:ext cx="13038" cy="1900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857888" y="2416593"/>
            <a:ext cx="12291" cy="195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7846363" y="2436094"/>
            <a:ext cx="11525" cy="1996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7835620" y="2456057"/>
            <a:ext cx="10743" cy="203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7825676" y="2476451"/>
            <a:ext cx="9944" cy="2079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7816546" y="2497247"/>
            <a:ext cx="9130" cy="2116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7808244" y="2518413"/>
            <a:ext cx="8302" cy="2150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7800781" y="2539916"/>
            <a:ext cx="7463" cy="2181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7794170" y="2561726"/>
            <a:ext cx="6611" cy="2208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7788421" y="2583808"/>
            <a:ext cx="5749" cy="2232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7783541" y="2606131"/>
            <a:ext cx="4880" cy="225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779538" y="2628659"/>
            <a:ext cx="4003" cy="227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7776418" y="2651360"/>
            <a:ext cx="3120" cy="2283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7774187" y="2674199"/>
            <a:ext cx="2231" cy="2294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7772846" y="2697141"/>
            <a:ext cx="1341" cy="2301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7772400" y="2720153"/>
            <a:ext cx="446" cy="2304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739503" y="2514897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 &gt; 90°</a:t>
            </a:r>
            <a:endParaRPr sz="13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275320" y="3246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9E40"/>
                </a:solidFill>
                <a:latin typeface="Aptos"/>
              </a:rPr>
              <a:t>A · B &lt; 0</a:t>
            </a:r>
            <a:endParaRPr sz="17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566160" y="4754880"/>
            <a:ext cx="5029200" cy="9144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03320" y="486460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Why this matters</a:t>
            </a:r>
            <a:endParaRPr sz="1500" b="1">
              <a:solidFill>
                <a:srgbClr val="28B4BE"/>
              </a:solidFill>
              <a:latin typeface="Apto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703320" y="519379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It quickly tests perpendicular vectors and helps find the angle between two vectors.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 these two vectors perpendicular?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3 î + 4 ĵ + 5 k̂ and B = 3 î + 4 ĵ - 5 k̂. What is the angle between them?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 these two vectors perpendicular?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9 + 16 - 25 = 0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The angle is 90°.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with 4 î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+ 6 ĵ + 3 k̂ and B = 4 î. Find cos θ.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with 4 î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8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|A| = √(4 + 36 + 9) = 7 and |B| = 4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cos θ = 8 / 28 = 2/7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θ = cos⁻¹ of 2/7.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vectors from components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itself is already a unit vector.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is (î + ĵ) / √2.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- k̂ is (î + ĵ - k̂) / √3.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862072"/>
            <a:ext cx="11018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sin θ î - cos θ ĵ already has magnitude 1, because sin² + cos² = 1.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5478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3 î + 4 ĵ is (3 î + 4 ĵ) / 5.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 keeps direction and removes size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unit vector is only the direction of a vector. It has length 1 and no physical unit.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097280" y="3867912"/>
            <a:ext cx="438912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852928" y="2011680"/>
            <a:ext cx="0" cy="320040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40680" y="392277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26080" y="201168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2852928" y="2404872"/>
            <a:ext cx="2194560" cy="1463040"/>
          </a:xfrm>
          <a:prstGeom prst="line">
            <a:avLst/>
          </a:prstGeom>
          <a:ln w="3810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23360" y="2880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 flipV="1">
            <a:off x="2852928" y="3136392"/>
            <a:ext cx="1097280" cy="731520"/>
          </a:xfrm>
          <a:prstGeom prst="line">
            <a:avLst/>
          </a:prstGeom>
          <a:ln w="3048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74720" y="32461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Â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3950208" y="2404872"/>
            <a:ext cx="1097280" cy="731520"/>
          </a:xfrm>
          <a:prstGeom prst="line">
            <a:avLst/>
          </a:prstGeom>
          <a:ln w="1270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72200" y="2103120"/>
            <a:ext cx="420624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249424"/>
            <a:ext cx="387705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081E3F"/>
                </a:solidFill>
                <a:latin typeface="Aptos"/>
              </a:rPr>
              <a:t>Â = A / |A|</a:t>
            </a:r>
            <a:endParaRPr sz="234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72200" y="3474720"/>
            <a:ext cx="4206240" cy="11430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5AD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5844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D680"/>
                </a:solidFill>
                <a:latin typeface="Aptos"/>
              </a:rPr>
              <a:t>Example</a:t>
            </a:r>
            <a:endParaRPr sz="1500" b="1">
              <a:solidFill>
                <a:srgbClr val="5AD68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3913631"/>
            <a:ext cx="393192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For A = 3î + 4ĵ, |A| = 5, so Â = (3î + 4ĵ)/5.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72200" y="489204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attach N, m/s or kg to a unit vector.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Perpendicular forces A and A/2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Two forces of magnitudes A and A/2 are perpendicular. Find the magnitude of their resultant.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Perpendicular forces A and A/2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cos 90° = 0, so R = √(A² + A²/4)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R = √(5 A² / 4) = (A/2) √5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(√5 / 2) × A.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Resultant is half the larger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resultant of two vectors is half the larger one, and it is perpendicular to the smaller one. Find the angle between the vectors.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Resultant is half the larger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 perpendicular to the smaller vector means (A + B) · B = 0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cos θ = -B/A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R = A/2 then gives B = (√3/2) A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cos θ = -√3/2, so θ = 150°.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Acceleration of a 4 kg body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F₁ = 5 î + 8 ĵ + 7 k̂ and F₂ = 3 î - 4 ĵ - 3 k̂ act on 4 kg. Find the acceleration.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Acceleration of a 4 kg body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Net force = 8 î + 4 ĵ + 4 k̂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= net force / 4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= 2 î + 1 ĵ + 1 k̂.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after reverse or scale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Positive scalar keeps direction. Negative scalar reverses it.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angle between A and B is θ, then: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and -B: angle becomes 180° - θ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-A and -B: angle stays θ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and 2B: angle stays θ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43251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Only a minus sign changes the angle. A positive multiplier does not.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Flip one arrow, and the angle becomes its supplement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Bring the tails together first. Then reverse only one arrow.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011680" y="3840480"/>
            <a:ext cx="20116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90672" y="35844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2011680" y="2194560"/>
            <a:ext cx="1097280" cy="16459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33472" y="27614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2696319" y="3800604"/>
            <a:ext cx="1161" cy="3987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692842" y="3760863"/>
            <a:ext cx="3477" cy="3974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687061" y="3721392"/>
            <a:ext cx="5781" cy="394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678994" y="3682323"/>
            <a:ext cx="8067" cy="3906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668669" y="3643790"/>
            <a:ext cx="10325" cy="3853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2656121" y="3605922"/>
            <a:ext cx="12548" cy="3786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641392" y="3568848"/>
            <a:ext cx="14729" cy="3707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624533" y="3532693"/>
            <a:ext cx="16859" cy="3615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605600" y="3497580"/>
            <a:ext cx="18933" cy="3511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584657" y="3463626"/>
            <a:ext cx="20943" cy="3395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561776" y="3430948"/>
            <a:ext cx="22881" cy="3267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537033" y="3399656"/>
            <a:ext cx="24743" cy="3129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510512" y="3369855"/>
            <a:ext cx="26521" cy="298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482304" y="3341647"/>
            <a:ext cx="28208" cy="2820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452503" y="3315126"/>
            <a:ext cx="29801" cy="2652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421211" y="3290383"/>
            <a:ext cx="31292" cy="2474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88533" y="3267502"/>
            <a:ext cx="32678" cy="2288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2354580" y="3246559"/>
            <a:ext cx="33953" cy="2094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68951" y="346100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</a:t>
            </a:r>
            <a:endParaRPr sz="1300" b="1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766560" y="3840480"/>
            <a:ext cx="20116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45552" y="35844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5669280" y="2194560"/>
            <a:ext cx="1097280" cy="164592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91072" y="27614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-B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35" name="Connector 34"/>
          <p:cNvCxnSpPr/>
          <p:nvPr/>
        </p:nvCxnSpPr>
        <p:spPr>
          <a:xfrm flipH="1">
            <a:off x="6389706" y="3246559"/>
            <a:ext cx="33954" cy="2094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357028" y="3267502"/>
            <a:ext cx="32678" cy="2288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6325736" y="3290383"/>
            <a:ext cx="31292" cy="2474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295935" y="3315126"/>
            <a:ext cx="29801" cy="2652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267727" y="3341647"/>
            <a:ext cx="28208" cy="2820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241206" y="3369855"/>
            <a:ext cx="26521" cy="2980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216463" y="3399656"/>
            <a:ext cx="24743" cy="3129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193582" y="3430948"/>
            <a:ext cx="22881" cy="3267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172639" y="3463626"/>
            <a:ext cx="20943" cy="3395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6153706" y="3497580"/>
            <a:ext cx="18933" cy="3511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136847" y="3532693"/>
            <a:ext cx="16859" cy="3615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6122118" y="3568848"/>
            <a:ext cx="14729" cy="3707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6109570" y="3605922"/>
            <a:ext cx="12548" cy="3786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099245" y="3643790"/>
            <a:ext cx="10325" cy="3853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091178" y="3682323"/>
            <a:ext cx="8067" cy="3906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085397" y="3721392"/>
            <a:ext cx="5781" cy="3947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081920" y="3760863"/>
            <a:ext cx="3477" cy="3974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6080760" y="3800604"/>
            <a:ext cx="1160" cy="3987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109288" y="346100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180°-θ</a:t>
            </a:r>
            <a:endParaRPr sz="13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94360" y="5074920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If θ = 30°, then A and -B are 150° apart.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30°, then multiply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Angle between A and B is 30°. Find the angles between A and -B, A and B, -A and -B, A and 2B, and 2A and -3B.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30°, then multiply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A and -B: 180° - 30° = 150°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2:  A and B stay 30°. -A and -B stay 30°. A and 2B stay 30°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2A keeps A's direction. -3B flips B. So angle is 150°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150°, 30°, 30°, 30°, and 150°.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Triangle and polygon addition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To add, put the tail of the next arrow on the head of the previous one.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4360" y="171907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65376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Resultant R runs from the first tail to the last head.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+ B = B + A. Drawing order does not change 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For an angle, put tails together. For addition, use head-to-tail.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4297680"/>
            <a:ext cx="15087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34172" y="40416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 flipV="1">
            <a:off x="8915400" y="3108960"/>
            <a:ext cx="1005840" cy="11887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91472" y="34472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7406640" y="3108960"/>
            <a:ext cx="2514600" cy="118872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37092" y="34472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 = A + B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58200" y="470916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head-to-tail</a:t>
            </a:r>
            <a:endParaRPr sz="130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Why drawing order does not change 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+ B + C and C + B + A reach the same final point.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188720" y="3108960"/>
            <a:ext cx="15544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9112" y="28529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2743200" y="2011680"/>
            <a:ext cx="0" cy="10972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816352" y="23042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645920" y="1417320"/>
            <a:ext cx="1097280" cy="59436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67712" y="14584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C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88720" y="1417320"/>
            <a:ext cx="457200" cy="169164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90472" y="20071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3611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B6C0"/>
                </a:solidFill>
                <a:latin typeface="Aptos"/>
              </a:rPr>
              <a:t>A then B then C</a:t>
            </a:r>
            <a:endParaRPr sz="14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5486400" y="2514600"/>
            <a:ext cx="1097280" cy="59436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08192" y="25557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C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 flipV="1">
            <a:off x="5486400" y="1417320"/>
            <a:ext cx="0" cy="10972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59552" y="17099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0" y="1417320"/>
            <a:ext cx="155448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36792" y="11612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 flipV="1">
            <a:off x="6583680" y="1417320"/>
            <a:ext cx="457200" cy="169164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85432" y="200710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60720" y="36118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B6C0"/>
                </a:solidFill>
                <a:latin typeface="Aptos"/>
              </a:rPr>
              <a:t>C then B then A</a:t>
            </a:r>
            <a:endParaRPr sz="14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4983480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Same start + same finish = same resultant.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Magnitude of the resultant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R = √(A² + B² + 2 A B cos θ)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2084832"/>
            <a:ext cx="11018520" cy="77724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10689336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tan α = (B sin θ) / (A + B cos θ)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04495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α is the angle between A and the resultant.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593591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0: R max = A + B.   θ = 180: R min = |A - B|.   θ = 90: R = √(A² + B²).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43251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R is allowed only from |A - B| to A + B.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How the resultant formula appears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Drop a perpendicular from the tip of B. The right triangle gives both R and α.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926080" y="4663440"/>
            <a:ext cx="21945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96512" y="440740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5120640" y="3246120"/>
            <a:ext cx="914400" cy="14173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50992" y="369874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2926080" y="3246120"/>
            <a:ext cx="3108960" cy="1417320"/>
          </a:xfrm>
          <a:prstGeom prst="line">
            <a:avLst/>
          </a:prstGeom>
          <a:ln w="3810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53712" y="369874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3246120"/>
            <a:ext cx="0" cy="1417320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20640" y="4663440"/>
            <a:ext cx="914400" cy="0"/>
          </a:xfrm>
          <a:prstGeom prst="line">
            <a:avLst/>
          </a:prstGeom>
          <a:ln w="15240">
            <a:solidFill>
              <a:srgbClr val="B0B6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57800" y="4754879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B cos θ</a:t>
            </a:r>
            <a:endParaRPr sz="13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0" y="3840479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0B6C0"/>
                </a:solidFill>
                <a:latin typeface="Aptos"/>
              </a:rPr>
              <a:t>B sin θ</a:t>
            </a:r>
            <a:endParaRPr sz="13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29000" y="4389120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α</a:t>
            </a:r>
            <a:endParaRPr sz="14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2194560"/>
            <a:ext cx="457200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340864"/>
            <a:ext cx="4242816" cy="5760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1E3F"/>
                </a:solidFill>
                <a:latin typeface="Aptos"/>
              </a:rPr>
              <a:t>R² = (A + B cos θ)² + (B sin θ)²</a:t>
            </a:r>
            <a:endParaRPr sz="162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0" y="3474720"/>
            <a:ext cx="4572000" cy="11430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8444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Then simplify</a:t>
            </a:r>
            <a:endParaRPr sz="1500" b="1">
              <a:solidFill>
                <a:srgbClr val="28B4BE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20840" y="3913631"/>
            <a:ext cx="429768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Use cos²θ + sin²θ = 1 to get R = √(A² + B² + 2AB cos θ).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Resultant range: minimum to maximum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largest resultant happens when both arrows pull the same way. The smallest happens when they oppose.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143000" y="2240280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9112" y="19842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240280"/>
            <a:ext cx="1188719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56432" y="19842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697480"/>
            <a:ext cx="2834639" cy="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33472" y="24414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Rmax = A + B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812280" y="2240280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08392" y="19842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H="1">
            <a:off x="7315200" y="2240280"/>
            <a:ext cx="1143000" cy="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9852" y="19842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812280" y="2697480"/>
            <a:ext cx="502920" cy="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6892" y="24414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Rmin = |A - B|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886200" y="4251960"/>
            <a:ext cx="4389120" cy="86868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43616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Allowed range</a:t>
            </a:r>
            <a:endParaRPr sz="1500" b="1">
              <a:solidFill>
                <a:srgbClr val="28B4B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023360" y="4690872"/>
            <a:ext cx="411480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|A - B| ≤ R ≤ A + B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86200" y="53492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resultant outside this range is impossible.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5 N east and 10 N north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Two forces, 5 N due east and 10 N due north. Find the resultant.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5 N east and 10 N north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The angle is 90°, so the cross term is 0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R = √(25 + 100) = √125 = 5 √5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5 √5 N.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589520" y="4411065"/>
            <a:ext cx="320040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869680" y="2926080"/>
            <a:ext cx="0" cy="25603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65929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42832" y="292608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869680" y="4411065"/>
            <a:ext cx="12801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82912" y="415503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5 N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8869680" y="2856585"/>
            <a:ext cx="0" cy="15544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42832" y="337779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10 N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 flipV="1">
            <a:off x="8869680" y="2856585"/>
            <a:ext cx="1280160" cy="15544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82912" y="337779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5 N forces at 120°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Two forces of 5 N have 120° between them. Find the net force.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Two 5 N forces at 120°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Use the angle between the arrows, which is 120°, not a nearby 60° mark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2:  R = √(25 + 25 + 50×(-1/2)) = √(50 - 25) = √25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Net force = 5 N.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772400" y="4251960"/>
            <a:ext cx="13716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31352" y="39959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5 N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7086600" y="3063240"/>
            <a:ext cx="685800" cy="118872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02652" y="34015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5 N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 flipV="1">
            <a:off x="7772400" y="3611880"/>
            <a:ext cx="502920" cy="6400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7012" y="367588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52360" y="373075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120°</a:t>
            </a:r>
            <a:endParaRPr sz="14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Which pair cannot give a resultant of 4?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19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Pairs: (2, 4), (4, 4), (4, 9), (1, 5). Which cannot give resultant 4?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Which pair cannot give a resultant of 4?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(2, 4) allows 2 to 6. 4 is inside.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(4, 4) allows 0 to 8. (1, 5) allows 4 to 6.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(4, 9) allows 5 to 13. 4 is smaller than the minimum.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(4, 9) cannot give 4.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forces, zero resultant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Which set can have zero resultant: (2, 4, 7), (3, 1, 5), (2, 8, 11), or (3, 4, 2)?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Three forces, zero resultant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The third force must lie between |first - second| and first + second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2:  For 3 and 4, the range is 1 to 7. The force 2 lies inside it.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7 is outside 2 to 6. 5 is outside 2 to 4. 11 is outside 6 to 10.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Only (3, 4, 2) can give zero.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Equal magnitudes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If |A| = |B| = A, then R = 2 A cos(θ / 2)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20848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Their difference has magnitude D = 2 A sin(θ / 2)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The resultant then bisects the angle. Angle between A and R is θ / 2.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776472"/>
            <a:ext cx="11018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0: R = 2A, D = 0.   θ = 90: both are √2 A.   θ = 120: R = A and D = √3 A.   θ = 180: R = 0 and D = 2A.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Equal vectors: resultant bisects the angle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When |A| = |B|, the triangle is symmetric. The resultant must lie exactly in the middle.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200400" y="4160520"/>
            <a:ext cx="20574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02252" y="39044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3200400" y="2377439"/>
            <a:ext cx="1024128" cy="1783081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85616" y="30129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00400" y="3108960"/>
            <a:ext cx="1828800" cy="1051560"/>
          </a:xfrm>
          <a:prstGeom prst="line">
            <a:avLst/>
          </a:prstGeom>
          <a:ln w="3810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87952" y="337870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3839397" y="4123302"/>
            <a:ext cx="1083" cy="3721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836152" y="4086211"/>
            <a:ext cx="3245" cy="37091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3830755" y="4049371"/>
            <a:ext cx="5397" cy="3684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823226" y="4012907"/>
            <a:ext cx="7529" cy="3646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813589" y="3976942"/>
            <a:ext cx="9637" cy="3596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3801878" y="3941599"/>
            <a:ext cx="11711" cy="3534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788131" y="3906997"/>
            <a:ext cx="13747" cy="346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3772396" y="3873252"/>
            <a:ext cx="15735" cy="3374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754725" y="3840480"/>
            <a:ext cx="17671" cy="327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735179" y="3808790"/>
            <a:ext cx="19546" cy="3169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713823" y="3778290"/>
            <a:ext cx="21356" cy="3050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690729" y="3749084"/>
            <a:ext cx="23094" cy="2920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665977" y="3721270"/>
            <a:ext cx="24752" cy="2781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639649" y="3694942"/>
            <a:ext cx="26328" cy="2632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611835" y="3670190"/>
            <a:ext cx="27814" cy="2475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582629" y="3647096"/>
            <a:ext cx="29206" cy="2309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552129" y="3625740"/>
            <a:ext cx="30500" cy="2135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520440" y="3606194"/>
            <a:ext cx="31689" cy="1954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18077" y="380390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</a:t>
            </a:r>
            <a:endParaRPr sz="1300" b="1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4160113" y="4132595"/>
            <a:ext cx="407" cy="2792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4158895" y="4104693"/>
            <a:ext cx="1218" cy="279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4156866" y="4076840"/>
            <a:ext cx="2029" cy="27853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4154028" y="4049056"/>
            <a:ext cx="2838" cy="27784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4150382" y="4021368"/>
            <a:ext cx="3646" cy="2768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4145933" y="3993796"/>
            <a:ext cx="4449" cy="275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4140684" y="3966366"/>
            <a:ext cx="5249" cy="2743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134639" y="3939101"/>
            <a:ext cx="6045" cy="2726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4127804" y="3912022"/>
            <a:ext cx="6835" cy="27079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4120184" y="3885154"/>
            <a:ext cx="7620" cy="26868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4111786" y="3858519"/>
            <a:ext cx="8398" cy="26635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4102617" y="3832139"/>
            <a:ext cx="9169" cy="2638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4092685" y="3806037"/>
            <a:ext cx="9932" cy="261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4081997" y="3780235"/>
            <a:ext cx="10688" cy="2580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4070564" y="3754755"/>
            <a:ext cx="11433" cy="25480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4058394" y="3729618"/>
            <a:ext cx="12170" cy="25137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4045498" y="3704846"/>
            <a:ext cx="12896" cy="24772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4031888" y="3680460"/>
            <a:ext cx="13610" cy="24386"/>
          </a:xfrm>
          <a:prstGeom prst="line">
            <a:avLst/>
          </a:prstGeom>
          <a:ln w="17780">
            <a:solidFill>
              <a:srgbClr val="FF9E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198464" y="3893089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E40"/>
                </a:solidFill>
                <a:latin typeface="Aptos"/>
              </a:rPr>
              <a:t>θ/2</a:t>
            </a:r>
            <a:endParaRPr sz="13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400800" y="2148840"/>
            <a:ext cx="43891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2295144"/>
            <a:ext cx="405993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R = 2A cos(θ / 2)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400800" y="3474720"/>
            <a:ext cx="4389120" cy="9144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7960" y="358444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B4BE"/>
                </a:solidFill>
                <a:latin typeface="Aptos"/>
              </a:rPr>
              <a:t>Difference</a:t>
            </a:r>
            <a:endParaRPr sz="1500" b="1">
              <a:solidFill>
                <a:srgbClr val="28B4BE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37960" y="3913631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D = 2A sin(θ / 2)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Sum and difference have the same magnitude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If |A + B| = |A - B|, what is the angle between A and B?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Sum and difference have the same magnitude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Equal lengths of sum and difference means the cross term must vanish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2 A B cos θ = 0, so cos θ = 0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90°.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Two unit vectors add to a unit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sum of two unit vectors is itself a unit vector. Find the magnitude of their difference.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Two unit vectors add to a unit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29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1:  R = 1 and each magnitude is 1, so 1 = 2 cos(θ / 2), so θ = 120°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D = 2 sin 60° = 2 × √3/2 = √3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Magnitude of the difference = √3.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Equal magnitudes inclined at θ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If |A| = |B| = R and the angle between them is θ, which is correct for |A + B|?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4360" y="212140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8408" y="2139696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√2 R sin(θ/2)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94360" y="248716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05456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8408" y="2505456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 R sin(θ/2)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4360" y="285292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8408" y="2871216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 R cos(θ/2)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94360" y="3218688"/>
            <a:ext cx="274320" cy="274320"/>
          </a:xfrm>
          <a:prstGeom prst="ellipse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36976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8408" y="3236976"/>
            <a:ext cx="106344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2 R cos θ</a:t>
            </a:r>
            <a:endParaRPr sz="18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Equal magnitudes inclined at θ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1:  For equal magnitudes, |A + B| = 2 R cos(θ / 2)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Option 3: 2 R cos(θ / 2).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subtraction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A - B = A + (-B). Reverse B, then add.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360" y="2084832"/>
            <a:ext cx="1101852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31136"/>
            <a:ext cx="1068933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D = √(A² + B² - 2 A B cos θ)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θ = 0: D = |A - B|.   θ = 180: D = A + B.   θ = 90: D = √(A² + B²).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+ B equals B + A. A - B does not equal B - A.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4389120"/>
            <a:ext cx="150876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79892" y="413308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8001000" y="3337560"/>
            <a:ext cx="960120" cy="105156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54212" y="360730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-B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52360" y="3337560"/>
            <a:ext cx="548640" cy="105156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99831" y="3607307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D = A - B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- B and B - A point opposite ways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Reverse the second arrow, then add. The two differences have the same length.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280160" y="3108960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76272" y="28529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2926080" y="1828800"/>
            <a:ext cx="0" cy="128016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99232" y="22128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-B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1280160" y="1828800"/>
            <a:ext cx="1645920" cy="128016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76272" y="22128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 - B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6118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B6C0"/>
                </a:solidFill>
                <a:latin typeface="Aptos"/>
              </a:rPr>
              <a:t>A - B</a:t>
            </a:r>
            <a:endParaRPr sz="14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6766560" y="1828800"/>
            <a:ext cx="0" cy="12801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39712" y="22128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 flipH="1">
            <a:off x="5120640" y="1828800"/>
            <a:ext cx="1645920" cy="0"/>
          </a:xfrm>
          <a:prstGeom prst="line">
            <a:avLst/>
          </a:prstGeom>
          <a:ln w="35560">
            <a:solidFill>
              <a:srgbClr val="FF9E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16752" y="157276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9E40"/>
                </a:solidFill>
                <a:latin typeface="Aptos"/>
              </a:rPr>
              <a:t>-A</a:t>
            </a:r>
            <a:endParaRPr sz="1600" b="1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5120640" y="1828800"/>
            <a:ext cx="1645920" cy="128016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16752" y="22128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B - A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77840" y="36118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0B6C0"/>
                </a:solidFill>
                <a:latin typeface="Aptos"/>
              </a:rPr>
              <a:t>B - A</a:t>
            </a:r>
            <a:endParaRPr sz="14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4983480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Same length, opposite direction.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conditions to lock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658368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078992"/>
            <a:ext cx="6510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Condition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78040" y="1078992"/>
            <a:ext cx="4389120" cy="502920"/>
          </a:xfrm>
          <a:prstGeom prst="rect">
            <a:avLst/>
          </a:prstGeom>
          <a:solidFill>
            <a:srgbClr val="1C2434"/>
          </a:solidFill>
          <a:ln>
            <a:solidFill>
              <a:srgbClr val="1C2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14616" y="107899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Angle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4360" y="1581912"/>
            <a:ext cx="6583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581912"/>
            <a:ext cx="6510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|A| = |B| = |A + B|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78040" y="1581912"/>
            <a:ext cx="43891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6" y="158191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120°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4360" y="2084832"/>
            <a:ext cx="6583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084832"/>
            <a:ext cx="6510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|A| = |B| = |A - B|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78040" y="2084832"/>
            <a:ext cx="438912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4616" y="208483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60°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4360" y="2587752"/>
            <a:ext cx="6583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587752"/>
            <a:ext cx="6510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+ B| = |A - B|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178040" y="2587752"/>
            <a:ext cx="43891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4616" y="258775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90°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3090672"/>
            <a:ext cx="6583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090672"/>
            <a:ext cx="6510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+ B| = |A| + |B|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78040" y="3090672"/>
            <a:ext cx="438912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14616" y="309067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0°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360" y="3593592"/>
            <a:ext cx="6583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593592"/>
            <a:ext cx="6510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- B| = |A| + |B|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178040" y="3593592"/>
            <a:ext cx="43891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14616" y="359359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180°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" y="4096512"/>
            <a:ext cx="658368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4096512"/>
            <a:ext cx="6510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+ B| = |A| - |B|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78040" y="4096512"/>
            <a:ext cx="4389120" cy="502920"/>
          </a:xfrm>
          <a:prstGeom prst="rect">
            <a:avLst/>
          </a:prstGeom>
          <a:solidFill>
            <a:srgbClr val="16181C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14616" y="409651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180°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4360" y="4599432"/>
            <a:ext cx="658368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" y="4599432"/>
            <a:ext cx="6510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|A - B| = |A| - |B|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178040" y="4599432"/>
            <a:ext cx="4389120" cy="502920"/>
          </a:xfrm>
          <a:prstGeom prst="rect">
            <a:avLst/>
          </a:prstGeom>
          <a:solidFill>
            <a:srgbClr val="101014"/>
          </a:solidFill>
          <a:ln w="6350">
            <a:solidFill>
              <a:srgbClr val="484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6" y="4599432"/>
            <a:ext cx="431596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0°</a:t>
            </a:r>
            <a:endParaRPr sz="16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VISUAL IDEA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Adding by components is adding columns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x-parts combine with x-parts. y-parts combine with y-parts.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005840" y="3836822"/>
            <a:ext cx="429768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724912" y="1874519"/>
            <a:ext cx="0" cy="3383281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57800" y="389168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98064" y="1874519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724912" y="3836822"/>
            <a:ext cx="164592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21024" y="358079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 flipV="1">
            <a:off x="2724912" y="2282342"/>
            <a:ext cx="0" cy="15544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98064" y="280355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2724912" y="2282342"/>
            <a:ext cx="1645920" cy="15544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21024" y="280355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A+B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35040" y="1920240"/>
            <a:ext cx="49834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2066544"/>
            <a:ext cx="4654296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10" b="1">
                <a:solidFill>
                  <a:srgbClr val="081E3F"/>
                </a:solidFill>
                <a:latin typeface="Aptos"/>
              </a:rPr>
              <a:t>A + B = (Aₓ + Bₓ) î + (Aᵧ + Bᵧ) ĵ</a:t>
            </a:r>
            <a:endParaRPr sz="171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35040" y="3246120"/>
            <a:ext cx="4983480" cy="914400"/>
          </a:xfrm>
          <a:prstGeom prst="roundRect">
            <a:avLst/>
          </a:prstGeom>
          <a:solidFill>
            <a:srgbClr val="0C0E12"/>
          </a:solidFill>
          <a:ln w="12700">
            <a:solidFill>
              <a:srgbClr val="FF9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35584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9E40"/>
                </a:solidFill>
                <a:latin typeface="Aptos"/>
              </a:rPr>
              <a:t>Trap</a:t>
            </a:r>
            <a:endParaRPr sz="1500" b="1">
              <a:solidFill>
                <a:srgbClr val="FF9E40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72200" y="3685031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|A| + |B| is not the same as |A + B|.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 = 6 î and B = 8 ĵ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9E40"/>
                </a:solidFill>
                <a:latin typeface="Aptos"/>
              </a:rPr>
              <a:t>Find A + B, A - B, |A| + |B|, and |A + B|.</a:t>
            </a:r>
            <a:endParaRPr sz="20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 = 6 î and B = 8 ĵ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39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+ B = 6 î + 8 ĵ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- B = 6 î - 8 ĵ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Step 3:  |A| + |B| = 6 + 8 = 14, and |A + B| = √(36 + 64) = 10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Sum of lengths is 14. Length of the sum is 10.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Direction of A + B from 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6 î and B = 8 ĵ. Find the direction of A + B from A.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Direction of A + B from A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+ B = 6 î + 8 ĵ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tan α = 8 / 6 = 4 / 3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α = tan⁻¹ of 4/3 from A.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680960" y="4411065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24544" y="2926080"/>
            <a:ext cx="0" cy="25603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65929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97696" y="292608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924544" y="4411065"/>
            <a:ext cx="137160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83496" y="415503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8924544" y="2856585"/>
            <a:ext cx="0" cy="15544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97696" y="337779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 flipV="1">
            <a:off x="8924544" y="2856585"/>
            <a:ext cx="1371600" cy="15544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83496" y="337779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36024" y="4136745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α</a:t>
            </a:r>
            <a:endParaRPr sz="14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COPY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Unit vector list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itself is already a unit vector.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is (î + ĵ) / √2.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î + ĵ - k̂ is (î + ĵ - k̂) / √3.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sin θ î - cos θ ĵ already has magnitude 1.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41071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Unit vector of 3î + 4ĵ is (3î + 4ĵ) / 5.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" y="4096511"/>
            <a:ext cx="1101852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242816"/>
            <a:ext cx="1068933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081E3F"/>
                </a:solidFill>
                <a:latin typeface="Aptos"/>
              </a:rPr>
              <a:t>Â = A / |A|</a:t>
            </a:r>
            <a:endParaRPr sz="1980" b="1">
              <a:solidFill>
                <a:srgbClr val="081E3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β for a unit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0.4 î + 0.3 ĵ + β k̂ is a unit vector. Find β.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β for a unit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For a unit vector, |A| = 1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√(0.16 + 0.09 + β²) = 1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0.25 + β² = 1, so β² = 0.75, β = ±√3 / 2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β = ± (√3)/2.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NEW TOPIC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Dot product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1018520" cy="914400"/>
          </a:xfrm>
          <a:prstGeom prst="rect">
            <a:avLst/>
          </a:prstGeom>
          <a:solidFill>
            <a:srgbClr val="FFF8E1"/>
          </a:solidFill>
          <a:ln w="19050">
            <a:solidFill>
              <a:srgbClr val="DA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25295"/>
            <a:ext cx="106893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1E3F"/>
                </a:solidFill>
                <a:latin typeface="Aptos"/>
              </a:rPr>
              <a:t>A · B = A B cos θ = Aₓ Bₓ + Aᵧ Bᵧ + Az Bz</a:t>
            </a:r>
            <a:endParaRPr sz="1800" b="1">
              <a:solidFill>
                <a:srgbClr val="081E3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If the dot product is 0, the vectors are perpendicular.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cos θ = (A · B) / (A B).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î · î = 1. î · ĵ = 0. The same rule holds for ĵ and k̂.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A unit vector dotted with itself is 1.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4480560"/>
            <a:ext cx="21488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9932" y="4224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7452360" y="3200400"/>
            <a:ext cx="1371600" cy="128016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11312" y="358444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3200400"/>
            <a:ext cx="0" cy="1280160"/>
          </a:xfrm>
          <a:prstGeom prst="line">
            <a:avLst/>
          </a:prstGeom>
          <a:ln w="15240">
            <a:solidFill>
              <a:srgbClr val="5A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4480560"/>
            <a:ext cx="1371600" cy="0"/>
          </a:xfrm>
          <a:prstGeom prst="line">
            <a:avLst/>
          </a:prstGeom>
          <a:ln w="2540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18120" y="4617720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C8FF"/>
                </a:solidFill>
                <a:latin typeface="Aptos"/>
              </a:rPr>
              <a:t>B cos θ</a:t>
            </a:r>
            <a:endParaRPr sz="130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Are these two vectors perpendicular?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3 î + 4 ĵ + 5 k̂ and B = 3 î + 4 ĵ - 5 k̂. What is the angle between them?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Are these two vectors perpendicular?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9 + 16 - 25 = 0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The angle is 90°.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49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α if A is perpendicular to B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+ 3 ĵ + α k̂ and B = î - 2 ĵ + 4 k̂. If A is perpendicular to B, find α.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α if A is perpendicular to B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0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2 - 6 + 4 α = 0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4 α = 4, so α = 1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α = 1.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with 4 î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2 î + 6 ĵ + 3 k̂ and B = 4 î. Find cos θ.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with 4 î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 · B = 8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|A| = √(4 + 36 + 9) = 7 and |B| = 4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cos θ = 8 / 28 = 2/7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θ = cos⁻¹ of 2/7.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Angle of a vector from the x-axis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= 5 î + 5 √3 ĵ. Find the angle of A from the x-axis.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Angle of a vector from the x-axis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tan α = Aᵧ / Aₓ = 5√3 / 5 = √3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AC8FF"/>
                </a:solidFill>
                <a:latin typeface="Aptos"/>
              </a:rPr>
              <a:t>Step 2:  α = 60°</a:t>
            </a:r>
            <a:endParaRPr sz="180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60° from the +x axis.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680960" y="4411065"/>
            <a:ext cx="310896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24544" y="2926080"/>
            <a:ext cx="0" cy="256032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65929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97696" y="292608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 flipV="1">
            <a:off x="8924544" y="2536545"/>
            <a:ext cx="1097280" cy="187452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46336" y="3217773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36024" y="4091025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9E40"/>
                </a:solidFill>
                <a:latin typeface="Aptos"/>
              </a:rPr>
              <a:t>60°</a:t>
            </a:r>
            <a:endParaRPr sz="14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Resultant is half the larger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The resultant of two vectors is half the larger one, and it is perpendicular to the smaller one. Find the angle between the vectors.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Resultant is half the larger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1:  R perpendicular to the smaller vector means (A + B) · A = 0 if A is smaller</a:t>
            </a:r>
            <a:endParaRPr sz="12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cos θ = -A/B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3:  With |R| = B/2, A = (√3 / 2) B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cos θ = -√3/2, so θ = 150°.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Find the smaller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59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Resultant is perpendicular to the smaller vector and half the larger vector. Find the smaller magnitude in terms of the larger B.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Find the smaller vector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60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Right triangle: A² + (B/2)² = B²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A² = B² - B²/4 = 3B²/4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A = (√3 / 2) B.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772400" y="4358030"/>
            <a:ext cx="3017520" cy="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79408" y="2926080"/>
            <a:ext cx="0" cy="2468880"/>
          </a:xfrm>
          <a:prstGeom prst="line">
            <a:avLst/>
          </a:prstGeom>
          <a:ln w="19050">
            <a:solidFill>
              <a:srgbClr val="B0B6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44200" y="441289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+x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52560" y="292608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B6C0"/>
                </a:solidFill>
                <a:latin typeface="Aptos"/>
              </a:rPr>
              <a:t>+y</a:t>
            </a:r>
            <a:endParaRPr sz="1200" b="1">
              <a:solidFill>
                <a:srgbClr val="B0B6C0"/>
              </a:solidFill>
              <a:latin typeface="Aptos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979408" y="4358030"/>
            <a:ext cx="1463040" cy="0"/>
          </a:xfrm>
          <a:prstGeom prst="line">
            <a:avLst/>
          </a:prstGeom>
          <a:ln w="35560">
            <a:solidFill>
              <a:srgbClr val="FFD6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84080" y="410199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D646"/>
                </a:solidFill>
                <a:latin typeface="Aptos"/>
              </a:rPr>
              <a:t>A</a:t>
            </a:r>
            <a:endParaRPr sz="1600" b="1">
              <a:solidFill>
                <a:srgbClr val="FFD646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 flipV="1">
            <a:off x="8979408" y="3260750"/>
            <a:ext cx="0" cy="1097280"/>
          </a:xfrm>
          <a:prstGeom prst="line">
            <a:avLst/>
          </a:prstGeom>
          <a:ln w="35560">
            <a:solidFill>
              <a:srgbClr val="5AC8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52560" y="355335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C8FF"/>
                </a:solidFill>
                <a:latin typeface="Aptos"/>
              </a:rPr>
              <a:t>R</a:t>
            </a:r>
            <a:endParaRPr sz="1600" b="1">
              <a:solidFill>
                <a:srgbClr val="5AC8FF"/>
              </a:solidFill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8979408" y="3260750"/>
            <a:ext cx="1463040" cy="1097280"/>
          </a:xfrm>
          <a:prstGeom prst="line">
            <a:avLst/>
          </a:prstGeom>
          <a:ln w="35560">
            <a:solidFill>
              <a:srgbClr val="5AD6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84080" y="355335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D680"/>
                </a:solidFill>
                <a:latin typeface="Aptos"/>
              </a:rPr>
              <a:t>B</a:t>
            </a:r>
            <a:endParaRPr sz="160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61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Three equal vectors OP, OQ, 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62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Three vectors each of magnitude A act as OP along +x, OQ along +y, and OR 45° below +x. The resultant is A √(x). Find x.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Three equal vectors OP, OQ, OR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63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5AC8FF"/>
                </a:solidFill>
                <a:latin typeface="Aptos"/>
              </a:rPr>
              <a:t>Step 1:  OP + OQ = A√2 at 45° above +x</a:t>
            </a:r>
            <a:endParaRPr sz="144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AC8FF"/>
                </a:solidFill>
                <a:latin typeface="Aptos"/>
              </a:rPr>
              <a:t>Step 2:  OR is 45° below +x, so that intermediate resultant and OR are at 90°</a:t>
            </a:r>
            <a:endParaRPr sz="126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30" b="1">
                <a:solidFill>
                  <a:srgbClr val="5AC8FF"/>
                </a:solidFill>
                <a:latin typeface="Aptos"/>
              </a:rPr>
              <a:t>Step 3:  R = √((A√2)² + A²) = A√3</a:t>
            </a:r>
            <a:endParaRPr sz="153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 = 3.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9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QUESTION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at 30° from the y-axis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64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9E40"/>
                </a:solidFill>
                <a:latin typeface="Aptos"/>
              </a:rPr>
              <a:t>A vector in the x-y plane makes 30° with the y-axis. Its y-component is 2 √3. Find the x-component.</a:t>
            </a:r>
            <a:endParaRPr sz="1900" b="1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5AD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ANSWER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Solution: Vector at 30° from the y-axis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65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1:  Aᵧ = A cos 30° = 2 √3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2:  A (√3 / 2) = 2 √3, so A = 4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C8FF"/>
                </a:solidFill>
                <a:latin typeface="Aptos"/>
              </a:rPr>
              <a:t>Step 3:  Aₓ = A sin 30° = 4 × 1/2 = 2</a:t>
            </a:r>
            <a:endParaRPr sz="162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5AD680"/>
                </a:solidFill>
                <a:latin typeface="Aptos"/>
              </a:rPr>
              <a:t>x-component = 2.</a:t>
            </a:r>
            <a:endParaRPr sz="1620" b="1">
              <a:solidFill>
                <a:srgbClr val="5AD6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B0B6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ROUGH WORK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FD646"/>
                </a:solidFill>
                <a:latin typeface="Aptos"/>
              </a:rPr>
              <a:t>Rough work  /  extra work</a:t>
            </a:r>
            <a:endParaRPr sz="198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66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28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CLASS SUMMARY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Vector 04 lock lines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67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R = √(A² + B² + 2AB cos θ), and |A-B| ≤ R ≤ A+B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627631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Equal magnitudes: R = 2A cos(θ/2), D = 2A sin(θ/2)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A - B = A + (-B). |A+B| = |A-B| means 90°.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11018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AC8FF"/>
                </a:solidFill>
                <a:latin typeface="Aptos"/>
              </a:rPr>
              <a:t>A · B = 0 means 90°. Unit vector Â = A / |A|.</a:t>
            </a:r>
            <a:endParaRPr sz="1350" b="1">
              <a:solidFill>
                <a:srgbClr val="5AC8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FC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Aptos"/>
              </a:rPr>
              <a:t>AFTER CLASS</a:t>
            </a:r>
            <a:endParaRPr sz="72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10185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40" b="1">
                <a:solidFill>
                  <a:srgbClr val="FFD646"/>
                </a:solidFill>
                <a:latin typeface="Aptos"/>
              </a:rPr>
              <a:t>Practice</a:t>
            </a:r>
            <a:endParaRPr sz="2340" b="1">
              <a:solidFill>
                <a:srgbClr val="FFD646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18520" cy="16459"/>
          </a:xfrm>
          <a:prstGeom prst="rect">
            <a:avLst/>
          </a:prstGeom>
          <a:solidFill>
            <a:srgbClr val="484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B0B6C0"/>
                </a:solidFill>
                <a:latin typeface="Aptos"/>
              </a:rPr>
              <a:t>68</a:t>
            </a:r>
            <a:endParaRPr sz="990" b="1">
              <a:solidFill>
                <a:srgbClr val="B0B6C0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1. Redo the 30° reverse-and-scale angle list without looking.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2. Redo magnitudes 3 and 4 at 0°, 60°, 90°, 120° and 180°.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3. Find β if 0.4î + 0.3ĵ + β k̂ is a unit vector.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4. Redo the three equal vectors OP, OQ, OR question.</a:t>
            </a:r>
            <a:endParaRPr sz="17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3685032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9E40"/>
                </a:solidFill>
                <a:latin typeface="Aptos"/>
              </a:rPr>
              <a:t>Do not add magnitudes when the arrows are not along one line.</a:t>
            </a:r>
            <a:endParaRPr sz="1600" b="0">
              <a:solidFill>
                <a:srgbClr val="FF9E40"/>
              </a:solidFill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13852</Words>
  <Application>WPS Presentation</Application>
  <PresentationFormat>Widescreen</PresentationFormat>
  <Paragraphs>1252</Paragraphs>
  <Slides>91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98" baseType="lpstr">
      <vt:lpstr>Arial</vt:lpstr>
      <vt:lpstr>SimSun</vt:lpstr>
      <vt:lpstr>Wingdings</vt:lpstr>
      <vt:lpstr>Wingdings</vt:lpstr>
      <vt:lpstr>Aptos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DC7586</dc:creator>
  <cp:lastModifiedBy>manish jat</cp:lastModifiedBy>
  <cp:revision>1</cp:revision>
  <dcterms:created xsi:type="dcterms:W3CDTF">2026-10-03T13:32:49Z</dcterms:created>
  <dcterms:modified xsi:type="dcterms:W3CDTF">2026-10-03T13:32:50Z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FCAE8D3B77C6446BAE4E31B00C1C37C8_11</vt:lpwstr>
  </property>
</Properties>
</file>