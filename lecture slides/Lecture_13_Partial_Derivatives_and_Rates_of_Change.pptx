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a five-minute recap of the chain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learning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D646"/>
                </a:solidFill>
                <a:latin typeface="Aptos"/>
              </a:rPr>
              <a:t>Partial Derivatives and Rates of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18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42415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5-minute chain-rule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Partial derivatives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32304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Exponential chain-rule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Parametric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1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Tangent slope from a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171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17136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Velocity and acceleration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12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Second derivative and curvature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 and partial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chain rule: d[f(g(x))]/dx = f'(g(x))g'(x)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parametric: dy/dx = (dy/dt)/(dx/dt)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partial derivative: vary one variable; hold the others constant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2491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V(x, y, z) → ∂V/∂x, ∂V/∂y, ∂V/∂z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Partial derivatives in several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scalar quantity V may depend on x, y and 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V = V(x, y, 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Each partial derivative measures change with respect to one selected variable.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163824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310128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081E3F"/>
                </a:solidFill>
                <a:latin typeface="Aptos"/>
              </a:rPr>
              <a:t>∂V/∂x, ∂V/∂y, ∂V/∂z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5254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remaining variables are treated as constants.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Hold two variables constant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For ∂V/∂x: y and z are constants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For ∂V/∂y: x and z are constants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For ∂V/∂z: x and y are constants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Differentiate only the selected variable; copy every constant factor.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Partial derivatives: monomial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V = x²y³z⁴, find ∂V/∂x, ∂V/∂y and ∂V/∂z.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Partial derivatives: monomial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∂V/∂x = 2xy³z⁴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∂V/∂y = 3x²y²z⁴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∂V/∂z = 4x²y³z³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an exponential with an inner function, keep the exponential and multiply by the inner derivative.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56815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03120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If y = eᵘ, then dy/dx = eᵘ(du/dx)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Check the sign of the exponent carefully.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Exponential: negative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e⁻ˣ.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Exponential: negative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Outer derivative remains e⁻ˣ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Inner derivative: d(-x)/dx = 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-e⁻ˣ.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Exponential: negative x²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e⁻ˣ².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Exponential: negative x²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Outer derivative: e⁻ˣ²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Inner derivative: d(-x²)/dx = -2x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-2x e⁻ˣ².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Rapid review: cosine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Differentiate y = A cos(kx), where A and k are constants.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Rapid review: cosine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d[cos(kx)]/dx = -sin(kx)·k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-Ak sin(kx).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Rapid review: e³ˣ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5e³ˣ.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Rapid review: e³ˣ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d(e³ˣ)/dx = 3e³ˣ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15e³ˣ.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Exponential: e⁻⁴ˣ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e⁻⁴ˣ.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Exponential: e⁻⁴ˣ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The inner exponent is -4x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d(-4x)/dx = 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-4e⁻⁴ˣ.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Rapid review: sine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3sin(x²+2).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Rapid review: sine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Outer derivative: 3cos(x²+2)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Inner derivative: 2x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6x cos(x²+2).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Parametric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x and y depend on a parameter, divide their rates with respect to that parameter.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66544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dy/dx = (dy/dt)/(dx/dt)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72384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This gives the tangent slope without first eliminating the parameter.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Parametric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If y = 2t³+1 and x = t², find dy/dx.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Parametric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dy/dt = 6t² and dx/dt = 2t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3t, for t≠0.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Parametric trigonometric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If y = sin θ and x = cos θ, find dy/dx.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Parametric trigonometric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dy/dθ = cos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dx/dθ = -sin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-cot θ, where sin θ≠0.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Derivative gives the exact tangent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983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y = 2x², dy/dx = 4x. At x = 1, the exact slope is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66543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tangent at (1, 2): y-2 = 4(x-1)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37960" y="5086096"/>
            <a:ext cx="43434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23810" y="1225296"/>
            <a:ext cx="0" cy="434340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16768" y="513181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7818" y="1225296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37960" y="5031232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73368" y="515924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09660" y="5031232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45068" y="515924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95510" y="5031232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30918" y="515924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81360" y="5031232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16768" y="515924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68946" y="4120896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03186" y="40203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68946" y="3155696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03186" y="30551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68946" y="2190495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03186" y="208991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68946" y="1225295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03186" y="112471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1202" y="5159248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37960" y="4120896"/>
            <a:ext cx="18399" cy="3243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56359" y="4153328"/>
            <a:ext cx="18399" cy="3187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74758" y="4185206"/>
            <a:ext cx="18399" cy="3132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93157" y="4216530"/>
            <a:ext cx="18399" cy="3077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11556" y="4247300"/>
            <a:ext cx="18399" cy="3021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29955" y="4277515"/>
            <a:ext cx="18399" cy="2966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48354" y="4307176"/>
            <a:ext cx="18399" cy="2910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66753" y="4336283"/>
            <a:ext cx="18400" cy="2855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685153" y="4364836"/>
            <a:ext cx="18399" cy="2799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03552" y="4392835"/>
            <a:ext cx="18399" cy="2744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21951" y="4420279"/>
            <a:ext cx="18399" cy="2689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40350" y="4447169"/>
            <a:ext cx="18399" cy="2633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58749" y="4473505"/>
            <a:ext cx="18399" cy="2578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77148" y="4499286"/>
            <a:ext cx="18399" cy="2522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95547" y="4524513"/>
            <a:ext cx="18399" cy="2467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13946" y="4549186"/>
            <a:ext cx="18400" cy="2411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32346" y="4573305"/>
            <a:ext cx="18399" cy="2356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50745" y="4596870"/>
            <a:ext cx="18399" cy="2301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869144" y="4619880"/>
            <a:ext cx="18399" cy="2245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887543" y="4642336"/>
            <a:ext cx="18399" cy="2190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05942" y="4664238"/>
            <a:ext cx="18399" cy="2134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924341" y="4685585"/>
            <a:ext cx="18399" cy="2079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42740" y="4706378"/>
            <a:ext cx="18399" cy="2023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61139" y="4726617"/>
            <a:ext cx="18400" cy="1968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79539" y="4746302"/>
            <a:ext cx="18399" cy="1913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97938" y="4765433"/>
            <a:ext cx="18399" cy="1857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016337" y="4784009"/>
            <a:ext cx="18399" cy="1802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034736" y="4802031"/>
            <a:ext cx="18399" cy="1746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053135" y="4819499"/>
            <a:ext cx="18399" cy="1691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071534" y="4836412"/>
            <a:ext cx="18399" cy="1636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89933" y="4852772"/>
            <a:ext cx="18399" cy="1580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108332" y="4868577"/>
            <a:ext cx="18400" cy="1525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126732" y="4883828"/>
            <a:ext cx="18399" cy="1469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145131" y="4898524"/>
            <a:ext cx="18399" cy="1414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163530" y="4912667"/>
            <a:ext cx="18399" cy="1358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181929" y="4926255"/>
            <a:ext cx="18399" cy="1303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200328" y="4939289"/>
            <a:ext cx="18399" cy="1247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218727" y="4951768"/>
            <a:ext cx="18399" cy="1192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37126" y="4963694"/>
            <a:ext cx="18399" cy="1137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255525" y="4975065"/>
            <a:ext cx="18400" cy="1081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273925" y="4985882"/>
            <a:ext cx="18399" cy="1026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292324" y="4996144"/>
            <a:ext cx="18399" cy="970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310723" y="5005853"/>
            <a:ext cx="18399" cy="915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329122" y="5015007"/>
            <a:ext cx="18399" cy="860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47521" y="5023607"/>
            <a:ext cx="18399" cy="804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365920" y="5031652"/>
            <a:ext cx="18399" cy="749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384319" y="5039144"/>
            <a:ext cx="18399" cy="693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02718" y="5046081"/>
            <a:ext cx="18399" cy="638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21117" y="5052464"/>
            <a:ext cx="18400" cy="582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39517" y="5058292"/>
            <a:ext cx="18399" cy="527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57916" y="5063567"/>
            <a:ext cx="18399" cy="472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476315" y="5068287"/>
            <a:ext cx="18399" cy="416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494714" y="5072453"/>
            <a:ext cx="18399" cy="361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513113" y="5076064"/>
            <a:ext cx="18399" cy="305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531512" y="5079122"/>
            <a:ext cx="18399" cy="250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549911" y="5081625"/>
            <a:ext cx="18399" cy="194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568310" y="5083574"/>
            <a:ext cx="18400" cy="139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586710" y="5084969"/>
            <a:ext cx="18399" cy="84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605109" y="5085809"/>
            <a:ext cx="18399" cy="28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623508" y="5085827"/>
            <a:ext cx="18399" cy="26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641907" y="5085005"/>
            <a:ext cx="18399" cy="82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660306" y="5083629"/>
            <a:ext cx="18399" cy="137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678705" y="5081698"/>
            <a:ext cx="18399" cy="193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697104" y="5079213"/>
            <a:ext cx="18400" cy="248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715504" y="5076174"/>
            <a:ext cx="18399" cy="303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7733903" y="5072580"/>
            <a:ext cx="18399" cy="359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7752302" y="5068432"/>
            <a:ext cx="18399" cy="414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770701" y="5063730"/>
            <a:ext cx="18399" cy="470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789100" y="5058474"/>
            <a:ext cx="18399" cy="525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807499" y="5052664"/>
            <a:ext cx="18399" cy="581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825898" y="5046299"/>
            <a:ext cx="18399" cy="636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844297" y="5039380"/>
            <a:ext cx="18400" cy="691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862697" y="5031907"/>
            <a:ext cx="18399" cy="747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881096" y="5023879"/>
            <a:ext cx="18399" cy="802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899495" y="5015297"/>
            <a:ext cx="18399" cy="858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917894" y="5006161"/>
            <a:ext cx="18399" cy="913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936293" y="4996471"/>
            <a:ext cx="18399" cy="969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54692" y="4986227"/>
            <a:ext cx="18399" cy="1024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973091" y="4975428"/>
            <a:ext cx="18399" cy="1079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991490" y="4964075"/>
            <a:ext cx="18400" cy="1135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009890" y="4952168"/>
            <a:ext cx="18399" cy="1190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028289" y="4939707"/>
            <a:ext cx="18399" cy="1246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046688" y="4926691"/>
            <a:ext cx="18399" cy="1301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065087" y="4913121"/>
            <a:ext cx="18399" cy="1357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083486" y="4898997"/>
            <a:ext cx="18399" cy="1412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101885" y="4884318"/>
            <a:ext cx="18399" cy="1467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20284" y="4869086"/>
            <a:ext cx="18399" cy="1523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138683" y="4853299"/>
            <a:ext cx="18400" cy="1578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157083" y="4836958"/>
            <a:ext cx="18399" cy="1634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175482" y="4820062"/>
            <a:ext cx="18399" cy="1689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193881" y="4802613"/>
            <a:ext cx="18399" cy="1744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212280" y="4784609"/>
            <a:ext cx="18399" cy="1800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230679" y="4766051"/>
            <a:ext cx="18399" cy="1855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249078" y="4746938"/>
            <a:ext cx="18399" cy="1911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267477" y="4727272"/>
            <a:ext cx="18399" cy="1966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285876" y="4707051"/>
            <a:ext cx="18400" cy="2022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304276" y="4686276"/>
            <a:ext cx="18399" cy="2077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8322675" y="4664946"/>
            <a:ext cx="18399" cy="2133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341074" y="4643063"/>
            <a:ext cx="18399" cy="2188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359473" y="4620625"/>
            <a:ext cx="18399" cy="2243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377872" y="4597633"/>
            <a:ext cx="18399" cy="2299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396271" y="4574086"/>
            <a:ext cx="18399" cy="2354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8414670" y="4549986"/>
            <a:ext cx="18399" cy="2410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433069" y="4525331"/>
            <a:ext cx="18400" cy="2465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51469" y="4500122"/>
            <a:ext cx="18399" cy="2520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469868" y="4474359"/>
            <a:ext cx="18399" cy="2576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488267" y="4448041"/>
            <a:ext cx="18399" cy="2631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506666" y="4421169"/>
            <a:ext cx="18399" cy="2687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525065" y="4393743"/>
            <a:ext cx="18399" cy="2742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543464" y="4365763"/>
            <a:ext cx="18399" cy="2798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561863" y="4337228"/>
            <a:ext cx="18399" cy="2853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580262" y="4308140"/>
            <a:ext cx="18400" cy="2908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598662" y="4278496"/>
            <a:ext cx="18399" cy="2964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617061" y="4248299"/>
            <a:ext cx="18399" cy="3019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8635460" y="4217548"/>
            <a:ext cx="18399" cy="3075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653859" y="4186242"/>
            <a:ext cx="18399" cy="3130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8672258" y="4154382"/>
            <a:ext cx="18399" cy="3186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8690657" y="4121968"/>
            <a:ext cx="18399" cy="3241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8709056" y="4088999"/>
            <a:ext cx="18399" cy="3296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8727455" y="4055476"/>
            <a:ext cx="18400" cy="3352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8745855" y="4021399"/>
            <a:ext cx="18399" cy="3407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8764254" y="3986768"/>
            <a:ext cx="18399" cy="3463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782653" y="3951583"/>
            <a:ext cx="18399" cy="3518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8801052" y="3915843"/>
            <a:ext cx="18399" cy="3574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8819451" y="3879549"/>
            <a:ext cx="18399" cy="3629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8837850" y="3842701"/>
            <a:ext cx="18399" cy="3684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8856249" y="3805298"/>
            <a:ext cx="18399" cy="3740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8874648" y="3767342"/>
            <a:ext cx="18400" cy="3795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8893048" y="3728831"/>
            <a:ext cx="18399" cy="3851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8911447" y="3689765"/>
            <a:ext cx="18399" cy="3906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8929846" y="3650146"/>
            <a:ext cx="18399" cy="3961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8948245" y="3609972"/>
            <a:ext cx="18399" cy="4017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8966644" y="3569244"/>
            <a:ext cx="18399" cy="4072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8985043" y="3527962"/>
            <a:ext cx="18399" cy="4128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003442" y="3486126"/>
            <a:ext cx="18399" cy="4183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9021841" y="3443735"/>
            <a:ext cx="18400" cy="4239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9040241" y="3400790"/>
            <a:ext cx="18399" cy="4294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9058640" y="3357291"/>
            <a:ext cx="18399" cy="4349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9077039" y="3313238"/>
            <a:ext cx="18399" cy="4405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9095438" y="3268630"/>
            <a:ext cx="18399" cy="4460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113837" y="3223468"/>
            <a:ext cx="18399" cy="4516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132236" y="3177752"/>
            <a:ext cx="18399" cy="4571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50635" y="3131481"/>
            <a:ext cx="18399" cy="4627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69034" y="3084657"/>
            <a:ext cx="18400" cy="4682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87434" y="3037278"/>
            <a:ext cx="18399" cy="4737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05833" y="2989345"/>
            <a:ext cx="18399" cy="4793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24232" y="2940857"/>
            <a:ext cx="18399" cy="4848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242631" y="2891816"/>
            <a:ext cx="18399" cy="4904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261030" y="2842220"/>
            <a:ext cx="18399" cy="4959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279429" y="2792070"/>
            <a:ext cx="18399" cy="5015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297828" y="2741365"/>
            <a:ext cx="18399" cy="5070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316227" y="2690107"/>
            <a:ext cx="18400" cy="5125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334627" y="2638294"/>
            <a:ext cx="18399" cy="5181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353026" y="2585927"/>
            <a:ext cx="18399" cy="5236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371425" y="2533006"/>
            <a:ext cx="18399" cy="5292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389824" y="2479530"/>
            <a:ext cx="18399" cy="5347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408223" y="2425500"/>
            <a:ext cx="18399" cy="5403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426622" y="2370916"/>
            <a:ext cx="18399" cy="5458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445021" y="2315778"/>
            <a:ext cx="18399" cy="5513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463420" y="2260085"/>
            <a:ext cx="18400" cy="5569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481820" y="2203838"/>
            <a:ext cx="18399" cy="5624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500219" y="2147037"/>
            <a:ext cx="18399" cy="5680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9518618" y="2089682"/>
            <a:ext cx="18399" cy="5735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9537017" y="2031773"/>
            <a:ext cx="18399" cy="5790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9555416" y="1973309"/>
            <a:ext cx="18399" cy="5846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9573815" y="1914291"/>
            <a:ext cx="18399" cy="59018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9592214" y="1854718"/>
            <a:ext cx="18399" cy="5957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9610613" y="1794592"/>
            <a:ext cx="18400" cy="60126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9629013" y="1733911"/>
            <a:ext cx="18399" cy="6068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9647412" y="1672676"/>
            <a:ext cx="18399" cy="6123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9665811" y="1610887"/>
            <a:ext cx="18399" cy="61789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9684210" y="1548543"/>
            <a:ext cx="18399" cy="62344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9702609" y="1485646"/>
            <a:ext cx="18399" cy="6289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9721008" y="1422194"/>
            <a:ext cx="18399" cy="6345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9739407" y="1358187"/>
            <a:ext cx="18399" cy="64007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757806" y="1293627"/>
            <a:ext cx="18400" cy="64560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776206" y="1228512"/>
            <a:ext cx="18399" cy="65115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919704" y="5460111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956351" y="5394959"/>
            <a:ext cx="36648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992999" y="5329808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8029646" y="5264657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8066293" y="5199506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8102941" y="5134356"/>
            <a:ext cx="36647" cy="651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8139588" y="5069204"/>
            <a:ext cx="36648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8176236" y="5004054"/>
            <a:ext cx="36647" cy="651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8212883" y="4938903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8249531" y="4873752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8286178" y="4808601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8322825" y="4743450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359473" y="4678298"/>
            <a:ext cx="36647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8396120" y="4613148"/>
            <a:ext cx="36648" cy="651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432768" y="4547997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469415" y="4482846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8506063" y="4417695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8542710" y="4352544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8579358" y="4287393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8616005" y="4222242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8652652" y="4157090"/>
            <a:ext cx="36648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8689300" y="4091939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8725947" y="4026788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8762595" y="3961637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8799242" y="3896486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8835890" y="3831335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8872537" y="3766184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8909184" y="3701033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8945832" y="3635882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8982479" y="3570731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9019127" y="3505580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9055774" y="3440429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9092422" y="3375278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9129069" y="3310127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9165717" y="3244976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9202364" y="3179826"/>
            <a:ext cx="36647" cy="651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9239011" y="3114674"/>
            <a:ext cx="36648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9275659" y="3049523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9312306" y="2984372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9348954" y="2919221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9385601" y="2854071"/>
            <a:ext cx="36648" cy="651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9422249" y="2788919"/>
            <a:ext cx="36647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9458896" y="2723769"/>
            <a:ext cx="36647" cy="651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9495543" y="2658617"/>
            <a:ext cx="36648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532191" y="2593466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568838" y="2528315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605486" y="2463164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642133" y="2398013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9678781" y="2332862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9715428" y="2267711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9752076" y="2202560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788723" y="2137410"/>
            <a:ext cx="36647" cy="651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9825370" y="2072259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9862018" y="2007107"/>
            <a:ext cx="36647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9898665" y="1941956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9935313" y="1876806"/>
            <a:ext cx="36647" cy="651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9971960" y="1811655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008608" y="1746504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045255" y="1681353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081902" y="1616202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0118550" y="1551051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0155197" y="1485900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0191845" y="1420749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0228492" y="1355598"/>
            <a:ext cx="36648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0265140" y="1290447"/>
            <a:ext cx="36647" cy="65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0301787" y="1225295"/>
            <a:ext cx="36648" cy="65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Oval 272"/>
          <p:cNvSpPr/>
          <p:nvPr/>
        </p:nvSpPr>
        <p:spPr>
          <a:xfrm>
            <a:off x="8659368" y="4070604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8819388" y="384657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(1, 2)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Slope of a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Find the slope of y = 2x² at x = 1.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Slope of a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Step 1:  dy/dx = 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At x = 1: slope = 4(1)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Slope = 4.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Slope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the slope of y = 3x²+5x-4 at x = 1.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Slope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Step 1:  dy/dx = 6x+5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At x = 1, slope = 6+5 = 11.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Power and chain rule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4/(x²-5), where x²≠5.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Power and chain rule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Write y = 4(x²-5)⁻¹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dy/dx = 4(-1)(x²-5)⁻²(2x)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-8x/(x²-5)².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Negative half-power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Differentiate y = 3/√(x²-4x), where x²-4x &gt; 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Negative half-power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Write y = 3(x²-4x)⁻¹ᐟ²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dy/dx = 3(-1/2)(x²-4x)⁻³ᐟ²(2x-4)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-3(x-2)/(x²-4x)³ᐟ².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11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Velocity and acceleration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position x changes with time t, its first derivative is velocity.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5AC8FF"/>
                </a:solidFill>
                <a:latin typeface="Aptos"/>
              </a:rPr>
              <a:t>v = dx/dt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derivative of velocity is acceleration.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8211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5AC8FF"/>
                </a:solidFill>
                <a:latin typeface="Aptos"/>
              </a:rPr>
              <a:t>a = dv/dt = d²x/dt²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First derivative: velocity. Second derivative: acceleration.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Second derivative and curvature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first derivative dy/dx gives slope.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second derivative d²y/dx² tells how the slope changes with x.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505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968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081E3F"/>
                </a:solidFill>
                <a:latin typeface="Aptos"/>
              </a:rPr>
              <a:t>d²y/dx² &gt; 0 → slope increases → curve is concave upward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84448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730752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081E3F"/>
                </a:solidFill>
                <a:latin typeface="Aptos"/>
              </a:rPr>
              <a:t>d²y/dx² &lt; 0 → slope decreases → curve is concave downward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Increasing slope on a concave-up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983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y = (x-2)²+1, dy/dx = 2(x-2) and d²y/dx² = 2 &gt;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7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As x increases, slope changes from negative to zero to positive.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37960" y="5173841"/>
            <a:ext cx="43434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61860" y="1225296"/>
            <a:ext cx="0" cy="434340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16768" y="5219561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5868" y="1225296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37960" y="5118977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73368" y="5246993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85760" y="5118977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21168" y="5246993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09660" y="5118977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45068" y="5246993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33560" y="5118977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68968" y="5246993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57460" y="5118977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992868" y="5246993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81360" y="5118977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716768" y="5246993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06996" y="4778986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41236" y="467840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06996" y="3594423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41236" y="3493839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06996" y="240985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41236" y="230927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06996" y="1225295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41236" y="112471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9252" y="5246993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37960" y="1225295"/>
            <a:ext cx="21717" cy="7071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59677" y="1296014"/>
            <a:ext cx="21717" cy="7000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581394" y="1366022"/>
            <a:ext cx="21717" cy="6929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03111" y="1435319"/>
            <a:ext cx="21717" cy="6858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624828" y="1503905"/>
            <a:ext cx="21717" cy="6787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646545" y="1571780"/>
            <a:ext cx="21717" cy="6716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68262" y="1638945"/>
            <a:ext cx="21717" cy="6645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89979" y="1705399"/>
            <a:ext cx="21717" cy="6574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11696" y="1771142"/>
            <a:ext cx="21717" cy="6503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33413" y="1836175"/>
            <a:ext cx="21717" cy="6432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55130" y="1900497"/>
            <a:ext cx="21717" cy="6361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76847" y="1964108"/>
            <a:ext cx="21717" cy="6290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98564" y="2027008"/>
            <a:ext cx="21717" cy="6219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20281" y="2089198"/>
            <a:ext cx="21717" cy="6147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841998" y="2150677"/>
            <a:ext cx="21717" cy="6076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863715" y="2211445"/>
            <a:ext cx="21717" cy="6005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885432" y="2271502"/>
            <a:ext cx="21717" cy="5934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907149" y="2330849"/>
            <a:ext cx="21717" cy="5863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28866" y="2389485"/>
            <a:ext cx="21717" cy="5792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50583" y="2447410"/>
            <a:ext cx="21717" cy="5721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72300" y="2504624"/>
            <a:ext cx="21717" cy="5650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94017" y="2561128"/>
            <a:ext cx="21717" cy="5579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015734" y="2616921"/>
            <a:ext cx="21717" cy="5508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037451" y="2672003"/>
            <a:ext cx="21717" cy="5437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059168" y="2726375"/>
            <a:ext cx="21717" cy="5366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080885" y="2780035"/>
            <a:ext cx="21717" cy="5295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102602" y="2832985"/>
            <a:ext cx="21717" cy="5224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124319" y="2885225"/>
            <a:ext cx="21717" cy="5152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146036" y="2936753"/>
            <a:ext cx="21717" cy="5081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167753" y="2987571"/>
            <a:ext cx="21717" cy="5010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189470" y="3037678"/>
            <a:ext cx="21717" cy="4939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211187" y="3087074"/>
            <a:ext cx="21717" cy="4868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232904" y="3135760"/>
            <a:ext cx="21717" cy="4797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254621" y="3183735"/>
            <a:ext cx="21717" cy="4726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76338" y="3230999"/>
            <a:ext cx="21717" cy="4655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298055" y="3277552"/>
            <a:ext cx="21717" cy="4584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319772" y="3323395"/>
            <a:ext cx="21717" cy="451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341489" y="3368526"/>
            <a:ext cx="21717" cy="4442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363206" y="3412948"/>
            <a:ext cx="21717" cy="4371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384923" y="3456658"/>
            <a:ext cx="21717" cy="4300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406640" y="3499658"/>
            <a:ext cx="21717" cy="4228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28357" y="3541947"/>
            <a:ext cx="21717" cy="41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450074" y="3583525"/>
            <a:ext cx="21717" cy="4086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71791" y="3624392"/>
            <a:ext cx="21717" cy="4015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93508" y="3664549"/>
            <a:ext cx="21717" cy="394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15225" y="3703995"/>
            <a:ext cx="21717" cy="387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36942" y="3742730"/>
            <a:ext cx="21716" cy="3802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58658" y="3780755"/>
            <a:ext cx="21718" cy="3731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580376" y="3818068"/>
            <a:ext cx="21717" cy="3660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602093" y="3854671"/>
            <a:ext cx="21717" cy="3589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23810" y="3890564"/>
            <a:ext cx="21717" cy="3518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645527" y="3925745"/>
            <a:ext cx="21717" cy="3447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667244" y="3960216"/>
            <a:ext cx="21717" cy="3376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688961" y="3993976"/>
            <a:ext cx="21717" cy="3304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710678" y="4027025"/>
            <a:ext cx="21717" cy="3233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732395" y="4059364"/>
            <a:ext cx="21717" cy="3162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754112" y="4090992"/>
            <a:ext cx="21717" cy="3091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775829" y="4121909"/>
            <a:ext cx="21717" cy="302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797546" y="4152115"/>
            <a:ext cx="21717" cy="2949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819263" y="4181611"/>
            <a:ext cx="21717" cy="2878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840980" y="4210396"/>
            <a:ext cx="21717" cy="2807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862697" y="4238470"/>
            <a:ext cx="21717" cy="2736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884414" y="4265833"/>
            <a:ext cx="21717" cy="2665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906131" y="4292486"/>
            <a:ext cx="21717" cy="2594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927848" y="4318428"/>
            <a:ext cx="21717" cy="252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9565" y="4343659"/>
            <a:ext cx="21717" cy="2452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971282" y="4368180"/>
            <a:ext cx="21717" cy="2380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992999" y="4391989"/>
            <a:ext cx="21717" cy="230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014716" y="4415088"/>
            <a:ext cx="21717" cy="2238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036433" y="4437477"/>
            <a:ext cx="21717" cy="216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058150" y="4459154"/>
            <a:ext cx="21717" cy="2096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079867" y="4480121"/>
            <a:ext cx="21717" cy="2025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101584" y="4500377"/>
            <a:ext cx="21717" cy="195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123301" y="4519922"/>
            <a:ext cx="21717" cy="188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145018" y="4538757"/>
            <a:ext cx="21717" cy="1812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166735" y="4556881"/>
            <a:ext cx="21717" cy="1741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188452" y="4574294"/>
            <a:ext cx="21717" cy="1670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210169" y="4590996"/>
            <a:ext cx="21717" cy="1599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231886" y="4606988"/>
            <a:ext cx="21717" cy="1528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253603" y="4622269"/>
            <a:ext cx="21717" cy="1457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275320" y="4636839"/>
            <a:ext cx="21717" cy="1385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297037" y="4650698"/>
            <a:ext cx="21717" cy="1314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318754" y="4663847"/>
            <a:ext cx="21717" cy="1243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340471" y="4676285"/>
            <a:ext cx="21717" cy="1172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362188" y="4688012"/>
            <a:ext cx="21716" cy="1101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383904" y="4699028"/>
            <a:ext cx="21718" cy="103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405622" y="4709334"/>
            <a:ext cx="21717" cy="959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427339" y="4718929"/>
            <a:ext cx="21717" cy="888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449056" y="4727813"/>
            <a:ext cx="21717" cy="817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470773" y="4735987"/>
            <a:ext cx="21717" cy="746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492490" y="4743450"/>
            <a:ext cx="21717" cy="67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514207" y="4750202"/>
            <a:ext cx="21717" cy="604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535924" y="4756243"/>
            <a:ext cx="21717" cy="533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557641" y="4761573"/>
            <a:ext cx="21717" cy="462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579358" y="4766193"/>
            <a:ext cx="21717" cy="390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601075" y="4770102"/>
            <a:ext cx="21717" cy="31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622792" y="4773301"/>
            <a:ext cx="21717" cy="248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644509" y="4775788"/>
            <a:ext cx="21717" cy="17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666226" y="4777565"/>
            <a:ext cx="21717" cy="106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687943" y="4778631"/>
            <a:ext cx="21717" cy="35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709660" y="4778631"/>
            <a:ext cx="21717" cy="35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731377" y="4777565"/>
            <a:ext cx="21717" cy="106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53094" y="4775788"/>
            <a:ext cx="21717" cy="17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811" y="4773301"/>
            <a:ext cx="21717" cy="248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796528" y="4770102"/>
            <a:ext cx="21717" cy="31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18245" y="4766193"/>
            <a:ext cx="21717" cy="390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839962" y="4761573"/>
            <a:ext cx="21717" cy="462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861679" y="4756243"/>
            <a:ext cx="21717" cy="533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883396" y="4750202"/>
            <a:ext cx="21717" cy="604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905113" y="4743450"/>
            <a:ext cx="21717" cy="675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8926830" y="4735987"/>
            <a:ext cx="21717" cy="746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948547" y="4727813"/>
            <a:ext cx="21717" cy="817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8970264" y="4718929"/>
            <a:ext cx="21717" cy="888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8991981" y="4709334"/>
            <a:ext cx="21717" cy="959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013698" y="4699028"/>
            <a:ext cx="21717" cy="103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035415" y="4688012"/>
            <a:ext cx="21717" cy="1101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057132" y="4676285"/>
            <a:ext cx="21717" cy="1172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078849" y="4663847"/>
            <a:ext cx="21717" cy="1243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100566" y="4650698"/>
            <a:ext cx="21717" cy="1314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122283" y="4636839"/>
            <a:ext cx="21717" cy="1385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144000" y="4622269"/>
            <a:ext cx="21717" cy="1457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165717" y="4606988"/>
            <a:ext cx="21717" cy="1528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187434" y="4590996"/>
            <a:ext cx="21717" cy="1599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209151" y="4574294"/>
            <a:ext cx="21717" cy="1670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230868" y="4556881"/>
            <a:ext cx="21717" cy="1741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252585" y="4538757"/>
            <a:ext cx="21717" cy="1812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274302" y="4519922"/>
            <a:ext cx="21717" cy="188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296019" y="4500377"/>
            <a:ext cx="21717" cy="195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9317736" y="4480121"/>
            <a:ext cx="21717" cy="2025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339453" y="4459154"/>
            <a:ext cx="21717" cy="2096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361170" y="4437477"/>
            <a:ext cx="21717" cy="2167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9382887" y="4415088"/>
            <a:ext cx="21717" cy="2238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9404604" y="4391989"/>
            <a:ext cx="21717" cy="2309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9426321" y="4368180"/>
            <a:ext cx="21717" cy="2380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9448038" y="4343659"/>
            <a:ext cx="21717" cy="2452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9469755" y="4318428"/>
            <a:ext cx="21717" cy="252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491472" y="4292486"/>
            <a:ext cx="21717" cy="2594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513189" y="4265833"/>
            <a:ext cx="21717" cy="2665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534906" y="4238470"/>
            <a:ext cx="21717" cy="2736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556623" y="4210396"/>
            <a:ext cx="21717" cy="2807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578340" y="4181611"/>
            <a:ext cx="21717" cy="2878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600057" y="4152115"/>
            <a:ext cx="21717" cy="2949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621774" y="4121909"/>
            <a:ext cx="21717" cy="3020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643491" y="4090992"/>
            <a:ext cx="21717" cy="3091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665208" y="4059364"/>
            <a:ext cx="21717" cy="3162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686925" y="4027025"/>
            <a:ext cx="21717" cy="3233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708642" y="3993976"/>
            <a:ext cx="21717" cy="3304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730359" y="3960216"/>
            <a:ext cx="21717" cy="3376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752076" y="3925745"/>
            <a:ext cx="21717" cy="3447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773793" y="3890564"/>
            <a:ext cx="21717" cy="3518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795510" y="3854671"/>
            <a:ext cx="21717" cy="3589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817227" y="3818068"/>
            <a:ext cx="21717" cy="3660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838944" y="3780755"/>
            <a:ext cx="21717" cy="3731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860661" y="3742730"/>
            <a:ext cx="21717" cy="3802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82378" y="3703995"/>
            <a:ext cx="21717" cy="3873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904095" y="3664549"/>
            <a:ext cx="21717" cy="394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25812" y="3624392"/>
            <a:ext cx="21717" cy="4015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47529" y="3583525"/>
            <a:ext cx="21717" cy="4086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9969246" y="3541947"/>
            <a:ext cx="21717" cy="4157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9990963" y="3499658"/>
            <a:ext cx="21717" cy="4228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12680" y="3456658"/>
            <a:ext cx="21717" cy="4300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034397" y="3412948"/>
            <a:ext cx="21717" cy="4371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056114" y="3368526"/>
            <a:ext cx="21717" cy="4442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077831" y="3323395"/>
            <a:ext cx="21717" cy="4513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099548" y="3277552"/>
            <a:ext cx="21717" cy="4584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121265" y="3230999"/>
            <a:ext cx="21717" cy="4655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142982" y="3183735"/>
            <a:ext cx="21717" cy="4726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164699" y="3135760"/>
            <a:ext cx="21717" cy="4797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186416" y="3087074"/>
            <a:ext cx="21717" cy="4868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0208133" y="3037678"/>
            <a:ext cx="21717" cy="4939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0229850" y="2987571"/>
            <a:ext cx="21717" cy="5010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0251567" y="2936753"/>
            <a:ext cx="21717" cy="5081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0273284" y="2885225"/>
            <a:ext cx="21717" cy="5152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0295001" y="2832985"/>
            <a:ext cx="21716" cy="5224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0316717" y="2780035"/>
            <a:ext cx="21718" cy="5295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0338435" y="2726375"/>
            <a:ext cx="21717" cy="5366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10360152" y="2672003"/>
            <a:ext cx="21717" cy="5437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0381869" y="2616921"/>
            <a:ext cx="21717" cy="5508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0403586" y="2561128"/>
            <a:ext cx="21717" cy="5579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0425303" y="2504624"/>
            <a:ext cx="21717" cy="5650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0447020" y="2447410"/>
            <a:ext cx="21717" cy="5721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0468737" y="2389485"/>
            <a:ext cx="21717" cy="5792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0490454" y="2330849"/>
            <a:ext cx="21717" cy="5863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0512171" y="2271502"/>
            <a:ext cx="21717" cy="5934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0533888" y="2211445"/>
            <a:ext cx="21717" cy="6005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0555605" y="2150677"/>
            <a:ext cx="21717" cy="6076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577322" y="2089198"/>
            <a:ext cx="21717" cy="6147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599039" y="2027008"/>
            <a:ext cx="21717" cy="6219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620756" y="1964108"/>
            <a:ext cx="21717" cy="62900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642473" y="1900497"/>
            <a:ext cx="21717" cy="6361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0664190" y="1836175"/>
            <a:ext cx="21717" cy="64322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0685907" y="1771142"/>
            <a:ext cx="21717" cy="6503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0707624" y="1705399"/>
            <a:ext cx="21717" cy="65743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0729341" y="1638945"/>
            <a:ext cx="21717" cy="66454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0751058" y="1571780"/>
            <a:ext cx="21717" cy="6716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0772775" y="1503905"/>
            <a:ext cx="21717" cy="6787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0794492" y="1435319"/>
            <a:ext cx="21717" cy="6858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0816209" y="1366022"/>
            <a:ext cx="21717" cy="69297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0837926" y="1296014"/>
            <a:ext cx="21716" cy="70008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0859642" y="1225295"/>
            <a:ext cx="21718" cy="70719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8659368" y="4728694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801100" y="450466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minimum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Differentiation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partial derivative: change one variable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chain rule: outer derivative × inner derivative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parametric slope: dy/dx = (dy/dt)/(dx/dt)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velocity = dx/dt; acceleration = d²x/dt²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second derivative describes change of slope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every partial-derivative question without looking at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Redo the exponential chain-rule examples.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3230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Draw y = 2x² and its tangent at x =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72384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Explain why velocity and acceleration are derivatives.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1363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identify the independent variable before differentiating.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