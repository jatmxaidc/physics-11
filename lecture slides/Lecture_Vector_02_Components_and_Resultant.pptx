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Vector class notes 02 and 03 in one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class for Vector 02 and Vector 03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Vector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D646"/>
                </a:solidFill>
                <a:latin typeface="Aptos"/>
              </a:rPr>
              <a:t>Components and Resultant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29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058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Types of vectors,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Multiplying a vector by a scalar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How to read east of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79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79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Rectangular components and magnitude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6616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Triangle law and the resultant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062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Subtraction of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46319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46319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Addition by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864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8640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Dot product, angle, and unit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Types of vector — equality and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Equal: same magnitude, same direction, same kind of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Parallel: same direction. Magnitudes may differ. Every equal pair is parallel. A parallel pair need not be equal.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Negative: same magnitude, exactly opposite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Anti-parallel: opposite direction, magnitudes may differ. Every negative pair is anti-parallel. An anti-parallel pair need not be a negative pair.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Types of vector — size and 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vector: magnitude 1, no unit, direction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Zero vector: magnitude 0. Example: velocity of a car at 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Collinear: all lie on the same straight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Coplanar: all lie in the same plane.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Orthogonal: angle between them is 90°. Magnitudes may differ.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Concurrent: arrows act at the same point, even if magnitudes and directions differ.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Axial: direction is along the axis of rotation. Examples: torque, angular velocity, angular acceleration, angular momentum.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 does not make every quantity a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A: a quantity with no direction must be a scalar.   B: a quantity with a direction must be a vector.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Direction does not make every quantity a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is true. A scalar has no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B is false. Current has a direction but does not obey the triangle law.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true, B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Types of vectors —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329184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Magnitude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078992"/>
            <a:ext cx="402336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0375" y="1078992"/>
            <a:ext cx="39502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 between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45919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Equal, same kind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645919"/>
            <a:ext cx="329184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645919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645919"/>
            <a:ext cx="402336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5" y="1645919"/>
            <a:ext cx="39502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12848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Parallel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212848"/>
            <a:ext cx="329184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212848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may differ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212848"/>
            <a:ext cx="402336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5" y="2212848"/>
            <a:ext cx="39502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779776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Opposite (negative)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779776"/>
            <a:ext cx="329184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2779776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779776"/>
            <a:ext cx="402336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5" y="2779776"/>
            <a:ext cx="39502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346703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Anti-parallel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346703"/>
            <a:ext cx="329184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3346703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may differ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346703"/>
            <a:ext cx="402336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0375" y="3346703"/>
            <a:ext cx="39502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913631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913631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Orthogonal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913631"/>
            <a:ext cx="329184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3913631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may differ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3913631"/>
            <a:ext cx="402336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0375" y="3913631"/>
            <a:ext cx="39502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90°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Unit, null, collinear, coplanar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vector: magnitude 1, no unit. Â = A / |A|.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Null vector: magnitude 0. Direction is not defined. Example: two equal opposite forces, net force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Collinear: along one straight line, so the angle is 0° or 180°.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Coplanar: every arrow lies in the same plane.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Concurrent: the arrows pass through one common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Axial: along the axis of rotation. Examples: angular velocity, angular momentum, torque. Moment of inertia is not a vector.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Equal, parallel, opposite, anti-parallel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 not remember these by words only. Compare three things: kind, length and direction.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011680"/>
            <a:ext cx="17373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9112" y="1755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20 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514600"/>
            <a:ext cx="17373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39112" y="2258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20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Equal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same kind + same length + same direction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011680"/>
            <a:ext cx="18288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59552" y="1755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514600"/>
            <a:ext cx="1143000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16652" y="2258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5292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Parallel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same direction, length may differ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2011680"/>
            <a:ext cx="17373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51392" y="1755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909560" y="2514600"/>
            <a:ext cx="1737360" cy="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51392" y="2258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85292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Opposite / negative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1546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same length, exactly 180° direction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97280" y="4297680"/>
            <a:ext cx="21031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21992" y="4041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097280" y="4800600"/>
            <a:ext cx="1737360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39112" y="4544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389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Anti-parallel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opposite direction, length may differ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66344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Exam trap: equal is stronger than parallel. Opposite is stronger than anti-parallel.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Line, plane, point and 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These names tell you where the arrows live geometrically.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1965960"/>
            <a:ext cx="2926079" cy="0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1965960"/>
            <a:ext cx="10972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01952" y="17099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97480" y="1965960"/>
            <a:ext cx="914400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27832" y="17099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31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Collinear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554480"/>
            <a:ext cx="2880360" cy="1417320"/>
          </a:xfrm>
          <a:prstGeom prst="rect">
            <a:avLst/>
          </a:prstGeom>
          <a:solidFill>
            <a:srgbClr val="0A1219"/>
          </a:solidFill>
          <a:ln w="1270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4892040" y="1874519"/>
            <a:ext cx="1920240" cy="594361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5312" y="191566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74920" y="1965960"/>
            <a:ext cx="1280160" cy="6400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88152" y="202996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Coplanar</a:t>
            </a:r>
          </a:p>
        </p:txBody>
      </p:sp>
      <p:sp>
        <p:nvSpPr>
          <p:cNvPr id="20" name="Oval 19"/>
          <p:cNvSpPr/>
          <p:nvPr/>
        </p:nvSpPr>
        <p:spPr>
          <a:xfrm>
            <a:off x="9102852" y="229057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8183879" y="1691640"/>
            <a:ext cx="960121" cy="64008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37092" y="1755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144000" y="1783080"/>
            <a:ext cx="1097280" cy="54864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65792" y="1801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2331720"/>
            <a:ext cx="228600" cy="10515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31452" y="26014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611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Concurrent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148840" y="3977639"/>
            <a:ext cx="0" cy="1280161"/>
          </a:xfrm>
          <a:prstGeom prst="line">
            <a:avLst/>
          </a:prstGeom>
          <a:ln w="1524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48840" y="3977639"/>
            <a:ext cx="1005840" cy="640081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24912" y="404164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532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Axial vector: along rotation axis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0" y="5212080"/>
            <a:ext cx="14173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82612" y="4956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400800" y="3886200"/>
            <a:ext cx="0" cy="13258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73952" y="42931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6874478" y="5170638"/>
            <a:ext cx="1810" cy="414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6869064" y="5129512"/>
            <a:ext cx="5414" cy="4112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6860086" y="5089014"/>
            <a:ext cx="8978" cy="4049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847612" y="5049453"/>
            <a:ext cx="12474" cy="3956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6831738" y="5011130"/>
            <a:ext cx="15874" cy="3832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6812584" y="4974336"/>
            <a:ext cx="19154" cy="367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6790296" y="4939351"/>
            <a:ext cx="22288" cy="3498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6765044" y="4906442"/>
            <a:ext cx="25252" cy="3290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6737020" y="4875859"/>
            <a:ext cx="28024" cy="3058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6706437" y="4847835"/>
            <a:ext cx="30583" cy="2802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6673528" y="4822583"/>
            <a:ext cx="32909" cy="252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6638544" y="4800295"/>
            <a:ext cx="34984" cy="2228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6601749" y="4781141"/>
            <a:ext cx="36795" cy="1915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6563426" y="4765267"/>
            <a:ext cx="38323" cy="1587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6523865" y="4752793"/>
            <a:ext cx="39561" cy="1247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6483367" y="4743815"/>
            <a:ext cx="40498" cy="897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6442241" y="4738401"/>
            <a:ext cx="41126" cy="541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6400800" y="4736592"/>
            <a:ext cx="41441" cy="180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788747" y="482413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90°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Orthogonal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statements are true?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1. Every parallel pair is equal.   2. Every equal pair is parallel.   3. Every anti-parallel pair is opposite.   4. Every opposite pair is anti-parallel.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statements are true?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1 is false. Parallel vectors may have different lengths.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2 is true. Equal vectors have the same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3 is false. Anti-parallel lengths may differ.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4:  4 is true. Opposite means same length and 180°, so they are anti-parallel.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Same number and same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 = 20 N east and v = 20 m/s east. Are F and v equal vectors?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Same number and same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Equal vectors must be the same kind of 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Force and velocity are different quantities, so they cannot be equal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Not equal. Two 20 N forces both east are equal.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Thrown up and thrown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Weight mg is always downward.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Object projected upward: velocity up, weight down. They are anti-parallel.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Object thrown downward: velocity and weight are both down. They are parallel.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Parallel means the same direction. It does not demand equal magnitude.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680960" y="2880360"/>
            <a:ext cx="0" cy="1097279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54112" y="3172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2880360"/>
            <a:ext cx="0" cy="1097279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48472" y="3172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mg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062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upward throw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38360" y="2880360"/>
            <a:ext cx="0" cy="1097279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11512" y="3172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20" y="2880360"/>
            <a:ext cx="0" cy="1097279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05872" y="3172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mg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2062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downward throw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Multiplying by a scalar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Positive scalar: magnitude changes, direction stays.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Negative scalar: magnitude changes, direction reverses.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a scalar does to an arrow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scalar does not create a new direction unless the scalar is negative.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10312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84832" y="18470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103120"/>
            <a:ext cx="3108961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05272" y="18470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4871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positive scalar: same direction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384048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84832" y="3584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743200" y="3840480"/>
            <a:ext cx="2926080" cy="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79392" y="3584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-2A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224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negative scalar: reversed direction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057400"/>
            <a:ext cx="352044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16712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Board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96312"/>
            <a:ext cx="324612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kA keeps A's line. k &gt; 0 keeps direction. k &lt; 0 reverses direction.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3F and minus 2F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 = 10 N î. Find 3F, F/2 and -2F.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3F and minus 2F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3F = 30 N î. Same direction, longer.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F/2 = 5 N î. Same direction, shorter.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-2F = -20 N î. Opposite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The minus sign flips the arrow. It does not change the kind of quantity.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= 30 î + 20 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2A, A/2 and -5A.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 = 30 î + 20 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2A = 60 î + 40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A/2 = 15 î + 10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-5A = -150 î - 100 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Multiply every component. A minus outside flips both.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= 30 m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3A, A/3, -5A, the magnitude of A, and the unit vector.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 = 30 m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3A = 90 m î and A/3 = 10 m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-5A = -150 m 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|A| = 30 m. The unit vector is î, with no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Unit vector = vector / magnitude.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to read a compass phrase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The last word is the reference line. The first word is the side you turn toward.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30° east of south: start facing south, turn 30° toward east.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60° south of east: start facing east, turn 60° toward south.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Those two phrases describe the same arrow.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050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East of south is not the same wording as south of east, even when the angles add to 90°.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3542385"/>
            <a:ext cx="29260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851392" y="205740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24544" y="199339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45262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3588105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588105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51392" y="3542385"/>
            <a:ext cx="1051560" cy="178308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50324" y="417789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30° E of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also 60° S of 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Compass phrases: one ray can have two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Start from the last word. Turn toward the first word. The same slanted ray can be described from either nearby axis.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882542"/>
            <a:ext cx="40233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660904" y="1920240"/>
            <a:ext cx="0" cy="338328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06624" y="184708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52852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392826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2826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4" y="3882542"/>
            <a:ext cx="1600200" cy="269748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34156" y="497525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F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60904" y="4540631"/>
            <a:ext cx="19148" cy="27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80052" y="4539796"/>
            <a:ext cx="19132" cy="8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699184" y="4538405"/>
            <a:ext cx="19100" cy="139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18284" y="4536458"/>
            <a:ext cx="19051" cy="19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737335" y="4533959"/>
            <a:ext cx="18987" cy="249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756322" y="4530908"/>
            <a:ext cx="18906" cy="305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75228" y="4527308"/>
            <a:ext cx="18809" cy="36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794037" y="4523164"/>
            <a:ext cx="18697" cy="414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12734" y="4518477"/>
            <a:ext cx="18568" cy="468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31302" y="4513252"/>
            <a:ext cx="18424" cy="522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49726" y="4507493"/>
            <a:ext cx="18264" cy="575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867990" y="4501205"/>
            <a:ext cx="18089" cy="628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886079" y="4494395"/>
            <a:ext cx="17898" cy="681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903977" y="4487066"/>
            <a:ext cx="17693" cy="732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921670" y="4479226"/>
            <a:ext cx="17472" cy="784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939142" y="4470881"/>
            <a:ext cx="17237" cy="834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956379" y="4462038"/>
            <a:ext cx="16986" cy="88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973365" y="4452705"/>
            <a:ext cx="16723" cy="933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50235" y="458913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30°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665042" y="3882542"/>
            <a:ext cx="1702" cy="58484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659942" y="3941026"/>
            <a:ext cx="5100" cy="58287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651463" y="3999313"/>
            <a:ext cx="8479" cy="57891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639631" y="4057204"/>
            <a:ext cx="11832" cy="57301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624488" y="4114505"/>
            <a:ext cx="15143" cy="56515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606084" y="4171020"/>
            <a:ext cx="18404" cy="55539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584482" y="4226559"/>
            <a:ext cx="21602" cy="54376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559755" y="4280935"/>
            <a:ext cx="24727" cy="53027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531986" y="4333962"/>
            <a:ext cx="27769" cy="51500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501271" y="4385462"/>
            <a:ext cx="30715" cy="49798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467711" y="4435260"/>
            <a:ext cx="33560" cy="47928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431422" y="4483188"/>
            <a:ext cx="36289" cy="45895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392525" y="4529083"/>
            <a:ext cx="38897" cy="43708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351153" y="4572791"/>
            <a:ext cx="41372" cy="41372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307445" y="4614163"/>
            <a:ext cx="43708" cy="38897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61549" y="4653060"/>
            <a:ext cx="45896" cy="36289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213622" y="4689349"/>
            <a:ext cx="47927" cy="33560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163824" y="4722909"/>
            <a:ext cx="49798" cy="30716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595338" y="442203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60°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89320" y="1920240"/>
            <a:ext cx="438912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D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30° east of south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2359152"/>
            <a:ext cx="4114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Reference = south. Turn 30° toward east.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89320" y="3337560"/>
            <a:ext cx="438912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34472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60° south of east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3776472"/>
            <a:ext cx="4114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Reference = east. Turn 60° toward south.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48920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Both names point to the same ray.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between the equal vectors changes when one is reversed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 an equilateral layout, angle between A and B is 120°. Find the angle between A and -B, and between A and -C if angle A with C is 60°.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between the equal vectors changes when one is reversed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Reversing one arrow changes 120° into 180 - 120 = 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If angle between A and C is 60, angle between A and -C is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Flip one arrow, and the angle becomes its supplement.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4069080"/>
            <a:ext cx="1828801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85632" y="3813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6583680" y="2514600"/>
            <a:ext cx="914399" cy="15544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14031" y="3035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498079" y="2514600"/>
            <a:ext cx="914401" cy="15544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28431" y="3035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829800" y="2514600"/>
            <a:ext cx="914400" cy="155448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360152" y="3035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3891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same tail first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30°, then multiply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Angle between A and B is 30°. Find the angles between A and -B, between -A and -B, and between 2A and -3B.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30°, then multiply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A positive multiplier does not change direction, so 2A stays with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A minus flips the arrow, so angle with -B is 150°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Two minuses bring both arrows back, so -A and -B stay at 30°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2A and -3B are 150° apart. 2A and B stay at 30°.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Rectangular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If θ is measured from the +x axis: Fₓ = F cos θ, Fᵧ = F sin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219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F = √(Fₓ² + Fᵧ²)     and     tan θ = Fᵧ / Fₓ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sign of a component is the sign of that axis. Left of the y-axis means a negative x-component. Below the x-axis means a negative y-component.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Cos goes with the axis you measured the angle from. Do not swap sin and cos.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4625035"/>
            <a:ext cx="301752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208008" y="3246120"/>
            <a:ext cx="0" cy="237744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0" y="467989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2461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208008" y="3482035"/>
            <a:ext cx="1828800" cy="114300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95560" y="379750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036808" y="3482035"/>
            <a:ext cx="0" cy="1143000"/>
          </a:xfrm>
          <a:prstGeom prst="line">
            <a:avLst/>
          </a:prstGeom>
          <a:ln w="1905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08008" y="4625035"/>
            <a:ext cx="1828800" cy="0"/>
          </a:xfrm>
          <a:prstGeom prst="line">
            <a:avLst/>
          </a:prstGeom>
          <a:ln w="1905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85248" y="4716475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Fₓ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0816" y="3939235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Fᵧ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378147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Resolving a vector means making a right triangle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slanted vector can be replaced by two perpendicular vectors: one along x and one along 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844137"/>
            <a:ext cx="457200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80360" y="1828800"/>
            <a:ext cx="0" cy="34747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7840" y="3899001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8288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2152497"/>
            <a:ext cx="2606040" cy="1691640"/>
          </a:xfrm>
          <a:prstGeom prst="line">
            <a:avLst/>
          </a:prstGeom>
          <a:ln w="3810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56532" y="274228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" y="3844137"/>
            <a:ext cx="2606040" cy="0"/>
          </a:xfrm>
          <a:prstGeom prst="line">
            <a:avLst/>
          </a:prstGeom>
          <a:ln w="2794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23360" y="3981297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Fₓ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486400" y="2152497"/>
            <a:ext cx="0" cy="1691640"/>
          </a:xfrm>
          <a:prstGeom prst="line">
            <a:avLst/>
          </a:prstGeom>
          <a:ln w="2794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41848" y="2884017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Fᵧ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276088" y="3633825"/>
            <a:ext cx="0" cy="210312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76088" y="3633825"/>
            <a:ext cx="210312" cy="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520112" y="3823660"/>
            <a:ext cx="327" cy="2047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519129" y="3803203"/>
            <a:ext cx="983" cy="2045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517493" y="3782788"/>
            <a:ext cx="1636" cy="2041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515204" y="3762436"/>
            <a:ext cx="2289" cy="203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512265" y="3742168"/>
            <a:ext cx="2939" cy="2026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508679" y="3722004"/>
            <a:ext cx="3586" cy="2016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504450" y="3701965"/>
            <a:ext cx="4229" cy="2003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499583" y="3682072"/>
            <a:ext cx="4867" cy="198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494081" y="3662345"/>
            <a:ext cx="5502" cy="1972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487951" y="3642803"/>
            <a:ext cx="6130" cy="195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481199" y="3623468"/>
            <a:ext cx="6752" cy="193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473831" y="3604359"/>
            <a:ext cx="7368" cy="1910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465857" y="3585495"/>
            <a:ext cx="7974" cy="1886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457282" y="3566896"/>
            <a:ext cx="8575" cy="1859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448117" y="3548581"/>
            <a:ext cx="9165" cy="1831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438371" y="3530568"/>
            <a:ext cx="9746" cy="1801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3428054" y="3512877"/>
            <a:ext cx="10317" cy="1769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3417176" y="3495525"/>
            <a:ext cx="10878" cy="173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564220" y="364156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2011680"/>
            <a:ext cx="4343400" cy="13258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12140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If θ is from x-axis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450592"/>
            <a:ext cx="406908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Adjacent side = Fₓ = F cos θ. Opposite side = Fᵧ = F sin θ.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3703320"/>
            <a:ext cx="434340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81304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Sign comes later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142231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First find size. Then attach + or - by quadrant.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Quadrant decides the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Magnitude is always positive. Components carry signs because axes have signs.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51960" y="3743553"/>
            <a:ext cx="365760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715000" y="1463040"/>
            <a:ext cx="0" cy="39319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798417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146304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78343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D680"/>
                </a:solidFill>
                <a:latin typeface="Aptos"/>
              </a:rPr>
              <a:t>+,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8343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C8FF"/>
                </a:solidFill>
                <a:latin typeface="Aptos"/>
              </a:rPr>
              <a:t>-,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127601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-, 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127601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646"/>
                </a:solidFill>
                <a:latin typeface="Aptos"/>
              </a:rPr>
              <a:t>+, -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715000" y="2966313"/>
            <a:ext cx="1143000" cy="77724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9652" y="309890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Q1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4572000" y="2966313"/>
            <a:ext cx="1143000" cy="77724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16652" y="309890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Q2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572000" y="3743553"/>
            <a:ext cx="1143000" cy="77724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6652" y="387614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Q3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0" y="3743553"/>
            <a:ext cx="1143000" cy="77724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59652" y="387614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Q4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26280"/>
            <a:ext cx="365760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360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Memory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65192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Right means Fₓ positive. Left means Fₓ negative. Up means Fᵧ positive. Down means Fᵧ negative.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526280"/>
            <a:ext cx="3291840" cy="10972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6360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Do not change sin/cos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96519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Only the sign changes with quadrant.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37° and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Angle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078992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45919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37°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645919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645919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12848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53°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212848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4/5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212848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779776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30°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2779776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779776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346703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45°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3346703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3346703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913631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913631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60°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913631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3913631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3913631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6136" y="3913631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10 N at 45°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A 10 N force is at 45° above the +x axis. Find both components.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10 N at 45°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Fₓ = 10 cos 45° = 10 / √2 = 5 √2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Fᵧ = 10 sin 45° = 5 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Both components are 5 √2 N, and both are positive.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10 N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A 10 N force is at 60° above the +x axis. Find Fₓ and Fᵧ.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10 N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Fₓ = 10 cos 60° = 10 × 1/2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Fᵧ = 10 sin 60° = 10 × √3/2 = 5 √3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Fₓ = 5 N, Fᵧ = 5 √3 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53° in the second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30 N force is in the second quadrant, 53° from the +y axis toward the -x axis. Find the components.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53° in the second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The angle from +y is 53°, so the y-component uses cos 53°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Fᵧ = 30 cos 53° = 30 × 3/5 = 18, so +18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Fₓ = 30 sin 53° = 30 × 4/5 = 24, but toward 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Fₓ = -24 î, Fᵧ = +18 ĵ.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4411065"/>
            <a:ext cx="33832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51392" y="292608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39" y="446592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29260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434071" y="3359505"/>
            <a:ext cx="1417321" cy="105156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15883" y="362925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30 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34071" y="3359505"/>
            <a:ext cx="0" cy="1051560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34071" y="4411065"/>
            <a:ext cx="1417321" cy="0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54112" y="4502505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-24 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816705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+18 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50 N at 37° below +x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 = 50 N in the fourth quadrant, 37° below the +x axis. Find the components.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50 N at 37° below +x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Fₓ = 50 cos 37° = 50 × 4/5 =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Fᵧ = -50 sin 37° = -50 × 3/5 = 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+40 î - 30 ĵ.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0" y="4319625"/>
            <a:ext cx="329184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06256" y="283464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437448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83464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06256" y="4319625"/>
            <a:ext cx="1691640" cy="114300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25228" y="463509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50 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597896" y="4319625"/>
            <a:ext cx="0" cy="1143000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06256" y="4319625"/>
            <a:ext cx="1691640" cy="0"/>
          </a:xfrm>
          <a:prstGeom prst="line">
            <a:avLst/>
          </a:prstGeom>
          <a:ln w="1778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19488" y="4411065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+40 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1904" y="4913985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-30 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from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|F| = √(Fₓ² + Fᵧ² + F_z²)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is the length of the diagonal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Components form a right triangle. The vector is the diagonal, so Pythagoras gives its length.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882542"/>
            <a:ext cx="47548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99232" y="1920240"/>
            <a:ext cx="0" cy="338328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06440" y="393740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192024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9232" y="3882542"/>
            <a:ext cx="2468880" cy="0"/>
          </a:xfrm>
          <a:prstGeom prst="line">
            <a:avLst/>
          </a:prstGeom>
          <a:ln w="3048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96512" y="403799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Fₓ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468112" y="2190902"/>
            <a:ext cx="0" cy="1691640"/>
          </a:xfrm>
          <a:prstGeom prst="line">
            <a:avLst/>
          </a:prstGeom>
          <a:ln w="3048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05272" y="292242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Fᵧ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999232" y="2190902"/>
            <a:ext cx="2468880" cy="1691640"/>
          </a:xfrm>
          <a:prstGeom prst="line">
            <a:avLst/>
          </a:prstGeom>
          <a:ln w="3810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06824" y="278069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F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239512" y="3653942"/>
            <a:ext cx="0" cy="22860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39512" y="3653942"/>
            <a:ext cx="228600" cy="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72200" y="2011680"/>
            <a:ext cx="48463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157984"/>
            <a:ext cx="45171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F² = Fₓ² + Fᵧ²     so     |F| = √(Fₓ² + Fᵧ²)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429000"/>
            <a:ext cx="484632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538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With z-component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67912"/>
            <a:ext cx="45720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In 3D, add one more perpendicular square: |F| = √(Fₓ² + Fᵧ² + F_z²).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of 30 î + 40 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the magnitude of F = 30 î + 40 ĵ.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Magnitude of 30 î + 40 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|F| = √(30² + 40²) = √(900 + 1600)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√2500 =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when a component is negative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|2 î + 2 ĵ|, |10 î + 10 ĵ| and |3 î - 4 ĵ|.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Magnitude when a component is negative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√(4 + 4) = √8 = 2 √2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√(100 + 100) = 10 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√(9 + 16) = √25 = 5. The minus does not enter the square.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 √2, 10 √2, and 5.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|3 î + 4 ĵ + 5 k̂| and |6 î - 8 ĵ + 10 k̂|.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√(9 + 16 + 25) = √50 = 5 √2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√(36 + 64 + 100) = √200 = 10 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5 √2 and 10 √2.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Triangle law of addition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find an angle, put tails together, or heads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add, put the tail of the second arrow on the head of the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134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597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Resultant R runs from the first tail to the last head.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+ B = B + A. For three arrows the drawing order does not change 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resultant of two arrows lies between them, closer to the longer one.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4526280"/>
            <a:ext cx="15087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34172" y="4270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915400" y="3337560"/>
            <a:ext cx="1005840" cy="11887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91472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06640" y="3337560"/>
            <a:ext cx="2514600" cy="11887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37092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 = A +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89204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head-to-tail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drawing order does not change 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+ B and B + A reach the same final point. The path changes, but the start and finish do not.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926080"/>
            <a:ext cx="16002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7692" y="2670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834640" y="2057400"/>
            <a:ext cx="1097280" cy="8686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56432" y="22357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234440" y="2057400"/>
            <a:ext cx="2697480" cy="8686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56332" y="22357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4564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A then B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00800" y="2057400"/>
            <a:ext cx="1097279" cy="8686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22592" y="22357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2057400"/>
            <a:ext cx="1600201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71331" y="1801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400800" y="2057400"/>
            <a:ext cx="2697480" cy="8686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22692" y="22357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564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B then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9204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Same starting point + same ending point = same resultant.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Resultant range: minimum to maximum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largest resultant happens when both arrows pull in the same direction. The smallest happens when they oppose.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224028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9112" y="1984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240280"/>
            <a:ext cx="1188719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56432" y="1984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697480"/>
            <a:ext cx="2834639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33472" y="2441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Rmax = A +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12280" y="224028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08392" y="1984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315200" y="2240280"/>
            <a:ext cx="1143000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9852" y="1984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2697480"/>
            <a:ext cx="502920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6892" y="2441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Rmin = |A - B|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4251960"/>
            <a:ext cx="4389120" cy="8686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3616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Allowed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690872"/>
            <a:ext cx="41148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|A - B| ≤ R ≤ A +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349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resultant outside this range is impossible.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of the resultant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R = √(A² + B² + 2 A B cos θ)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tan α = (B sin θ) / (A + B cos 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449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is the angle between A and the resultant.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0: R max = A + B.   θ = 180: R min = |A - B|.   θ = 90: R = √(A² + B²).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708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R is allowed only from |A - B| to A + B. Both ends are included.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5166360"/>
            <a:ext cx="18745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9932" y="49103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589520" y="4023360"/>
            <a:ext cx="1005840" cy="11430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65592" y="43388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589520" y="4343400"/>
            <a:ext cx="1645920" cy="82296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85632" y="4498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7548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9834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α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4 N forces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|A| = 4 N, |B| = 4 N, angle = 60°. Find 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4 N forces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R = √(16 + 16 + 32 × cos 60°)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 60° = 1/2, so the middle term is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R = √48 = 4 √3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 = 4 √3 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4526280"/>
            <a:ext cx="14630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85632" y="4270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4 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680960" y="3246120"/>
            <a:ext cx="777240" cy="12801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42731" y="3630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4 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680960" y="3703320"/>
            <a:ext cx="1691640" cy="82296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99932" y="38587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096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60°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Magnitudes 3 and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Two vectors have magnitudes 3 and 4. Find R at 0°, 90° and 180°.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Magnitudes 3 and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At 0°, R = 3 + 4 =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At 90°, R = √(9 + 16)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At 180°, R = 4 - 3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7, 5 and 1.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 and 4 at 60° and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Same magnitudes 3 and 4. Find R at 60° and at 120°.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3 and 4 at 60° and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At 60°: √(9 + 16 + 12) = √37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At 120° cos = -1/2, so √(9 + 16 - 12) = √13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√37 and √13.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5 N east and 10 N north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Two forces, 5 N due east and 10 N due north. Find the resultant.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5 N east and 10 N north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The angle is 90°, so the cross term is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R = √(25 + 100) = √125 = √(25×5) = 5 √5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5 √5 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5 N forces at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Two forces of 5 N have 120° between them. Find the net force.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5 N forces at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Use the angle between the arrows, which is 120°, not a nearby 60° 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R = √(25 + 25 + 50×(-1/2)) = √(50 - 25) = √25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Net force = 5 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0" y="4251960"/>
            <a:ext cx="13716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31352" y="39959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5 N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086600" y="3063240"/>
            <a:ext cx="685800" cy="11887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02652" y="3401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5 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772400" y="3611880"/>
            <a:ext cx="502920" cy="6400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7012" y="3675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7307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120°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pair cannot give a resultant of 4?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Pairs: (2, 4), (4, 4), (4, 9), (1, 5). Which cannot give resultant 4?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pair cannot give a resultant of 4?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(2, 4) allows 2 to 6. 4 is inside.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(4, 4) allows 0 to 8. (1, 5) allows 4 to 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(4, 9) allows 5 to 13. 4 is smaller than the minimum.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(4, 9) cannot give 4.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forces, zero resultant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set can have zero resultant: (2, 4, 7), (3, 1, 5), (2, 8, 11), or (3, 4, 2)?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forces, zero resultant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The third force must lie between |first - second| and first +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For 3 and 4, the range is 1 to 7. The force 2 lies inside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7 is outside 2 to 6. 5 is outside 2 to 4. 11 is outside 6 to 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Only (3, 4, 2) can give zero.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Equal magnitudes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If |A| = |B| = A, then R = 2 A cos(θ /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Their difference has magnitude D = 2 A sin(θ /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resultant then bisects the angle. Angle between A and R is θ /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7647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0: R = 2A, D = 0.   θ = 90: both are √2 A.   θ = 120: R = A and D = √3 A.   θ = 180: R = 0 and D = 2A.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Equal vectors: resultant bisects the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|A| = |B|, the triangle is symmetric. The resultant must lie exactly in the middle.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4160520"/>
            <a:ext cx="20574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02252" y="39044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200400" y="2377439"/>
            <a:ext cx="1024128" cy="1783081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85616" y="30129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00400" y="3108960"/>
            <a:ext cx="1828800" cy="1051560"/>
          </a:xfrm>
          <a:prstGeom prst="line">
            <a:avLst/>
          </a:prstGeom>
          <a:ln w="381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87952" y="33787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839397" y="4123302"/>
            <a:ext cx="1083" cy="372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836152" y="4086211"/>
            <a:ext cx="3245" cy="3709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830755" y="4049371"/>
            <a:ext cx="5397" cy="3684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823226" y="4012907"/>
            <a:ext cx="7529" cy="3646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813589" y="3976942"/>
            <a:ext cx="9637" cy="3596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801878" y="3941599"/>
            <a:ext cx="11711" cy="353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788131" y="3906997"/>
            <a:ext cx="13747" cy="346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772396" y="3873252"/>
            <a:ext cx="15735" cy="3374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754725" y="3840480"/>
            <a:ext cx="17671" cy="327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735179" y="3808790"/>
            <a:ext cx="19546" cy="316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713823" y="3778290"/>
            <a:ext cx="21356" cy="305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690729" y="3749084"/>
            <a:ext cx="23094" cy="2920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665977" y="3721270"/>
            <a:ext cx="24752" cy="2781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639649" y="3694942"/>
            <a:ext cx="26328" cy="263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611835" y="3670190"/>
            <a:ext cx="27814" cy="247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582629" y="3647096"/>
            <a:ext cx="29206" cy="230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552129" y="3625740"/>
            <a:ext cx="30500" cy="2135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520440" y="3606194"/>
            <a:ext cx="31689" cy="1954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18077" y="380390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4160113" y="4132595"/>
            <a:ext cx="407" cy="2792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158895" y="4104693"/>
            <a:ext cx="1218" cy="279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4156866" y="4076840"/>
            <a:ext cx="2029" cy="2785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4154028" y="4049056"/>
            <a:ext cx="2838" cy="2778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4150382" y="4021368"/>
            <a:ext cx="3646" cy="2768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4145933" y="3993796"/>
            <a:ext cx="4449" cy="275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4140684" y="3966366"/>
            <a:ext cx="5249" cy="2743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134639" y="3939101"/>
            <a:ext cx="6045" cy="2726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4127804" y="3912022"/>
            <a:ext cx="6835" cy="2707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4120184" y="3885154"/>
            <a:ext cx="7620" cy="2686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4111786" y="3858519"/>
            <a:ext cx="8398" cy="266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4102617" y="3832139"/>
            <a:ext cx="9169" cy="263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4092685" y="3806037"/>
            <a:ext cx="9932" cy="261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4081997" y="3780235"/>
            <a:ext cx="10688" cy="258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4070564" y="3754755"/>
            <a:ext cx="11433" cy="254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4058394" y="3729618"/>
            <a:ext cx="12170" cy="2513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4045498" y="3704846"/>
            <a:ext cx="12896" cy="247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4031888" y="3680460"/>
            <a:ext cx="13610" cy="2438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98464" y="3893089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θ/2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2148840"/>
            <a:ext cx="43891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2295144"/>
            <a:ext cx="405993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R = 2A cos(θ / 2)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3474720"/>
            <a:ext cx="438912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584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Fast memory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3913631"/>
            <a:ext cx="41148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Equal vectors make an isosceles triangle, so R is the angle bisector.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Sum and difference have the same magnitude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If |A + B| = |A - B|, what is the angle between A and B?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Sum and difference have the same magnitude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Equal lengths of sum and difference means the cross term must vanish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2 A B cos θ = 0, so cos θ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90°.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unit vectors add to a unit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sum of two unit vectors is itself a unit vector. Find the magnitude of their difference.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unit vectors add to a unit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 = 1 and each magnitude is 1, so 1 = 2 cos(θ / 2), so θ = 120°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 = 2 sin 60° = 2 × √3/2 = √3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Magnitude of the difference = √3.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subtraction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- B = A + (-B). Reverse B, then add.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 = √(A² + B² - 2 A B cos 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0: D = |A - B|, the minimum.   θ = 180: D = A + B, the maximum.   θ = 90: D = √(A² + B²).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+ B equals B + A. A - B does not equal B - 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4480560"/>
            <a:ext cx="15087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79892" y="4224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8001000" y="3429000"/>
            <a:ext cx="960120" cy="105156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54212" y="36987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-B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52360" y="3429000"/>
            <a:ext cx="548640" cy="105156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99831" y="36987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 = A -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reverse B first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Subtraction is not a new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Every subtraction question is an addition question after reversing the second vector.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331720"/>
            <a:ext cx="16916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16252" y="20756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97280" y="2103120"/>
            <a:ext cx="1051560" cy="8686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96212" y="22814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Step 1: given A and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331720"/>
            <a:ext cx="16916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90972" y="20756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520440" y="2971800"/>
            <a:ext cx="1051560" cy="86868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9372" y="31501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96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Step 2: reverse 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2440" y="3337560"/>
            <a:ext cx="16916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11411" y="3081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732520" y="3337560"/>
            <a:ext cx="1051560" cy="86868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331452" y="35158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92440" y="3337560"/>
            <a:ext cx="640080" cy="8686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85632" y="35158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-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526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Step 3: add A + (-B)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- B and B - A have the same length but opposite directions.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Adding by components is adding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x-parts combine with x-parts. The y-parts combine with y-parts. This is the cleanest method for many vectors.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3836822"/>
            <a:ext cx="42976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24912" y="1874519"/>
            <a:ext cx="0" cy="3383281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0" y="389168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87451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24912" y="2785262"/>
            <a:ext cx="1645920" cy="105156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21024" y="305501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785262"/>
            <a:ext cx="0" cy="10515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24912" y="3836822"/>
            <a:ext cx="1645920" cy="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24912" y="3836822"/>
            <a:ext cx="1143000" cy="13258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69564" y="424373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67912" y="3836822"/>
            <a:ext cx="0" cy="1325880"/>
          </a:xfrm>
          <a:prstGeom prst="line">
            <a:avLst/>
          </a:prstGeom>
          <a:ln w="152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24912" y="3836822"/>
            <a:ext cx="1143000" cy="0"/>
          </a:xfrm>
          <a:prstGeom prst="line">
            <a:avLst/>
          </a:prstGeom>
          <a:ln w="152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35040" y="1920240"/>
            <a:ext cx="49834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066544"/>
            <a:ext cx="46542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A + B = (Aₓ + Bₓ) î + (Aᵧ + Bᵧ) 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246120"/>
            <a:ext cx="49834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35584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Column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85031"/>
            <a:ext cx="47091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x-column decides left-right. y-column decides up-down.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572000"/>
            <a:ext cx="49834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6817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3D same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010912"/>
            <a:ext cx="47091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 + B = (Aₓ+Bₓ)î + (Aᵧ+Bᵧ)ĵ + (A_z+B_z)k̂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 by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4 î + 3 ĵ and B = 3 î - 4 ĵ. Find A + B, A - B, and |A| + |B|.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Add by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7 î - 1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- B = 1 î + 7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|A| = 5 and |B| = 5, so |A| + |B|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Sum of magnitudes is 10. Magnitude of the sum is √50.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4326940"/>
            <a:ext cx="329184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60536" y="2788920"/>
            <a:ext cx="0" cy="265175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89919" y="43818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7889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860536" y="3366820"/>
            <a:ext cx="1325879" cy="96012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96628" y="3590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0536" y="4326940"/>
            <a:ext cx="1005840" cy="123444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36607" y="46881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0536" y="4326940"/>
            <a:ext cx="1874519" cy="2743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870948" y="42080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A+B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Change in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Velocity changes from 10 m/s east to 10 m/s north. Find the change in velocity.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Change in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Change = final - initial = 10 ĵ - 10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Magnitude = √(100 + 100) = 10 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10 √2 m/s, pointing north of west.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36534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880360"/>
            <a:ext cx="0" cy="256031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20209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8803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24544" y="4365345"/>
            <a:ext cx="14173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06356" y="410931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vᵢ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24544" y="2948025"/>
            <a:ext cx="0" cy="14173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97696" y="340065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vᶠ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8924544" y="2948025"/>
            <a:ext cx="1417320" cy="14173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06356" y="340065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Δv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Rotate 2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is rotated by 90°, 180°, 270° and 360° anticlockwise. Write each new vector.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Rotate 2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90°: 2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180°: -2 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270°: -2 ĵ.   360°: 2 î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Rotation keeps the magnitude and changes only the direction.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4326940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24544" y="2788920"/>
            <a:ext cx="0" cy="265175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44200" y="438180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27889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24544" y="4326940"/>
            <a:ext cx="11430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69196" y="40709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0°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924544" y="3183940"/>
            <a:ext cx="0" cy="11430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97696" y="3499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90°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781544" y="4326940"/>
            <a:ext cx="1143000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26196" y="40709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180°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24544" y="4326940"/>
            <a:ext cx="0" cy="114300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7696" y="4642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270°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 · B = A B cos θ = Aₓ Bₓ + Aᵧ Bᵧ + A_z B_z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dot product is 0, the vectors are perpendicular.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cos θ = (A · B) / (A B). That is how the angle is found from components.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Component of B along A = (A · B) / 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· î = 1. î · ĵ = 0. The same rule holds for ĵ and k̂.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unit vector dotted with itself is 1.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4663440"/>
            <a:ext cx="21488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9932" y="44074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452360" y="3383280"/>
            <a:ext cx="1371600" cy="12801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11312" y="37673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23960" y="3383280"/>
            <a:ext cx="0" cy="12801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4663440"/>
            <a:ext cx="1371600" cy="0"/>
          </a:xfrm>
          <a:prstGeom prst="line">
            <a:avLst/>
          </a:prstGeom>
          <a:ln w="254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47731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B cos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956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projection of B along A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 tells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Dot product is positive when vectors face mostly the same way, zero at 90°, and negative when they face opposite way.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2743200"/>
            <a:ext cx="16916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61972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2057400"/>
            <a:ext cx="1463040" cy="6858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47672" y="21442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691478" y="2729901"/>
            <a:ext cx="162" cy="1329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690995" y="2716611"/>
            <a:ext cx="483" cy="132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690189" y="2703336"/>
            <a:ext cx="806" cy="1327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689062" y="2690085"/>
            <a:ext cx="1127" cy="1325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687615" y="2676865"/>
            <a:ext cx="1447" cy="132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685847" y="2663684"/>
            <a:ext cx="1768" cy="1318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683760" y="2650550"/>
            <a:ext cx="2087" cy="1313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681355" y="2637470"/>
            <a:ext cx="2405" cy="130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78635" y="2624452"/>
            <a:ext cx="2720" cy="130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675599" y="2611504"/>
            <a:ext cx="3036" cy="1294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672250" y="2598633"/>
            <a:ext cx="3349" cy="128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668591" y="2585848"/>
            <a:ext cx="3659" cy="1278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664623" y="2573155"/>
            <a:ext cx="3968" cy="126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660348" y="2560561"/>
            <a:ext cx="4275" cy="125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655769" y="2548075"/>
            <a:ext cx="4579" cy="1248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50889" y="2535704"/>
            <a:ext cx="4880" cy="123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645710" y="2523455"/>
            <a:ext cx="5179" cy="1224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640236" y="2511334"/>
            <a:ext cx="5474" cy="121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0053" y="2608619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 &lt; 90°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D680"/>
                </a:solidFill>
                <a:latin typeface="Aptos"/>
              </a:rPr>
              <a:t>A · B &gt; 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92040" y="297180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2431" y="27157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4892040" y="1463040"/>
            <a:ext cx="0" cy="15087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65192" y="19613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5438592" y="2923982"/>
            <a:ext cx="2087" cy="478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5432344" y="2876529"/>
            <a:ext cx="6248" cy="4745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421985" y="2829801"/>
            <a:ext cx="10359" cy="467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407592" y="2784154"/>
            <a:ext cx="14393" cy="456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5389276" y="2739934"/>
            <a:ext cx="18316" cy="442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5367176" y="2697480"/>
            <a:ext cx="22100" cy="4245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5341459" y="2657113"/>
            <a:ext cx="25717" cy="4036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5312322" y="2619141"/>
            <a:ext cx="29137" cy="379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279987" y="2583852"/>
            <a:ext cx="32335" cy="3528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5244698" y="2551517"/>
            <a:ext cx="35289" cy="323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5206726" y="2522380"/>
            <a:ext cx="37972" cy="2913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5166359" y="2496663"/>
            <a:ext cx="40367" cy="2571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5123905" y="2474563"/>
            <a:ext cx="42454" cy="221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5079685" y="2456247"/>
            <a:ext cx="44220" cy="1831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5034038" y="2441854"/>
            <a:ext cx="45647" cy="143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4987310" y="2431495"/>
            <a:ext cx="46728" cy="1035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939857" y="2425247"/>
            <a:ext cx="47453" cy="624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4892040" y="2423160"/>
            <a:ext cx="47817" cy="208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331713" y="253212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90°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3429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C8FF"/>
                </a:solidFill>
                <a:latin typeface="Aptos"/>
              </a:rPr>
              <a:t>A · B = 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66760" y="274320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62872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7178040" y="2011680"/>
            <a:ext cx="1188720" cy="7315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45552" y="2121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7896982" y="2361152"/>
            <a:ext cx="14471" cy="179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883217" y="2379094"/>
            <a:ext cx="13765" cy="184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870179" y="2397584"/>
            <a:ext cx="13038" cy="1900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857888" y="2416593"/>
            <a:ext cx="12291" cy="195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846363" y="2436094"/>
            <a:ext cx="11525" cy="1996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835620" y="2456057"/>
            <a:ext cx="10743" cy="203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7825676" y="2476451"/>
            <a:ext cx="9944" cy="2079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7816546" y="2497247"/>
            <a:ext cx="9130" cy="2116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7808244" y="2518413"/>
            <a:ext cx="8302" cy="2150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800781" y="2539916"/>
            <a:ext cx="7463" cy="2181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7794170" y="2561726"/>
            <a:ext cx="6611" cy="2208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7788421" y="2583808"/>
            <a:ext cx="5749" cy="2232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783541" y="2606131"/>
            <a:ext cx="4880" cy="225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779538" y="2628659"/>
            <a:ext cx="4003" cy="227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7776418" y="2651360"/>
            <a:ext cx="3120" cy="2283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7774187" y="2674199"/>
            <a:ext cx="2231" cy="229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772846" y="2697141"/>
            <a:ext cx="1341" cy="2301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772400" y="2720153"/>
            <a:ext cx="446" cy="230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739503" y="2514897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 &gt; 90°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· B &lt; 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66160" y="4754880"/>
            <a:ext cx="5029200" cy="9144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03320" y="48646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Why this matters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519379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It quickly tests perpendicular vectors and helps find the angle between two vectors.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 these two vectors perpendicular?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3 î + 4 ĵ + 5 k̂ and B = 3 î + 4 ĵ - 5 k̂. What is the angle between them?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 these two vectors perpendicular?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9 + 16 - 25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The angle is 90°.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with 4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+ 6 ĵ + 3 k̂ and B = 4 î. Find cos θ.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with 4 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|A| = √(4 + 36 + 9) = 7 and |B|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 θ = 8 / 28 = 2/7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θ = cos⁻¹ of 2/7.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vectors from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itself is already a unit vector.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is (î + ĵ) / √2.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- k̂ is (î + ĵ - k̂) / √3.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sin θ î - cos θ ĵ already has magnitude 1, because sin² + cos² =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3 î + 4 ĵ is (3 î + 4 ĵ) / 5.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keeps direction and removes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unit vector is only the direction of a vector. It has length 1 and no physical unit.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867912"/>
            <a:ext cx="438912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52928" y="2011680"/>
            <a:ext cx="0" cy="320040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40680" y="392277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52928" y="2404872"/>
            <a:ext cx="2194560" cy="1463040"/>
          </a:xfrm>
          <a:prstGeom prst="line">
            <a:avLst/>
          </a:prstGeom>
          <a:ln w="3810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23360" y="2880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852928" y="3136392"/>
            <a:ext cx="1097280" cy="73152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720" y="3246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Â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50208" y="2404872"/>
            <a:ext cx="1097280" cy="73152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2200" y="2103120"/>
            <a:ext cx="42062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49424"/>
            <a:ext cx="38770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081E3F"/>
                </a:solidFill>
                <a:latin typeface="Aptos"/>
              </a:rPr>
              <a:t>Â = A / |A|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74720"/>
            <a:ext cx="420624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844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13631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For A = 3î + 4ĵ, |A| = 5, so Â = (3î + 4ĵ)/5.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8920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attach N, m/s or kg to a unit vector.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Perpendicular forces A and A/2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Two forces of magnitudes A and A/2 are perpendicular. Find the magnitude of their resultant.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Perpendicular forces A and A/2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cos 90° = 0, so R = √(A² + A²/4)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R = √(5 A² / 4) = (A/2) √5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(√5 / 2) × A.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Resultant is half the larger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resultant of two vectors is half the larger one, and it is perpendicular to the smaller one. Find the angle between the vectors.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Resultant is half the larger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 perpendicular to the smaller vector means (A + B) · B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 θ = -B/A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R = A/2 then gives B = (√3/2)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cos θ = -√3/2, so θ = 150°.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Acceleration of a 4 kg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F₁ = 5 î + 8 ĵ + 7 k̂ and F₂ = 3 î - 4 ĵ - 3 k̂ act on 4 kg. Find the acceleration.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Acceleration of a 4 kg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Net force = 8 î + 4 ĵ + 4 k̂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= net force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= 2 î + 1 ĵ + 1 k̂.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02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Components: cos along the axis you measured from, then keep the 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|F| = √(Fₓ² + Fᵧ² + F_z²)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R = √(A² + B² + 2AB cos θ), and |A-B| to A+B is the allowed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A · B = 0 means 90°. Unit vector = vector divided by magnitude.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Draw 30° east of south and 60° south of east on one compass.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Resolve 10 N at 30° and at 53°, with signs.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Redo magnitudes 3 and 4 at 0°, 60°, 90°, 120° and 180°.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Redo the unit-vector list and the 4 kg acceleration.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add magnitudes when the arrows are not along one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