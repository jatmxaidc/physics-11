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Mona Sans Bold"/>
      <p:regular r:id="rId201317"/>
    </p:embeddedFont>
    <p:embeddedFont>
      <p:font typeface="Mona Sans Black"/>
      <p:regular r:id="rId201318"/>
    </p:embeddedFont>
    <p:embeddedFont>
      <p:font typeface="Mona Sans"/>
      <p:regular r:id="rId201319"/>
    </p:embeddedFont>
    <p:embeddedFont>
      <p:font typeface="Mona Sans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SI Units &amp; Unit Conversion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 11 Physics · 30-Minute Lecture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00113"/>
            <a:ext cx="142137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373B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46605" y="1756767"/>
            <a:ext cx="18041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HOOK QUESTION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6285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can't we simply say the speed of a car is 20?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433167"/>
            <a:ext cx="690326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What's missing?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Think about it — 20 what? Miles? Kilometers? Meters per second?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420691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2E4E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713784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637980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number alone is meaningless without a unit.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is a Measurement?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86504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Number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27372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magnitude — how much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86504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Unit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273723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standard — of what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Together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 meters · 10 seconds · 2 kilograms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83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7 SI Base Units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16980"/>
            <a:ext cx="10868745" cy="4392613"/>
          </a:xfrm>
          <a:prstGeom prst="roundRect">
            <a:avLst>
              <a:gd name="adj" fmla="val 180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26843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81672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365004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46157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098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55813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9015" y="1723330"/>
            <a:ext cx="3617921" cy="545108"/>
          </a:xfrm>
          <a:custGeom>
            <a:avLst/>
            <a:gdLst/>
            <a:ahLst/>
            <a:cxnLst/>
            <a:rect l="l" t="t" r="r" b="b"/>
            <a:pathLst>
              <a:path w="3617921" h="545108">
                <a:moveTo>
                  <a:pt x="66156" y="0"/>
                </a:moveTo>
                <a:lnTo>
                  <a:pt x="3617921" y="0"/>
                </a:lnTo>
                <a:lnTo>
                  <a:pt x="3617921" y="545108"/>
                </a:lnTo>
                <a:lnTo>
                  <a:pt x="0" y="54510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373B48"/>
          </a:solidFill>
          <a:ln/>
        </p:spPr>
      </p:sp>
      <p:sp>
        <p:nvSpPr>
          <p:cNvPr id="12" name="Text 10"/>
          <p:cNvSpPr/>
          <p:nvPr/>
        </p:nvSpPr>
        <p:spPr>
          <a:xfrm>
            <a:off x="858022" y="184308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Quantity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286937" y="1723330"/>
            <a:ext cx="3617921" cy="545108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2"/>
          <p:cNvSpPr/>
          <p:nvPr/>
        </p:nvSpPr>
        <p:spPr>
          <a:xfrm>
            <a:off x="4475943" y="184308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Unit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904858" y="1723330"/>
            <a:ext cx="3617921" cy="545108"/>
          </a:xfrm>
          <a:custGeom>
            <a:avLst/>
            <a:gdLst/>
            <a:ahLst/>
            <a:cxnLst/>
            <a:rect l="l" t="t" r="r" b="b"/>
            <a:pathLst>
              <a:path w="3617921" h="545108">
                <a:moveTo>
                  <a:pt x="0" y="0"/>
                </a:moveTo>
                <a:lnTo>
                  <a:pt x="3551765" y="0"/>
                </a:lnTo>
                <a:arcTo hR="66158" wR="66156" stAng="16200000" swAng="5400000"/>
                <a:lnTo>
                  <a:pt x="3617921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373B48"/>
          </a:solidFill>
          <a:ln/>
        </p:spPr>
      </p:sp>
      <p:sp>
        <p:nvSpPr>
          <p:cNvPr id="16" name="Text 14"/>
          <p:cNvSpPr/>
          <p:nvPr/>
        </p:nvSpPr>
        <p:spPr>
          <a:xfrm>
            <a:off x="8093865" y="1843088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Symbol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8022" y="239137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Length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75943" y="239137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93865" y="2391370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8022" y="2939653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75943" y="2939653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Kilogram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93865" y="2939653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8022" y="348793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75943" y="348793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Second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93865" y="3487936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58022" y="403621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75943" y="403621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Kelvin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93865" y="4036219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8022" y="458450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Electric Current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475943" y="458450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Ampere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093865" y="4584502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8022" y="5132784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Luminous Intensity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75943" y="5132784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Candela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93865" y="5132784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58022" y="5681067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Amount of Substance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475943" y="5681067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Mole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93865" y="5681067"/>
            <a:ext cx="384949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990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Derived Units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956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Definition: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Units formed by combining SI base units through multiplication or division.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000522"/>
            <a:ext cx="3504219" cy="350430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30080"/>
            <a:ext cx="3496877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Force — Newton (N)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m/s²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359" y="4930080"/>
            <a:ext cx="3496877" cy="113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Energy — Joule (J)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m²/s²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3244" y="4930080"/>
            <a:ext cx="3496877" cy="113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— Watt (W)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kg · m²/s³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964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Convert Units?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0584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776934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296594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37462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Real-world data arrives in mixed, inconsistent units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3866059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8CACF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0550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Requirement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4637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Physics equations demand complete unit consistency on both sides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Converting km/h → m/s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4550"/>
            <a:ext cx="6903269" cy="3030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2521" y="4422875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Distance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32521" y="4663070"/>
            <a:ext cx="1210084" cy="149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 km = 1000 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0065" y="4376332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0065" y="4616527"/>
            <a:ext cx="1210084" cy="149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Divide by 3.6 or ×5/18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41266" y="2432337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Time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41266" y="2672531"/>
            <a:ext cx="1210084" cy="149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 h = 3600 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5357614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 the derivation on the board step by step.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32251" y="3060898"/>
            <a:ext cx="1534975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</p:sp>
      <p:sp>
        <p:nvSpPr>
          <p:cNvPr id="12" name="Text 9"/>
          <p:cNvSpPr/>
          <p:nvPr/>
        </p:nvSpPr>
        <p:spPr>
          <a:xfrm>
            <a:off x="8145656" y="3117552"/>
            <a:ext cx="19177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DERIVE ON BOARD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32251" y="3423642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Relation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032251" y="3907929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 km/h = 5/18 m/s ≈ 0.278 m/s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32251" y="43993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Notes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08448"/>
            <a:ext cx="1534975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765102"/>
            <a:ext cx="19177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DERIVE ON BOARD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71191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Converting m/s → km/h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44150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Reciprocal of the previous conversion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9329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Relation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417219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 m/s = 18/5 km/h = 3.6 km/h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Multiply by 3.6 to convert from m/s to km/h.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1495822"/>
            <a:ext cx="5476043" cy="3866356"/>
          </a:xfrm>
          <a:prstGeom prst="roundRect">
            <a:avLst>
              <a:gd name="adj" fmla="val 3520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168483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Quick Reference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2169120"/>
            <a:ext cx="5098029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km/h to m/s: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5/18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m/s to km/h: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18/5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→ m/s to km/h: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× 3.6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85658" y="360551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My Notes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63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Practice: Speed Conversions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15034"/>
            <a:ext cx="5339820" cy="168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7931" y="295681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57098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72 km/h = ? m/s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97966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72 × (5/18) =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20 m/s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815034"/>
            <a:ext cx="5339919" cy="168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6757" y="295681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04708" y="357098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10 m/s = ? km/h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979664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 × (18/5) =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36 km/h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56682" y="470912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Space for your working below ↓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7124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Dimensional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450902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Rule: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Both sides of any equation must carry the same dimensions.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965946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2E4E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325903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183235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Dimensions don't lie — use them to verify every formula.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391556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Check F = ma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33201" y="4399855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[kg · m/s²] = [kg] × [m/s²]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✓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33201" y="489128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Notes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19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Exit Question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3306068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 can't we simply say the speed of a car is 20?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9344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373B48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0337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 your answer in the space below — in one complete sentence, explain what makes a measurement meaningful.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2026-08-20T13:22:08Z</dcterms:created>
  <dcterms:modified xsi:type="dcterms:W3CDTF">2026-08-20T13:22:08Z</dcterms:modified>
</cp:coreProperties>
</file>