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4206240" y="2331720"/>
            <a:ext cx="5486400" cy="32004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 rot="1680000">
            <a:off x="-365760" y="137160"/>
            <a:ext cx="2011680" cy="146304"/>
          </a:xfrm>
          <a:prstGeom prst="parallelogram">
            <a:avLst/>
          </a:prstGeom>
          <a:solidFill>
            <a:srgbClr val="282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 rot="1680000">
            <a:off x="-201168" y="246888"/>
            <a:ext cx="2011680" cy="146304"/>
          </a:xfrm>
          <a:prstGeom prst="parallelogram">
            <a:avLst/>
          </a:prstGeom>
          <a:solidFill>
            <a:srgbClr val="282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 rot="1680000">
            <a:off x="-36576" y="356616"/>
            <a:ext cx="2011680" cy="146304"/>
          </a:xfrm>
          <a:prstGeom prst="parallelogram">
            <a:avLst/>
          </a:prstGeom>
          <a:solidFill>
            <a:srgbClr val="282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rallelogram 6"/>
          <p:cNvSpPr/>
          <p:nvPr/>
        </p:nvSpPr>
        <p:spPr>
          <a:xfrm rot="1680000">
            <a:off x="7040880" y="4206240"/>
            <a:ext cx="2194560" cy="146304"/>
          </a:xfrm>
          <a:prstGeom prst="parallelogram">
            <a:avLst/>
          </a:prstGeom>
          <a:solidFill>
            <a:srgbClr val="D6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rallelogram 7"/>
          <p:cNvSpPr/>
          <p:nvPr/>
        </p:nvSpPr>
        <p:spPr>
          <a:xfrm rot="1680000">
            <a:off x="7205472" y="4297679"/>
            <a:ext cx="2194560" cy="146304"/>
          </a:xfrm>
          <a:prstGeom prst="parallelogram">
            <a:avLst/>
          </a:prstGeom>
          <a:solidFill>
            <a:srgbClr val="D6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arallelogram 8"/>
          <p:cNvSpPr/>
          <p:nvPr/>
        </p:nvSpPr>
        <p:spPr>
          <a:xfrm rot="1680000">
            <a:off x="7370064" y="4389120"/>
            <a:ext cx="2194560" cy="146304"/>
          </a:xfrm>
          <a:prstGeom prst="parallelogram">
            <a:avLst/>
          </a:prstGeom>
          <a:solidFill>
            <a:srgbClr val="D6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01_83028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320040"/>
            <a:ext cx="1737360" cy="17373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640080"/>
            <a:ext cx="6217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irmala UI"/>
              </a:rPr>
              <a:t>Acharya Shri mahapragyaa institute of excellence,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00584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irmala UI"/>
              </a:rPr>
              <a:t>Asind ( Bhilwara)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60020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Nirmala UI"/>
              </a:rPr>
              <a:t>Name :- Meera Regar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96596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Nirmala UI"/>
              </a:rPr>
              <a:t>Class :- B.A. part - 3 Sem - 6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3317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Nirmala UI"/>
              </a:rPr>
              <a:t>Roll.no. :- 24425671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69748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Nirmala UI"/>
              </a:rPr>
              <a:t>Topic :- Jaisalmer Tourism Circuit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06324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irmala UI"/>
              </a:rPr>
              <a:t>Guidance :- Sanwar Lal Prajapat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 rot="2100000">
            <a:off x="7498079" y="-137160"/>
            <a:ext cx="1920240" cy="164592"/>
          </a:xfrm>
          <a:prstGeom prst="parallelogram">
            <a:avLst/>
          </a:prstGeom>
          <a:solidFill>
            <a:srgbClr val="145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 rot="2100000">
            <a:off x="7644383" y="-64007"/>
            <a:ext cx="1920240" cy="164592"/>
          </a:xfrm>
          <a:prstGeom prst="parallelogram">
            <a:avLst/>
          </a:prstGeom>
          <a:solidFill>
            <a:srgbClr val="145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 rot="2100000">
            <a:off x="7790688" y="9144"/>
            <a:ext cx="1920240" cy="164592"/>
          </a:xfrm>
          <a:prstGeom prst="parallelogram">
            <a:avLst/>
          </a:prstGeom>
          <a:solidFill>
            <a:srgbClr val="145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 rot="2100000">
            <a:off x="-457200" y="4160520"/>
            <a:ext cx="1920240" cy="164592"/>
          </a:xfrm>
          <a:prstGeom prst="parallelogram">
            <a:avLst/>
          </a:prstGeom>
          <a:solidFill>
            <a:srgbClr val="28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rallelogram 6"/>
          <p:cNvSpPr/>
          <p:nvPr/>
        </p:nvSpPr>
        <p:spPr>
          <a:xfrm rot="2100000">
            <a:off x="-310896" y="4233672"/>
            <a:ext cx="1920240" cy="164592"/>
          </a:xfrm>
          <a:prstGeom prst="parallelogram">
            <a:avLst/>
          </a:prstGeom>
          <a:solidFill>
            <a:srgbClr val="28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rallelogram 7"/>
          <p:cNvSpPr/>
          <p:nvPr/>
        </p:nvSpPr>
        <p:spPr>
          <a:xfrm rot="2100000">
            <a:off x="-164592" y="4306824"/>
            <a:ext cx="1920240" cy="164592"/>
          </a:xfrm>
          <a:prstGeom prst="parallelogram">
            <a:avLst/>
          </a:prstGeom>
          <a:solidFill>
            <a:srgbClr val="28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82880"/>
            <a:ext cx="8412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A66E3A"/>
                </a:solidFill>
                <a:latin typeface="Nirmala UI"/>
              </a:rPr>
              <a:t>~ जैसलमेर पर्यटन सर्किट ~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31520"/>
            <a:ext cx="4114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6E3A"/>
                </a:solidFill>
                <a:latin typeface="Nirmala UI"/>
              </a:rPr>
              <a:t>1. प्रस्तावना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115568"/>
            <a:ext cx="4114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6E3A"/>
                </a:solidFill>
                <a:latin typeface="Nirmala UI"/>
              </a:rPr>
              <a:t>2. जैसलमेर का संक्षिप्त परिचय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499616"/>
            <a:ext cx="4114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6E3A"/>
                </a:solidFill>
                <a:latin typeface="Nirmala UI"/>
              </a:rPr>
              <a:t>3. भौगोलिक एवं ऐतिहासिक परिचय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883664"/>
            <a:ext cx="4114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6E3A"/>
                </a:solidFill>
                <a:latin typeface="Nirmala UI"/>
              </a:rPr>
              <a:t>4. पर्यटन सर्किट का परिचय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267712"/>
            <a:ext cx="4114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6E3A"/>
                </a:solidFill>
                <a:latin typeface="Nirmala UI"/>
              </a:rPr>
              <a:t>5. स्वर्णिम किला (सोनार किला)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651760"/>
            <a:ext cx="4114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6E3A"/>
                </a:solidFill>
                <a:latin typeface="Nirmala UI"/>
              </a:rPr>
              <a:t>6. पटवों की हवेली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035808"/>
            <a:ext cx="4114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6E3A"/>
                </a:solidFill>
                <a:latin typeface="Nirmala UI"/>
              </a:rPr>
              <a:t>7. नाथमल की हवेली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419856"/>
            <a:ext cx="4114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6E3A"/>
                </a:solidFill>
                <a:latin typeface="Nirmala UI"/>
              </a:rPr>
              <a:t>8. सलीम सिंह की हवेली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731520"/>
            <a:ext cx="4023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6E3A"/>
                </a:solidFill>
                <a:latin typeface="Nirmala UI"/>
              </a:rPr>
              <a:t>9. गडीसर झील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1115568"/>
            <a:ext cx="4023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6E3A"/>
                </a:solidFill>
                <a:latin typeface="Nirmala UI"/>
              </a:rPr>
              <a:t>10. बड़ा बाग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1499616"/>
            <a:ext cx="4023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6E3A"/>
                </a:solidFill>
                <a:latin typeface="Nirmala UI"/>
              </a:rPr>
              <a:t>11. कुलधरा गाँव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1883664"/>
            <a:ext cx="4023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6E3A"/>
                </a:solidFill>
                <a:latin typeface="Nirmala UI"/>
              </a:rPr>
              <a:t>12. डेजर्ट नेशनल पार्क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2267712"/>
            <a:ext cx="4023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6E3A"/>
                </a:solidFill>
                <a:latin typeface="Nirmala UI"/>
              </a:rPr>
              <a:t>13. सम के रेत के टीले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2651760"/>
            <a:ext cx="4023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6E3A"/>
                </a:solidFill>
                <a:latin typeface="Nirmala UI"/>
              </a:rPr>
              <a:t>14. तनोट माता / लोंगेवाला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3035808"/>
            <a:ext cx="4023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6E3A"/>
                </a:solidFill>
                <a:latin typeface="Nirmala UI"/>
              </a:rPr>
              <a:t>15. संस्कृति, मेले व निष्कर्ष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 rot="2100000">
            <a:off x="7498079" y="-137160"/>
            <a:ext cx="1920240" cy="164592"/>
          </a:xfrm>
          <a:prstGeom prst="parallelogram">
            <a:avLst/>
          </a:prstGeom>
          <a:solidFill>
            <a:srgbClr val="145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 rot="2100000">
            <a:off x="7644383" y="-64007"/>
            <a:ext cx="1920240" cy="164592"/>
          </a:xfrm>
          <a:prstGeom prst="parallelogram">
            <a:avLst/>
          </a:prstGeom>
          <a:solidFill>
            <a:srgbClr val="145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 rot="2100000">
            <a:off x="7790688" y="9144"/>
            <a:ext cx="1920240" cy="164592"/>
          </a:xfrm>
          <a:prstGeom prst="parallelogram">
            <a:avLst/>
          </a:prstGeom>
          <a:solidFill>
            <a:srgbClr val="145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 rot="2100000">
            <a:off x="-457200" y="4160520"/>
            <a:ext cx="1920240" cy="164592"/>
          </a:xfrm>
          <a:prstGeom prst="parallelogram">
            <a:avLst/>
          </a:prstGeom>
          <a:solidFill>
            <a:srgbClr val="28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rallelogram 6"/>
          <p:cNvSpPr/>
          <p:nvPr/>
        </p:nvSpPr>
        <p:spPr>
          <a:xfrm rot="2100000">
            <a:off x="-310896" y="4233672"/>
            <a:ext cx="1920240" cy="164592"/>
          </a:xfrm>
          <a:prstGeom prst="parallelogram">
            <a:avLst/>
          </a:prstGeom>
          <a:solidFill>
            <a:srgbClr val="28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rallelogram 7"/>
          <p:cNvSpPr/>
          <p:nvPr/>
        </p:nvSpPr>
        <p:spPr>
          <a:xfrm rot="2100000">
            <a:off x="-164592" y="4306824"/>
            <a:ext cx="1920240" cy="164592"/>
          </a:xfrm>
          <a:prstGeom prst="parallelogram">
            <a:avLst/>
          </a:prstGeom>
          <a:solidFill>
            <a:srgbClr val="28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64592"/>
            <a:ext cx="8412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A66E3A"/>
                </a:solidFill>
                <a:latin typeface="Nirmala UI"/>
              </a:rPr>
              <a:t>💫 प्रस्तावना 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731520"/>
            <a:ext cx="47548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66E3A"/>
                </a:solidFill>
                <a:latin typeface="Nirmala UI"/>
              </a:rPr>
              <a:t>जैसलमेर राजस्थान की स्वर्ण नगरी है। यह अपनी स्थापत्य कला, इतिहास, लोक संस्कृति और थार मरुस्थल के लिए प्रसिद्ध है।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783080"/>
            <a:ext cx="47548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66E3A"/>
                </a:solidFill>
                <a:latin typeface="Nirmala UI"/>
              </a:rPr>
              <a:t>सोनार किला, पटवों की हवेली, गडीसर झील, बड़ा बाग, कुलधरा और सम के रेत के टीले इस सर्किट के मुख्य आकर्षण हैं।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834639"/>
            <a:ext cx="47548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66E3A"/>
                </a:solidFill>
                <a:latin typeface="Nirmala UI"/>
              </a:rPr>
              <a:t>यह पर्यटन सर्किट राजस्थान की मरु-विरासत को समझने और स्थानीय रोज़गार बढ़ाने में सहायक है।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0" y="777240"/>
            <a:ext cx="3474720" cy="36576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09_2357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868680"/>
            <a:ext cx="32918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 rot="2100000">
            <a:off x="7498079" y="-137160"/>
            <a:ext cx="1920240" cy="164592"/>
          </a:xfrm>
          <a:prstGeom prst="parallelogram">
            <a:avLst/>
          </a:prstGeom>
          <a:solidFill>
            <a:srgbClr val="145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 rot="2100000">
            <a:off x="7644383" y="-64007"/>
            <a:ext cx="1920240" cy="164592"/>
          </a:xfrm>
          <a:prstGeom prst="parallelogram">
            <a:avLst/>
          </a:prstGeom>
          <a:solidFill>
            <a:srgbClr val="145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 rot="2100000">
            <a:off x="7790688" y="9144"/>
            <a:ext cx="1920240" cy="164592"/>
          </a:xfrm>
          <a:prstGeom prst="parallelogram">
            <a:avLst/>
          </a:prstGeom>
          <a:solidFill>
            <a:srgbClr val="145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 rot="2100000">
            <a:off x="-457200" y="4160520"/>
            <a:ext cx="1920240" cy="164592"/>
          </a:xfrm>
          <a:prstGeom prst="parallelogram">
            <a:avLst/>
          </a:prstGeom>
          <a:solidFill>
            <a:srgbClr val="28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rallelogram 6"/>
          <p:cNvSpPr/>
          <p:nvPr/>
        </p:nvSpPr>
        <p:spPr>
          <a:xfrm rot="2100000">
            <a:off x="-310896" y="4233672"/>
            <a:ext cx="1920240" cy="164592"/>
          </a:xfrm>
          <a:prstGeom prst="parallelogram">
            <a:avLst/>
          </a:prstGeom>
          <a:solidFill>
            <a:srgbClr val="28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rallelogram 7"/>
          <p:cNvSpPr/>
          <p:nvPr/>
        </p:nvSpPr>
        <p:spPr>
          <a:xfrm rot="2100000">
            <a:off x="-164592" y="4306824"/>
            <a:ext cx="1920240" cy="164592"/>
          </a:xfrm>
          <a:prstGeom prst="parallelogram">
            <a:avLst/>
          </a:prstGeom>
          <a:solidFill>
            <a:srgbClr val="28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64592"/>
            <a:ext cx="8412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A66E3A"/>
                </a:solidFill>
                <a:latin typeface="Nirmala UI"/>
              </a:rPr>
              <a:t>✨ जैसलमेर का संक्षिप्त परिचय 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731520"/>
            <a:ext cx="47548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66E3A"/>
                </a:solidFill>
                <a:latin typeface="Nirmala UI"/>
              </a:rPr>
              <a:t>जैसलमेर को स्वर्ण नगरी कहा जाता है क्योंकि यहाँ की पीले बलुआ पत्थर की इमारतें सूर्य प्रकाश में सुनहरी दिखती हैं।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783080"/>
            <a:ext cx="47548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66E3A"/>
                </a:solidFill>
                <a:latin typeface="Nirmala UI"/>
              </a:rPr>
              <a:t>प्रमुख आकर्षण:- सोनार किला, पटवों व नाथमल की हवेलियाँ, गडीसर झील, थार मरुस्थल और सम के धोरे।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834639"/>
            <a:ext cx="47548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66E3A"/>
                </a:solidFill>
                <a:latin typeface="Nirmala UI"/>
              </a:rPr>
              <a:t>यहाँ लोक संगीत, कालबेलिया नृत्य और रेगिस्तानी संस्कृति पर्यटकों को आकर्षित करती है।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0" y="777240"/>
            <a:ext cx="3474720" cy="36576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06_14293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868680"/>
            <a:ext cx="32918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 rot="2100000">
            <a:off x="7498079" y="-137160"/>
            <a:ext cx="1920240" cy="164592"/>
          </a:xfrm>
          <a:prstGeom prst="parallelogram">
            <a:avLst/>
          </a:prstGeom>
          <a:solidFill>
            <a:srgbClr val="145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 rot="2100000">
            <a:off x="7644383" y="-64007"/>
            <a:ext cx="1920240" cy="164592"/>
          </a:xfrm>
          <a:prstGeom prst="parallelogram">
            <a:avLst/>
          </a:prstGeom>
          <a:solidFill>
            <a:srgbClr val="145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 rot="2100000">
            <a:off x="7790688" y="9144"/>
            <a:ext cx="1920240" cy="164592"/>
          </a:xfrm>
          <a:prstGeom prst="parallelogram">
            <a:avLst/>
          </a:prstGeom>
          <a:solidFill>
            <a:srgbClr val="145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 rot="2100000">
            <a:off x="-457200" y="4160520"/>
            <a:ext cx="1920240" cy="164592"/>
          </a:xfrm>
          <a:prstGeom prst="parallelogram">
            <a:avLst/>
          </a:prstGeom>
          <a:solidFill>
            <a:srgbClr val="28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rallelogram 6"/>
          <p:cNvSpPr/>
          <p:nvPr/>
        </p:nvSpPr>
        <p:spPr>
          <a:xfrm rot="2100000">
            <a:off x="-310896" y="4233672"/>
            <a:ext cx="1920240" cy="164592"/>
          </a:xfrm>
          <a:prstGeom prst="parallelogram">
            <a:avLst/>
          </a:prstGeom>
          <a:solidFill>
            <a:srgbClr val="28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rallelogram 7"/>
          <p:cNvSpPr/>
          <p:nvPr/>
        </p:nvSpPr>
        <p:spPr>
          <a:xfrm rot="2100000">
            <a:off x="-164592" y="4306824"/>
            <a:ext cx="1920240" cy="164592"/>
          </a:xfrm>
          <a:prstGeom prst="parallelogram">
            <a:avLst/>
          </a:prstGeom>
          <a:solidFill>
            <a:srgbClr val="28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A66E3A"/>
                </a:solidFill>
                <a:latin typeface="Nirmala UI"/>
              </a:rPr>
              <a:t>⚡ भौगोलिक एवं ऐतिहासिक परिचय 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777240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6E3A"/>
                </a:solidFill>
                <a:latin typeface="Nirmala UI"/>
              </a:rPr>
              <a:t>●  भौगोलिक :- पश्चिमी राजस्थान का सीमावर्ती जिला, थार मरुस्थल में स्थित।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417319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6E3A"/>
                </a:solidFill>
                <a:latin typeface="Nirmala UI"/>
              </a:rPr>
              <a:t>●  जलवायु :- ग्रीष्म में अत्यधिक गर्मी, शीत में ठंडी रातें, कम वर्षा।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057400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6E3A"/>
                </a:solidFill>
                <a:latin typeface="Nirmala UI"/>
              </a:rPr>
              <a:t>●  ऐतिहासिक :- 12वीं शताब्दी में रावल जैसल द्वारा स्थापना।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697480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6E3A"/>
                </a:solidFill>
                <a:latin typeface="Nirmala UI"/>
              </a:rPr>
              <a:t>●  प्रसिद्ध :- सोनार किला, हवेलियाँ, बड़ा बाग और कुलधरा।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0" y="777240"/>
            <a:ext cx="3474720" cy="36576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11_10152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868680"/>
            <a:ext cx="32918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 rot="2100000">
            <a:off x="7498079" y="-137160"/>
            <a:ext cx="1920240" cy="164592"/>
          </a:xfrm>
          <a:prstGeom prst="parallelogram">
            <a:avLst/>
          </a:prstGeom>
          <a:solidFill>
            <a:srgbClr val="145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 rot="2100000">
            <a:off x="7644383" y="-64007"/>
            <a:ext cx="1920240" cy="164592"/>
          </a:xfrm>
          <a:prstGeom prst="parallelogram">
            <a:avLst/>
          </a:prstGeom>
          <a:solidFill>
            <a:srgbClr val="145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 rot="2100000">
            <a:off x="7790688" y="9144"/>
            <a:ext cx="1920240" cy="164592"/>
          </a:xfrm>
          <a:prstGeom prst="parallelogram">
            <a:avLst/>
          </a:prstGeom>
          <a:solidFill>
            <a:srgbClr val="145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 rot="2100000">
            <a:off x="-457200" y="4160520"/>
            <a:ext cx="1920240" cy="164592"/>
          </a:xfrm>
          <a:prstGeom prst="parallelogram">
            <a:avLst/>
          </a:prstGeom>
          <a:solidFill>
            <a:srgbClr val="28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rallelogram 6"/>
          <p:cNvSpPr/>
          <p:nvPr/>
        </p:nvSpPr>
        <p:spPr>
          <a:xfrm rot="2100000">
            <a:off x="-310896" y="4233672"/>
            <a:ext cx="1920240" cy="164592"/>
          </a:xfrm>
          <a:prstGeom prst="parallelogram">
            <a:avLst/>
          </a:prstGeom>
          <a:solidFill>
            <a:srgbClr val="28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rallelogram 7"/>
          <p:cNvSpPr/>
          <p:nvPr/>
        </p:nvSpPr>
        <p:spPr>
          <a:xfrm rot="2100000">
            <a:off x="-164592" y="4306824"/>
            <a:ext cx="1920240" cy="164592"/>
          </a:xfrm>
          <a:prstGeom prst="parallelogram">
            <a:avLst/>
          </a:prstGeom>
          <a:solidFill>
            <a:srgbClr val="28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A66E3A"/>
                </a:solidFill>
                <a:latin typeface="Nirmala UI"/>
              </a:rPr>
              <a:t>🌟 पर्यटन सर्किट का परिचय 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777240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6E3A"/>
                </a:solidFill>
                <a:latin typeface="Nirmala UI"/>
              </a:rPr>
              <a:t>●  सर्किट में किला, हवेलियाँ, झील, गाँव, मरुस्थल और सीमा क्षेत्र जुड़े हैं।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417319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6E3A"/>
                </a:solidFill>
                <a:latin typeface="Nirmala UI"/>
              </a:rPr>
              <a:t>●  मुख्य स्थल :- सोनार किला, पटवों की हवेली, गडीसर झील, सम धोरे।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057400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6E3A"/>
                </a:solidFill>
                <a:latin typeface="Nirmala UI"/>
              </a:rPr>
              <a:t>●  गतिविधियाँ :- ऊँट सफारी, कैंपिंग, लोक नृत्य-संगीत, राजस्थानी खान-पान।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697480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6E3A"/>
                </a:solidFill>
                <a:latin typeface="Nirmala UI"/>
              </a:rPr>
              <a:t>●  यह सर्किट ऐतिहासिक, सांस्कृतिक और प्राकृतिक पर्यटन का संगम है।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0" y="777240"/>
            <a:ext cx="3474720" cy="36576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11_8188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868680"/>
            <a:ext cx="32918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 rot="2100000">
            <a:off x="7498079" y="-137160"/>
            <a:ext cx="1920240" cy="164592"/>
          </a:xfrm>
          <a:prstGeom prst="parallelogram">
            <a:avLst/>
          </a:prstGeom>
          <a:solidFill>
            <a:srgbClr val="145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 rot="2100000">
            <a:off x="7644383" y="-64007"/>
            <a:ext cx="1920240" cy="164592"/>
          </a:xfrm>
          <a:prstGeom prst="parallelogram">
            <a:avLst/>
          </a:prstGeom>
          <a:solidFill>
            <a:srgbClr val="145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 rot="2100000">
            <a:off x="7790688" y="9144"/>
            <a:ext cx="1920240" cy="164592"/>
          </a:xfrm>
          <a:prstGeom prst="parallelogram">
            <a:avLst/>
          </a:prstGeom>
          <a:solidFill>
            <a:srgbClr val="145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 rot="2100000">
            <a:off x="-457200" y="4160520"/>
            <a:ext cx="1920240" cy="164592"/>
          </a:xfrm>
          <a:prstGeom prst="parallelogram">
            <a:avLst/>
          </a:prstGeom>
          <a:solidFill>
            <a:srgbClr val="28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rallelogram 6"/>
          <p:cNvSpPr/>
          <p:nvPr/>
        </p:nvSpPr>
        <p:spPr>
          <a:xfrm rot="2100000">
            <a:off x="-310896" y="4233672"/>
            <a:ext cx="1920240" cy="164592"/>
          </a:xfrm>
          <a:prstGeom prst="parallelogram">
            <a:avLst/>
          </a:prstGeom>
          <a:solidFill>
            <a:srgbClr val="28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rallelogram 7"/>
          <p:cNvSpPr/>
          <p:nvPr/>
        </p:nvSpPr>
        <p:spPr>
          <a:xfrm rot="2100000">
            <a:off x="-164592" y="4306824"/>
            <a:ext cx="1920240" cy="164592"/>
          </a:xfrm>
          <a:prstGeom prst="parallelogram">
            <a:avLst/>
          </a:prstGeom>
          <a:solidFill>
            <a:srgbClr val="28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A66E3A"/>
                </a:solidFill>
                <a:latin typeface="Nirmala UI"/>
              </a:rPr>
              <a:t>🏰 स्वर्णिम किला (सोनार किला) 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777240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6E3A"/>
                </a:solidFill>
                <a:latin typeface="Nirmala UI"/>
              </a:rPr>
              <a:t>●  त्रिकूट पहाड़ी पर बना विश्व प्रसिद्ध जैसलमेर किला।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417319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6E3A"/>
                </a:solidFill>
                <a:latin typeface="Nirmala UI"/>
              </a:rPr>
              <a:t>●  पीले बलुआ पत्थर से निर्मित होने के कारण सोनार किला कहलाता है।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057400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6E3A"/>
                </a:solidFill>
                <a:latin typeface="Nirmala UI"/>
              </a:rPr>
              <a:t>●  किले के अंदर मंदिर, हवेलियाँ, बाज़ार और निवासी क्षेत्र हैं।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697480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6E3A"/>
                </a:solidFill>
                <a:latin typeface="Nirmala UI"/>
              </a:rPr>
              <a:t>●  सूर्यास्त के समय किला सुनहरे रंग में चमकता है।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0" y="777240"/>
            <a:ext cx="3474720" cy="36576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12_15756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868680"/>
            <a:ext cx="32918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 rot="2100000">
            <a:off x="7498079" y="-137160"/>
            <a:ext cx="1920240" cy="164592"/>
          </a:xfrm>
          <a:prstGeom prst="parallelogram">
            <a:avLst/>
          </a:prstGeom>
          <a:solidFill>
            <a:srgbClr val="145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 rot="2100000">
            <a:off x="7644383" y="-64007"/>
            <a:ext cx="1920240" cy="164592"/>
          </a:xfrm>
          <a:prstGeom prst="parallelogram">
            <a:avLst/>
          </a:prstGeom>
          <a:solidFill>
            <a:srgbClr val="145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 rot="2100000">
            <a:off x="7790688" y="9144"/>
            <a:ext cx="1920240" cy="164592"/>
          </a:xfrm>
          <a:prstGeom prst="parallelogram">
            <a:avLst/>
          </a:prstGeom>
          <a:solidFill>
            <a:srgbClr val="145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 rot="2100000">
            <a:off x="-457200" y="4160520"/>
            <a:ext cx="1920240" cy="164592"/>
          </a:xfrm>
          <a:prstGeom prst="parallelogram">
            <a:avLst/>
          </a:prstGeom>
          <a:solidFill>
            <a:srgbClr val="28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rallelogram 6"/>
          <p:cNvSpPr/>
          <p:nvPr/>
        </p:nvSpPr>
        <p:spPr>
          <a:xfrm rot="2100000">
            <a:off x="-310896" y="4233672"/>
            <a:ext cx="1920240" cy="164592"/>
          </a:xfrm>
          <a:prstGeom prst="parallelogram">
            <a:avLst/>
          </a:prstGeom>
          <a:solidFill>
            <a:srgbClr val="28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rallelogram 7"/>
          <p:cNvSpPr/>
          <p:nvPr/>
        </p:nvSpPr>
        <p:spPr>
          <a:xfrm rot="2100000">
            <a:off x="-164592" y="4306824"/>
            <a:ext cx="1920240" cy="164592"/>
          </a:xfrm>
          <a:prstGeom prst="parallelogram">
            <a:avLst/>
          </a:prstGeom>
          <a:solidFill>
            <a:srgbClr val="28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A66E3A"/>
                </a:solidFill>
                <a:latin typeface="Nirmala UI"/>
              </a:rPr>
              <a:t>🏛️ पटवों की हवेली 🏛️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777240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6E3A"/>
                </a:solidFill>
                <a:latin typeface="Nirmala UI"/>
              </a:rPr>
              <a:t>●  जैसलमेर की सबसे भव्य और प्रसिद्ध हवेली समूह।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417319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6E3A"/>
                </a:solidFill>
                <a:latin typeface="Nirmala UI"/>
              </a:rPr>
              <a:t>●  पाँच हवेलियों का समूह, उत्कृष्ट नक्काशी और झरोखे।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057400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6E3A"/>
                </a:solidFill>
                <a:latin typeface="Nirmala UI"/>
              </a:rPr>
              <a:t>●  व्यापारी पटवा परिवार द्वारा बनवाई गई।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697480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6E3A"/>
                </a:solidFill>
                <a:latin typeface="Nirmala UI"/>
              </a:rPr>
              <a:t>●  संग्रहालय और वास्तुकला अध्ययन के लिए महत्वपूर्ण।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0" y="777240"/>
            <a:ext cx="3474720" cy="36576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14_7883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868680"/>
            <a:ext cx="32918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 rot="2100000">
            <a:off x="7498079" y="-137160"/>
            <a:ext cx="1920240" cy="164592"/>
          </a:xfrm>
          <a:prstGeom prst="parallelogram">
            <a:avLst/>
          </a:prstGeom>
          <a:solidFill>
            <a:srgbClr val="145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 rot="2100000">
            <a:off x="7644383" y="-64007"/>
            <a:ext cx="1920240" cy="164592"/>
          </a:xfrm>
          <a:prstGeom prst="parallelogram">
            <a:avLst/>
          </a:prstGeom>
          <a:solidFill>
            <a:srgbClr val="145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 rot="2100000">
            <a:off x="7790688" y="9144"/>
            <a:ext cx="1920240" cy="164592"/>
          </a:xfrm>
          <a:prstGeom prst="parallelogram">
            <a:avLst/>
          </a:prstGeom>
          <a:solidFill>
            <a:srgbClr val="145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 rot="2100000">
            <a:off x="-457200" y="4160520"/>
            <a:ext cx="1920240" cy="164592"/>
          </a:xfrm>
          <a:prstGeom prst="parallelogram">
            <a:avLst/>
          </a:prstGeom>
          <a:solidFill>
            <a:srgbClr val="28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rallelogram 6"/>
          <p:cNvSpPr/>
          <p:nvPr/>
        </p:nvSpPr>
        <p:spPr>
          <a:xfrm rot="2100000">
            <a:off x="-310896" y="4233672"/>
            <a:ext cx="1920240" cy="164592"/>
          </a:xfrm>
          <a:prstGeom prst="parallelogram">
            <a:avLst/>
          </a:prstGeom>
          <a:solidFill>
            <a:srgbClr val="28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rallelogram 7"/>
          <p:cNvSpPr/>
          <p:nvPr/>
        </p:nvSpPr>
        <p:spPr>
          <a:xfrm rot="2100000">
            <a:off x="-164592" y="4306824"/>
            <a:ext cx="1920240" cy="164592"/>
          </a:xfrm>
          <a:prstGeom prst="parallelogram">
            <a:avLst/>
          </a:prstGeom>
          <a:solidFill>
            <a:srgbClr val="28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A66E3A"/>
                </a:solidFill>
                <a:latin typeface="Nirmala UI"/>
              </a:rPr>
              <a:t>🏡 नाथमल की हवेली 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777240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6E3A"/>
                </a:solidFill>
                <a:latin typeface="Nirmala UI"/>
              </a:rPr>
              <a:t>●  दो भाई शिल्पकारों द्वारा बनाई गई अनोखी हवेली।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417319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6E3A"/>
                </a:solidFill>
                <a:latin typeface="Nirmala UI"/>
              </a:rPr>
              <a:t>●  दोनों भाग लगभग समान, पर सूक्ष्म अंतर भी दिखाई देते हैं।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057400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6E3A"/>
                </a:solidFill>
                <a:latin typeface="Nirmala UI"/>
              </a:rPr>
              <a:t>●  पत्थर की नक्काशी और हाथी की मूर्तियाँ विशेष आकर्षण हैं।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697480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6E3A"/>
                </a:solidFill>
                <a:latin typeface="Nirmala UI"/>
              </a:rPr>
              <a:t>●  जैसलमेर की स्थापत्य कला का उत्कृष्ट उदाहरण।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0" y="777240"/>
            <a:ext cx="3474720" cy="36576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4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868680"/>
            <a:ext cx="32918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 rot="2100000">
            <a:off x="7498079" y="-137160"/>
            <a:ext cx="1920240" cy="164592"/>
          </a:xfrm>
          <a:prstGeom prst="parallelogram">
            <a:avLst/>
          </a:prstGeom>
          <a:solidFill>
            <a:srgbClr val="145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 rot="2100000">
            <a:off x="7644383" y="-64007"/>
            <a:ext cx="1920240" cy="164592"/>
          </a:xfrm>
          <a:prstGeom prst="parallelogram">
            <a:avLst/>
          </a:prstGeom>
          <a:solidFill>
            <a:srgbClr val="145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 rot="2100000">
            <a:off x="7790688" y="9144"/>
            <a:ext cx="1920240" cy="164592"/>
          </a:xfrm>
          <a:prstGeom prst="parallelogram">
            <a:avLst/>
          </a:prstGeom>
          <a:solidFill>
            <a:srgbClr val="145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 rot="2100000">
            <a:off x="-457200" y="4160520"/>
            <a:ext cx="1920240" cy="164592"/>
          </a:xfrm>
          <a:prstGeom prst="parallelogram">
            <a:avLst/>
          </a:prstGeom>
          <a:solidFill>
            <a:srgbClr val="28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rallelogram 6"/>
          <p:cNvSpPr/>
          <p:nvPr/>
        </p:nvSpPr>
        <p:spPr>
          <a:xfrm rot="2100000">
            <a:off x="-310896" y="4233672"/>
            <a:ext cx="1920240" cy="164592"/>
          </a:xfrm>
          <a:prstGeom prst="parallelogram">
            <a:avLst/>
          </a:prstGeom>
          <a:solidFill>
            <a:srgbClr val="28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rallelogram 7"/>
          <p:cNvSpPr/>
          <p:nvPr/>
        </p:nvSpPr>
        <p:spPr>
          <a:xfrm rot="2100000">
            <a:off x="-164592" y="4306824"/>
            <a:ext cx="1920240" cy="164592"/>
          </a:xfrm>
          <a:prstGeom prst="parallelogram">
            <a:avLst/>
          </a:prstGeom>
          <a:solidFill>
            <a:srgbClr val="28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A66E3A"/>
                </a:solidFill>
                <a:latin typeface="Nirmala UI"/>
              </a:rPr>
              <a:t>🕌 सलीम सिंह की हवेली 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777240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6E3A"/>
                </a:solidFill>
                <a:latin typeface="Nirmala UI"/>
              </a:rPr>
              <a:t>●  विशेष मयूर शैली की छतों वाली हवेली।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417319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6E3A"/>
                </a:solidFill>
                <a:latin typeface="Nirmala UI"/>
              </a:rPr>
              <a:t>●  ऊपरी मंज़िल की नक्काशी और झरोखे अत्यंत आकर्षक।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057400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6E3A"/>
                </a:solidFill>
                <a:latin typeface="Nirmala UI"/>
              </a:rPr>
              <a:t>●  नगर के मध्य में स्थित प्रमुख दर्शनीय स्थल।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697480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6E3A"/>
                </a:solidFill>
                <a:latin typeface="Nirmala UI"/>
              </a:rPr>
              <a:t>●  जैसलमेर की शाही-व्यापारी वास्तुकला का प्रतीक।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0" y="777240"/>
            <a:ext cx="3474720" cy="36576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15_7196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868680"/>
            <a:ext cx="32918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 rot="2100000">
            <a:off x="7498079" y="-137160"/>
            <a:ext cx="1920240" cy="164592"/>
          </a:xfrm>
          <a:prstGeom prst="parallelogram">
            <a:avLst/>
          </a:prstGeom>
          <a:solidFill>
            <a:srgbClr val="145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 rot="2100000">
            <a:off x="7644383" y="-64007"/>
            <a:ext cx="1920240" cy="164592"/>
          </a:xfrm>
          <a:prstGeom prst="parallelogram">
            <a:avLst/>
          </a:prstGeom>
          <a:solidFill>
            <a:srgbClr val="145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 rot="2100000">
            <a:off x="7790688" y="9144"/>
            <a:ext cx="1920240" cy="164592"/>
          </a:xfrm>
          <a:prstGeom prst="parallelogram">
            <a:avLst/>
          </a:prstGeom>
          <a:solidFill>
            <a:srgbClr val="145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 rot="2100000">
            <a:off x="-457200" y="4160520"/>
            <a:ext cx="1920240" cy="164592"/>
          </a:xfrm>
          <a:prstGeom prst="parallelogram">
            <a:avLst/>
          </a:prstGeom>
          <a:solidFill>
            <a:srgbClr val="28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rallelogram 6"/>
          <p:cNvSpPr/>
          <p:nvPr/>
        </p:nvSpPr>
        <p:spPr>
          <a:xfrm rot="2100000">
            <a:off x="-310896" y="4233672"/>
            <a:ext cx="1920240" cy="164592"/>
          </a:xfrm>
          <a:prstGeom prst="parallelogram">
            <a:avLst/>
          </a:prstGeom>
          <a:solidFill>
            <a:srgbClr val="28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rallelogram 7"/>
          <p:cNvSpPr/>
          <p:nvPr/>
        </p:nvSpPr>
        <p:spPr>
          <a:xfrm rot="2100000">
            <a:off x="-164592" y="4306824"/>
            <a:ext cx="1920240" cy="164592"/>
          </a:xfrm>
          <a:prstGeom prst="parallelogram">
            <a:avLst/>
          </a:prstGeom>
          <a:solidFill>
            <a:srgbClr val="28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A66E3A"/>
                </a:solidFill>
                <a:latin typeface="Nirmala UI"/>
              </a:rPr>
              <a:t>💧 गडीसर झील 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777240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6E3A"/>
                </a:solidFill>
                <a:latin typeface="Nirmala UI"/>
              </a:rPr>
              <a:t>●  प्राचीन कृत्रिम झील और जल संरक्षण का उदाहरण।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417319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6E3A"/>
                </a:solidFill>
                <a:latin typeface="Nirmala UI"/>
              </a:rPr>
              <a:t>●  किनारे पर सुंदर छतरियाँ, मंदिर और घाट।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057400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6E3A"/>
                </a:solidFill>
                <a:latin typeface="Nirmala UI"/>
              </a:rPr>
              <a:t>●  नौका विहार और सूर्यास्त के दृश्य प्रसिद्ध हैं।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697480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6E3A"/>
                </a:solidFill>
                <a:latin typeface="Nirmala UI"/>
              </a:rPr>
              <a:t>●  शहर के निकट स्थित शांत पर्यटन स्थल।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0" y="777240"/>
            <a:ext cx="3474720" cy="36576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17_65157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868680"/>
            <a:ext cx="32918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 rot="2100000">
            <a:off x="7498079" y="-137160"/>
            <a:ext cx="1920240" cy="164592"/>
          </a:xfrm>
          <a:prstGeom prst="parallelogram">
            <a:avLst/>
          </a:prstGeom>
          <a:solidFill>
            <a:srgbClr val="145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 rot="2100000">
            <a:off x="7644383" y="-64007"/>
            <a:ext cx="1920240" cy="164592"/>
          </a:xfrm>
          <a:prstGeom prst="parallelogram">
            <a:avLst/>
          </a:prstGeom>
          <a:solidFill>
            <a:srgbClr val="145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 rot="2100000">
            <a:off x="7790688" y="9144"/>
            <a:ext cx="1920240" cy="164592"/>
          </a:xfrm>
          <a:prstGeom prst="parallelogram">
            <a:avLst/>
          </a:prstGeom>
          <a:solidFill>
            <a:srgbClr val="145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 rot="2100000">
            <a:off x="-457200" y="4160520"/>
            <a:ext cx="1920240" cy="164592"/>
          </a:xfrm>
          <a:prstGeom prst="parallelogram">
            <a:avLst/>
          </a:prstGeom>
          <a:solidFill>
            <a:srgbClr val="28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rallelogram 6"/>
          <p:cNvSpPr/>
          <p:nvPr/>
        </p:nvSpPr>
        <p:spPr>
          <a:xfrm rot="2100000">
            <a:off x="-310896" y="4233672"/>
            <a:ext cx="1920240" cy="164592"/>
          </a:xfrm>
          <a:prstGeom prst="parallelogram">
            <a:avLst/>
          </a:prstGeom>
          <a:solidFill>
            <a:srgbClr val="28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rallelogram 7"/>
          <p:cNvSpPr/>
          <p:nvPr/>
        </p:nvSpPr>
        <p:spPr>
          <a:xfrm rot="2100000">
            <a:off x="-164592" y="4306824"/>
            <a:ext cx="1920240" cy="164592"/>
          </a:xfrm>
          <a:prstGeom prst="parallelogram">
            <a:avLst/>
          </a:prstGeom>
          <a:solidFill>
            <a:srgbClr val="28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A66E3A"/>
                </a:solidFill>
                <a:latin typeface="Nirmala UI"/>
              </a:rPr>
              <a:t>🌳 बड़ा बाग 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777240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6E3A"/>
                </a:solidFill>
                <a:latin typeface="Nirmala UI"/>
              </a:rPr>
              <a:t>●  भाटी शासकों की छतरियों और स्मारकों का समूह।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417319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6E3A"/>
                </a:solidFill>
                <a:latin typeface="Nirmala UI"/>
              </a:rPr>
              <a:t>●  सुनहरे बलुआ पत्थर की छतरियाँ मरुस्थलीय पृष्ठभूमि में सुंदर लगती हैं।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057400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6E3A"/>
                </a:solidFill>
                <a:latin typeface="Nirmala UI"/>
              </a:rPr>
              <a:t>●  सूर्योदय और सूर्यास्त फोटोग्राफी के लिए लोकप्रिय।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697480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6E3A"/>
                </a:solidFill>
                <a:latin typeface="Nirmala UI"/>
              </a:rPr>
              <a:t>●  जैसलमेर की शाही स्मृति और इतिहास से जुड़ा स्थल।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0" y="777240"/>
            <a:ext cx="3474720" cy="36576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15_7196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868680"/>
            <a:ext cx="32918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 rot="2100000">
            <a:off x="7498079" y="-137160"/>
            <a:ext cx="1920240" cy="164592"/>
          </a:xfrm>
          <a:prstGeom prst="parallelogram">
            <a:avLst/>
          </a:prstGeom>
          <a:solidFill>
            <a:srgbClr val="145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 rot="2100000">
            <a:off x="7644383" y="-64007"/>
            <a:ext cx="1920240" cy="164592"/>
          </a:xfrm>
          <a:prstGeom prst="parallelogram">
            <a:avLst/>
          </a:prstGeom>
          <a:solidFill>
            <a:srgbClr val="145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 rot="2100000">
            <a:off x="7790688" y="9144"/>
            <a:ext cx="1920240" cy="164592"/>
          </a:xfrm>
          <a:prstGeom prst="parallelogram">
            <a:avLst/>
          </a:prstGeom>
          <a:solidFill>
            <a:srgbClr val="145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 rot="2100000">
            <a:off x="-457200" y="4160520"/>
            <a:ext cx="1920240" cy="164592"/>
          </a:xfrm>
          <a:prstGeom prst="parallelogram">
            <a:avLst/>
          </a:prstGeom>
          <a:solidFill>
            <a:srgbClr val="28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rallelogram 6"/>
          <p:cNvSpPr/>
          <p:nvPr/>
        </p:nvSpPr>
        <p:spPr>
          <a:xfrm rot="2100000">
            <a:off x="-310896" y="4233672"/>
            <a:ext cx="1920240" cy="164592"/>
          </a:xfrm>
          <a:prstGeom prst="parallelogram">
            <a:avLst/>
          </a:prstGeom>
          <a:solidFill>
            <a:srgbClr val="28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rallelogram 7"/>
          <p:cNvSpPr/>
          <p:nvPr/>
        </p:nvSpPr>
        <p:spPr>
          <a:xfrm rot="2100000">
            <a:off x="-164592" y="4306824"/>
            <a:ext cx="1920240" cy="164592"/>
          </a:xfrm>
          <a:prstGeom prst="parallelogram">
            <a:avLst/>
          </a:prstGeom>
          <a:solidFill>
            <a:srgbClr val="28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A66E3A"/>
                </a:solidFill>
                <a:latin typeface="Nirmala UI"/>
              </a:rPr>
              <a:t>🏚️ कुलधरा गाँव 🏚️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777240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6E3A"/>
                </a:solidFill>
                <a:latin typeface="Nirmala UI"/>
              </a:rPr>
              <a:t>●  रहस्यमय परित्यक्त गाँव, ऐतिहासिक कथाओं से जुड़ा।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417319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6E3A"/>
                </a:solidFill>
                <a:latin typeface="Nirmala UI"/>
              </a:rPr>
              <a:t>●  पुराने घरों के खंडहर और सुनसान गलियाँ आकर्षित करती हैं।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057400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6E3A"/>
                </a:solidFill>
                <a:latin typeface="Nirmala UI"/>
              </a:rPr>
              <a:t>●  पर्यटक यहाँ इतिहास और लोककथाओं को जानने आते हैं।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697480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6E3A"/>
                </a:solidFill>
                <a:latin typeface="Nirmala UI"/>
              </a:rPr>
              <a:t>●  जैसलमेर सर्किट का महत्वपूर्ण ऑफबीट स्थल।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0" y="777240"/>
            <a:ext cx="3474720" cy="36576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17_65157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868680"/>
            <a:ext cx="32918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 rot="2100000">
            <a:off x="7498079" y="-137160"/>
            <a:ext cx="1920240" cy="164592"/>
          </a:xfrm>
          <a:prstGeom prst="parallelogram">
            <a:avLst/>
          </a:prstGeom>
          <a:solidFill>
            <a:srgbClr val="145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 rot="2100000">
            <a:off x="7644383" y="-64007"/>
            <a:ext cx="1920240" cy="164592"/>
          </a:xfrm>
          <a:prstGeom prst="parallelogram">
            <a:avLst/>
          </a:prstGeom>
          <a:solidFill>
            <a:srgbClr val="145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 rot="2100000">
            <a:off x="7790688" y="9144"/>
            <a:ext cx="1920240" cy="164592"/>
          </a:xfrm>
          <a:prstGeom prst="parallelogram">
            <a:avLst/>
          </a:prstGeom>
          <a:solidFill>
            <a:srgbClr val="145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 rot="2100000">
            <a:off x="-457200" y="4160520"/>
            <a:ext cx="1920240" cy="164592"/>
          </a:xfrm>
          <a:prstGeom prst="parallelogram">
            <a:avLst/>
          </a:prstGeom>
          <a:solidFill>
            <a:srgbClr val="28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rallelogram 6"/>
          <p:cNvSpPr/>
          <p:nvPr/>
        </p:nvSpPr>
        <p:spPr>
          <a:xfrm rot="2100000">
            <a:off x="-310896" y="4233672"/>
            <a:ext cx="1920240" cy="164592"/>
          </a:xfrm>
          <a:prstGeom prst="parallelogram">
            <a:avLst/>
          </a:prstGeom>
          <a:solidFill>
            <a:srgbClr val="28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rallelogram 7"/>
          <p:cNvSpPr/>
          <p:nvPr/>
        </p:nvSpPr>
        <p:spPr>
          <a:xfrm rot="2100000">
            <a:off x="-164592" y="4306824"/>
            <a:ext cx="1920240" cy="164592"/>
          </a:xfrm>
          <a:prstGeom prst="parallelogram">
            <a:avLst/>
          </a:prstGeom>
          <a:solidFill>
            <a:srgbClr val="28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A66E3A"/>
                </a:solidFill>
                <a:latin typeface="Nirmala UI"/>
              </a:rPr>
              <a:t>🦌 डेजर्ट नेशनल पार्क 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777240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6E3A"/>
                </a:solidFill>
                <a:latin typeface="Nirmala UI"/>
              </a:rPr>
              <a:t>●  थार मरुस्थल का प्रमुख संरक्षित क्षेत्र।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417319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6E3A"/>
                </a:solidFill>
                <a:latin typeface="Nirmala UI"/>
              </a:rPr>
              <a:t>●  ग्रेट इंडियन बस्टर्ड सहित मरुस्थलीय वन्यजीव।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057400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6E3A"/>
                </a:solidFill>
                <a:latin typeface="Nirmala UI"/>
              </a:rPr>
              <a:t>●  जीप सफारी और रेगिस्तानी परिदृश्य का अनुभव।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697480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6E3A"/>
                </a:solidFill>
                <a:latin typeface="Nirmala UI"/>
              </a:rPr>
              <a:t>●  प्राकृतिक पर्यटन का महत्वपूर्ण केंद्र।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0" y="777240"/>
            <a:ext cx="3474720" cy="36576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5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868680"/>
            <a:ext cx="32918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 rot="2100000">
            <a:off x="7498079" y="-137160"/>
            <a:ext cx="1920240" cy="164592"/>
          </a:xfrm>
          <a:prstGeom prst="parallelogram">
            <a:avLst/>
          </a:prstGeom>
          <a:solidFill>
            <a:srgbClr val="145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 rot="2100000">
            <a:off x="7644383" y="-64007"/>
            <a:ext cx="1920240" cy="164592"/>
          </a:xfrm>
          <a:prstGeom prst="parallelogram">
            <a:avLst/>
          </a:prstGeom>
          <a:solidFill>
            <a:srgbClr val="145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 rot="2100000">
            <a:off x="7790688" y="9144"/>
            <a:ext cx="1920240" cy="164592"/>
          </a:xfrm>
          <a:prstGeom prst="parallelogram">
            <a:avLst/>
          </a:prstGeom>
          <a:solidFill>
            <a:srgbClr val="145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 rot="2100000">
            <a:off x="-457200" y="4160520"/>
            <a:ext cx="1920240" cy="164592"/>
          </a:xfrm>
          <a:prstGeom prst="parallelogram">
            <a:avLst/>
          </a:prstGeom>
          <a:solidFill>
            <a:srgbClr val="28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rallelogram 6"/>
          <p:cNvSpPr/>
          <p:nvPr/>
        </p:nvSpPr>
        <p:spPr>
          <a:xfrm rot="2100000">
            <a:off x="-310896" y="4233672"/>
            <a:ext cx="1920240" cy="164592"/>
          </a:xfrm>
          <a:prstGeom prst="parallelogram">
            <a:avLst/>
          </a:prstGeom>
          <a:solidFill>
            <a:srgbClr val="28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rallelogram 7"/>
          <p:cNvSpPr/>
          <p:nvPr/>
        </p:nvSpPr>
        <p:spPr>
          <a:xfrm rot="2100000">
            <a:off x="-164592" y="4306824"/>
            <a:ext cx="1920240" cy="164592"/>
          </a:xfrm>
          <a:prstGeom prst="parallelogram">
            <a:avLst/>
          </a:prstGeom>
          <a:solidFill>
            <a:srgbClr val="28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A66E3A"/>
                </a:solidFill>
                <a:latin typeface="Nirmala UI"/>
              </a:rPr>
              <a:t>🐪 सम के रेत के टीले 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777240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6E3A"/>
                </a:solidFill>
                <a:latin typeface="Nirmala UI"/>
              </a:rPr>
              <a:t>●  जैसलमेर से लगभग 40–45 किमी दूर प्रसिद्ध रेत के धोरे।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417319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6E3A"/>
                </a:solidFill>
                <a:latin typeface="Nirmala UI"/>
              </a:rPr>
              <a:t>●  ऊँट सवारी, जीप सफारी और डेजर्ट कैंपिंग।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057400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6E3A"/>
                </a:solidFill>
                <a:latin typeface="Nirmala UI"/>
              </a:rPr>
              <a:t>●  लोक संगीत-नृत्य और सूर्यास्त का अद्भुत दृश्य।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697480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6E3A"/>
                </a:solidFill>
                <a:latin typeface="Nirmala UI"/>
              </a:rPr>
              <a:t>●  सर्किट का सबसे लोकप्रिय मरुस्थलीय अनुभव।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0" y="777240"/>
            <a:ext cx="3474720" cy="36576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19_8082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868680"/>
            <a:ext cx="32918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 rot="2100000">
            <a:off x="7498079" y="-137160"/>
            <a:ext cx="1920240" cy="164592"/>
          </a:xfrm>
          <a:prstGeom prst="parallelogram">
            <a:avLst/>
          </a:prstGeom>
          <a:solidFill>
            <a:srgbClr val="145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 rot="2100000">
            <a:off x="7644383" y="-64007"/>
            <a:ext cx="1920240" cy="164592"/>
          </a:xfrm>
          <a:prstGeom prst="parallelogram">
            <a:avLst/>
          </a:prstGeom>
          <a:solidFill>
            <a:srgbClr val="145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 rot="2100000">
            <a:off x="7790688" y="9144"/>
            <a:ext cx="1920240" cy="164592"/>
          </a:xfrm>
          <a:prstGeom prst="parallelogram">
            <a:avLst/>
          </a:prstGeom>
          <a:solidFill>
            <a:srgbClr val="145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 rot="2100000">
            <a:off x="-457200" y="4160520"/>
            <a:ext cx="1920240" cy="164592"/>
          </a:xfrm>
          <a:prstGeom prst="parallelogram">
            <a:avLst/>
          </a:prstGeom>
          <a:solidFill>
            <a:srgbClr val="28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rallelogram 6"/>
          <p:cNvSpPr/>
          <p:nvPr/>
        </p:nvSpPr>
        <p:spPr>
          <a:xfrm rot="2100000">
            <a:off x="-310896" y="4233672"/>
            <a:ext cx="1920240" cy="164592"/>
          </a:xfrm>
          <a:prstGeom prst="parallelogram">
            <a:avLst/>
          </a:prstGeom>
          <a:solidFill>
            <a:srgbClr val="28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rallelogram 7"/>
          <p:cNvSpPr/>
          <p:nvPr/>
        </p:nvSpPr>
        <p:spPr>
          <a:xfrm rot="2100000">
            <a:off x="-164592" y="4306824"/>
            <a:ext cx="1920240" cy="164592"/>
          </a:xfrm>
          <a:prstGeom prst="parallelogram">
            <a:avLst/>
          </a:prstGeom>
          <a:solidFill>
            <a:srgbClr val="28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A66E3A"/>
                </a:solidFill>
                <a:latin typeface="Nirmala UI"/>
              </a:rPr>
              <a:t>🛕 तनोट माता एवं लोंगेवाला 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777240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6E3A"/>
                </a:solidFill>
                <a:latin typeface="Nirmala UI"/>
              </a:rPr>
              <a:t>●  तनोट माता मंदिर सीमा क्षेत्र की आस्था का केंद्र।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417319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6E3A"/>
                </a:solidFill>
                <a:latin typeface="Nirmala UI"/>
              </a:rPr>
              <a:t>●  लोंगेवाला युद्ध स्मारक देशभक्ति और इतिहास से जुड़ा।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057400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6E3A"/>
                </a:solidFill>
                <a:latin typeface="Nirmala UI"/>
              </a:rPr>
              <a:t>●  युद्ध संग्रहालय और टैंक्स पर्यटकों को आकर्षित करते हैं।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697480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6E3A"/>
                </a:solidFill>
                <a:latin typeface="Nirmala UI"/>
              </a:rPr>
              <a:t>●  देशभक्ति पर्यटन का महत्वपूर्ण हिस्सा।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0" y="777240"/>
            <a:ext cx="3474720" cy="36576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5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868680"/>
            <a:ext cx="32918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 rot="2100000">
            <a:off x="7498079" y="-137160"/>
            <a:ext cx="1920240" cy="164592"/>
          </a:xfrm>
          <a:prstGeom prst="parallelogram">
            <a:avLst/>
          </a:prstGeom>
          <a:solidFill>
            <a:srgbClr val="145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 rot="2100000">
            <a:off x="7644383" y="-64007"/>
            <a:ext cx="1920240" cy="164592"/>
          </a:xfrm>
          <a:prstGeom prst="parallelogram">
            <a:avLst/>
          </a:prstGeom>
          <a:solidFill>
            <a:srgbClr val="145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 rot="2100000">
            <a:off x="7790688" y="9144"/>
            <a:ext cx="1920240" cy="164592"/>
          </a:xfrm>
          <a:prstGeom prst="parallelogram">
            <a:avLst/>
          </a:prstGeom>
          <a:solidFill>
            <a:srgbClr val="145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 rot="2100000">
            <a:off x="-457200" y="4160520"/>
            <a:ext cx="1920240" cy="164592"/>
          </a:xfrm>
          <a:prstGeom prst="parallelogram">
            <a:avLst/>
          </a:prstGeom>
          <a:solidFill>
            <a:srgbClr val="28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rallelogram 6"/>
          <p:cNvSpPr/>
          <p:nvPr/>
        </p:nvSpPr>
        <p:spPr>
          <a:xfrm rot="2100000">
            <a:off x="-310896" y="4233672"/>
            <a:ext cx="1920240" cy="164592"/>
          </a:xfrm>
          <a:prstGeom prst="parallelogram">
            <a:avLst/>
          </a:prstGeom>
          <a:solidFill>
            <a:srgbClr val="28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rallelogram 7"/>
          <p:cNvSpPr/>
          <p:nvPr/>
        </p:nvSpPr>
        <p:spPr>
          <a:xfrm rot="2100000">
            <a:off x="-164592" y="4306824"/>
            <a:ext cx="1920240" cy="164592"/>
          </a:xfrm>
          <a:prstGeom prst="parallelogram">
            <a:avLst/>
          </a:prstGeom>
          <a:solidFill>
            <a:srgbClr val="28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A66E3A"/>
                </a:solidFill>
                <a:latin typeface="Nirmala UI"/>
              </a:rPr>
              <a:t>🎵 संस्कृति, खान-पान एवं मेले 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777240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6E3A"/>
                </a:solidFill>
                <a:latin typeface="Nirmala UI"/>
              </a:rPr>
              <a:t>●  लोक संगीत, कालबेलिया नृत्य और हस्तशिल्प प्रसिद्ध।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417319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6E3A"/>
                </a:solidFill>
                <a:latin typeface="Nirmala UI"/>
              </a:rPr>
              <a:t>●  दाल-बाटी, कैर-सांगरी और मिष्ठान स्थानीय स्वाद हैं।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057400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6E3A"/>
                </a:solidFill>
                <a:latin typeface="Nirmala UI"/>
              </a:rPr>
              <a:t>●  मरु महोत्सव जैसलमेर का प्रमुख उत्सव है।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697480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6E3A"/>
                </a:solidFill>
                <a:latin typeface="Nirmala UI"/>
              </a:rPr>
              <a:t>●  पर्यटकों के लिए सफारी, कैंपिंग और सांस्कृतिक कार्यक्रम।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0" y="777240"/>
            <a:ext cx="3474720" cy="36576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23_71579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868680"/>
            <a:ext cx="32918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7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8138160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 rot="2100000">
            <a:off x="7498079" y="-137160"/>
            <a:ext cx="1920240" cy="164592"/>
          </a:xfrm>
          <a:prstGeom prst="parallelogram">
            <a:avLst/>
          </a:prstGeom>
          <a:solidFill>
            <a:srgbClr val="145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 rot="2100000">
            <a:off x="7644383" y="-64007"/>
            <a:ext cx="1920240" cy="164592"/>
          </a:xfrm>
          <a:prstGeom prst="parallelogram">
            <a:avLst/>
          </a:prstGeom>
          <a:solidFill>
            <a:srgbClr val="145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 rot="2100000">
            <a:off x="7790688" y="9144"/>
            <a:ext cx="1920240" cy="164592"/>
          </a:xfrm>
          <a:prstGeom prst="parallelogram">
            <a:avLst/>
          </a:prstGeom>
          <a:solidFill>
            <a:srgbClr val="145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rallelogram 6"/>
          <p:cNvSpPr/>
          <p:nvPr/>
        </p:nvSpPr>
        <p:spPr>
          <a:xfrm rot="2100000">
            <a:off x="-457200" y="4160520"/>
            <a:ext cx="1920240" cy="164592"/>
          </a:xfrm>
          <a:prstGeom prst="parallelogram">
            <a:avLst/>
          </a:prstGeom>
          <a:solidFill>
            <a:srgbClr val="28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rallelogram 7"/>
          <p:cNvSpPr/>
          <p:nvPr/>
        </p:nvSpPr>
        <p:spPr>
          <a:xfrm rot="2100000">
            <a:off x="-310896" y="4233672"/>
            <a:ext cx="1920240" cy="164592"/>
          </a:xfrm>
          <a:prstGeom prst="parallelogram">
            <a:avLst/>
          </a:prstGeom>
          <a:solidFill>
            <a:srgbClr val="28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arallelogram 8"/>
          <p:cNvSpPr/>
          <p:nvPr/>
        </p:nvSpPr>
        <p:spPr>
          <a:xfrm rot="2100000">
            <a:off x="-164592" y="4306824"/>
            <a:ext cx="1920240" cy="164592"/>
          </a:xfrm>
          <a:prstGeom prst="parallelogram">
            <a:avLst/>
          </a:prstGeom>
          <a:solidFill>
            <a:srgbClr val="28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097280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A66E3A"/>
                </a:solidFill>
                <a:latin typeface="Nirmala UI"/>
              </a:rPr>
              <a:t>∆ निष्कर्ष 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828800"/>
            <a:ext cx="71323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A66E3A"/>
                </a:solidFill>
                <a:latin typeface="Nirmala UI"/>
              </a:rPr>
              <a:t>जैसलमेर पर्यटन सर्किट राजस्थान की ऐतिहासिक, सांस्कृतिक और प्राकृतिक धरोहर को एक संगठित रूप में प्रस्तुत करता है। स्वर्णिम किला, हवेलियाँ, झील, मरुस्थल, लोक कला और सीमा क्षेत्र देश-विदेश के पर्यटकों को आकर्षित करते हैं तथा स्थानीय अर्थव्यवस्था को भी बल देते हैं।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 rot="2100000">
            <a:off x="7498079" y="-137160"/>
            <a:ext cx="1920240" cy="164592"/>
          </a:xfrm>
          <a:prstGeom prst="parallelogram">
            <a:avLst/>
          </a:prstGeom>
          <a:solidFill>
            <a:srgbClr val="145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 rot="2100000">
            <a:off x="7644383" y="-64007"/>
            <a:ext cx="1920240" cy="164592"/>
          </a:xfrm>
          <a:prstGeom prst="parallelogram">
            <a:avLst/>
          </a:prstGeom>
          <a:solidFill>
            <a:srgbClr val="145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 rot="2100000">
            <a:off x="7790688" y="9144"/>
            <a:ext cx="1920240" cy="164592"/>
          </a:xfrm>
          <a:prstGeom prst="parallelogram">
            <a:avLst/>
          </a:prstGeom>
          <a:solidFill>
            <a:srgbClr val="145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 rot="2100000">
            <a:off x="-457200" y="4160520"/>
            <a:ext cx="1920240" cy="164592"/>
          </a:xfrm>
          <a:prstGeom prst="parallelogram">
            <a:avLst/>
          </a:prstGeom>
          <a:solidFill>
            <a:srgbClr val="28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rallelogram 6"/>
          <p:cNvSpPr/>
          <p:nvPr/>
        </p:nvSpPr>
        <p:spPr>
          <a:xfrm rot="2100000">
            <a:off x="-310896" y="4233672"/>
            <a:ext cx="1920240" cy="164592"/>
          </a:xfrm>
          <a:prstGeom prst="parallelogram">
            <a:avLst/>
          </a:prstGeom>
          <a:solidFill>
            <a:srgbClr val="28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rallelogram 7"/>
          <p:cNvSpPr/>
          <p:nvPr/>
        </p:nvSpPr>
        <p:spPr>
          <a:xfrm rot="2100000">
            <a:off x="-164592" y="4306824"/>
            <a:ext cx="1920240" cy="164592"/>
          </a:xfrm>
          <a:prstGeom prst="parallelogram">
            <a:avLst/>
          </a:prstGeom>
          <a:solidFill>
            <a:srgbClr val="28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A66E3A"/>
                </a:solidFill>
                <a:latin typeface="Nirmala UI"/>
              </a:rPr>
              <a:t>🙏 आभार 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188720"/>
            <a:ext cx="76809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A66E3A"/>
                </a:solidFill>
                <a:latin typeface="Nirmala UI"/>
              </a:rPr>
              <a:t>मैं आचार्य श्री महाप्रज्ञ इंस्टीट्यूट ऑफ एक्सीलेंस, आसींद (भीलवाड़ा) के भूगोल विभाग तथा मार्गदर्शक श्री सांवर लाल प्रजापत का हृदय से आभार व्यक्त करती हूँ। माता-पिता, साथियों और सभी सूचना स्रोतों का भी धन्यवाद।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17520"/>
            <a:ext cx="7680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A66E3A"/>
                </a:solidFill>
                <a:latin typeface="Nirmala UI"/>
              </a:rPr>
              <a:t>धन्यवाद!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576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6E3A"/>
                </a:solidFill>
                <a:latin typeface="Nirmala UI"/>
              </a:rPr>
              <a:t>प्रस्तुतकर्ता :- Meera Regar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0233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6E3A"/>
                </a:solidFill>
                <a:latin typeface="Nirmala UI"/>
              </a:rPr>
              <a:t>Roll no. :- 24425671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