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embeddedFontLst>
    <p:embeddedFont>
      <p:font typeface="Mona Sans SemiBold" pitchFamily="34" charset="0"/>
      <p:bold r:id="rId18"/>
    </p:embeddedFont>
    <p:embeddedFont>
      <p:font typeface="Mona Sans SemiBold" pitchFamily="34" charset="-122"/>
      <p:bold r:id="rId19"/>
    </p:embeddedFont>
    <p:embeddedFont>
      <p:font typeface="Mona Sans SemiBold" pitchFamily="34" charset="-120"/>
      <p:bold r:id="rId20"/>
    </p:embeddedFont>
    <p:embeddedFont>
      <p:font typeface="Funnel Sans" pitchFamily="34" charset="0"/>
      <p:regular r:id="rId21"/>
    </p:embeddedFont>
    <p:embeddedFont>
      <p:font typeface="Funnel Sans" pitchFamily="34" charset="-122"/>
      <p:regular r:id="rId22"/>
    </p:embeddedFont>
    <p:embeddedFont>
      <p:font typeface="Funnel Sans" pitchFamily="34" charset="-120"/>
      <p:regular r:id="rId23"/>
    </p:embeddedFont>
    <p:embeddedFont>
      <p:font typeface="Funnel Sans Bold" pitchFamily="34" charset="0"/>
      <p:bold r:id="rId24"/>
    </p:embeddedFont>
    <p:embeddedFont>
      <p:font typeface="Funnel Sans Bold" pitchFamily="34" charset="-122"/>
      <p:bold r:id="rId25"/>
    </p:embeddedFont>
    <p:embeddedFont>
      <p:font typeface="Funnel Sans Bold" pitchFamily="34" charset="-120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SI Units &amp; Unit Conversion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 11 Physics · 30-Minute Lecture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633201" y="1700113"/>
            <a:ext cx="142137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373B48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746605" y="1756767"/>
            <a:ext cx="1804149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HOOK QUESTION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062857"/>
            <a:ext cx="6903269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can't we simply say the speed of a car is 20?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433167"/>
            <a:ext cx="6903269" cy="7748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What's missing?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Think about it — 20 what? Miles? Kilometers? Meters per second?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420691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2E4E9"/>
          </a:solidFill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208" y="4713784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637980"/>
            <a:ext cx="6709599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number alone is meaningless without a unit.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2E4E9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233360" y="1795562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is a Measurement?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69679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28717" y="2865041"/>
            <a:ext cx="2663163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Number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273723"/>
            <a:ext cx="2663163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magnitude — how much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69679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71601" y="2865041"/>
            <a:ext cx="2663262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Unit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273723"/>
            <a:ext cx="266326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standard — of what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28717" y="4155877"/>
            <a:ext cx="590614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Together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564559"/>
            <a:ext cx="590614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 meters · 10 seconds · 2 kilograms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8308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7 SI Base Units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16980"/>
            <a:ext cx="10868745" cy="4392613"/>
          </a:xfrm>
          <a:prstGeom prst="roundRect">
            <a:avLst>
              <a:gd name="adj" fmla="val 180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61475" y="226843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1475" y="281672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475" y="336500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1475" y="446157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1475" y="50098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1475" y="555813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9015" y="1723330"/>
            <a:ext cx="3617921" cy="545108"/>
          </a:xfrm>
          <a:custGeom>
            <a:avLst/>
            <a:gdLst/>
            <a:ahLst/>
            <a:cxnLst/>
            <a:rect l="l" t="t" r="r" b="b"/>
            <a:pathLst>
              <a:path w="3617921" h="545108">
                <a:moveTo>
                  <a:pt x="66156" y="0"/>
                </a:moveTo>
                <a:lnTo>
                  <a:pt x="3617921" y="0"/>
                </a:lnTo>
                <a:lnTo>
                  <a:pt x="3617921" y="545108"/>
                </a:lnTo>
                <a:lnTo>
                  <a:pt x="0" y="54510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373B48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8022" y="1843088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Quantity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286937" y="1723330"/>
            <a:ext cx="3617921" cy="545108"/>
          </a:xfrm>
          <a:prstGeom prst="rect">
            <a:avLst/>
          </a:prstGeom>
          <a:solidFill>
            <a:srgbClr val="373B4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75943" y="1843088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Unit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904858" y="1723330"/>
            <a:ext cx="3617921" cy="545108"/>
          </a:xfrm>
          <a:custGeom>
            <a:avLst/>
            <a:gdLst/>
            <a:ahLst/>
            <a:cxnLst/>
            <a:rect l="l" t="t" r="r" b="b"/>
            <a:pathLst>
              <a:path w="3617921" h="545108">
                <a:moveTo>
                  <a:pt x="0" y="0"/>
                </a:moveTo>
                <a:lnTo>
                  <a:pt x="3551765" y="0"/>
                </a:lnTo>
                <a:arcTo wR="66156" hR="66158" stAng="16200000" swAng="5400000"/>
                <a:lnTo>
                  <a:pt x="3617921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93865" y="1843088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Symbol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8022" y="2391370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Length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75943" y="2391370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93865" y="2391370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8022" y="2939653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Mass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75943" y="2939653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Kilogram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93865" y="2939653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8022" y="3487936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75943" y="3487936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Second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93865" y="3487936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58022" y="4036219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75943" y="4036219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Kelvin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93865" y="4036219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8022" y="4584502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Electric Current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475943" y="4584502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Ampere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093865" y="4584502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8022" y="5132784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Luminous Intensity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475943" y="5132784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Candela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093865" y="5132784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58022" y="5681067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Amount of Substance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475943" y="5681067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Mole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093865" y="5681067"/>
            <a:ext cx="3849492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mol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9902"/>
            <a:ext cx="6903269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Derived Units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9563"/>
            <a:ext cx="6903269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Definition: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Units formed by combining SI base units through multiplication or division.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930080"/>
            <a:ext cx="3496877" cy="113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5144492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Force — Newton (N)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553174"/>
            <a:ext cx="296646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 · m/s²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7359" y="4930080"/>
            <a:ext cx="3496877" cy="113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363" y="5144492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Energy — Joule (J)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63363" y="5553174"/>
            <a:ext cx="296646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 · m²/s²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33244" y="4930080"/>
            <a:ext cx="3496877" cy="113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9247" y="5144492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Power — Watt (W)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49247" y="5553174"/>
            <a:ext cx="296646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 · m²/s³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1896467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Convert Units?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0584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67825" y="2776934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2E4E9"/>
          </a:solidFill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56832" y="2965946"/>
            <a:ext cx="590614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374628"/>
            <a:ext cx="590614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Real-world data arrives in mixed, inconsistent units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3866059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2E4E9"/>
          </a:solidFill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7825" y="386605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8CACF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6832" y="4055070"/>
            <a:ext cx="590614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Requirement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463752"/>
            <a:ext cx="590614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Physics equations demand complete unit consistency on both sides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807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Converting km/h → m/s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4550"/>
            <a:ext cx="6903269" cy="3030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2521" y="4422875"/>
            <a:ext cx="1210084" cy="1870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Distance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832521" y="4663070"/>
            <a:ext cx="1210084" cy="149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 km = 1000 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30065" y="4376332"/>
            <a:ext cx="1210084" cy="1870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Convert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0065" y="4616527"/>
            <a:ext cx="1210084" cy="149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Divide by 3.6 or ×5/18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41266" y="2432337"/>
            <a:ext cx="1210084" cy="1870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Time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41266" y="2672531"/>
            <a:ext cx="1210084" cy="149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 h = 3600 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5357614"/>
            <a:ext cx="751285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Follow the derivation on the board step by step.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32251" y="3060898"/>
            <a:ext cx="1534975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145656" y="3117552"/>
            <a:ext cx="1917751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DERIVE ON BOARD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32251" y="3423642"/>
            <a:ext cx="350421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Relation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032251" y="3907929"/>
            <a:ext cx="411380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 km/h = 5/18 m/s ≈ 0.278 m/s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032251" y="4399359"/>
            <a:ext cx="350421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Notes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08448"/>
            <a:ext cx="1534975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4879" y="1765102"/>
            <a:ext cx="1917751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DERIVE ON BOARD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71191"/>
            <a:ext cx="5203794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Converting m/s → km/h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441502"/>
            <a:ext cx="5813379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Reciprocal of the previous conversion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932932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Relation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417219"/>
            <a:ext cx="5203794" cy="7748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 m/s = 18/5 km/h = 3.6 km/h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Multiply by 3.6 to convert from m/s to km/h.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1495822"/>
            <a:ext cx="5476043" cy="3866356"/>
          </a:xfrm>
          <a:prstGeom prst="roundRect">
            <a:avLst>
              <a:gd name="adj" fmla="val 3520"/>
            </a:avLst>
          </a:prstGeom>
          <a:solidFill>
            <a:srgbClr val="373B48">
              <a:alpha val="95000"/>
            </a:srgbClr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85658" y="1684834"/>
            <a:ext cx="509802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Quick Reference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2169120"/>
            <a:ext cx="5098029" cy="12473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→ km/h to m/s:</a:t>
            </a: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× 5/18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→ m/s to km/h:</a:t>
            </a: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× 18/5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→ m/s to km/h:</a:t>
            </a: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× 3.6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85658" y="3605510"/>
            <a:ext cx="509802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My Notes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6362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Practice: Speed Conversions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15034"/>
            <a:ext cx="5339820" cy="168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7931" y="2956818"/>
            <a:ext cx="226808" cy="2834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570982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72 km/h = ? m/s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979664"/>
            <a:ext cx="491100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72 × (5/18) = </a:t>
            </a: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20 m/s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2815034"/>
            <a:ext cx="5339919" cy="168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6757" y="2956818"/>
            <a:ext cx="226808" cy="2834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404708" y="3570982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10 m/s = ? km/h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979664"/>
            <a:ext cx="491110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 × (18/5) = </a:t>
            </a: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36 km/h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56682" y="4709120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Space for your working below ↓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71241"/>
            <a:ext cx="6903269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Dimensional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450902"/>
            <a:ext cx="751285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Rule: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Both sides of any equation must carry the same dimensions.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2965946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2E4E9"/>
          </a:solidFill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325903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183235"/>
            <a:ext cx="6709599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Dimensions don't lie — use them to verify every formula.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3915569"/>
            <a:ext cx="690326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Check F = ma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33201" y="4399855"/>
            <a:ext cx="751285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[kg · m/s²] = [kg] × [m/s²] </a:t>
            </a: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✓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33201" y="4891286"/>
            <a:ext cx="690326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Notes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219325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Exit Question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3306068"/>
            <a:ext cx="662298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Why can't we simply say the speed of a car is 20?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093442"/>
            <a:ext cx="25399" cy="727670"/>
          </a:xfrm>
          <a:prstGeom prst="roundRect">
            <a:avLst>
              <a:gd name="adj" fmla="val 50001"/>
            </a:avLst>
          </a:prstGeom>
          <a:solidFill>
            <a:srgbClr val="373B48"/>
          </a:solidFill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61475" y="4033738"/>
            <a:ext cx="6296860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 your answer in the space below — in one complete sentence, explain what makes a measurement meaningful.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1802</Words>
  <Application>WPS Presentation</Application>
  <PresentationFormat>On-screen Show 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Mona Sans SemiBold</vt:lpstr>
      <vt:lpstr>Mona Sans SemiBold</vt:lpstr>
      <vt:lpstr>Mona Sans SemiBold</vt:lpstr>
      <vt:lpstr>Funnel Sans</vt:lpstr>
      <vt:lpstr>Funnel Sans</vt:lpstr>
      <vt:lpstr>Funnel Sans</vt:lpstr>
      <vt:lpstr>Funnel Sans Bold</vt:lpstr>
      <vt:lpstr>Funnel Sans Bold</vt:lpstr>
      <vt:lpstr>Funnel Sans Bold</vt:lpstr>
      <vt:lpstr>Calibri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manish jat</cp:lastModifiedBy>
  <cp:revision>2</cp:revision>
  <dcterms:created xsi:type="dcterms:W3CDTF">2026-08-20T13:22:00Z</dcterms:created>
  <dcterms:modified xsi:type="dcterms:W3CDTF">2026-08-20T13:34:41Z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AD656702253141C08D3974ECEF75616D_12</vt:lpwstr>
  </property>
  <property fmtid="{D5CDD505-2E9C-101B-9397-08002B2CF9AE}" pid="3" name="KSOProductBuildVer">
    <vt:lpwstr>1033-12.1.0.28032</vt:lpwstr>
  </property>
</Properties>
</file>