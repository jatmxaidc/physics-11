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0:00–0:03 — Welcome students. Say: “Today we begin kinematics, the study of motion without discussing its cause.” Ask: “Is a passenger sitting in a moving train at rest or in motion?” Accept both answers, then say the answer depends on the observer. State that this single idea will lead to frame of reference, position, distance and displacement. Do not define everything immediately.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0:03–0:06 — Read the outcomes briefly. Explain the two-hour structure: concept blocks, quick checks, a short break, worked examples, NEET MCQs and an exit test. Tell students they should answer aloud and show working, not merely copy.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0:06–0:10 — Give 20 seconds per prompt. Expected: physical quantity = numerical value × unit; length is a base quantity; metre is SI unit; speed has m/s. Connect units to motion: position, distance and displacement all have the dimension of length and SI unit metre.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0:10–0:15 — Ask three students to answer independently. A passenger is at rest relative to the train but in motion relative to a person on the platform or Earth. Emphasise: rest and motion are relative concepts. Avoid saying “everything is always moving”; the scientific answer must name the reference frame.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0:15–0:20 — Define rest and motion using change of position with time relative to a chosen observer. Ask: “Is this classroom at rest?” Expected: relative to Earth/classroom, yes; relative to the Sun, it moves. Stress that the frame must be stated whenever ambiguity exists.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0:20–0:26 — Say: “A frame of reference is the coordinate system, together with a clock, relative to which observations are made.” For this introductory lecture, focus on origin, positive direction and time. Demonstrate with the classroom door as origin and right as positive.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0:26–0:31 — Draw a long horizontal line on the board. Mark origin O = 0, right as positive, left as negative. Explain that changing the origin changes coordinate values but not the actual separation or physical path. Ask where an object 3 m left of O is located: x = −3 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0:31–0:36 — Suppose a tree is physically fixed. Observer A selects a point 2 m left of the tree as origin, so x = +2 m. Observer B selects a point 5 m right, so x = −5 m. Both are correct. Position coordinate depends on frame; the object itself has not moved.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0:36–0:42 — Define position as the location of an object relative to the chosen origin at a specified time. In one dimension, use the coordinate x. Point to A and B on the number line and ask students to state their positions. Emphasise that the sign identifies the side of the origin. Position has SI unit metre and dimension [L].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0:42–0:48 — Ask students to answer before revealing verbally. A at −4 m, B at +2 m, C at +6 m. Ask which is farthest from origin: C, because |6| is greatest. Ask distance between A and B: 6 m. Keep separation distinct from displacement until later.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0:48–0:53 — Introduce xi and xf. Use x-axis: initial x_i = −2 m and final x_f = +5 m. Ask what changed. Do not call it distance yet. Write final minus initial and evaluate +7 m. Explain the positive sign means the net change is toward the chosen positive direction.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0:53–0:58 — Students answer individually, then compare with a partner. Answers: (1) relative to ground: motion; relative to bus: rest. (2) x = −3 m. (3) No; position can be negative while velocity is positive. Use responses to decide whether to repeat reference-frame explanation.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0:58–1:03 — Five-minute break. Keep this slide visible. After the break, recap in one sentence: position tells where; now we study how much path is covered and how position changes.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1:03–1:10 — Define distance as total length of actual path travelled. It is scalar, non-negative and path-dependent. SI unit metre. Demonstrate by walking from one side of room to another and partially returning; every segment contributes positively to distance.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1:10–1:17 — Define displacement as change in position. In 1D, Δx = xf − xi. It is a vector; sign gives direction. It depends only on initial and final positions, not on path. Magnitude is |Δx|. Make students pronounce delta x as “change in x”.</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1:17–1:24 — Work through each row. Distance: actual path, scalar, non-negative, path dependent. Displacement: shortest directed change, vector, signed in 1D, path independent. Both have SI unit metre and dimension [L]. Ask students to name the one similarity and three differences.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1:24–1:30 — Object moves from x = 2 m to x = 9 m without reversing. Distance = 7 m. Displacement = 9 − 2 = +7 m. Point out equality occurs because motion is along a straight line without change of direction. Ask what the plus sign means.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1:30–1:38 — Start at x = 2 m, move to x = 8 m, then to x = −3 m. First path = 6 m; second = 11 m; distance = 17 m. Displacement = −3 − 2 = −5 m. Explain why adding signed displacement segments also gives +6 + (−11) = −5 m.</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1:38–1:44 — A runner completes one 400 m lap and returns to start. Distance = 400 m; displacement = 0. Ask: “Did the runner move?” Yes—distance proves path was covered. Zero displacement does not imply zero distance or no motion.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1:44–1:49 — State that distance is always greater than or equal to magnitude of displacement. Equality when path is straight with no reversal. Strict inequality when extra path or reversal occurs. Never compare signed displacement directly with distance; compare its magnitude.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1:49–1:54 — Positive displacement: final position lies in positive direction relative to initial. Negative: final lies in negative direction. Zero: same initial and final position. The sign depends on the selected positive axis, not on “good/bad” or distance travelled.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1:54–1:58 — Explain odometer measures accumulated path length approximately—distance. A navigation app can show straight-line change from start to destination—magnitude/direction of displacement—while also suggesting road distance. This anchors abstract definitions.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1:58–2:06 — If strictly limited to 120 minutes, start this at 1:55 and compress application slide. Q1: distance 13 m, displacement +3 m. Q2: distance 16 m, displacement 0. Q3: distance 20 m, displacement −20 m. Ask for formula and signs, not only answers.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2:06–2:12 — Answers: 1(B), 2(C), 3(B). Q1 equality only for straight motion without reversal. Q2 one full circle returns to start. Q3 coordinate depends on origin. Require students to justify each choice; guessing is not mastery.</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2:12–2:16 — Students verbally frame a 3-mark answer: definitions, two differences, one example. Model structure: distance is actual path length and scalar; displacement is directed change and vector; 400 m lap gives distance 400 m and displacement zero. Correct incomplete phrases.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2:16–2:20 — Use this as rapid true/false if time remains. Correct statements: position can be negative; distance cannot; displacement can be zero after motion; distance is at least magnitude of displacement. Stress units and direction in final answers.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 5–7 minutes or assign as daily test if the session has reached two hours. Answers: 1 reference frame; 2 −6 m; 3 distance 14 m, displacement +2 m; 4 zero; 5 straight line with no reversal. Collect answers for topic-wise analysis.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in one minute. Ask students to complete the sentence: “Motion is relative because…” Then recap the four boxed statements. Homework: NCERT reading for Motion in a Straight Line introduction; 5–10 question daily test; draw three number-line journeys and calculate distance/displacement. Next lecture: average speed, average velocity and graphs.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977639" cy="6858000"/>
          </a:xfrm>
          <a:prstGeom prst="rect">
            <a:avLst/>
          </a:prstGeom>
          <a:solidFill>
            <a:srgbClr val="18365D"/>
          </a:solidFill>
          <a:ln w="15240">
            <a:solidFill>
              <a:srgbClr val="18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731520"/>
            <a:ext cx="2834640" cy="365760"/>
          </a:xfrm>
          <a:prstGeom prst="rect">
            <a:avLst/>
          </a:prstGeom>
          <a:noFill/>
        </p:spPr>
        <p:txBody>
          <a:bodyPr wrap="none" lIns="27432" rIns="27432" tIns="27432" bIns="27432" anchor="t">
            <a:spAutoFit/>
          </a:bodyPr>
          <a:lstStyle/>
          <a:p>
            <a:pPr algn="l"/>
            <a:r>
              <a:rPr sz="1400" b="1">
                <a:solidFill>
                  <a:srgbClr val="B9D4F2"/>
                </a:solidFill>
                <a:latin typeface="Aptos"/>
              </a:rPr>
              <a:t>LECTURE 05</a:t>
            </a:r>
          </a:p>
        </p:txBody>
      </p:sp>
      <p:sp>
        <p:nvSpPr>
          <p:cNvPr id="4" name="TextBox 3"/>
          <p:cNvSpPr txBox="1"/>
          <p:nvPr/>
        </p:nvSpPr>
        <p:spPr>
          <a:xfrm>
            <a:off x="594360" y="1371600"/>
            <a:ext cx="2880360" cy="1645920"/>
          </a:xfrm>
          <a:prstGeom prst="rect">
            <a:avLst/>
          </a:prstGeom>
          <a:noFill/>
        </p:spPr>
        <p:txBody>
          <a:bodyPr wrap="none" lIns="27432" rIns="27432" tIns="27432" bIns="27432" anchor="t">
            <a:spAutoFit/>
          </a:bodyPr>
          <a:lstStyle/>
          <a:p>
            <a:pPr algn="l"/>
            <a:r>
              <a:rPr sz="2500" b="1">
                <a:solidFill>
                  <a:srgbClr val="FFFFFF"/>
                </a:solidFill>
                <a:latin typeface="Aptos"/>
              </a:rPr>
              <a:t>Motion begins
with a reference</a:t>
            </a:r>
          </a:p>
        </p:txBody>
      </p:sp>
      <p:sp>
        <p:nvSpPr>
          <p:cNvPr id="5" name="TextBox 4"/>
          <p:cNvSpPr txBox="1"/>
          <p:nvPr/>
        </p:nvSpPr>
        <p:spPr>
          <a:xfrm>
            <a:off x="594360" y="5349240"/>
            <a:ext cx="2834640" cy="502920"/>
          </a:xfrm>
          <a:prstGeom prst="rect">
            <a:avLst/>
          </a:prstGeom>
          <a:noFill/>
        </p:spPr>
        <p:txBody>
          <a:bodyPr wrap="none" lIns="27432" rIns="27432" tIns="27432" bIns="27432" anchor="t">
            <a:spAutoFit/>
          </a:bodyPr>
          <a:lstStyle/>
          <a:p>
            <a:pPr algn="l"/>
            <a:r>
              <a:rPr sz="1300" b="0">
                <a:solidFill>
                  <a:srgbClr val="FFFFFF"/>
                </a:solidFill>
                <a:latin typeface="Aptos"/>
              </a:rPr>
              <a:t>Chapter 2 • Motion in a Straight Line</a:t>
            </a:r>
          </a:p>
        </p:txBody>
      </p:sp>
      <p:sp>
        <p:nvSpPr>
          <p:cNvPr id="6" name="TextBox 5"/>
          <p:cNvSpPr txBox="1"/>
          <p:nvPr/>
        </p:nvSpPr>
        <p:spPr>
          <a:xfrm>
            <a:off x="4617720" y="1325880"/>
            <a:ext cx="6675120" cy="2103120"/>
          </a:xfrm>
          <a:prstGeom prst="rect">
            <a:avLst/>
          </a:prstGeom>
          <a:noFill/>
        </p:spPr>
        <p:txBody>
          <a:bodyPr wrap="none" lIns="27432" rIns="27432" tIns="27432" bIns="27432" anchor="t">
            <a:spAutoFit/>
          </a:bodyPr>
          <a:lstStyle/>
          <a:p>
            <a:pPr algn="l"/>
            <a:r>
              <a:rPr sz="2500" b="1">
                <a:solidFill>
                  <a:srgbClr val="18365D"/>
                </a:solidFill>
                <a:latin typeface="Aptos"/>
              </a:rPr>
              <a:t>Frame of Reference,
Position, Distance
and Displacement</a:t>
            </a:r>
          </a:p>
        </p:txBody>
      </p:sp>
      <p:sp>
        <p:nvSpPr>
          <p:cNvPr id="7" name="TextBox 6"/>
          <p:cNvSpPr txBox="1"/>
          <p:nvPr/>
        </p:nvSpPr>
        <p:spPr>
          <a:xfrm>
            <a:off x="4617720" y="3840480"/>
            <a:ext cx="6217920" cy="411480"/>
          </a:xfrm>
          <a:prstGeom prst="rect">
            <a:avLst/>
          </a:prstGeom>
          <a:noFill/>
        </p:spPr>
        <p:txBody>
          <a:bodyPr wrap="none" lIns="27432" rIns="27432" tIns="27432" bIns="27432" anchor="t">
            <a:spAutoFit/>
          </a:bodyPr>
          <a:lstStyle/>
          <a:p>
            <a:pPr algn="l"/>
            <a:r>
              <a:rPr sz="1500" b="0">
                <a:solidFill>
                  <a:srgbClr val="5F6976"/>
                </a:solidFill>
                <a:latin typeface="Aptos"/>
              </a:rPr>
              <a:t>Class 11 Physics • CBSE + NEET Foundation • 2 hours</a:t>
            </a:r>
          </a:p>
        </p:txBody>
      </p:sp>
      <p:sp>
        <p:nvSpPr>
          <p:cNvPr id="8" name="Rounded Rectangle 7"/>
          <p:cNvSpPr/>
          <p:nvPr/>
        </p:nvSpPr>
        <p:spPr>
          <a:xfrm>
            <a:off x="4617720" y="4572000"/>
            <a:ext cx="6309360" cy="509777"/>
          </a:xfrm>
          <a:prstGeom prst="roundRect">
            <a:avLst/>
          </a:prstGeom>
          <a:solidFill>
            <a:srgbClr val="E7F1FC"/>
          </a:solidFill>
          <a:ln w="11430">
            <a:solidFill>
              <a:srgbClr val="1F62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846320" y="4690872"/>
            <a:ext cx="5852160" cy="299465"/>
          </a:xfrm>
          <a:prstGeom prst="rect">
            <a:avLst/>
          </a:prstGeom>
          <a:noFill/>
        </p:spPr>
        <p:txBody>
          <a:bodyPr wrap="none" lIns="18288" rIns="18288" tIns="9144" bIns="9144" anchor="t">
            <a:spAutoFit/>
          </a:bodyPr>
          <a:lstStyle/>
          <a:p>
            <a:pPr algn="l">
              <a:lnSpc>
                <a:spcPct val="100000"/>
              </a:lnSpc>
              <a:spcBef>
                <a:spcPts val="0"/>
              </a:spcBef>
              <a:spcAft>
                <a:spcPts val="0"/>
              </a:spcAft>
            </a:pPr>
            <a:r>
              <a:rPr sz="1800" b="1">
                <a:solidFill>
                  <a:srgbClr val="1F62A6"/>
                </a:solidFill>
                <a:latin typeface="Aptos"/>
              </a:rPr>
              <a:t>Observe → Define → Represent → Compare → Apply</a:t>
            </a:r>
          </a:p>
        </p:txBody>
      </p:sp>
      <p:sp>
        <p:nvSpPr>
          <p:cNvPr id="10" name="TextBox 9"/>
          <p:cNvSpPr txBox="1"/>
          <p:nvPr/>
        </p:nvSpPr>
        <p:spPr>
          <a:xfrm>
            <a:off x="594360" y="6446520"/>
            <a:ext cx="6400800" cy="201168"/>
          </a:xfrm>
          <a:prstGeom prst="rect">
            <a:avLst/>
          </a:prstGeom>
          <a:noFill/>
        </p:spPr>
        <p:txBody>
          <a:bodyPr wrap="none" lIns="27432" rIns="27432" tIns="27432" bIns="27432" anchor="t">
            <a:spAutoFit/>
          </a:bodyPr>
          <a:lstStyle/>
          <a:p>
            <a:pPr algn="l"/>
            <a:r>
              <a:rPr sz="800" b="0">
                <a:solidFill>
                  <a:srgbClr val="5F6976"/>
                </a:solidFill>
                <a:latin typeface="Aptos"/>
              </a:rPr>
              <a:t>LECTURE 05  •  MOTION IN A STRAIGHT LINE</a:t>
            </a:r>
          </a:p>
        </p:txBody>
      </p:sp>
      <p:sp>
        <p:nvSpPr>
          <p:cNvPr id="11" name="TextBox 10"/>
          <p:cNvSpPr txBox="1"/>
          <p:nvPr/>
        </p:nvSpPr>
        <p:spPr>
          <a:xfrm>
            <a:off x="10881360" y="6419088"/>
            <a:ext cx="685800" cy="228600"/>
          </a:xfrm>
          <a:prstGeom prst="rect">
            <a:avLst/>
          </a:prstGeom>
          <a:noFill/>
        </p:spPr>
        <p:txBody>
          <a:bodyPr wrap="none" lIns="27432" rIns="27432" tIns="27432" bIns="27432" anchor="t">
            <a:spAutoFit/>
          </a:bodyPr>
          <a:lstStyle/>
          <a:p>
            <a:pPr algn="r"/>
            <a:r>
              <a:rPr sz="900" b="1">
                <a:solidFill>
                  <a:srgbClr val="5F6976"/>
                </a:solidFill>
                <a:latin typeface="Aptos"/>
              </a:rPr>
              <a:t>01</a:t>
            </a:r>
          </a:p>
        </p:txBody>
      </p:sp>
      <p:sp>
        <p:nvSpPr>
          <p:cNvPr id="12" name="Rectangle 11"/>
          <p:cNvSpPr/>
          <p:nvPr/>
        </p:nvSpPr>
        <p:spPr>
          <a:xfrm>
            <a:off x="4617720" y="4572000"/>
            <a:ext cx="59436" cy="509777"/>
          </a:xfrm>
          <a:prstGeom prst="rect">
            <a:avLst/>
          </a:prstGeom>
          <a:solidFill>
            <a:srgbClr val="1F62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3840480" cy="320040"/>
          </a:xfrm>
          <a:prstGeom prst="rect">
            <a:avLst/>
          </a:prstGeom>
          <a:noFill/>
        </p:spPr>
        <p:txBody>
          <a:bodyPr wrap="none" lIns="27432" rIns="27432" tIns="27432" bIns="27432" anchor="t">
            <a:spAutoFit/>
          </a:bodyPr>
          <a:lstStyle/>
          <a:p>
            <a:pPr algn="l"/>
            <a:r>
              <a:rPr sz="1100" b="1">
                <a:solidFill>
                  <a:srgbClr val="1F62A6"/>
                </a:solidFill>
                <a:latin typeface="Aptos"/>
              </a:rPr>
              <a:t>SESSION ROADMAP</a:t>
            </a:r>
          </a:p>
        </p:txBody>
      </p:sp>
      <p:sp>
        <p:nvSpPr>
          <p:cNvPr id="3" name="TextBox 2"/>
          <p:cNvSpPr txBox="1"/>
          <p:nvPr/>
        </p:nvSpPr>
        <p:spPr>
          <a:xfrm>
            <a:off x="594360" y="594360"/>
            <a:ext cx="10972800" cy="658368"/>
          </a:xfrm>
          <a:prstGeom prst="rect">
            <a:avLst/>
          </a:prstGeom>
          <a:noFill/>
        </p:spPr>
        <p:txBody>
          <a:bodyPr wrap="none" lIns="27432" rIns="27432" tIns="27432" bIns="27432" anchor="t">
            <a:spAutoFit/>
          </a:bodyPr>
          <a:lstStyle/>
          <a:p>
            <a:pPr algn="l"/>
            <a:r>
              <a:rPr sz="2800" b="1">
                <a:solidFill>
                  <a:srgbClr val="18365D"/>
                </a:solidFill>
                <a:latin typeface="Aptos"/>
              </a:rPr>
              <a:t>What we will accomplish</a:t>
            </a:r>
          </a:p>
        </p:txBody>
      </p:sp>
      <p:sp>
        <p:nvSpPr>
          <p:cNvPr id="4" name="Rectangle 3"/>
          <p:cNvSpPr/>
          <p:nvPr/>
        </p:nvSpPr>
        <p:spPr>
          <a:xfrm>
            <a:off x="594360" y="1261872"/>
            <a:ext cx="10972800" cy="18288"/>
          </a:xfrm>
          <a:prstGeom prst="rect">
            <a:avLst/>
          </a:prstGeom>
          <a:solidFill>
            <a:srgbClr val="D7DD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446520"/>
            <a:ext cx="6400800" cy="201168"/>
          </a:xfrm>
          <a:prstGeom prst="rect">
            <a:avLst/>
          </a:prstGeom>
          <a:noFill/>
        </p:spPr>
        <p:txBody>
          <a:bodyPr wrap="none" lIns="27432" rIns="27432" tIns="27432" bIns="27432" anchor="t">
            <a:spAutoFit/>
          </a:bodyPr>
          <a:lstStyle/>
          <a:p>
            <a:pPr algn="l"/>
            <a:r>
              <a:rPr sz="800" b="0">
                <a:solidFill>
                  <a:srgbClr val="5F6976"/>
                </a:solidFill>
                <a:latin typeface="Aptos"/>
              </a:rPr>
              <a:t>LECTURE 05  •  MOTION IN A STRAIGHT LINE</a:t>
            </a:r>
          </a:p>
        </p:txBody>
      </p:sp>
      <p:sp>
        <p:nvSpPr>
          <p:cNvPr id="6" name="TextBox 5"/>
          <p:cNvSpPr txBox="1"/>
          <p:nvPr/>
        </p:nvSpPr>
        <p:spPr>
          <a:xfrm>
            <a:off x="10881360" y="6419088"/>
            <a:ext cx="685800" cy="228600"/>
          </a:xfrm>
          <a:prstGeom prst="rect">
            <a:avLst/>
          </a:prstGeom>
          <a:noFill/>
        </p:spPr>
        <p:txBody>
          <a:bodyPr wrap="none" lIns="27432" rIns="27432" tIns="27432" bIns="27432" anchor="t">
            <a:spAutoFit/>
          </a:bodyPr>
          <a:lstStyle/>
          <a:p>
            <a:pPr algn="r"/>
            <a:r>
              <a:rPr sz="900" b="1">
                <a:solidFill>
                  <a:srgbClr val="5F6976"/>
                </a:solidFill>
                <a:latin typeface="Aptos"/>
              </a:rPr>
              <a:t>02</a:t>
            </a:r>
          </a:p>
        </p:txBody>
      </p:sp>
      <p:sp>
        <p:nvSpPr>
          <p:cNvPr id="7" name="TextBox 6"/>
          <p:cNvSpPr txBox="1"/>
          <p:nvPr/>
        </p:nvSpPr>
        <p:spPr>
          <a:xfrm>
            <a:off x="822960" y="1600200"/>
            <a:ext cx="10515600" cy="3063240"/>
          </a:xfrm>
          <a:prstGeom prst="rect">
            <a:avLst/>
          </a:prstGeom>
          <a:noFill/>
        </p:spPr>
        <p:txBody>
          <a:bodyPr wrap="square" lIns="109728" rIns="73152">
            <a:spAutoFit/>
          </a:bodyPr>
          <a:lstStyle/>
          <a:p>
            <a:pPr>
              <a:spcAft>
                <a:spcPts val="400"/>
              </a:spcAft>
              <a:defRPr sz="1800">
                <a:solidFill>
                  <a:srgbClr val="222831"/>
                </a:solidFill>
                <a:latin typeface="Aptos"/>
              </a:defRPr>
            </a:pPr>
            <a:r>
              <a:t>• Decide whether an object is at rest or in motion relative to an observer</a:t>
            </a:r>
          </a:p>
          <a:p>
            <a:pPr>
              <a:spcAft>
                <a:spcPts val="400"/>
              </a:spcAft>
              <a:defRPr sz="1800">
                <a:solidFill>
                  <a:srgbClr val="222831"/>
                </a:solidFill>
                <a:latin typeface="Aptos"/>
              </a:defRPr>
            </a:pPr>
            <a:r>
              <a:t>• Choose an origin, direction and coordinate to describe position</a:t>
            </a:r>
          </a:p>
          <a:p>
            <a:pPr>
              <a:spcAft>
                <a:spcPts val="400"/>
              </a:spcAft>
              <a:defRPr sz="1800">
                <a:solidFill>
                  <a:srgbClr val="222831"/>
                </a:solidFill>
                <a:latin typeface="Aptos"/>
              </a:defRPr>
            </a:pPr>
            <a:r>
              <a:t>• Calculate distance travelled and displacement</a:t>
            </a:r>
          </a:p>
          <a:p>
            <a:pPr>
              <a:spcAft>
                <a:spcPts val="400"/>
              </a:spcAft>
              <a:defRPr sz="1800">
                <a:solidFill>
                  <a:srgbClr val="222831"/>
                </a:solidFill>
                <a:latin typeface="Aptos"/>
              </a:defRPr>
            </a:pPr>
            <a:r>
              <a:t>• Distinguish scalar distance from vector displacement</a:t>
            </a:r>
          </a:p>
          <a:p>
            <a:pPr>
              <a:spcAft>
                <a:spcPts val="400"/>
              </a:spcAft>
              <a:defRPr sz="1800">
                <a:solidFill>
                  <a:srgbClr val="222831"/>
                </a:solidFill>
                <a:latin typeface="Aptos"/>
              </a:defRPr>
            </a:pPr>
            <a:r>
              <a:t>• Solve CBSE numericals and NEET-style conceptual questions</a:t>
            </a:r>
          </a:p>
        </p:txBody>
      </p:sp>
      <p:sp>
        <p:nvSpPr>
          <p:cNvPr id="8" name="Rounded Rectangle 7"/>
          <p:cNvSpPr/>
          <p:nvPr/>
        </p:nvSpPr>
        <p:spPr>
          <a:xfrm>
            <a:off x="822960" y="4892040"/>
            <a:ext cx="10515600" cy="475488"/>
          </a:xfrm>
          <a:prstGeom prst="roundRect">
            <a:avLst/>
          </a:prstGeom>
          <a:solidFill>
            <a:srgbClr val="FFF7E0"/>
          </a:solidFill>
          <a:ln w="11430">
            <a:solidFill>
              <a:srgbClr val="BE7E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5010912"/>
            <a:ext cx="10058400" cy="241045"/>
          </a:xfrm>
          <a:prstGeom prst="rect">
            <a:avLst/>
          </a:prstGeom>
          <a:noFill/>
        </p:spPr>
        <p:txBody>
          <a:bodyPr wrap="none" lIns="18288" rIns="18288" tIns="9144" bIns="9144" anchor="t">
            <a:spAutoFit/>
          </a:bodyPr>
          <a:lstStyle/>
          <a:p>
            <a:pPr algn="l">
              <a:lnSpc>
                <a:spcPct val="100000"/>
              </a:lnSpc>
              <a:spcBef>
                <a:spcPts val="0"/>
              </a:spcBef>
              <a:spcAft>
                <a:spcPts val="0"/>
              </a:spcAft>
            </a:pPr>
            <a:r>
              <a:rPr sz="1400" b="1">
                <a:solidFill>
                  <a:srgbClr val="BE7E00"/>
                </a:solidFill>
                <a:latin typeface="Aptos"/>
              </a:rPr>
              <a:t>Success check: explain why distance can be non-zero while displacement is zero.</a:t>
            </a:r>
          </a:p>
        </p:txBody>
      </p:sp>
      <p:sp>
        <p:nvSpPr>
          <p:cNvPr id="10" name="Rectangle 9"/>
          <p:cNvSpPr/>
          <p:nvPr/>
        </p:nvSpPr>
        <p:spPr>
          <a:xfrm>
            <a:off x="822960" y="4892040"/>
            <a:ext cx="59436" cy="475488"/>
          </a:xfrm>
          <a:prstGeom prst="rect">
            <a:avLst/>
          </a:prstGeom>
          <a:solidFill>
            <a:srgbClr val="BE7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3840480" cy="320040"/>
          </a:xfrm>
          <a:prstGeom prst="rect">
            <a:avLst/>
          </a:prstGeom>
          <a:noFill/>
        </p:spPr>
        <p:txBody>
          <a:bodyPr wrap="none" lIns="27432" rIns="27432" tIns="27432" bIns="27432" anchor="t">
            <a:spAutoFit/>
          </a:bodyPr>
          <a:lstStyle/>
          <a:p>
            <a:pPr algn="l"/>
            <a:r>
              <a:rPr sz="1100" b="1">
                <a:solidFill>
                  <a:srgbClr val="1F62A6"/>
                </a:solidFill>
                <a:latin typeface="Aptos"/>
              </a:rPr>
              <a:t>WARM-UP</a:t>
            </a:r>
          </a:p>
        </p:txBody>
      </p:sp>
      <p:sp>
        <p:nvSpPr>
          <p:cNvPr id="3" name="TextBox 2"/>
          <p:cNvSpPr txBox="1"/>
          <p:nvPr/>
        </p:nvSpPr>
        <p:spPr>
          <a:xfrm>
            <a:off x="594360" y="594360"/>
            <a:ext cx="10972800" cy="658368"/>
          </a:xfrm>
          <a:prstGeom prst="rect">
            <a:avLst/>
          </a:prstGeom>
          <a:noFill/>
        </p:spPr>
        <p:txBody>
          <a:bodyPr wrap="none" lIns="27432" rIns="27432" tIns="27432" bIns="27432" anchor="t">
            <a:spAutoFit/>
          </a:bodyPr>
          <a:lstStyle/>
          <a:p>
            <a:pPr algn="l"/>
            <a:r>
              <a:rPr sz="2800" b="1">
                <a:solidFill>
                  <a:srgbClr val="18365D"/>
                </a:solidFill>
                <a:latin typeface="Aptos"/>
              </a:rPr>
              <a:t>Recall before we start</a:t>
            </a:r>
          </a:p>
        </p:txBody>
      </p:sp>
      <p:sp>
        <p:nvSpPr>
          <p:cNvPr id="4" name="Rectangle 3"/>
          <p:cNvSpPr/>
          <p:nvPr/>
        </p:nvSpPr>
        <p:spPr>
          <a:xfrm>
            <a:off x="594360" y="1261872"/>
            <a:ext cx="10972800" cy="18288"/>
          </a:xfrm>
          <a:prstGeom prst="rect">
            <a:avLst/>
          </a:prstGeom>
          <a:solidFill>
            <a:srgbClr val="D7DD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446520"/>
            <a:ext cx="6400800" cy="201168"/>
          </a:xfrm>
          <a:prstGeom prst="rect">
            <a:avLst/>
          </a:prstGeom>
          <a:noFill/>
        </p:spPr>
        <p:txBody>
          <a:bodyPr wrap="none" lIns="27432" rIns="27432" tIns="27432" bIns="27432" anchor="t">
            <a:spAutoFit/>
          </a:bodyPr>
          <a:lstStyle/>
          <a:p>
            <a:pPr algn="l"/>
            <a:r>
              <a:rPr sz="800" b="0">
                <a:solidFill>
                  <a:srgbClr val="5F6976"/>
                </a:solidFill>
                <a:latin typeface="Aptos"/>
              </a:rPr>
              <a:t>LECTURE 05  •  MOTION IN A STRAIGHT LINE</a:t>
            </a:r>
          </a:p>
        </p:txBody>
      </p:sp>
      <p:sp>
        <p:nvSpPr>
          <p:cNvPr id="6" name="TextBox 5"/>
          <p:cNvSpPr txBox="1"/>
          <p:nvPr/>
        </p:nvSpPr>
        <p:spPr>
          <a:xfrm>
            <a:off x="10881360" y="6419088"/>
            <a:ext cx="685800" cy="228600"/>
          </a:xfrm>
          <a:prstGeom prst="rect">
            <a:avLst/>
          </a:prstGeom>
          <a:noFill/>
        </p:spPr>
        <p:txBody>
          <a:bodyPr wrap="none" lIns="27432" rIns="27432" tIns="27432" bIns="27432" anchor="t">
            <a:spAutoFit/>
          </a:bodyPr>
          <a:lstStyle/>
          <a:p>
            <a:pPr algn="r"/>
            <a:r>
              <a:rPr sz="900" b="1">
                <a:solidFill>
                  <a:srgbClr val="5F6976"/>
                </a:solidFill>
                <a:latin typeface="Aptos"/>
              </a:rPr>
              <a:t>03</a:t>
            </a:r>
          </a:p>
        </p:txBody>
      </p:sp>
      <p:sp>
        <p:nvSpPr>
          <p:cNvPr id="7" name="Oval 6"/>
          <p:cNvSpPr/>
          <p:nvPr/>
        </p:nvSpPr>
        <p:spPr>
          <a:xfrm>
            <a:off x="914400" y="1572768"/>
            <a:ext cx="384048" cy="384048"/>
          </a:xfrm>
          <a:prstGeom prst="ellipse">
            <a:avLst/>
          </a:prstGeom>
          <a:solidFill>
            <a:srgbClr val="1F62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1832" y="1664208"/>
            <a:ext cx="329184" cy="182880"/>
          </a:xfrm>
          <a:prstGeom prst="rect">
            <a:avLst/>
          </a:prstGeom>
          <a:noFill/>
        </p:spPr>
        <p:txBody>
          <a:bodyPr wrap="none" lIns="27432" rIns="27432" tIns="27432" bIns="27432" anchor="t">
            <a:spAutoFit/>
          </a:bodyPr>
          <a:lstStyle/>
          <a:p>
            <a:pPr algn="ctr"/>
            <a:r>
              <a:rPr sz="1100" b="1">
                <a:solidFill>
                  <a:srgbClr val="FFFFFF"/>
                </a:solidFill>
                <a:latin typeface="Aptos"/>
              </a:rPr>
              <a:t>1</a:t>
            </a:r>
          </a:p>
        </p:txBody>
      </p:sp>
      <p:sp>
        <p:nvSpPr>
          <p:cNvPr id="9" name="TextBox 8"/>
          <p:cNvSpPr txBox="1"/>
          <p:nvPr/>
        </p:nvSpPr>
        <p:spPr>
          <a:xfrm>
            <a:off x="1481328" y="1609344"/>
            <a:ext cx="9601200" cy="274320"/>
          </a:xfrm>
          <a:prstGeom prst="rect">
            <a:avLst/>
          </a:prstGeom>
          <a:noFill/>
        </p:spPr>
        <p:txBody>
          <a:bodyPr wrap="none" lIns="27432" rIns="27432" tIns="27432" bIns="27432" anchor="t">
            <a:spAutoFit/>
          </a:bodyPr>
          <a:lstStyle/>
          <a:p>
            <a:pPr algn="l"/>
            <a:r>
              <a:rPr sz="1600" b="1">
                <a:solidFill>
                  <a:srgbClr val="222831"/>
                </a:solidFill>
                <a:latin typeface="Aptos"/>
              </a:rPr>
              <a:t>What makes a physical quantity complete?</a:t>
            </a:r>
          </a:p>
        </p:txBody>
      </p:sp>
      <p:sp>
        <p:nvSpPr>
          <p:cNvPr id="10" name="Oval 9"/>
          <p:cNvSpPr/>
          <p:nvPr/>
        </p:nvSpPr>
        <p:spPr>
          <a:xfrm>
            <a:off x="914400" y="2194560"/>
            <a:ext cx="384048" cy="384048"/>
          </a:xfrm>
          <a:prstGeom prst="ellipse">
            <a:avLst/>
          </a:prstGeom>
          <a:solidFill>
            <a:srgbClr val="1F62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41832" y="2286000"/>
            <a:ext cx="329184" cy="182880"/>
          </a:xfrm>
          <a:prstGeom prst="rect">
            <a:avLst/>
          </a:prstGeom>
          <a:noFill/>
        </p:spPr>
        <p:txBody>
          <a:bodyPr wrap="none" lIns="27432" rIns="27432" tIns="27432" bIns="27432" anchor="t">
            <a:spAutoFit/>
          </a:bodyPr>
          <a:lstStyle/>
          <a:p>
            <a:pPr algn="ctr"/>
            <a:r>
              <a:rPr sz="1100" b="1">
                <a:solidFill>
                  <a:srgbClr val="FFFFFF"/>
                </a:solidFill>
                <a:latin typeface="Aptos"/>
              </a:rPr>
              <a:t>2</a:t>
            </a:r>
          </a:p>
        </p:txBody>
      </p:sp>
      <p:sp>
        <p:nvSpPr>
          <p:cNvPr id="12" name="TextBox 11"/>
          <p:cNvSpPr txBox="1"/>
          <p:nvPr/>
        </p:nvSpPr>
        <p:spPr>
          <a:xfrm>
            <a:off x="1481328" y="2231136"/>
            <a:ext cx="9601200" cy="274320"/>
          </a:xfrm>
          <a:prstGeom prst="rect">
            <a:avLst/>
          </a:prstGeom>
          <a:noFill/>
        </p:spPr>
        <p:txBody>
          <a:bodyPr wrap="none" lIns="27432" rIns="27432" tIns="27432" bIns="27432" anchor="t">
            <a:spAutoFit/>
          </a:bodyPr>
          <a:lstStyle/>
          <a:p>
            <a:pPr algn="l"/>
            <a:r>
              <a:rPr sz="1600" b="1">
                <a:solidFill>
                  <a:srgbClr val="222831"/>
                </a:solidFill>
                <a:latin typeface="Aptos"/>
              </a:rPr>
              <a:t>What is the SI base unit of length?</a:t>
            </a:r>
          </a:p>
        </p:txBody>
      </p:sp>
      <p:sp>
        <p:nvSpPr>
          <p:cNvPr id="13" name="Oval 12"/>
          <p:cNvSpPr/>
          <p:nvPr/>
        </p:nvSpPr>
        <p:spPr>
          <a:xfrm>
            <a:off x="914400" y="2816352"/>
            <a:ext cx="384048" cy="384048"/>
          </a:xfrm>
          <a:prstGeom prst="ellipse">
            <a:avLst/>
          </a:prstGeom>
          <a:solidFill>
            <a:srgbClr val="1F62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41832" y="2907792"/>
            <a:ext cx="329184" cy="182880"/>
          </a:xfrm>
          <a:prstGeom prst="rect">
            <a:avLst/>
          </a:prstGeom>
          <a:noFill/>
        </p:spPr>
        <p:txBody>
          <a:bodyPr wrap="none" lIns="27432" rIns="27432" tIns="27432" bIns="27432" anchor="t">
            <a:spAutoFit/>
          </a:bodyPr>
          <a:lstStyle/>
          <a:p>
            <a:pPr algn="ctr"/>
            <a:r>
              <a:rPr sz="1100" b="1">
                <a:solidFill>
                  <a:srgbClr val="FFFFFF"/>
                </a:solidFill>
                <a:latin typeface="Aptos"/>
              </a:rPr>
              <a:t>3</a:t>
            </a:r>
          </a:p>
        </p:txBody>
      </p:sp>
      <p:sp>
        <p:nvSpPr>
          <p:cNvPr id="15" name="TextBox 14"/>
          <p:cNvSpPr txBox="1"/>
          <p:nvPr/>
        </p:nvSpPr>
        <p:spPr>
          <a:xfrm>
            <a:off x="1481328" y="2852928"/>
            <a:ext cx="9601200" cy="274320"/>
          </a:xfrm>
          <a:prstGeom prst="rect">
            <a:avLst/>
          </a:prstGeom>
          <a:noFill/>
        </p:spPr>
        <p:txBody>
          <a:bodyPr wrap="none" lIns="27432" rIns="27432" tIns="27432" bIns="27432" anchor="t">
            <a:spAutoFit/>
          </a:bodyPr>
          <a:lstStyle/>
          <a:p>
            <a:pPr algn="l"/>
            <a:r>
              <a:rPr sz="1600" b="1">
                <a:solidFill>
                  <a:srgbClr val="222831"/>
                </a:solidFill>
                <a:latin typeface="Aptos"/>
              </a:rPr>
              <a:t>Is speed a base or derived quantity?</a:t>
            </a:r>
          </a:p>
        </p:txBody>
      </p:sp>
      <p:sp>
        <p:nvSpPr>
          <p:cNvPr id="16" name="Oval 15"/>
          <p:cNvSpPr/>
          <p:nvPr/>
        </p:nvSpPr>
        <p:spPr>
          <a:xfrm>
            <a:off x="914400" y="3438144"/>
            <a:ext cx="384048" cy="384048"/>
          </a:xfrm>
          <a:prstGeom prst="ellipse">
            <a:avLst/>
          </a:prstGeom>
          <a:solidFill>
            <a:srgbClr val="1F62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41832" y="3529584"/>
            <a:ext cx="329184" cy="182880"/>
          </a:xfrm>
          <a:prstGeom prst="rect">
            <a:avLst/>
          </a:prstGeom>
          <a:noFill/>
        </p:spPr>
        <p:txBody>
          <a:bodyPr wrap="none" lIns="27432" rIns="27432" tIns="27432" bIns="27432" anchor="t">
            <a:spAutoFit/>
          </a:bodyPr>
          <a:lstStyle/>
          <a:p>
            <a:pPr algn="ctr"/>
            <a:r>
              <a:rPr sz="1100" b="1">
                <a:solidFill>
                  <a:srgbClr val="FFFFFF"/>
                </a:solidFill>
                <a:latin typeface="Aptos"/>
              </a:rPr>
              <a:t>4</a:t>
            </a:r>
          </a:p>
        </p:txBody>
      </p:sp>
      <p:sp>
        <p:nvSpPr>
          <p:cNvPr id="18" name="TextBox 17"/>
          <p:cNvSpPr txBox="1"/>
          <p:nvPr/>
        </p:nvSpPr>
        <p:spPr>
          <a:xfrm>
            <a:off x="1481328" y="3474720"/>
            <a:ext cx="9601200" cy="274320"/>
          </a:xfrm>
          <a:prstGeom prst="rect">
            <a:avLst/>
          </a:prstGeom>
          <a:noFill/>
        </p:spPr>
        <p:txBody>
          <a:bodyPr wrap="none" lIns="27432" rIns="27432" tIns="27432" bIns="27432" anchor="t">
            <a:spAutoFit/>
          </a:bodyPr>
          <a:lstStyle/>
          <a:p>
            <a:pPr algn="l"/>
            <a:r>
              <a:rPr sz="1600" b="1">
                <a:solidFill>
                  <a:srgbClr val="222831"/>
                </a:solidFill>
                <a:latin typeface="Aptos"/>
              </a:rPr>
              <a:t>What does a negative sign usually indicate in one-dimensional motion?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3840480" cy="320040"/>
          </a:xfrm>
          <a:prstGeom prst="rect">
            <a:avLst/>
          </a:prstGeom>
          <a:noFill/>
        </p:spPr>
        <p:txBody>
          <a:bodyPr wrap="none" lIns="27432" rIns="27432" tIns="27432" bIns="27432" anchor="t">
            <a:spAutoFit/>
          </a:bodyPr>
          <a:lstStyle/>
          <a:p>
            <a:pPr algn="l"/>
            <a:r>
              <a:rPr sz="1100" b="1">
                <a:solidFill>
                  <a:srgbClr val="1F62A6"/>
                </a:solidFill>
                <a:latin typeface="Aptos"/>
              </a:rPr>
              <a:t>THE CENTRAL QUESTION</a:t>
            </a:r>
          </a:p>
        </p:txBody>
      </p:sp>
      <p:sp>
        <p:nvSpPr>
          <p:cNvPr id="3" name="TextBox 2"/>
          <p:cNvSpPr txBox="1"/>
          <p:nvPr/>
        </p:nvSpPr>
        <p:spPr>
          <a:xfrm>
            <a:off x="594360" y="594360"/>
            <a:ext cx="10972800" cy="658368"/>
          </a:xfrm>
          <a:prstGeom prst="rect">
            <a:avLst/>
          </a:prstGeom>
          <a:noFill/>
        </p:spPr>
        <p:txBody>
          <a:bodyPr wrap="none" lIns="27432" rIns="27432" tIns="27432" bIns="27432" anchor="t">
            <a:spAutoFit/>
          </a:bodyPr>
          <a:lstStyle/>
          <a:p>
            <a:pPr algn="l"/>
            <a:r>
              <a:rPr sz="2800" b="1">
                <a:solidFill>
                  <a:srgbClr val="18365D"/>
                </a:solidFill>
                <a:latin typeface="Aptos"/>
              </a:rPr>
              <a:t>At rest or in motion?</a:t>
            </a:r>
          </a:p>
        </p:txBody>
      </p:sp>
      <p:sp>
        <p:nvSpPr>
          <p:cNvPr id="4" name="Rectangle 3"/>
          <p:cNvSpPr/>
          <p:nvPr/>
        </p:nvSpPr>
        <p:spPr>
          <a:xfrm>
            <a:off x="594360" y="1261872"/>
            <a:ext cx="10972800" cy="18288"/>
          </a:xfrm>
          <a:prstGeom prst="rect">
            <a:avLst/>
          </a:prstGeom>
          <a:solidFill>
            <a:srgbClr val="D7DD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446520"/>
            <a:ext cx="6400800" cy="201168"/>
          </a:xfrm>
          <a:prstGeom prst="rect">
            <a:avLst/>
          </a:prstGeom>
          <a:noFill/>
        </p:spPr>
        <p:txBody>
          <a:bodyPr wrap="none" lIns="27432" rIns="27432" tIns="27432" bIns="27432" anchor="t">
            <a:spAutoFit/>
          </a:bodyPr>
          <a:lstStyle/>
          <a:p>
            <a:pPr algn="l"/>
            <a:r>
              <a:rPr sz="800" b="0">
                <a:solidFill>
                  <a:srgbClr val="5F6976"/>
                </a:solidFill>
                <a:latin typeface="Aptos"/>
              </a:rPr>
              <a:t>LECTURE 05  •  MOTION IN A STRAIGHT LINE</a:t>
            </a:r>
          </a:p>
        </p:txBody>
      </p:sp>
      <p:sp>
        <p:nvSpPr>
          <p:cNvPr id="6" name="TextBox 5"/>
          <p:cNvSpPr txBox="1"/>
          <p:nvPr/>
        </p:nvSpPr>
        <p:spPr>
          <a:xfrm>
            <a:off x="10881360" y="6419088"/>
            <a:ext cx="685800" cy="228600"/>
          </a:xfrm>
          <a:prstGeom prst="rect">
            <a:avLst/>
          </a:prstGeom>
          <a:noFill/>
        </p:spPr>
        <p:txBody>
          <a:bodyPr wrap="none" lIns="27432" rIns="27432" tIns="27432" bIns="27432" anchor="t">
            <a:spAutoFit/>
          </a:bodyPr>
          <a:lstStyle/>
          <a:p>
            <a:pPr algn="r"/>
            <a:r>
              <a:rPr sz="900" b="1">
                <a:solidFill>
                  <a:srgbClr val="5F6976"/>
                </a:solidFill>
                <a:latin typeface="Aptos"/>
              </a:rPr>
              <a:t>04</a:t>
            </a:r>
          </a:p>
        </p:txBody>
      </p:sp>
      <p:sp>
        <p:nvSpPr>
          <p:cNvPr id="7" name="Rounded Rectangle 6"/>
          <p:cNvSpPr/>
          <p:nvPr/>
        </p:nvSpPr>
        <p:spPr>
          <a:xfrm>
            <a:off x="914400" y="1600200"/>
            <a:ext cx="4892040" cy="1463040"/>
          </a:xfrm>
          <a:prstGeom prst="roundRect">
            <a:avLst/>
          </a:prstGeom>
          <a:solidFill>
            <a:srgbClr val="F6FAFF"/>
          </a:solidFill>
          <a:ln w="11430">
            <a:solidFill>
              <a:srgbClr val="B8C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14400" y="1600200"/>
            <a:ext cx="82296" cy="1463040"/>
          </a:xfrm>
          <a:prstGeom prst="rect">
            <a:avLst/>
          </a:prstGeom>
          <a:solidFill>
            <a:srgbClr val="1F62A6"/>
          </a:solidFill>
          <a:ln w="15240">
            <a:solidFill>
              <a:srgbClr val="1F62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34440" y="1810512"/>
            <a:ext cx="1828800" cy="201168"/>
          </a:xfrm>
          <a:prstGeom prst="rect">
            <a:avLst/>
          </a:prstGeom>
          <a:noFill/>
        </p:spPr>
        <p:txBody>
          <a:bodyPr wrap="none" lIns="18288" rIns="18288" tIns="9144" bIns="9144" anchor="t">
            <a:spAutoFit/>
          </a:bodyPr>
          <a:lstStyle/>
          <a:p>
            <a:pPr algn="l">
              <a:lnSpc>
                <a:spcPct val="100000"/>
              </a:lnSpc>
              <a:spcBef>
                <a:spcPts val="0"/>
              </a:spcBef>
              <a:spcAft>
                <a:spcPts val="0"/>
              </a:spcAft>
            </a:pPr>
            <a:r>
              <a:rPr sz="1000" b="1">
                <a:solidFill>
                  <a:srgbClr val="1F62A6"/>
                </a:solidFill>
                <a:latin typeface="Aptos"/>
              </a:rPr>
              <a:t>TRAIN FRAME</a:t>
            </a:r>
          </a:p>
        </p:txBody>
      </p:sp>
      <p:sp>
        <p:nvSpPr>
          <p:cNvPr id="10" name="TextBox 9"/>
          <p:cNvSpPr txBox="1"/>
          <p:nvPr/>
        </p:nvSpPr>
        <p:spPr>
          <a:xfrm>
            <a:off x="1234440" y="2112264"/>
            <a:ext cx="4251960" cy="533146"/>
          </a:xfrm>
          <a:prstGeom prst="rect">
            <a:avLst/>
          </a:prstGeom>
          <a:noFill/>
        </p:spPr>
        <p:txBody>
          <a:bodyPr wrap="none" lIns="18288" rIns="18288" tIns="9144" bIns="9144" anchor="t">
            <a:spAutoFit/>
          </a:bodyPr>
          <a:lstStyle/>
          <a:p>
            <a:pPr algn="l">
              <a:lnSpc>
                <a:spcPct val="100000"/>
              </a:lnSpc>
              <a:spcBef>
                <a:spcPts val="0"/>
              </a:spcBef>
              <a:spcAft>
                <a:spcPts val="0"/>
              </a:spcAft>
            </a:pPr>
            <a:r>
              <a:rPr sz="1700" b="1">
                <a:solidFill>
                  <a:srgbClr val="18365D"/>
                </a:solidFill>
                <a:latin typeface="Aptos"/>
              </a:rPr>
              <a:t>Passenger sitting inside a moving train</a:t>
            </a:r>
          </a:p>
        </p:txBody>
      </p:sp>
      <p:sp>
        <p:nvSpPr>
          <p:cNvPr id="11" name="TextBox 10"/>
          <p:cNvSpPr txBox="1"/>
          <p:nvPr/>
        </p:nvSpPr>
        <p:spPr>
          <a:xfrm>
            <a:off x="1234440" y="2578608"/>
            <a:ext cx="4251960" cy="255651"/>
          </a:xfrm>
          <a:prstGeom prst="rect">
            <a:avLst/>
          </a:prstGeom>
          <a:noFill/>
        </p:spPr>
        <p:txBody>
          <a:bodyPr wrap="none" lIns="18288" rIns="18288" tIns="9144" bIns="9144" anchor="t">
            <a:spAutoFit/>
          </a:bodyPr>
          <a:lstStyle/>
          <a:p>
            <a:pPr algn="l">
              <a:lnSpc>
                <a:spcPct val="100000"/>
              </a:lnSpc>
              <a:spcBef>
                <a:spcPts val="0"/>
              </a:spcBef>
              <a:spcAft>
                <a:spcPts val="0"/>
              </a:spcAft>
            </a:pPr>
            <a:r>
              <a:rPr sz="1500" b="1">
                <a:solidFill>
                  <a:srgbClr val="268054"/>
                </a:solidFill>
                <a:latin typeface="Aptos"/>
              </a:rPr>
              <a:t>Result: at rest relative to the train</a:t>
            </a:r>
          </a:p>
        </p:txBody>
      </p:sp>
      <p:sp>
        <p:nvSpPr>
          <p:cNvPr id="12" name="Rounded Rectangle 11"/>
          <p:cNvSpPr/>
          <p:nvPr/>
        </p:nvSpPr>
        <p:spPr>
          <a:xfrm>
            <a:off x="6382512" y="1600200"/>
            <a:ext cx="4892040" cy="1463040"/>
          </a:xfrm>
          <a:prstGeom prst="roundRect">
            <a:avLst/>
          </a:prstGeom>
          <a:solidFill>
            <a:srgbClr val="FFFBF1"/>
          </a:solidFill>
          <a:ln w="11430">
            <a:solidFill>
              <a:srgbClr val="E5CC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82512" y="1600200"/>
            <a:ext cx="82296" cy="1463040"/>
          </a:xfrm>
          <a:prstGeom prst="rect">
            <a:avLst/>
          </a:prstGeom>
          <a:solidFill>
            <a:srgbClr val="BE7E00"/>
          </a:solidFill>
          <a:ln w="15240">
            <a:solidFill>
              <a:srgbClr val="BE7E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02552" y="1810512"/>
            <a:ext cx="2011680" cy="201168"/>
          </a:xfrm>
          <a:prstGeom prst="rect">
            <a:avLst/>
          </a:prstGeom>
          <a:noFill/>
        </p:spPr>
        <p:txBody>
          <a:bodyPr wrap="none" lIns="18288" rIns="18288" tIns="9144" bIns="9144" anchor="t">
            <a:spAutoFit/>
          </a:bodyPr>
          <a:lstStyle/>
          <a:p>
            <a:pPr algn="l">
              <a:lnSpc>
                <a:spcPct val="100000"/>
              </a:lnSpc>
              <a:spcBef>
                <a:spcPts val="0"/>
              </a:spcBef>
              <a:spcAft>
                <a:spcPts val="0"/>
              </a:spcAft>
            </a:pPr>
            <a:r>
              <a:rPr sz="1000" b="1">
                <a:solidFill>
                  <a:srgbClr val="BE7E00"/>
                </a:solidFill>
                <a:latin typeface="Aptos"/>
              </a:rPr>
              <a:t>GROUND FRAME</a:t>
            </a:r>
          </a:p>
        </p:txBody>
      </p:sp>
      <p:sp>
        <p:nvSpPr>
          <p:cNvPr id="15" name="TextBox 14"/>
          <p:cNvSpPr txBox="1"/>
          <p:nvPr/>
        </p:nvSpPr>
        <p:spPr>
          <a:xfrm>
            <a:off x="6702552" y="2112264"/>
            <a:ext cx="4251960" cy="284860"/>
          </a:xfrm>
          <a:prstGeom prst="rect">
            <a:avLst/>
          </a:prstGeom>
          <a:noFill/>
        </p:spPr>
        <p:txBody>
          <a:bodyPr wrap="none" lIns="18288" rIns="18288" tIns="9144" bIns="9144" anchor="t">
            <a:spAutoFit/>
          </a:bodyPr>
          <a:lstStyle/>
          <a:p>
            <a:pPr algn="l">
              <a:lnSpc>
                <a:spcPct val="100000"/>
              </a:lnSpc>
              <a:spcBef>
                <a:spcPts val="0"/>
              </a:spcBef>
              <a:spcAft>
                <a:spcPts val="0"/>
              </a:spcAft>
            </a:pPr>
            <a:r>
              <a:rPr sz="1700" b="1">
                <a:solidFill>
                  <a:srgbClr val="18365D"/>
                </a:solidFill>
                <a:latin typeface="Aptos"/>
              </a:rPr>
              <a:t>Observer standing on the platform</a:t>
            </a:r>
          </a:p>
        </p:txBody>
      </p:sp>
      <p:sp>
        <p:nvSpPr>
          <p:cNvPr id="16" name="TextBox 15"/>
          <p:cNvSpPr txBox="1"/>
          <p:nvPr/>
        </p:nvSpPr>
        <p:spPr>
          <a:xfrm>
            <a:off x="6702552" y="2578608"/>
            <a:ext cx="4251960" cy="255651"/>
          </a:xfrm>
          <a:prstGeom prst="rect">
            <a:avLst/>
          </a:prstGeom>
          <a:noFill/>
        </p:spPr>
        <p:txBody>
          <a:bodyPr wrap="none" lIns="18288" rIns="18288" tIns="9144" bIns="9144" anchor="t">
            <a:spAutoFit/>
          </a:bodyPr>
          <a:lstStyle/>
          <a:p>
            <a:pPr algn="l">
              <a:lnSpc>
                <a:spcPct val="100000"/>
              </a:lnSpc>
              <a:spcBef>
                <a:spcPts val="0"/>
              </a:spcBef>
              <a:spcAft>
                <a:spcPts val="0"/>
              </a:spcAft>
            </a:pPr>
            <a:r>
              <a:rPr sz="1500" b="1">
                <a:solidFill>
                  <a:srgbClr val="B42D2D"/>
                </a:solidFill>
                <a:latin typeface="Aptos"/>
              </a:rPr>
              <a:t>Result: passenger is moving</a:t>
            </a:r>
          </a:p>
        </p:txBody>
      </p:sp>
      <p:sp>
        <p:nvSpPr>
          <p:cNvPr id="17" name="Rounded Rectangle 16"/>
          <p:cNvSpPr/>
          <p:nvPr/>
        </p:nvSpPr>
        <p:spPr>
          <a:xfrm>
            <a:off x="914400" y="3456432"/>
            <a:ext cx="10360152" cy="566928"/>
          </a:xfrm>
          <a:prstGeom prst="roundRect">
            <a:avLst/>
          </a:prstGeom>
          <a:solidFill>
            <a:srgbClr val="F2FAFA"/>
          </a:solidFill>
          <a:ln w="11430">
            <a:solidFill>
              <a:srgbClr val="ABD5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88720" y="3639312"/>
            <a:ext cx="914400" cy="201168"/>
          </a:xfrm>
          <a:prstGeom prst="rect">
            <a:avLst/>
          </a:prstGeom>
          <a:noFill/>
        </p:spPr>
        <p:txBody>
          <a:bodyPr wrap="none" lIns="18288" rIns="18288" tIns="9144" bIns="9144" anchor="t">
            <a:spAutoFit/>
          </a:bodyPr>
          <a:lstStyle/>
          <a:p>
            <a:pPr algn="l">
              <a:lnSpc>
                <a:spcPct val="100000"/>
              </a:lnSpc>
              <a:spcBef>
                <a:spcPts val="0"/>
              </a:spcBef>
              <a:spcAft>
                <a:spcPts val="0"/>
              </a:spcAft>
            </a:pPr>
            <a:r>
              <a:rPr sz="1000" b="1">
                <a:solidFill>
                  <a:srgbClr val="007D8A"/>
                </a:solidFill>
                <a:latin typeface="Aptos"/>
              </a:rPr>
              <a:t>KEY IDEA</a:t>
            </a:r>
          </a:p>
        </p:txBody>
      </p:sp>
      <p:sp>
        <p:nvSpPr>
          <p:cNvPr id="19" name="TextBox 18"/>
          <p:cNvSpPr txBox="1"/>
          <p:nvPr/>
        </p:nvSpPr>
        <p:spPr>
          <a:xfrm>
            <a:off x="2084831" y="3584448"/>
            <a:ext cx="8869680" cy="270255"/>
          </a:xfrm>
          <a:prstGeom prst="rect">
            <a:avLst/>
          </a:prstGeom>
          <a:noFill/>
        </p:spPr>
        <p:txBody>
          <a:bodyPr wrap="none" lIns="18288" rIns="18288" tIns="9144" bIns="9144" anchor="t">
            <a:spAutoFit/>
          </a:bodyPr>
          <a:lstStyle/>
          <a:p>
            <a:pPr algn="l">
              <a:lnSpc>
                <a:spcPct val="100000"/>
              </a:lnSpc>
              <a:spcBef>
                <a:spcPts val="0"/>
              </a:spcBef>
              <a:spcAft>
                <a:spcPts val="0"/>
              </a:spcAft>
            </a:pPr>
            <a:r>
              <a:rPr sz="1600" b="1">
                <a:solidFill>
                  <a:srgbClr val="007D8A"/>
                </a:solidFill>
                <a:latin typeface="Aptos"/>
              </a:rPr>
              <a:t>Same passenger • different observers • different descriptions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3840480" cy="320040"/>
          </a:xfrm>
          <a:prstGeom prst="rect">
            <a:avLst/>
          </a:prstGeom>
          <a:noFill/>
        </p:spPr>
        <p:txBody>
          <a:bodyPr wrap="none" lIns="27432" rIns="27432" tIns="27432" bIns="27432" anchor="t">
            <a:spAutoFit/>
          </a:bodyPr>
          <a:lstStyle/>
          <a:p>
            <a:pPr algn="l"/>
            <a:r>
              <a:rPr sz="1100" b="1">
                <a:solidFill>
                  <a:srgbClr val="1F62A6"/>
                </a:solidFill>
                <a:latin typeface="Aptos"/>
              </a:rPr>
              <a:t>CORE CONCEPT</a:t>
            </a:r>
          </a:p>
        </p:txBody>
      </p:sp>
      <p:sp>
        <p:nvSpPr>
          <p:cNvPr id="3" name="TextBox 2"/>
          <p:cNvSpPr txBox="1"/>
          <p:nvPr/>
        </p:nvSpPr>
        <p:spPr>
          <a:xfrm>
            <a:off x="594360" y="594360"/>
            <a:ext cx="10972800" cy="658368"/>
          </a:xfrm>
          <a:prstGeom prst="rect">
            <a:avLst/>
          </a:prstGeom>
          <a:noFill/>
        </p:spPr>
        <p:txBody>
          <a:bodyPr wrap="none" lIns="27432" rIns="27432" tIns="27432" bIns="27432" anchor="t">
            <a:spAutoFit/>
          </a:bodyPr>
          <a:lstStyle/>
          <a:p>
            <a:pPr algn="l"/>
            <a:r>
              <a:rPr sz="2800" b="1">
                <a:solidFill>
                  <a:srgbClr val="18365D"/>
                </a:solidFill>
                <a:latin typeface="Aptos"/>
              </a:rPr>
              <a:t>Rest and motion are relative</a:t>
            </a:r>
          </a:p>
        </p:txBody>
      </p:sp>
      <p:sp>
        <p:nvSpPr>
          <p:cNvPr id="4" name="Rectangle 3"/>
          <p:cNvSpPr/>
          <p:nvPr/>
        </p:nvSpPr>
        <p:spPr>
          <a:xfrm>
            <a:off x="594360" y="1261872"/>
            <a:ext cx="10972800" cy="18288"/>
          </a:xfrm>
          <a:prstGeom prst="rect">
            <a:avLst/>
          </a:prstGeom>
          <a:solidFill>
            <a:srgbClr val="D7DD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446520"/>
            <a:ext cx="6400800" cy="201168"/>
          </a:xfrm>
          <a:prstGeom prst="rect">
            <a:avLst/>
          </a:prstGeom>
          <a:noFill/>
        </p:spPr>
        <p:txBody>
          <a:bodyPr wrap="none" lIns="27432" rIns="27432" tIns="27432" bIns="27432" anchor="t">
            <a:spAutoFit/>
          </a:bodyPr>
          <a:lstStyle/>
          <a:p>
            <a:pPr algn="l"/>
            <a:r>
              <a:rPr sz="800" b="0">
                <a:solidFill>
                  <a:srgbClr val="5F6976"/>
                </a:solidFill>
                <a:latin typeface="Aptos"/>
              </a:rPr>
              <a:t>LECTURE 05  •  MOTION IN A STRAIGHT LINE</a:t>
            </a:r>
          </a:p>
        </p:txBody>
      </p:sp>
      <p:sp>
        <p:nvSpPr>
          <p:cNvPr id="6" name="TextBox 5"/>
          <p:cNvSpPr txBox="1"/>
          <p:nvPr/>
        </p:nvSpPr>
        <p:spPr>
          <a:xfrm>
            <a:off x="10881360" y="6419088"/>
            <a:ext cx="685800" cy="228600"/>
          </a:xfrm>
          <a:prstGeom prst="rect">
            <a:avLst/>
          </a:prstGeom>
          <a:noFill/>
        </p:spPr>
        <p:txBody>
          <a:bodyPr wrap="none" lIns="27432" rIns="27432" tIns="27432" bIns="27432" anchor="t">
            <a:spAutoFit/>
          </a:bodyPr>
          <a:lstStyle/>
          <a:p>
            <a:pPr algn="r"/>
            <a:r>
              <a:rPr sz="900" b="1">
                <a:solidFill>
                  <a:srgbClr val="5F6976"/>
                </a:solidFill>
                <a:latin typeface="Aptos"/>
              </a:rPr>
              <a:t>05</a:t>
            </a:r>
          </a:p>
        </p:txBody>
      </p:sp>
      <p:sp>
        <p:nvSpPr>
          <p:cNvPr id="7" name="Rounded Rectangle 6"/>
          <p:cNvSpPr/>
          <p:nvPr/>
        </p:nvSpPr>
        <p:spPr>
          <a:xfrm>
            <a:off x="1051560" y="1600200"/>
            <a:ext cx="4572000" cy="1327784"/>
          </a:xfrm>
          <a:prstGeom prst="roundRect">
            <a:avLst/>
          </a:prstGeom>
          <a:solidFill>
            <a:srgbClr val="E8F7EF"/>
          </a:solidFill>
          <a:ln w="11430">
            <a:solidFill>
              <a:srgbClr val="2680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80160" y="1719072"/>
            <a:ext cx="4114800" cy="299465"/>
          </a:xfrm>
          <a:prstGeom prst="rect">
            <a:avLst/>
          </a:prstGeom>
          <a:noFill/>
        </p:spPr>
        <p:txBody>
          <a:bodyPr wrap="none" lIns="18288" rIns="18288" tIns="9144" bIns="9144" anchor="t">
            <a:spAutoFit/>
          </a:bodyPr>
          <a:lstStyle/>
          <a:p>
            <a:pPr algn="l">
              <a:lnSpc>
                <a:spcPct val="100000"/>
              </a:lnSpc>
              <a:spcBef>
                <a:spcPts val="0"/>
              </a:spcBef>
              <a:spcAft>
                <a:spcPts val="0"/>
              </a:spcAft>
            </a:pPr>
            <a:r>
              <a:rPr sz="1800" b="1">
                <a:solidFill>
                  <a:srgbClr val="268054"/>
                </a:solidFill>
                <a:latin typeface="Aptos"/>
              </a:rPr>
              <a:t>REST</a:t>
            </a:r>
          </a:p>
        </p:txBody>
      </p:sp>
      <p:sp>
        <p:nvSpPr>
          <p:cNvPr id="9" name="TextBox 8"/>
          <p:cNvSpPr txBox="1"/>
          <p:nvPr/>
        </p:nvSpPr>
        <p:spPr>
          <a:xfrm>
            <a:off x="1280160" y="2055113"/>
            <a:ext cx="4114800" cy="781431"/>
          </a:xfrm>
          <a:prstGeom prst="rect">
            <a:avLst/>
          </a:prstGeom>
          <a:noFill/>
        </p:spPr>
        <p:txBody>
          <a:bodyPr wrap="none" lIns="18288" rIns="18288" tIns="9144" bIns="9144" anchor="t">
            <a:spAutoFit/>
          </a:bodyPr>
          <a:lstStyle/>
          <a:p>
            <a:pPr algn="l">
              <a:lnSpc>
                <a:spcPct val="100000"/>
              </a:lnSpc>
              <a:spcBef>
                <a:spcPts val="0"/>
              </a:spcBef>
              <a:spcAft>
                <a:spcPts val="0"/>
              </a:spcAft>
            </a:pPr>
            <a:r>
              <a:rPr sz="1700" b="0">
                <a:solidFill>
                  <a:srgbClr val="222831"/>
                </a:solidFill>
                <a:latin typeface="Aptos"/>
              </a:rPr>
              <a:t>Position does not change with time
relative to the chosen reference frame.</a:t>
            </a:r>
          </a:p>
        </p:txBody>
      </p:sp>
      <p:sp>
        <p:nvSpPr>
          <p:cNvPr id="10" name="Rounded Rectangle 9"/>
          <p:cNvSpPr/>
          <p:nvPr/>
        </p:nvSpPr>
        <p:spPr>
          <a:xfrm>
            <a:off x="6565392" y="1600200"/>
            <a:ext cx="4572000" cy="1327784"/>
          </a:xfrm>
          <a:prstGeom prst="roundRect">
            <a:avLst/>
          </a:prstGeom>
          <a:solidFill>
            <a:srgbClr val="FDEDED"/>
          </a:solidFill>
          <a:ln w="11430">
            <a:solidFill>
              <a:srgbClr val="B42D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93992" y="1719072"/>
            <a:ext cx="4114800" cy="299465"/>
          </a:xfrm>
          <a:prstGeom prst="rect">
            <a:avLst/>
          </a:prstGeom>
          <a:noFill/>
        </p:spPr>
        <p:txBody>
          <a:bodyPr wrap="none" lIns="18288" rIns="18288" tIns="9144" bIns="9144" anchor="t">
            <a:spAutoFit/>
          </a:bodyPr>
          <a:lstStyle/>
          <a:p>
            <a:pPr algn="l">
              <a:lnSpc>
                <a:spcPct val="100000"/>
              </a:lnSpc>
              <a:spcBef>
                <a:spcPts val="0"/>
              </a:spcBef>
              <a:spcAft>
                <a:spcPts val="0"/>
              </a:spcAft>
            </a:pPr>
            <a:r>
              <a:rPr sz="1800" b="1">
                <a:solidFill>
                  <a:srgbClr val="B42D2D"/>
                </a:solidFill>
                <a:latin typeface="Aptos"/>
              </a:rPr>
              <a:t>MOTION</a:t>
            </a:r>
          </a:p>
        </p:txBody>
      </p:sp>
      <p:sp>
        <p:nvSpPr>
          <p:cNvPr id="12" name="TextBox 11"/>
          <p:cNvSpPr txBox="1"/>
          <p:nvPr/>
        </p:nvSpPr>
        <p:spPr>
          <a:xfrm>
            <a:off x="6793992" y="2055113"/>
            <a:ext cx="4114800" cy="781431"/>
          </a:xfrm>
          <a:prstGeom prst="rect">
            <a:avLst/>
          </a:prstGeom>
          <a:noFill/>
        </p:spPr>
        <p:txBody>
          <a:bodyPr wrap="none" lIns="18288" rIns="18288" tIns="9144" bIns="9144" anchor="t">
            <a:spAutoFit/>
          </a:bodyPr>
          <a:lstStyle/>
          <a:p>
            <a:pPr algn="l">
              <a:lnSpc>
                <a:spcPct val="100000"/>
              </a:lnSpc>
              <a:spcBef>
                <a:spcPts val="0"/>
              </a:spcBef>
              <a:spcAft>
                <a:spcPts val="0"/>
              </a:spcAft>
            </a:pPr>
            <a:r>
              <a:rPr sz="1700" b="0">
                <a:solidFill>
                  <a:srgbClr val="222831"/>
                </a:solidFill>
                <a:latin typeface="Aptos"/>
              </a:rPr>
              <a:t>Position changes with time
relative to the chosen reference frame.</a:t>
            </a:r>
          </a:p>
        </p:txBody>
      </p:sp>
      <p:sp>
        <p:nvSpPr>
          <p:cNvPr id="13" name="Rectangle 12"/>
          <p:cNvSpPr/>
          <p:nvPr/>
        </p:nvSpPr>
        <p:spPr>
          <a:xfrm>
            <a:off x="1051560" y="1600200"/>
            <a:ext cx="59436" cy="1327784"/>
          </a:xfrm>
          <a:prstGeom prst="rect">
            <a:avLst/>
          </a:prstGeom>
          <a:solidFill>
            <a:srgbClr val="2680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565392" y="1600200"/>
            <a:ext cx="59436" cy="1327784"/>
          </a:xfrm>
          <a:prstGeom prst="rect">
            <a:avLst/>
          </a:prstGeom>
          <a:solidFill>
            <a:srgbClr val="B4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3840480" cy="320040"/>
          </a:xfrm>
          <a:prstGeom prst="rect">
            <a:avLst/>
          </a:prstGeom>
          <a:noFill/>
        </p:spPr>
        <p:txBody>
          <a:bodyPr wrap="none" lIns="27432" rIns="27432" tIns="27432" bIns="27432" anchor="t">
            <a:spAutoFit/>
          </a:bodyPr>
          <a:lstStyle/>
          <a:p>
            <a:pPr algn="l"/>
            <a:r>
              <a:rPr sz="1100" b="1">
                <a:solidFill>
                  <a:srgbClr val="1F62A6"/>
                </a:solidFill>
                <a:latin typeface="Aptos"/>
              </a:rPr>
              <a:t>DEFINITION</a:t>
            </a:r>
          </a:p>
        </p:txBody>
      </p:sp>
      <p:sp>
        <p:nvSpPr>
          <p:cNvPr id="3" name="TextBox 2"/>
          <p:cNvSpPr txBox="1"/>
          <p:nvPr/>
        </p:nvSpPr>
        <p:spPr>
          <a:xfrm>
            <a:off x="594360" y="594360"/>
            <a:ext cx="10972800" cy="658368"/>
          </a:xfrm>
          <a:prstGeom prst="rect">
            <a:avLst/>
          </a:prstGeom>
          <a:noFill/>
        </p:spPr>
        <p:txBody>
          <a:bodyPr wrap="none" lIns="27432" rIns="27432" tIns="27432" bIns="27432" anchor="t">
            <a:spAutoFit/>
          </a:bodyPr>
          <a:lstStyle/>
          <a:p>
            <a:pPr algn="l"/>
            <a:r>
              <a:rPr sz="2800" b="1">
                <a:solidFill>
                  <a:srgbClr val="18365D"/>
                </a:solidFill>
                <a:latin typeface="Aptos"/>
              </a:rPr>
              <a:t>Frame of reference</a:t>
            </a:r>
          </a:p>
        </p:txBody>
      </p:sp>
      <p:sp>
        <p:nvSpPr>
          <p:cNvPr id="4" name="Rectangle 3"/>
          <p:cNvSpPr/>
          <p:nvPr/>
        </p:nvSpPr>
        <p:spPr>
          <a:xfrm>
            <a:off x="594360" y="1261872"/>
            <a:ext cx="10972800" cy="18288"/>
          </a:xfrm>
          <a:prstGeom prst="rect">
            <a:avLst/>
          </a:prstGeom>
          <a:solidFill>
            <a:srgbClr val="D7DD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446520"/>
            <a:ext cx="6400800" cy="201168"/>
          </a:xfrm>
          <a:prstGeom prst="rect">
            <a:avLst/>
          </a:prstGeom>
          <a:noFill/>
        </p:spPr>
        <p:txBody>
          <a:bodyPr wrap="none" lIns="27432" rIns="27432" tIns="27432" bIns="27432" anchor="t">
            <a:spAutoFit/>
          </a:bodyPr>
          <a:lstStyle/>
          <a:p>
            <a:pPr algn="l"/>
            <a:r>
              <a:rPr sz="800" b="0">
                <a:solidFill>
                  <a:srgbClr val="5F6976"/>
                </a:solidFill>
                <a:latin typeface="Aptos"/>
              </a:rPr>
              <a:t>LECTURE 05  •  MOTION IN A STRAIGHT LINE</a:t>
            </a:r>
          </a:p>
        </p:txBody>
      </p:sp>
      <p:sp>
        <p:nvSpPr>
          <p:cNvPr id="6" name="TextBox 5"/>
          <p:cNvSpPr txBox="1"/>
          <p:nvPr/>
        </p:nvSpPr>
        <p:spPr>
          <a:xfrm>
            <a:off x="10881360" y="6419088"/>
            <a:ext cx="685800" cy="228600"/>
          </a:xfrm>
          <a:prstGeom prst="rect">
            <a:avLst/>
          </a:prstGeom>
          <a:noFill/>
        </p:spPr>
        <p:txBody>
          <a:bodyPr wrap="none" lIns="27432" rIns="27432" tIns="27432" bIns="27432" anchor="t">
            <a:spAutoFit/>
          </a:bodyPr>
          <a:lstStyle/>
          <a:p>
            <a:pPr algn="r"/>
            <a:r>
              <a:rPr sz="900" b="1">
                <a:solidFill>
                  <a:srgbClr val="5F6976"/>
                </a:solidFill>
                <a:latin typeface="Aptos"/>
              </a:rPr>
              <a:t>06</a:t>
            </a:r>
          </a:p>
        </p:txBody>
      </p:sp>
      <p:sp>
        <p:nvSpPr>
          <p:cNvPr id="7" name="Rounded Rectangle 6"/>
          <p:cNvSpPr/>
          <p:nvPr/>
        </p:nvSpPr>
        <p:spPr>
          <a:xfrm>
            <a:off x="1645920" y="1600200"/>
            <a:ext cx="8915400" cy="787399"/>
          </a:xfrm>
          <a:prstGeom prst="roundRect">
            <a:avLst/>
          </a:prstGeom>
          <a:solidFill>
            <a:srgbClr val="E7F1FC"/>
          </a:solidFill>
          <a:ln w="11430">
            <a:solidFill>
              <a:srgbClr val="1F62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783080" y="1719072"/>
            <a:ext cx="8641080" cy="328675"/>
          </a:xfrm>
          <a:prstGeom prst="rect">
            <a:avLst/>
          </a:prstGeom>
          <a:noFill/>
        </p:spPr>
        <p:txBody>
          <a:bodyPr wrap="none" lIns="18288" rIns="18288" tIns="9144" bIns="9144" anchor="t">
            <a:spAutoFit/>
          </a:bodyPr>
          <a:lstStyle/>
          <a:p>
            <a:pPr algn="l">
              <a:lnSpc>
                <a:spcPct val="100000"/>
              </a:lnSpc>
              <a:spcBef>
                <a:spcPts val="0"/>
              </a:spcBef>
              <a:spcAft>
                <a:spcPts val="0"/>
              </a:spcAft>
            </a:pPr>
            <a:r>
              <a:rPr sz="2000" b="1">
                <a:solidFill>
                  <a:srgbClr val="18365D"/>
                </a:solidFill>
                <a:latin typeface="Aptos"/>
              </a:rPr>
              <a:t>Reference frame = origin + axes + clock</a:t>
            </a:r>
          </a:p>
        </p:txBody>
      </p:sp>
      <p:sp>
        <p:nvSpPr>
          <p:cNvPr id="9" name="TextBox 8"/>
          <p:cNvSpPr txBox="1"/>
          <p:nvPr/>
        </p:nvSpPr>
        <p:spPr>
          <a:xfrm>
            <a:off x="1783080" y="2084323"/>
            <a:ext cx="8641080" cy="211836"/>
          </a:xfrm>
          <a:prstGeom prst="rect">
            <a:avLst/>
          </a:prstGeom>
          <a:noFill/>
        </p:spPr>
        <p:txBody>
          <a:bodyPr wrap="none" lIns="18288" rIns="18288" tIns="9144" bIns="9144" anchor="t">
            <a:spAutoFit/>
          </a:bodyPr>
          <a:lstStyle/>
          <a:p>
            <a:pPr algn="l">
              <a:lnSpc>
                <a:spcPct val="100000"/>
              </a:lnSpc>
              <a:spcBef>
                <a:spcPts val="0"/>
              </a:spcBef>
              <a:spcAft>
                <a:spcPts val="0"/>
              </a:spcAft>
            </a:pPr>
            <a:r>
              <a:rPr sz="1200" b="0">
                <a:solidFill>
                  <a:srgbClr val="5F6976"/>
                </a:solidFill>
                <a:latin typeface="Aptos"/>
              </a:rPr>
              <a:t>A system used to specify position and motion</a:t>
            </a:r>
          </a:p>
        </p:txBody>
      </p:sp>
      <p:sp>
        <p:nvSpPr>
          <p:cNvPr id="10" name="Rounded Rectangle 9"/>
          <p:cNvSpPr/>
          <p:nvPr/>
        </p:nvSpPr>
        <p:spPr>
          <a:xfrm>
            <a:off x="822960" y="2971800"/>
            <a:ext cx="3383280" cy="772793"/>
          </a:xfrm>
          <a:prstGeom prst="roundRect">
            <a:avLst/>
          </a:prstGeom>
          <a:solidFill>
            <a:srgbClr val="F7F9FC"/>
          </a:solidFill>
          <a:ln w="11430">
            <a:solidFill>
              <a:srgbClr val="D7DD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090672"/>
            <a:ext cx="3017520" cy="284860"/>
          </a:xfrm>
          <a:prstGeom prst="rect">
            <a:avLst/>
          </a:prstGeom>
          <a:noFill/>
        </p:spPr>
        <p:txBody>
          <a:bodyPr wrap="none" lIns="18288" rIns="18288" tIns="9144" bIns="9144" anchor="t">
            <a:spAutoFit/>
          </a:bodyPr>
          <a:lstStyle/>
          <a:p>
            <a:pPr algn="l">
              <a:lnSpc>
                <a:spcPct val="100000"/>
              </a:lnSpc>
              <a:spcBef>
                <a:spcPts val="0"/>
              </a:spcBef>
              <a:spcAft>
                <a:spcPts val="0"/>
              </a:spcAft>
            </a:pPr>
            <a:r>
              <a:rPr sz="1700" b="1">
                <a:solidFill>
                  <a:srgbClr val="1F62A6"/>
                </a:solidFill>
                <a:latin typeface="Aptos"/>
              </a:rPr>
              <a:t>Origin O</a:t>
            </a:r>
          </a:p>
        </p:txBody>
      </p:sp>
      <p:sp>
        <p:nvSpPr>
          <p:cNvPr id="12" name="TextBox 11"/>
          <p:cNvSpPr txBox="1"/>
          <p:nvPr/>
        </p:nvSpPr>
        <p:spPr>
          <a:xfrm>
            <a:off x="1051560" y="3412108"/>
            <a:ext cx="2926080" cy="241045"/>
          </a:xfrm>
          <a:prstGeom prst="rect">
            <a:avLst/>
          </a:prstGeom>
          <a:noFill/>
        </p:spPr>
        <p:txBody>
          <a:bodyPr wrap="none" lIns="18288" rIns="18288" tIns="9144" bIns="9144" anchor="t">
            <a:spAutoFit/>
          </a:bodyPr>
          <a:lstStyle/>
          <a:p>
            <a:pPr algn="l">
              <a:lnSpc>
                <a:spcPct val="100000"/>
              </a:lnSpc>
              <a:spcBef>
                <a:spcPts val="0"/>
              </a:spcBef>
              <a:spcAft>
                <a:spcPts val="0"/>
              </a:spcAft>
            </a:pPr>
            <a:r>
              <a:rPr sz="1400" b="0">
                <a:solidFill>
                  <a:srgbClr val="222831"/>
                </a:solidFill>
                <a:latin typeface="Aptos"/>
              </a:rPr>
              <a:t>Where position is measured from</a:t>
            </a:r>
          </a:p>
        </p:txBody>
      </p:sp>
      <p:sp>
        <p:nvSpPr>
          <p:cNvPr id="13" name="Rounded Rectangle 12"/>
          <p:cNvSpPr/>
          <p:nvPr/>
        </p:nvSpPr>
        <p:spPr>
          <a:xfrm>
            <a:off x="4617720" y="2971800"/>
            <a:ext cx="3383280" cy="772793"/>
          </a:xfrm>
          <a:prstGeom prst="roundRect">
            <a:avLst/>
          </a:prstGeom>
          <a:solidFill>
            <a:srgbClr val="F7F9FC"/>
          </a:solidFill>
          <a:ln w="11430">
            <a:solidFill>
              <a:srgbClr val="D7DD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800600" y="3090672"/>
            <a:ext cx="3017520" cy="284860"/>
          </a:xfrm>
          <a:prstGeom prst="rect">
            <a:avLst/>
          </a:prstGeom>
          <a:noFill/>
        </p:spPr>
        <p:txBody>
          <a:bodyPr wrap="none" lIns="18288" rIns="18288" tIns="9144" bIns="9144" anchor="t">
            <a:spAutoFit/>
          </a:bodyPr>
          <a:lstStyle/>
          <a:p>
            <a:pPr algn="l">
              <a:lnSpc>
                <a:spcPct val="100000"/>
              </a:lnSpc>
              <a:spcBef>
                <a:spcPts val="0"/>
              </a:spcBef>
              <a:spcAft>
                <a:spcPts val="0"/>
              </a:spcAft>
            </a:pPr>
            <a:r>
              <a:rPr sz="1700" b="1">
                <a:solidFill>
                  <a:srgbClr val="1F62A6"/>
                </a:solidFill>
                <a:latin typeface="Aptos"/>
              </a:rPr>
              <a:t>Direction / axes</a:t>
            </a:r>
          </a:p>
        </p:txBody>
      </p:sp>
      <p:sp>
        <p:nvSpPr>
          <p:cNvPr id="15" name="TextBox 14"/>
          <p:cNvSpPr txBox="1"/>
          <p:nvPr/>
        </p:nvSpPr>
        <p:spPr>
          <a:xfrm>
            <a:off x="4846320" y="3412108"/>
            <a:ext cx="2926080" cy="241045"/>
          </a:xfrm>
          <a:prstGeom prst="rect">
            <a:avLst/>
          </a:prstGeom>
          <a:noFill/>
        </p:spPr>
        <p:txBody>
          <a:bodyPr wrap="none" lIns="18288" rIns="18288" tIns="9144" bIns="9144" anchor="t">
            <a:spAutoFit/>
          </a:bodyPr>
          <a:lstStyle/>
          <a:p>
            <a:pPr algn="l">
              <a:lnSpc>
                <a:spcPct val="100000"/>
              </a:lnSpc>
              <a:spcBef>
                <a:spcPts val="0"/>
              </a:spcBef>
              <a:spcAft>
                <a:spcPts val="0"/>
              </a:spcAft>
            </a:pPr>
            <a:r>
              <a:rPr sz="1400" b="0">
                <a:solidFill>
                  <a:srgbClr val="222831"/>
                </a:solidFill>
                <a:latin typeface="Aptos"/>
              </a:rPr>
              <a:t>Which way is taken as positive</a:t>
            </a:r>
          </a:p>
        </p:txBody>
      </p:sp>
      <p:sp>
        <p:nvSpPr>
          <p:cNvPr id="16" name="Rounded Rectangle 15"/>
          <p:cNvSpPr/>
          <p:nvPr/>
        </p:nvSpPr>
        <p:spPr>
          <a:xfrm>
            <a:off x="8412480" y="2971800"/>
            <a:ext cx="3383280" cy="772793"/>
          </a:xfrm>
          <a:prstGeom prst="roundRect">
            <a:avLst/>
          </a:prstGeom>
          <a:solidFill>
            <a:srgbClr val="F7F9FC"/>
          </a:solidFill>
          <a:ln w="11430">
            <a:solidFill>
              <a:srgbClr val="D7DD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3090672"/>
            <a:ext cx="3017520" cy="284860"/>
          </a:xfrm>
          <a:prstGeom prst="rect">
            <a:avLst/>
          </a:prstGeom>
          <a:noFill/>
        </p:spPr>
        <p:txBody>
          <a:bodyPr wrap="none" lIns="18288" rIns="18288" tIns="9144" bIns="9144" anchor="t">
            <a:spAutoFit/>
          </a:bodyPr>
          <a:lstStyle/>
          <a:p>
            <a:pPr algn="l">
              <a:lnSpc>
                <a:spcPct val="100000"/>
              </a:lnSpc>
              <a:spcBef>
                <a:spcPts val="0"/>
              </a:spcBef>
              <a:spcAft>
                <a:spcPts val="0"/>
              </a:spcAft>
            </a:pPr>
            <a:r>
              <a:rPr sz="1700" b="1">
                <a:solidFill>
                  <a:srgbClr val="1F62A6"/>
                </a:solidFill>
                <a:latin typeface="Aptos"/>
              </a:rPr>
              <a:t>Clock</a:t>
            </a:r>
          </a:p>
        </p:txBody>
      </p:sp>
      <p:sp>
        <p:nvSpPr>
          <p:cNvPr id="18" name="TextBox 17"/>
          <p:cNvSpPr txBox="1"/>
          <p:nvPr/>
        </p:nvSpPr>
        <p:spPr>
          <a:xfrm>
            <a:off x="8641080" y="3412108"/>
            <a:ext cx="2926080" cy="241045"/>
          </a:xfrm>
          <a:prstGeom prst="rect">
            <a:avLst/>
          </a:prstGeom>
          <a:noFill/>
        </p:spPr>
        <p:txBody>
          <a:bodyPr wrap="none" lIns="18288" rIns="18288" tIns="9144" bIns="9144" anchor="t">
            <a:spAutoFit/>
          </a:bodyPr>
          <a:lstStyle/>
          <a:p>
            <a:pPr algn="l">
              <a:lnSpc>
                <a:spcPct val="100000"/>
              </a:lnSpc>
              <a:spcBef>
                <a:spcPts val="0"/>
              </a:spcBef>
              <a:spcAft>
                <a:spcPts val="0"/>
              </a:spcAft>
            </a:pPr>
            <a:r>
              <a:rPr sz="1400" b="0">
                <a:solidFill>
                  <a:srgbClr val="222831"/>
                </a:solidFill>
                <a:latin typeface="Aptos"/>
              </a:rPr>
              <a:t>When each observation is made</a:t>
            </a:r>
          </a:p>
        </p:txBody>
      </p:sp>
      <p:sp>
        <p:nvSpPr>
          <p:cNvPr id="19" name="Rectangle 18"/>
          <p:cNvSpPr/>
          <p:nvPr/>
        </p:nvSpPr>
        <p:spPr>
          <a:xfrm>
            <a:off x="1645920" y="1600200"/>
            <a:ext cx="59436" cy="787399"/>
          </a:xfrm>
          <a:prstGeom prst="rect">
            <a:avLst/>
          </a:prstGeom>
          <a:solidFill>
            <a:srgbClr val="1F62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22960" y="2971800"/>
            <a:ext cx="59436" cy="772793"/>
          </a:xfrm>
          <a:prstGeom prst="rect">
            <a:avLst/>
          </a:prstGeom>
          <a:solidFill>
            <a:srgbClr val="1F62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617720" y="2971800"/>
            <a:ext cx="59436" cy="772793"/>
          </a:xfrm>
          <a:prstGeom prst="rect">
            <a:avLst/>
          </a:prstGeom>
          <a:solidFill>
            <a:srgbClr val="1F62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412480" y="2971800"/>
            <a:ext cx="59436" cy="772793"/>
          </a:xfrm>
          <a:prstGeom prst="rect">
            <a:avLst/>
          </a:prstGeom>
          <a:solidFill>
            <a:srgbClr val="1F62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3840480" cy="320040"/>
          </a:xfrm>
          <a:prstGeom prst="rect">
            <a:avLst/>
          </a:prstGeom>
          <a:noFill/>
        </p:spPr>
        <p:txBody>
          <a:bodyPr wrap="none" lIns="27432" rIns="27432" tIns="27432" bIns="27432" anchor="t">
            <a:spAutoFit/>
          </a:bodyPr>
          <a:lstStyle/>
          <a:p>
            <a:pPr algn="l"/>
            <a:r>
              <a:rPr sz="1100" b="1">
                <a:solidFill>
                  <a:srgbClr val="1F62A6"/>
                </a:solidFill>
                <a:latin typeface="Aptos"/>
              </a:rPr>
              <a:t>REPRESENTATION</a:t>
            </a:r>
          </a:p>
        </p:txBody>
      </p:sp>
      <p:sp>
        <p:nvSpPr>
          <p:cNvPr id="3" name="TextBox 2"/>
          <p:cNvSpPr txBox="1"/>
          <p:nvPr/>
        </p:nvSpPr>
        <p:spPr>
          <a:xfrm>
            <a:off x="594360" y="594360"/>
            <a:ext cx="10972800" cy="658368"/>
          </a:xfrm>
          <a:prstGeom prst="rect">
            <a:avLst/>
          </a:prstGeom>
          <a:noFill/>
        </p:spPr>
        <p:txBody>
          <a:bodyPr wrap="none" lIns="27432" rIns="27432" tIns="27432" bIns="27432" anchor="t">
            <a:spAutoFit/>
          </a:bodyPr>
          <a:lstStyle/>
          <a:p>
            <a:pPr algn="l"/>
            <a:r>
              <a:rPr sz="2800" b="1">
                <a:solidFill>
                  <a:srgbClr val="18365D"/>
                </a:solidFill>
                <a:latin typeface="Aptos"/>
              </a:rPr>
              <a:t>Build a one-dimensional reference frame</a:t>
            </a:r>
          </a:p>
        </p:txBody>
      </p:sp>
      <p:sp>
        <p:nvSpPr>
          <p:cNvPr id="4" name="Rectangle 3"/>
          <p:cNvSpPr/>
          <p:nvPr/>
        </p:nvSpPr>
        <p:spPr>
          <a:xfrm>
            <a:off x="594360" y="1261872"/>
            <a:ext cx="10972800" cy="18288"/>
          </a:xfrm>
          <a:prstGeom prst="rect">
            <a:avLst/>
          </a:prstGeom>
          <a:solidFill>
            <a:srgbClr val="D7DD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446520"/>
            <a:ext cx="6400800" cy="201168"/>
          </a:xfrm>
          <a:prstGeom prst="rect">
            <a:avLst/>
          </a:prstGeom>
          <a:noFill/>
        </p:spPr>
        <p:txBody>
          <a:bodyPr wrap="none" lIns="27432" rIns="27432" tIns="27432" bIns="27432" anchor="t">
            <a:spAutoFit/>
          </a:bodyPr>
          <a:lstStyle/>
          <a:p>
            <a:pPr algn="l"/>
            <a:r>
              <a:rPr sz="800" b="0">
                <a:solidFill>
                  <a:srgbClr val="5F6976"/>
                </a:solidFill>
                <a:latin typeface="Aptos"/>
              </a:rPr>
              <a:t>LECTURE 05  •  MOTION IN A STRAIGHT LINE</a:t>
            </a:r>
          </a:p>
        </p:txBody>
      </p:sp>
      <p:sp>
        <p:nvSpPr>
          <p:cNvPr id="6" name="TextBox 5"/>
          <p:cNvSpPr txBox="1"/>
          <p:nvPr/>
        </p:nvSpPr>
        <p:spPr>
          <a:xfrm>
            <a:off x="10881360" y="6419088"/>
            <a:ext cx="685800" cy="228600"/>
          </a:xfrm>
          <a:prstGeom prst="rect">
            <a:avLst/>
          </a:prstGeom>
          <a:noFill/>
        </p:spPr>
        <p:txBody>
          <a:bodyPr wrap="none" lIns="27432" rIns="27432" tIns="27432" bIns="27432" anchor="t">
            <a:spAutoFit/>
          </a:bodyPr>
          <a:lstStyle/>
          <a:p>
            <a:pPr algn="r"/>
            <a:r>
              <a:rPr sz="900" b="1">
                <a:solidFill>
                  <a:srgbClr val="5F6976"/>
                </a:solidFill>
                <a:latin typeface="Aptos"/>
              </a:rPr>
              <a:t>07</a:t>
            </a:r>
          </a:p>
        </p:txBody>
      </p:sp>
      <p:sp>
        <p:nvSpPr>
          <p:cNvPr id="7" name="Rectangle 6"/>
          <p:cNvSpPr/>
          <p:nvPr/>
        </p:nvSpPr>
        <p:spPr>
          <a:xfrm>
            <a:off x="1005840" y="2743200"/>
            <a:ext cx="10149840" cy="32004"/>
          </a:xfrm>
          <a:prstGeom prst="rect">
            <a:avLst/>
          </a:prstGeom>
          <a:solidFill>
            <a:srgbClr val="18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94867" y="2633472"/>
            <a:ext cx="21945" cy="246888"/>
          </a:xfrm>
          <a:prstGeom prst="rect">
            <a:avLst/>
          </a:prstGeom>
          <a:solidFill>
            <a:srgbClr val="18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889504"/>
            <a:ext cx="512064" cy="274320"/>
          </a:xfrm>
          <a:prstGeom prst="rect">
            <a:avLst/>
          </a:prstGeom>
          <a:noFill/>
        </p:spPr>
        <p:txBody>
          <a:bodyPr wrap="none" lIns="27432" rIns="27432" tIns="27432" bIns="27432" anchor="t">
            <a:spAutoFit/>
          </a:bodyPr>
          <a:lstStyle/>
          <a:p>
            <a:pPr algn="ctr"/>
            <a:r>
              <a:rPr sz="1200" b="0">
                <a:solidFill>
                  <a:srgbClr val="222831"/>
                </a:solidFill>
                <a:latin typeface="Aptos"/>
              </a:rPr>
              <a:t>-6</a:t>
            </a:r>
          </a:p>
        </p:txBody>
      </p:sp>
      <p:sp>
        <p:nvSpPr>
          <p:cNvPr id="10" name="Rectangle 9"/>
          <p:cNvSpPr/>
          <p:nvPr/>
        </p:nvSpPr>
        <p:spPr>
          <a:xfrm>
            <a:off x="2686507" y="2633472"/>
            <a:ext cx="21945" cy="246888"/>
          </a:xfrm>
          <a:prstGeom prst="rect">
            <a:avLst/>
          </a:prstGeom>
          <a:solidFill>
            <a:srgbClr val="18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441448" y="2889504"/>
            <a:ext cx="512064" cy="274320"/>
          </a:xfrm>
          <a:prstGeom prst="rect">
            <a:avLst/>
          </a:prstGeom>
          <a:noFill/>
        </p:spPr>
        <p:txBody>
          <a:bodyPr wrap="none" lIns="27432" rIns="27432" tIns="27432" bIns="27432" anchor="t">
            <a:spAutoFit/>
          </a:bodyPr>
          <a:lstStyle/>
          <a:p>
            <a:pPr algn="ctr"/>
            <a:r>
              <a:rPr sz="1200" b="0">
                <a:solidFill>
                  <a:srgbClr val="222831"/>
                </a:solidFill>
                <a:latin typeface="Aptos"/>
              </a:rPr>
              <a:t>-4</a:t>
            </a:r>
          </a:p>
        </p:txBody>
      </p:sp>
      <p:sp>
        <p:nvSpPr>
          <p:cNvPr id="12" name="Rectangle 11"/>
          <p:cNvSpPr/>
          <p:nvPr/>
        </p:nvSpPr>
        <p:spPr>
          <a:xfrm>
            <a:off x="4378147" y="2633472"/>
            <a:ext cx="21945" cy="246888"/>
          </a:xfrm>
          <a:prstGeom prst="rect">
            <a:avLst/>
          </a:prstGeom>
          <a:solidFill>
            <a:srgbClr val="18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133087" y="2889504"/>
            <a:ext cx="512064" cy="274320"/>
          </a:xfrm>
          <a:prstGeom prst="rect">
            <a:avLst/>
          </a:prstGeom>
          <a:noFill/>
        </p:spPr>
        <p:txBody>
          <a:bodyPr wrap="none" lIns="27432" rIns="27432" tIns="27432" bIns="27432" anchor="t">
            <a:spAutoFit/>
          </a:bodyPr>
          <a:lstStyle/>
          <a:p>
            <a:pPr algn="ctr"/>
            <a:r>
              <a:rPr sz="1200" b="0">
                <a:solidFill>
                  <a:srgbClr val="222831"/>
                </a:solidFill>
                <a:latin typeface="Aptos"/>
              </a:rPr>
              <a:t>-2</a:t>
            </a:r>
          </a:p>
        </p:txBody>
      </p:sp>
      <p:sp>
        <p:nvSpPr>
          <p:cNvPr id="14" name="Rectangle 13"/>
          <p:cNvSpPr/>
          <p:nvPr/>
        </p:nvSpPr>
        <p:spPr>
          <a:xfrm>
            <a:off x="6069787" y="2633472"/>
            <a:ext cx="21945" cy="246888"/>
          </a:xfrm>
          <a:prstGeom prst="rect">
            <a:avLst/>
          </a:prstGeom>
          <a:solidFill>
            <a:srgbClr val="18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24728" y="2889504"/>
            <a:ext cx="512064" cy="274320"/>
          </a:xfrm>
          <a:prstGeom prst="rect">
            <a:avLst/>
          </a:prstGeom>
          <a:noFill/>
        </p:spPr>
        <p:txBody>
          <a:bodyPr wrap="none" lIns="27432" rIns="27432" tIns="27432" bIns="27432" anchor="t">
            <a:spAutoFit/>
          </a:bodyPr>
          <a:lstStyle/>
          <a:p>
            <a:pPr algn="ctr"/>
            <a:r>
              <a:rPr sz="1200" b="1">
                <a:solidFill>
                  <a:srgbClr val="B42D2D"/>
                </a:solidFill>
                <a:latin typeface="Aptos"/>
              </a:rPr>
              <a:t>0</a:t>
            </a:r>
          </a:p>
        </p:txBody>
      </p:sp>
      <p:sp>
        <p:nvSpPr>
          <p:cNvPr id="16" name="TextBox 15"/>
          <p:cNvSpPr txBox="1"/>
          <p:nvPr/>
        </p:nvSpPr>
        <p:spPr>
          <a:xfrm>
            <a:off x="5532120" y="2176272"/>
            <a:ext cx="1097280" cy="320040"/>
          </a:xfrm>
          <a:prstGeom prst="rect">
            <a:avLst/>
          </a:prstGeom>
          <a:noFill/>
        </p:spPr>
        <p:txBody>
          <a:bodyPr wrap="none" lIns="27432" rIns="27432" tIns="27432" bIns="27432" anchor="t">
            <a:spAutoFit/>
          </a:bodyPr>
          <a:lstStyle/>
          <a:p>
            <a:pPr algn="ctr"/>
            <a:r>
              <a:rPr sz="1300" b="1">
                <a:solidFill>
                  <a:srgbClr val="B42D2D"/>
                </a:solidFill>
                <a:latin typeface="Aptos"/>
              </a:rPr>
              <a:t>Origin O</a:t>
            </a:r>
          </a:p>
        </p:txBody>
      </p:sp>
      <p:sp>
        <p:nvSpPr>
          <p:cNvPr id="17" name="Rectangle 16"/>
          <p:cNvSpPr/>
          <p:nvPr/>
        </p:nvSpPr>
        <p:spPr>
          <a:xfrm>
            <a:off x="7761427" y="2633472"/>
            <a:ext cx="21945" cy="246888"/>
          </a:xfrm>
          <a:prstGeom prst="rect">
            <a:avLst/>
          </a:prstGeom>
          <a:solidFill>
            <a:srgbClr val="18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16368" y="2889504"/>
            <a:ext cx="512064" cy="274320"/>
          </a:xfrm>
          <a:prstGeom prst="rect">
            <a:avLst/>
          </a:prstGeom>
          <a:noFill/>
        </p:spPr>
        <p:txBody>
          <a:bodyPr wrap="none" lIns="27432" rIns="27432" tIns="27432" bIns="27432" anchor="t">
            <a:spAutoFit/>
          </a:bodyPr>
          <a:lstStyle/>
          <a:p>
            <a:pPr algn="ctr"/>
            <a:r>
              <a:rPr sz="1200" b="0">
                <a:solidFill>
                  <a:srgbClr val="222831"/>
                </a:solidFill>
                <a:latin typeface="Aptos"/>
              </a:rPr>
              <a:t>2</a:t>
            </a:r>
          </a:p>
        </p:txBody>
      </p:sp>
      <p:sp>
        <p:nvSpPr>
          <p:cNvPr id="19" name="Rectangle 18"/>
          <p:cNvSpPr/>
          <p:nvPr/>
        </p:nvSpPr>
        <p:spPr>
          <a:xfrm>
            <a:off x="9453067" y="2633472"/>
            <a:ext cx="21945" cy="246888"/>
          </a:xfrm>
          <a:prstGeom prst="rect">
            <a:avLst/>
          </a:prstGeom>
          <a:solidFill>
            <a:srgbClr val="18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208008" y="2889504"/>
            <a:ext cx="512064" cy="274320"/>
          </a:xfrm>
          <a:prstGeom prst="rect">
            <a:avLst/>
          </a:prstGeom>
          <a:noFill/>
        </p:spPr>
        <p:txBody>
          <a:bodyPr wrap="none" lIns="27432" rIns="27432" tIns="27432" bIns="27432" anchor="t">
            <a:spAutoFit/>
          </a:bodyPr>
          <a:lstStyle/>
          <a:p>
            <a:pPr algn="ctr"/>
            <a:r>
              <a:rPr sz="1200" b="0">
                <a:solidFill>
                  <a:srgbClr val="222831"/>
                </a:solidFill>
                <a:latin typeface="Aptos"/>
              </a:rPr>
              <a:t>4</a:t>
            </a:r>
          </a:p>
        </p:txBody>
      </p:sp>
      <p:sp>
        <p:nvSpPr>
          <p:cNvPr id="21" name="Rectangle 20"/>
          <p:cNvSpPr/>
          <p:nvPr/>
        </p:nvSpPr>
        <p:spPr>
          <a:xfrm>
            <a:off x="11144707" y="2633472"/>
            <a:ext cx="21945" cy="246888"/>
          </a:xfrm>
          <a:prstGeom prst="rect">
            <a:avLst/>
          </a:prstGeom>
          <a:solidFill>
            <a:srgbClr val="18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899648" y="2889504"/>
            <a:ext cx="512064" cy="274320"/>
          </a:xfrm>
          <a:prstGeom prst="rect">
            <a:avLst/>
          </a:prstGeom>
          <a:noFill/>
        </p:spPr>
        <p:txBody>
          <a:bodyPr wrap="none" lIns="27432" rIns="27432" tIns="27432" bIns="27432" anchor="t">
            <a:spAutoFit/>
          </a:bodyPr>
          <a:lstStyle/>
          <a:p>
            <a:pPr algn="ctr"/>
            <a:r>
              <a:rPr sz="1200" b="0">
                <a:solidFill>
                  <a:srgbClr val="222831"/>
                </a:solidFill>
                <a:latin typeface="Aptos"/>
              </a:rPr>
              <a:t>6</a:t>
            </a:r>
          </a:p>
        </p:txBody>
      </p:sp>
      <p:sp>
        <p:nvSpPr>
          <p:cNvPr id="23" name="TextBox 22"/>
          <p:cNvSpPr txBox="1"/>
          <p:nvPr/>
        </p:nvSpPr>
        <p:spPr>
          <a:xfrm>
            <a:off x="1005840" y="1783080"/>
            <a:ext cx="3840480" cy="365760"/>
          </a:xfrm>
          <a:prstGeom prst="rect">
            <a:avLst/>
          </a:prstGeom>
          <a:noFill/>
        </p:spPr>
        <p:txBody>
          <a:bodyPr wrap="none" lIns="27432" rIns="27432" tIns="27432" bIns="27432" anchor="t">
            <a:spAutoFit/>
          </a:bodyPr>
          <a:lstStyle/>
          <a:p>
            <a:pPr algn="ctr"/>
            <a:r>
              <a:rPr sz="1800" b="1">
                <a:solidFill>
                  <a:srgbClr val="B42D2D"/>
                </a:solidFill>
                <a:latin typeface="Aptos"/>
              </a:rPr>
              <a:t>Negative direction  ←</a:t>
            </a:r>
          </a:p>
        </p:txBody>
      </p:sp>
      <p:sp>
        <p:nvSpPr>
          <p:cNvPr id="24" name="TextBox 23"/>
          <p:cNvSpPr txBox="1"/>
          <p:nvPr/>
        </p:nvSpPr>
        <p:spPr>
          <a:xfrm>
            <a:off x="7315200" y="1783080"/>
            <a:ext cx="3840480" cy="365760"/>
          </a:xfrm>
          <a:prstGeom prst="rect">
            <a:avLst/>
          </a:prstGeom>
          <a:noFill/>
        </p:spPr>
        <p:txBody>
          <a:bodyPr wrap="none" lIns="27432" rIns="27432" tIns="27432" bIns="27432" anchor="t">
            <a:spAutoFit/>
          </a:bodyPr>
          <a:lstStyle/>
          <a:p>
            <a:pPr algn="ctr"/>
            <a:r>
              <a:rPr sz="1800" b="1">
                <a:solidFill>
                  <a:srgbClr val="268054"/>
                </a:solidFill>
                <a:latin typeface="Aptos"/>
              </a:rPr>
              <a:t>→  Positive direction</a:t>
            </a:r>
          </a:p>
        </p:txBody>
      </p:sp>
      <p:sp>
        <p:nvSpPr>
          <p:cNvPr id="25" name="Rounded Rectangle 24"/>
          <p:cNvSpPr/>
          <p:nvPr/>
        </p:nvSpPr>
        <p:spPr>
          <a:xfrm>
            <a:off x="1920240" y="4251960"/>
            <a:ext cx="8321040" cy="714248"/>
          </a:xfrm>
          <a:prstGeom prst="roundRect">
            <a:avLst/>
          </a:prstGeom>
          <a:solidFill>
            <a:srgbClr val="FFF7E0"/>
          </a:solidFill>
          <a:ln w="11430">
            <a:solidFill>
              <a:srgbClr val="BE7E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148840" y="4370832"/>
            <a:ext cx="7863840" cy="503936"/>
          </a:xfrm>
          <a:prstGeom prst="rect">
            <a:avLst/>
          </a:prstGeom>
          <a:noFill/>
        </p:spPr>
        <p:txBody>
          <a:bodyPr wrap="none" lIns="18288" rIns="18288" tIns="9144" bIns="9144" anchor="t">
            <a:spAutoFit/>
          </a:bodyPr>
          <a:lstStyle/>
          <a:p>
            <a:pPr algn="l">
              <a:lnSpc>
                <a:spcPct val="100000"/>
              </a:lnSpc>
              <a:spcBef>
                <a:spcPts val="0"/>
              </a:spcBef>
              <a:spcAft>
                <a:spcPts val="0"/>
              </a:spcAft>
            </a:pPr>
            <a:r>
              <a:rPr sz="1600" b="1">
                <a:solidFill>
                  <a:srgbClr val="BE7E00"/>
                </a:solidFill>
                <a:latin typeface="Aptos"/>
              </a:rPr>
              <a:t>Coordinate tells location relative to the selected origin—not absolute location.</a:t>
            </a:r>
          </a:p>
        </p:txBody>
      </p:sp>
      <p:sp>
        <p:nvSpPr>
          <p:cNvPr id="27" name="Rectangle 26"/>
          <p:cNvSpPr/>
          <p:nvPr/>
        </p:nvSpPr>
        <p:spPr>
          <a:xfrm>
            <a:off x="1920240" y="4251960"/>
            <a:ext cx="59436" cy="714248"/>
          </a:xfrm>
          <a:prstGeom prst="rect">
            <a:avLst/>
          </a:prstGeom>
          <a:solidFill>
            <a:srgbClr val="BE7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3840480" cy="320040"/>
          </a:xfrm>
          <a:prstGeom prst="rect">
            <a:avLst/>
          </a:prstGeom>
          <a:noFill/>
        </p:spPr>
        <p:txBody>
          <a:bodyPr wrap="none" lIns="27432" rIns="27432" tIns="27432" bIns="27432" anchor="t">
            <a:spAutoFit/>
          </a:bodyPr>
          <a:lstStyle/>
          <a:p>
            <a:pPr algn="l"/>
            <a:r>
              <a:rPr sz="1100" b="1">
                <a:solidFill>
                  <a:srgbClr val="1F62A6"/>
                </a:solidFill>
                <a:latin typeface="Aptos"/>
              </a:rPr>
              <a:t>FRAME OF REFERENCE</a:t>
            </a:r>
          </a:p>
        </p:txBody>
      </p:sp>
      <p:sp>
        <p:nvSpPr>
          <p:cNvPr id="3" name="TextBox 2"/>
          <p:cNvSpPr txBox="1"/>
          <p:nvPr/>
        </p:nvSpPr>
        <p:spPr>
          <a:xfrm>
            <a:off x="594360" y="594360"/>
            <a:ext cx="10972800" cy="658368"/>
          </a:xfrm>
          <a:prstGeom prst="rect">
            <a:avLst/>
          </a:prstGeom>
          <a:noFill/>
        </p:spPr>
        <p:txBody>
          <a:bodyPr wrap="none" lIns="27432" rIns="27432" tIns="27432" bIns="27432" anchor="t">
            <a:spAutoFit/>
          </a:bodyPr>
          <a:lstStyle/>
          <a:p>
            <a:pPr algn="l"/>
            <a:r>
              <a:rPr sz="2800" b="1">
                <a:solidFill>
                  <a:srgbClr val="18365D"/>
                </a:solidFill>
                <a:latin typeface="Aptos"/>
              </a:rPr>
              <a:t>Position depends on the chosen origin</a:t>
            </a:r>
          </a:p>
        </p:txBody>
      </p:sp>
      <p:sp>
        <p:nvSpPr>
          <p:cNvPr id="4" name="Rectangle 3"/>
          <p:cNvSpPr/>
          <p:nvPr/>
        </p:nvSpPr>
        <p:spPr>
          <a:xfrm>
            <a:off x="594360" y="1261872"/>
            <a:ext cx="10972800" cy="18288"/>
          </a:xfrm>
          <a:prstGeom prst="rect">
            <a:avLst/>
          </a:prstGeom>
          <a:solidFill>
            <a:srgbClr val="D7DD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446520"/>
            <a:ext cx="6400800" cy="201168"/>
          </a:xfrm>
          <a:prstGeom prst="rect">
            <a:avLst/>
          </a:prstGeom>
          <a:noFill/>
        </p:spPr>
        <p:txBody>
          <a:bodyPr wrap="none" lIns="27432" rIns="27432" tIns="27432" bIns="27432" anchor="t">
            <a:spAutoFit/>
          </a:bodyPr>
          <a:lstStyle/>
          <a:p>
            <a:pPr algn="l"/>
            <a:r>
              <a:rPr sz="800" b="0">
                <a:solidFill>
                  <a:srgbClr val="5F6976"/>
                </a:solidFill>
                <a:latin typeface="Aptos"/>
              </a:rPr>
              <a:t>LECTURE 05  •  MOTION IN A STRAIGHT LINE</a:t>
            </a:r>
          </a:p>
        </p:txBody>
      </p:sp>
      <p:sp>
        <p:nvSpPr>
          <p:cNvPr id="6" name="TextBox 5"/>
          <p:cNvSpPr txBox="1"/>
          <p:nvPr/>
        </p:nvSpPr>
        <p:spPr>
          <a:xfrm>
            <a:off x="10881360" y="6419088"/>
            <a:ext cx="685800" cy="228600"/>
          </a:xfrm>
          <a:prstGeom prst="rect">
            <a:avLst/>
          </a:prstGeom>
          <a:noFill/>
        </p:spPr>
        <p:txBody>
          <a:bodyPr wrap="none" lIns="27432" rIns="27432" tIns="27432" bIns="27432" anchor="t">
            <a:spAutoFit/>
          </a:bodyPr>
          <a:lstStyle/>
          <a:p>
            <a:pPr algn="r"/>
            <a:r>
              <a:rPr sz="900" b="1">
                <a:solidFill>
                  <a:srgbClr val="5F6976"/>
                </a:solidFill>
                <a:latin typeface="Aptos"/>
              </a:rPr>
              <a:t>08</a:t>
            </a:r>
          </a:p>
        </p:txBody>
      </p:sp>
      <p:sp>
        <p:nvSpPr>
          <p:cNvPr id="7" name="Rounded Rectangle 6"/>
          <p:cNvSpPr/>
          <p:nvPr/>
        </p:nvSpPr>
        <p:spPr>
          <a:xfrm>
            <a:off x="1051560" y="1783080"/>
            <a:ext cx="4572000" cy="1152649"/>
          </a:xfrm>
          <a:prstGeom prst="roundRect">
            <a:avLst/>
          </a:prstGeom>
          <a:solidFill>
            <a:srgbClr val="E7F1FC"/>
          </a:solidFill>
          <a:ln w="11430">
            <a:solidFill>
              <a:srgbClr val="1F62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80160" y="1901952"/>
            <a:ext cx="4114800" cy="299465"/>
          </a:xfrm>
          <a:prstGeom prst="rect">
            <a:avLst/>
          </a:prstGeom>
          <a:noFill/>
        </p:spPr>
        <p:txBody>
          <a:bodyPr wrap="none" lIns="18288" rIns="18288" tIns="9144" bIns="9144" anchor="t">
            <a:spAutoFit/>
          </a:bodyPr>
          <a:lstStyle/>
          <a:p>
            <a:pPr algn="l">
              <a:lnSpc>
                <a:spcPct val="100000"/>
              </a:lnSpc>
              <a:spcBef>
                <a:spcPts val="0"/>
              </a:spcBef>
              <a:spcAft>
                <a:spcPts val="0"/>
              </a:spcAft>
            </a:pPr>
            <a:r>
              <a:rPr sz="1800" b="1">
                <a:solidFill>
                  <a:srgbClr val="1F62A6"/>
                </a:solidFill>
                <a:latin typeface="Aptos"/>
              </a:rPr>
              <a:t>Observer A</a:t>
            </a:r>
          </a:p>
        </p:txBody>
      </p:sp>
      <p:sp>
        <p:nvSpPr>
          <p:cNvPr id="9" name="TextBox 8"/>
          <p:cNvSpPr txBox="1"/>
          <p:nvPr/>
        </p:nvSpPr>
        <p:spPr>
          <a:xfrm>
            <a:off x="1280160" y="2237993"/>
            <a:ext cx="4114800" cy="270255"/>
          </a:xfrm>
          <a:prstGeom prst="rect">
            <a:avLst/>
          </a:prstGeom>
          <a:noFill/>
        </p:spPr>
        <p:txBody>
          <a:bodyPr wrap="none" lIns="18288" rIns="18288" tIns="9144" bIns="9144" anchor="t">
            <a:spAutoFit/>
          </a:bodyPr>
          <a:lstStyle/>
          <a:p>
            <a:pPr algn="l">
              <a:lnSpc>
                <a:spcPct val="100000"/>
              </a:lnSpc>
              <a:spcBef>
                <a:spcPts val="0"/>
              </a:spcBef>
              <a:spcAft>
                <a:spcPts val="0"/>
              </a:spcAft>
            </a:pPr>
            <a:r>
              <a:rPr sz="1600" b="0">
                <a:solidFill>
                  <a:srgbClr val="222831"/>
                </a:solidFill>
                <a:latin typeface="Aptos"/>
              </a:rPr>
              <a:t>Origin is 2 m left of the tree</a:t>
            </a:r>
          </a:p>
        </p:txBody>
      </p:sp>
      <p:sp>
        <p:nvSpPr>
          <p:cNvPr id="10" name="TextBox 9"/>
          <p:cNvSpPr txBox="1"/>
          <p:nvPr/>
        </p:nvSpPr>
        <p:spPr>
          <a:xfrm>
            <a:off x="1280160" y="2544824"/>
            <a:ext cx="4114800" cy="299465"/>
          </a:xfrm>
          <a:prstGeom prst="rect">
            <a:avLst/>
          </a:prstGeom>
          <a:noFill/>
        </p:spPr>
        <p:txBody>
          <a:bodyPr wrap="none" lIns="18288" rIns="18288" tIns="9144" bIns="9144" anchor="t">
            <a:spAutoFit/>
          </a:bodyPr>
          <a:lstStyle/>
          <a:p>
            <a:pPr algn="l">
              <a:lnSpc>
                <a:spcPct val="100000"/>
              </a:lnSpc>
              <a:spcBef>
                <a:spcPts val="0"/>
              </a:spcBef>
              <a:spcAft>
                <a:spcPts val="0"/>
              </a:spcAft>
            </a:pPr>
            <a:r>
              <a:rPr sz="1800" b="1">
                <a:solidFill>
                  <a:srgbClr val="18365D"/>
                </a:solidFill>
                <a:latin typeface="Aptos"/>
              </a:rPr>
              <a:t>Position of tree:  x = +2 m</a:t>
            </a:r>
          </a:p>
        </p:txBody>
      </p:sp>
      <p:sp>
        <p:nvSpPr>
          <p:cNvPr id="11" name="Rounded Rectangle 10"/>
          <p:cNvSpPr/>
          <p:nvPr/>
        </p:nvSpPr>
        <p:spPr>
          <a:xfrm>
            <a:off x="6565392" y="1783080"/>
            <a:ext cx="4572000" cy="1152649"/>
          </a:xfrm>
          <a:prstGeom prst="roundRect">
            <a:avLst/>
          </a:prstGeom>
          <a:solidFill>
            <a:srgbClr val="FFF7E0"/>
          </a:solidFill>
          <a:ln w="11430">
            <a:solidFill>
              <a:srgbClr val="BE7E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93992" y="1901952"/>
            <a:ext cx="4114800" cy="299465"/>
          </a:xfrm>
          <a:prstGeom prst="rect">
            <a:avLst/>
          </a:prstGeom>
          <a:noFill/>
        </p:spPr>
        <p:txBody>
          <a:bodyPr wrap="none" lIns="18288" rIns="18288" tIns="9144" bIns="9144" anchor="t">
            <a:spAutoFit/>
          </a:bodyPr>
          <a:lstStyle/>
          <a:p>
            <a:pPr algn="l">
              <a:lnSpc>
                <a:spcPct val="100000"/>
              </a:lnSpc>
              <a:spcBef>
                <a:spcPts val="0"/>
              </a:spcBef>
              <a:spcAft>
                <a:spcPts val="0"/>
              </a:spcAft>
            </a:pPr>
            <a:r>
              <a:rPr sz="1800" b="1">
                <a:solidFill>
                  <a:srgbClr val="BE7E00"/>
                </a:solidFill>
                <a:latin typeface="Aptos"/>
              </a:rPr>
              <a:t>Observer B</a:t>
            </a:r>
          </a:p>
        </p:txBody>
      </p:sp>
      <p:sp>
        <p:nvSpPr>
          <p:cNvPr id="13" name="TextBox 12"/>
          <p:cNvSpPr txBox="1"/>
          <p:nvPr/>
        </p:nvSpPr>
        <p:spPr>
          <a:xfrm>
            <a:off x="6793992" y="2237993"/>
            <a:ext cx="4114800" cy="270255"/>
          </a:xfrm>
          <a:prstGeom prst="rect">
            <a:avLst/>
          </a:prstGeom>
          <a:noFill/>
        </p:spPr>
        <p:txBody>
          <a:bodyPr wrap="none" lIns="18288" rIns="18288" tIns="9144" bIns="9144" anchor="t">
            <a:spAutoFit/>
          </a:bodyPr>
          <a:lstStyle/>
          <a:p>
            <a:pPr algn="l">
              <a:lnSpc>
                <a:spcPct val="100000"/>
              </a:lnSpc>
              <a:spcBef>
                <a:spcPts val="0"/>
              </a:spcBef>
              <a:spcAft>
                <a:spcPts val="0"/>
              </a:spcAft>
            </a:pPr>
            <a:r>
              <a:rPr sz="1600" b="0">
                <a:solidFill>
                  <a:srgbClr val="222831"/>
                </a:solidFill>
                <a:latin typeface="Aptos"/>
              </a:rPr>
              <a:t>Origin is 5 m right of the tree</a:t>
            </a:r>
          </a:p>
        </p:txBody>
      </p:sp>
      <p:sp>
        <p:nvSpPr>
          <p:cNvPr id="14" name="TextBox 13"/>
          <p:cNvSpPr txBox="1"/>
          <p:nvPr/>
        </p:nvSpPr>
        <p:spPr>
          <a:xfrm>
            <a:off x="6793992" y="2544824"/>
            <a:ext cx="4114800" cy="299465"/>
          </a:xfrm>
          <a:prstGeom prst="rect">
            <a:avLst/>
          </a:prstGeom>
          <a:noFill/>
        </p:spPr>
        <p:txBody>
          <a:bodyPr wrap="none" lIns="18288" rIns="18288" tIns="9144" bIns="9144" anchor="t">
            <a:spAutoFit/>
          </a:bodyPr>
          <a:lstStyle/>
          <a:p>
            <a:pPr algn="l">
              <a:lnSpc>
                <a:spcPct val="100000"/>
              </a:lnSpc>
              <a:spcBef>
                <a:spcPts val="0"/>
              </a:spcBef>
              <a:spcAft>
                <a:spcPts val="0"/>
              </a:spcAft>
            </a:pPr>
            <a:r>
              <a:rPr sz="1800" b="1">
                <a:solidFill>
                  <a:srgbClr val="18365D"/>
                </a:solidFill>
                <a:latin typeface="Aptos"/>
              </a:rPr>
              <a:t>Position of tree:  x = −5 m</a:t>
            </a:r>
          </a:p>
        </p:txBody>
      </p:sp>
      <p:sp>
        <p:nvSpPr>
          <p:cNvPr id="15" name="TextBox 14"/>
          <p:cNvSpPr txBox="1"/>
          <p:nvPr/>
        </p:nvSpPr>
        <p:spPr>
          <a:xfrm>
            <a:off x="1280160" y="4389120"/>
            <a:ext cx="9601200" cy="347472"/>
          </a:xfrm>
          <a:prstGeom prst="rect">
            <a:avLst/>
          </a:prstGeom>
          <a:noFill/>
        </p:spPr>
        <p:txBody>
          <a:bodyPr wrap="none" lIns="27432" rIns="27432" tIns="27432" bIns="27432" anchor="t">
            <a:spAutoFit/>
          </a:bodyPr>
          <a:lstStyle/>
          <a:p>
            <a:pPr algn="ctr"/>
            <a:r>
              <a:rPr sz="1800" b="1">
                <a:solidFill>
                  <a:srgbClr val="007D8A"/>
                </a:solidFill>
                <a:latin typeface="Aptos"/>
              </a:rPr>
              <a:t>Different coordinates can describe the same physical location.</a:t>
            </a:r>
          </a:p>
        </p:txBody>
      </p:sp>
      <p:sp>
        <p:nvSpPr>
          <p:cNvPr id="16" name="Rectangle 15"/>
          <p:cNvSpPr/>
          <p:nvPr/>
        </p:nvSpPr>
        <p:spPr>
          <a:xfrm>
            <a:off x="1051560" y="1783080"/>
            <a:ext cx="59436" cy="1152649"/>
          </a:xfrm>
          <a:prstGeom prst="rect">
            <a:avLst/>
          </a:prstGeom>
          <a:solidFill>
            <a:srgbClr val="1F62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565392" y="1783080"/>
            <a:ext cx="59436" cy="1152649"/>
          </a:xfrm>
          <a:prstGeom prst="rect">
            <a:avLst/>
          </a:prstGeom>
          <a:solidFill>
            <a:srgbClr val="BE7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3840480" cy="320040"/>
          </a:xfrm>
          <a:prstGeom prst="rect">
            <a:avLst/>
          </a:prstGeom>
          <a:noFill/>
        </p:spPr>
        <p:txBody>
          <a:bodyPr wrap="none" lIns="27432" rIns="27432" tIns="27432" bIns="27432" anchor="t">
            <a:spAutoFit/>
          </a:bodyPr>
          <a:lstStyle/>
          <a:p>
            <a:pPr algn="l"/>
            <a:r>
              <a:rPr sz="1100" b="1">
                <a:solidFill>
                  <a:srgbClr val="1F62A6"/>
                </a:solidFill>
                <a:latin typeface="Aptos"/>
              </a:rPr>
              <a:t>DEFINITION</a:t>
            </a:r>
          </a:p>
        </p:txBody>
      </p:sp>
      <p:sp>
        <p:nvSpPr>
          <p:cNvPr id="3" name="TextBox 2"/>
          <p:cNvSpPr txBox="1"/>
          <p:nvPr/>
        </p:nvSpPr>
        <p:spPr>
          <a:xfrm>
            <a:off x="594360" y="594360"/>
            <a:ext cx="10972800" cy="658368"/>
          </a:xfrm>
          <a:prstGeom prst="rect">
            <a:avLst/>
          </a:prstGeom>
          <a:noFill/>
        </p:spPr>
        <p:txBody>
          <a:bodyPr wrap="none" lIns="27432" rIns="27432" tIns="27432" bIns="27432" anchor="t">
            <a:spAutoFit/>
          </a:bodyPr>
          <a:lstStyle/>
          <a:p>
            <a:pPr algn="l"/>
            <a:r>
              <a:rPr sz="2800" b="1">
                <a:solidFill>
                  <a:srgbClr val="18365D"/>
                </a:solidFill>
                <a:latin typeface="Aptos"/>
              </a:rPr>
              <a:t>Position</a:t>
            </a:r>
          </a:p>
        </p:txBody>
      </p:sp>
      <p:sp>
        <p:nvSpPr>
          <p:cNvPr id="4" name="Rectangle 3"/>
          <p:cNvSpPr/>
          <p:nvPr/>
        </p:nvSpPr>
        <p:spPr>
          <a:xfrm>
            <a:off x="594360" y="1261872"/>
            <a:ext cx="10972800" cy="18288"/>
          </a:xfrm>
          <a:prstGeom prst="rect">
            <a:avLst/>
          </a:prstGeom>
          <a:solidFill>
            <a:srgbClr val="D7DD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446520"/>
            <a:ext cx="6400800" cy="201168"/>
          </a:xfrm>
          <a:prstGeom prst="rect">
            <a:avLst/>
          </a:prstGeom>
          <a:noFill/>
        </p:spPr>
        <p:txBody>
          <a:bodyPr wrap="none" lIns="27432" rIns="27432" tIns="27432" bIns="27432" anchor="t">
            <a:spAutoFit/>
          </a:bodyPr>
          <a:lstStyle/>
          <a:p>
            <a:pPr algn="l"/>
            <a:r>
              <a:rPr sz="800" b="0">
                <a:solidFill>
                  <a:srgbClr val="5F6976"/>
                </a:solidFill>
                <a:latin typeface="Aptos"/>
              </a:rPr>
              <a:t>LECTURE 05  •  MOTION IN A STRAIGHT LINE</a:t>
            </a:r>
          </a:p>
        </p:txBody>
      </p:sp>
      <p:sp>
        <p:nvSpPr>
          <p:cNvPr id="6" name="TextBox 5"/>
          <p:cNvSpPr txBox="1"/>
          <p:nvPr/>
        </p:nvSpPr>
        <p:spPr>
          <a:xfrm>
            <a:off x="10881360" y="6419088"/>
            <a:ext cx="685800" cy="228600"/>
          </a:xfrm>
          <a:prstGeom prst="rect">
            <a:avLst/>
          </a:prstGeom>
          <a:noFill/>
        </p:spPr>
        <p:txBody>
          <a:bodyPr wrap="none" lIns="27432" rIns="27432" tIns="27432" bIns="27432" anchor="t">
            <a:spAutoFit/>
          </a:bodyPr>
          <a:lstStyle/>
          <a:p>
            <a:pPr algn="r"/>
            <a:r>
              <a:rPr sz="900" b="1">
                <a:solidFill>
                  <a:srgbClr val="5F6976"/>
                </a:solidFill>
                <a:latin typeface="Aptos"/>
              </a:rPr>
              <a:t>09</a:t>
            </a:r>
          </a:p>
        </p:txBody>
      </p:sp>
      <p:sp>
        <p:nvSpPr>
          <p:cNvPr id="7" name="Rectangle 6"/>
          <p:cNvSpPr/>
          <p:nvPr/>
        </p:nvSpPr>
        <p:spPr>
          <a:xfrm>
            <a:off x="868680" y="1572768"/>
            <a:ext cx="64008" cy="658368"/>
          </a:xfrm>
          <a:prstGeom prst="rect">
            <a:avLst/>
          </a:prstGeom>
          <a:solidFill>
            <a:srgbClr val="1F62A6"/>
          </a:solidFill>
          <a:ln w="15240">
            <a:solidFill>
              <a:srgbClr val="1F62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43000" y="1609344"/>
            <a:ext cx="9784080" cy="310896"/>
          </a:xfrm>
          <a:prstGeom prst="rect">
            <a:avLst/>
          </a:prstGeom>
          <a:noFill/>
        </p:spPr>
        <p:txBody>
          <a:bodyPr wrap="none" lIns="27432" rIns="27432" tIns="27432" bIns="27432" anchor="t">
            <a:spAutoFit/>
          </a:bodyPr>
          <a:lstStyle/>
          <a:p>
            <a:pPr algn="l"/>
            <a:r>
              <a:rPr sz="1800" b="1">
                <a:solidFill>
                  <a:srgbClr val="222831"/>
                </a:solidFill>
                <a:latin typeface="Aptos"/>
              </a:rPr>
              <a:t>Position specifies where an object is located relative to the chosen origin.</a:t>
            </a:r>
          </a:p>
        </p:txBody>
      </p:sp>
      <p:sp>
        <p:nvSpPr>
          <p:cNvPr id="9" name="TextBox 8"/>
          <p:cNvSpPr txBox="1"/>
          <p:nvPr/>
        </p:nvSpPr>
        <p:spPr>
          <a:xfrm>
            <a:off x="1143000" y="1975104"/>
            <a:ext cx="9784080" cy="256032"/>
          </a:xfrm>
          <a:prstGeom prst="rect">
            <a:avLst/>
          </a:prstGeom>
          <a:noFill/>
        </p:spPr>
        <p:txBody>
          <a:bodyPr wrap="none" lIns="27432" rIns="27432" tIns="27432" bIns="27432" anchor="t">
            <a:spAutoFit/>
          </a:bodyPr>
          <a:lstStyle/>
          <a:p>
            <a:pPr algn="l"/>
            <a:r>
              <a:rPr sz="1500" b="0">
                <a:solidFill>
                  <a:srgbClr val="5F6976"/>
                </a:solidFill>
                <a:latin typeface="Aptos"/>
              </a:rPr>
              <a:t>In one-dimensional motion, position is represented by the coordinate x.</a:t>
            </a:r>
          </a:p>
        </p:txBody>
      </p:sp>
      <p:sp>
        <p:nvSpPr>
          <p:cNvPr id="10" name="Rectangle 9"/>
          <p:cNvSpPr/>
          <p:nvPr/>
        </p:nvSpPr>
        <p:spPr>
          <a:xfrm>
            <a:off x="1051560" y="3063240"/>
            <a:ext cx="9966960" cy="32004"/>
          </a:xfrm>
          <a:prstGeom prst="rect">
            <a:avLst/>
          </a:prstGeom>
          <a:solidFill>
            <a:srgbClr val="18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40587" y="2953512"/>
            <a:ext cx="21945" cy="246888"/>
          </a:xfrm>
          <a:prstGeom prst="rect">
            <a:avLst/>
          </a:prstGeom>
          <a:solidFill>
            <a:srgbClr val="18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5527" y="3209544"/>
            <a:ext cx="512064" cy="274320"/>
          </a:xfrm>
          <a:prstGeom prst="rect">
            <a:avLst/>
          </a:prstGeom>
          <a:noFill/>
        </p:spPr>
        <p:txBody>
          <a:bodyPr wrap="none" lIns="27432" rIns="27432" tIns="27432" bIns="27432" anchor="t">
            <a:spAutoFit/>
          </a:bodyPr>
          <a:lstStyle/>
          <a:p>
            <a:pPr algn="ctr"/>
            <a:r>
              <a:rPr sz="1200" b="0">
                <a:solidFill>
                  <a:srgbClr val="222831"/>
                </a:solidFill>
                <a:latin typeface="Aptos"/>
              </a:rPr>
              <a:t>-6</a:t>
            </a:r>
          </a:p>
        </p:txBody>
      </p:sp>
      <p:sp>
        <p:nvSpPr>
          <p:cNvPr id="13" name="Rectangle 12"/>
          <p:cNvSpPr/>
          <p:nvPr/>
        </p:nvSpPr>
        <p:spPr>
          <a:xfrm>
            <a:off x="2701747" y="2953512"/>
            <a:ext cx="21945" cy="246888"/>
          </a:xfrm>
          <a:prstGeom prst="rect">
            <a:avLst/>
          </a:prstGeom>
          <a:solidFill>
            <a:srgbClr val="18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456688" y="3209544"/>
            <a:ext cx="512064" cy="274320"/>
          </a:xfrm>
          <a:prstGeom prst="rect">
            <a:avLst/>
          </a:prstGeom>
          <a:noFill/>
        </p:spPr>
        <p:txBody>
          <a:bodyPr wrap="none" lIns="27432" rIns="27432" tIns="27432" bIns="27432" anchor="t">
            <a:spAutoFit/>
          </a:bodyPr>
          <a:lstStyle/>
          <a:p>
            <a:pPr algn="ctr"/>
            <a:r>
              <a:rPr sz="1200" b="0">
                <a:solidFill>
                  <a:srgbClr val="222831"/>
                </a:solidFill>
                <a:latin typeface="Aptos"/>
              </a:rPr>
              <a:t>-4</a:t>
            </a:r>
          </a:p>
        </p:txBody>
      </p:sp>
      <p:sp>
        <p:nvSpPr>
          <p:cNvPr id="15" name="TextBox 14"/>
          <p:cNvSpPr txBox="1"/>
          <p:nvPr/>
        </p:nvSpPr>
        <p:spPr>
          <a:xfrm>
            <a:off x="2164080" y="2496312"/>
            <a:ext cx="1097280" cy="320040"/>
          </a:xfrm>
          <a:prstGeom prst="rect">
            <a:avLst/>
          </a:prstGeom>
          <a:noFill/>
        </p:spPr>
        <p:txBody>
          <a:bodyPr wrap="none" lIns="27432" rIns="27432" tIns="27432" bIns="27432" anchor="t">
            <a:spAutoFit/>
          </a:bodyPr>
          <a:lstStyle/>
          <a:p>
            <a:pPr algn="ctr"/>
            <a:r>
              <a:rPr sz="1300" b="1">
                <a:solidFill>
                  <a:srgbClr val="222831"/>
                </a:solidFill>
                <a:latin typeface="Aptos"/>
              </a:rPr>
              <a:t>A</a:t>
            </a:r>
          </a:p>
        </p:txBody>
      </p:sp>
      <p:sp>
        <p:nvSpPr>
          <p:cNvPr id="16" name="Rectangle 15"/>
          <p:cNvSpPr/>
          <p:nvPr/>
        </p:nvSpPr>
        <p:spPr>
          <a:xfrm>
            <a:off x="4362907" y="2953512"/>
            <a:ext cx="21945" cy="246888"/>
          </a:xfrm>
          <a:prstGeom prst="rect">
            <a:avLst/>
          </a:prstGeom>
          <a:solidFill>
            <a:srgbClr val="18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117847" y="3209544"/>
            <a:ext cx="512064" cy="274320"/>
          </a:xfrm>
          <a:prstGeom prst="rect">
            <a:avLst/>
          </a:prstGeom>
          <a:noFill/>
        </p:spPr>
        <p:txBody>
          <a:bodyPr wrap="none" lIns="27432" rIns="27432" tIns="27432" bIns="27432" anchor="t">
            <a:spAutoFit/>
          </a:bodyPr>
          <a:lstStyle/>
          <a:p>
            <a:pPr algn="ctr"/>
            <a:r>
              <a:rPr sz="1200" b="0">
                <a:solidFill>
                  <a:srgbClr val="222831"/>
                </a:solidFill>
                <a:latin typeface="Aptos"/>
              </a:rPr>
              <a:t>-2</a:t>
            </a:r>
          </a:p>
        </p:txBody>
      </p:sp>
      <p:sp>
        <p:nvSpPr>
          <p:cNvPr id="18" name="Rectangle 17"/>
          <p:cNvSpPr/>
          <p:nvPr/>
        </p:nvSpPr>
        <p:spPr>
          <a:xfrm>
            <a:off x="6024067" y="2953512"/>
            <a:ext cx="21945" cy="246888"/>
          </a:xfrm>
          <a:prstGeom prst="rect">
            <a:avLst/>
          </a:prstGeom>
          <a:solidFill>
            <a:srgbClr val="18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779007" y="3209544"/>
            <a:ext cx="512064" cy="274320"/>
          </a:xfrm>
          <a:prstGeom prst="rect">
            <a:avLst/>
          </a:prstGeom>
          <a:noFill/>
        </p:spPr>
        <p:txBody>
          <a:bodyPr wrap="none" lIns="27432" rIns="27432" tIns="27432" bIns="27432" anchor="t">
            <a:spAutoFit/>
          </a:bodyPr>
          <a:lstStyle/>
          <a:p>
            <a:pPr algn="ctr"/>
            <a:r>
              <a:rPr sz="1200" b="0">
                <a:solidFill>
                  <a:srgbClr val="222831"/>
                </a:solidFill>
                <a:latin typeface="Aptos"/>
              </a:rPr>
              <a:t>0</a:t>
            </a:r>
          </a:p>
        </p:txBody>
      </p:sp>
      <p:sp>
        <p:nvSpPr>
          <p:cNvPr id="20" name="TextBox 19"/>
          <p:cNvSpPr txBox="1"/>
          <p:nvPr/>
        </p:nvSpPr>
        <p:spPr>
          <a:xfrm>
            <a:off x="5486400" y="2496312"/>
            <a:ext cx="1097280" cy="320040"/>
          </a:xfrm>
          <a:prstGeom prst="rect">
            <a:avLst/>
          </a:prstGeom>
          <a:noFill/>
        </p:spPr>
        <p:txBody>
          <a:bodyPr wrap="none" lIns="27432" rIns="27432" tIns="27432" bIns="27432" anchor="t">
            <a:spAutoFit/>
          </a:bodyPr>
          <a:lstStyle/>
          <a:p>
            <a:pPr algn="ctr"/>
            <a:r>
              <a:rPr sz="1300" b="1">
                <a:solidFill>
                  <a:srgbClr val="222831"/>
                </a:solidFill>
                <a:latin typeface="Aptos"/>
              </a:rPr>
              <a:t>Origin O</a:t>
            </a:r>
          </a:p>
        </p:txBody>
      </p:sp>
      <p:sp>
        <p:nvSpPr>
          <p:cNvPr id="21" name="Rectangle 20"/>
          <p:cNvSpPr/>
          <p:nvPr/>
        </p:nvSpPr>
        <p:spPr>
          <a:xfrm>
            <a:off x="7685227" y="2953512"/>
            <a:ext cx="21945" cy="246888"/>
          </a:xfrm>
          <a:prstGeom prst="rect">
            <a:avLst/>
          </a:prstGeom>
          <a:solidFill>
            <a:srgbClr val="18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40168" y="3209544"/>
            <a:ext cx="512064" cy="274320"/>
          </a:xfrm>
          <a:prstGeom prst="rect">
            <a:avLst/>
          </a:prstGeom>
          <a:noFill/>
        </p:spPr>
        <p:txBody>
          <a:bodyPr wrap="none" lIns="27432" rIns="27432" tIns="27432" bIns="27432" anchor="t">
            <a:spAutoFit/>
          </a:bodyPr>
          <a:lstStyle/>
          <a:p>
            <a:pPr algn="ctr"/>
            <a:r>
              <a:rPr sz="1200" b="0">
                <a:solidFill>
                  <a:srgbClr val="222831"/>
                </a:solidFill>
                <a:latin typeface="Aptos"/>
              </a:rPr>
              <a:t>2</a:t>
            </a:r>
          </a:p>
        </p:txBody>
      </p:sp>
      <p:sp>
        <p:nvSpPr>
          <p:cNvPr id="23" name="Rectangle 22"/>
          <p:cNvSpPr/>
          <p:nvPr/>
        </p:nvSpPr>
        <p:spPr>
          <a:xfrm>
            <a:off x="8515807" y="2953512"/>
            <a:ext cx="21945" cy="246888"/>
          </a:xfrm>
          <a:prstGeom prst="rect">
            <a:avLst/>
          </a:prstGeom>
          <a:solidFill>
            <a:srgbClr val="18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70748" y="3209544"/>
            <a:ext cx="512064" cy="274320"/>
          </a:xfrm>
          <a:prstGeom prst="rect">
            <a:avLst/>
          </a:prstGeom>
          <a:noFill/>
        </p:spPr>
        <p:txBody>
          <a:bodyPr wrap="none" lIns="27432" rIns="27432" tIns="27432" bIns="27432" anchor="t">
            <a:spAutoFit/>
          </a:bodyPr>
          <a:lstStyle/>
          <a:p>
            <a:pPr algn="ctr"/>
            <a:r>
              <a:rPr sz="1200" b="0">
                <a:solidFill>
                  <a:srgbClr val="222831"/>
                </a:solidFill>
                <a:latin typeface="Aptos"/>
              </a:rPr>
              <a:t>3</a:t>
            </a:r>
          </a:p>
        </p:txBody>
      </p:sp>
      <p:sp>
        <p:nvSpPr>
          <p:cNvPr id="25" name="TextBox 24"/>
          <p:cNvSpPr txBox="1"/>
          <p:nvPr/>
        </p:nvSpPr>
        <p:spPr>
          <a:xfrm>
            <a:off x="7978140" y="2496312"/>
            <a:ext cx="1097280" cy="320040"/>
          </a:xfrm>
          <a:prstGeom prst="rect">
            <a:avLst/>
          </a:prstGeom>
          <a:noFill/>
        </p:spPr>
        <p:txBody>
          <a:bodyPr wrap="none" lIns="27432" rIns="27432" tIns="27432" bIns="27432" anchor="t">
            <a:spAutoFit/>
          </a:bodyPr>
          <a:lstStyle/>
          <a:p>
            <a:pPr algn="ctr"/>
            <a:r>
              <a:rPr sz="1300" b="1">
                <a:solidFill>
                  <a:srgbClr val="222831"/>
                </a:solidFill>
                <a:latin typeface="Aptos"/>
              </a:rPr>
              <a:t>B</a:t>
            </a:r>
          </a:p>
        </p:txBody>
      </p:sp>
      <p:sp>
        <p:nvSpPr>
          <p:cNvPr id="26" name="Rectangle 25"/>
          <p:cNvSpPr/>
          <p:nvPr/>
        </p:nvSpPr>
        <p:spPr>
          <a:xfrm>
            <a:off x="9346387" y="2953512"/>
            <a:ext cx="21945" cy="246888"/>
          </a:xfrm>
          <a:prstGeom prst="rect">
            <a:avLst/>
          </a:prstGeom>
          <a:solidFill>
            <a:srgbClr val="18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01328" y="3209544"/>
            <a:ext cx="512064" cy="274320"/>
          </a:xfrm>
          <a:prstGeom prst="rect">
            <a:avLst/>
          </a:prstGeom>
          <a:noFill/>
        </p:spPr>
        <p:txBody>
          <a:bodyPr wrap="none" lIns="27432" rIns="27432" tIns="27432" bIns="27432" anchor="t">
            <a:spAutoFit/>
          </a:bodyPr>
          <a:lstStyle/>
          <a:p>
            <a:pPr algn="ctr"/>
            <a:r>
              <a:rPr sz="1200" b="0">
                <a:solidFill>
                  <a:srgbClr val="222831"/>
                </a:solidFill>
                <a:latin typeface="Aptos"/>
              </a:rPr>
              <a:t>4</a:t>
            </a:r>
          </a:p>
        </p:txBody>
      </p:sp>
      <p:sp>
        <p:nvSpPr>
          <p:cNvPr id="28" name="Rectangle 27"/>
          <p:cNvSpPr/>
          <p:nvPr/>
        </p:nvSpPr>
        <p:spPr>
          <a:xfrm>
            <a:off x="11007547" y="2953512"/>
            <a:ext cx="21945" cy="246888"/>
          </a:xfrm>
          <a:prstGeom prst="rect">
            <a:avLst/>
          </a:prstGeom>
          <a:solidFill>
            <a:srgbClr val="18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762488" y="3209544"/>
            <a:ext cx="512064" cy="274320"/>
          </a:xfrm>
          <a:prstGeom prst="rect">
            <a:avLst/>
          </a:prstGeom>
          <a:noFill/>
        </p:spPr>
        <p:txBody>
          <a:bodyPr wrap="none" lIns="27432" rIns="27432" tIns="27432" bIns="27432" anchor="t">
            <a:spAutoFit/>
          </a:bodyPr>
          <a:lstStyle/>
          <a:p>
            <a:pPr algn="ctr"/>
            <a:r>
              <a:rPr sz="1200" b="0">
                <a:solidFill>
                  <a:srgbClr val="222831"/>
                </a:solidFill>
                <a:latin typeface="Aptos"/>
              </a:rPr>
              <a:t>6</a:t>
            </a:r>
          </a:p>
        </p:txBody>
      </p:sp>
      <p:sp>
        <p:nvSpPr>
          <p:cNvPr id="30" name="TextBox 29"/>
          <p:cNvSpPr txBox="1"/>
          <p:nvPr/>
        </p:nvSpPr>
        <p:spPr>
          <a:xfrm>
            <a:off x="1143000" y="4041648"/>
            <a:ext cx="2377440" cy="274320"/>
          </a:xfrm>
          <a:prstGeom prst="rect">
            <a:avLst/>
          </a:prstGeom>
          <a:noFill/>
        </p:spPr>
        <p:txBody>
          <a:bodyPr wrap="none" lIns="27432" rIns="27432" tIns="27432" bIns="27432" anchor="t">
            <a:spAutoFit/>
          </a:bodyPr>
          <a:lstStyle/>
          <a:p>
            <a:pPr algn="l"/>
            <a:r>
              <a:rPr sz="1500" b="1">
                <a:solidFill>
                  <a:srgbClr val="1F62A6"/>
                </a:solidFill>
                <a:latin typeface="Aptos"/>
              </a:rPr>
              <a:t>A:  x = −4 m</a:t>
            </a:r>
          </a:p>
        </p:txBody>
      </p:sp>
      <p:sp>
        <p:nvSpPr>
          <p:cNvPr id="31" name="TextBox 30"/>
          <p:cNvSpPr txBox="1"/>
          <p:nvPr/>
        </p:nvSpPr>
        <p:spPr>
          <a:xfrm>
            <a:off x="3749039" y="4041648"/>
            <a:ext cx="2377440" cy="274320"/>
          </a:xfrm>
          <a:prstGeom prst="rect">
            <a:avLst/>
          </a:prstGeom>
          <a:noFill/>
        </p:spPr>
        <p:txBody>
          <a:bodyPr wrap="none" lIns="27432" rIns="27432" tIns="27432" bIns="27432" anchor="t">
            <a:spAutoFit/>
          </a:bodyPr>
          <a:lstStyle/>
          <a:p>
            <a:pPr algn="l"/>
            <a:r>
              <a:rPr sz="1500" b="1">
                <a:solidFill>
                  <a:srgbClr val="268054"/>
                </a:solidFill>
                <a:latin typeface="Aptos"/>
              </a:rPr>
              <a:t>B:  x = +3 m</a:t>
            </a:r>
          </a:p>
        </p:txBody>
      </p:sp>
      <p:sp>
        <p:nvSpPr>
          <p:cNvPr id="32" name="TextBox 31"/>
          <p:cNvSpPr txBox="1"/>
          <p:nvPr/>
        </p:nvSpPr>
        <p:spPr>
          <a:xfrm>
            <a:off x="6400800" y="4041648"/>
            <a:ext cx="4389120" cy="274320"/>
          </a:xfrm>
          <a:prstGeom prst="rect">
            <a:avLst/>
          </a:prstGeom>
          <a:noFill/>
        </p:spPr>
        <p:txBody>
          <a:bodyPr wrap="none" lIns="27432" rIns="27432" tIns="27432" bIns="27432" anchor="t">
            <a:spAutoFit/>
          </a:bodyPr>
          <a:lstStyle/>
          <a:p>
            <a:pPr algn="l"/>
            <a:r>
              <a:rPr sz="1400" b="1">
                <a:solidFill>
                  <a:srgbClr val="5F6976"/>
                </a:solidFill>
                <a:latin typeface="Aptos"/>
              </a:rPr>
              <a:t>SI unit: metre (m)    •    Dimension: [L]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3840480" cy="320040"/>
          </a:xfrm>
          <a:prstGeom prst="rect">
            <a:avLst/>
          </a:prstGeom>
          <a:noFill/>
        </p:spPr>
        <p:txBody>
          <a:bodyPr wrap="none" lIns="27432" rIns="27432" tIns="27432" bIns="27432" anchor="t">
            <a:spAutoFit/>
          </a:bodyPr>
          <a:lstStyle/>
          <a:p>
            <a:pPr algn="l"/>
            <a:r>
              <a:rPr sz="1100" b="1">
                <a:solidFill>
                  <a:srgbClr val="1F62A6"/>
                </a:solidFill>
                <a:latin typeface="Aptos"/>
              </a:rPr>
              <a:t>GUIDED EXAMPLES</a:t>
            </a:r>
          </a:p>
        </p:txBody>
      </p:sp>
      <p:sp>
        <p:nvSpPr>
          <p:cNvPr id="3" name="TextBox 2"/>
          <p:cNvSpPr txBox="1"/>
          <p:nvPr/>
        </p:nvSpPr>
        <p:spPr>
          <a:xfrm>
            <a:off x="594360" y="594360"/>
            <a:ext cx="10972800" cy="658368"/>
          </a:xfrm>
          <a:prstGeom prst="rect">
            <a:avLst/>
          </a:prstGeom>
          <a:noFill/>
        </p:spPr>
        <p:txBody>
          <a:bodyPr wrap="none" lIns="27432" rIns="27432" tIns="27432" bIns="27432" anchor="t">
            <a:spAutoFit/>
          </a:bodyPr>
          <a:lstStyle/>
          <a:p>
            <a:pPr algn="l"/>
            <a:r>
              <a:rPr sz="2800" b="1">
                <a:solidFill>
                  <a:srgbClr val="18365D"/>
                </a:solidFill>
                <a:latin typeface="Aptos"/>
              </a:rPr>
              <a:t>Reading position on a number line</a:t>
            </a:r>
          </a:p>
        </p:txBody>
      </p:sp>
      <p:sp>
        <p:nvSpPr>
          <p:cNvPr id="4" name="Rectangle 3"/>
          <p:cNvSpPr/>
          <p:nvPr/>
        </p:nvSpPr>
        <p:spPr>
          <a:xfrm>
            <a:off x="594360" y="1261872"/>
            <a:ext cx="10972800" cy="18288"/>
          </a:xfrm>
          <a:prstGeom prst="rect">
            <a:avLst/>
          </a:prstGeom>
          <a:solidFill>
            <a:srgbClr val="D7DD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446520"/>
            <a:ext cx="6400800" cy="201168"/>
          </a:xfrm>
          <a:prstGeom prst="rect">
            <a:avLst/>
          </a:prstGeom>
          <a:noFill/>
        </p:spPr>
        <p:txBody>
          <a:bodyPr wrap="none" lIns="27432" rIns="27432" tIns="27432" bIns="27432" anchor="t">
            <a:spAutoFit/>
          </a:bodyPr>
          <a:lstStyle/>
          <a:p>
            <a:pPr algn="l"/>
            <a:r>
              <a:rPr sz="800" b="0">
                <a:solidFill>
                  <a:srgbClr val="5F6976"/>
                </a:solidFill>
                <a:latin typeface="Aptos"/>
              </a:rPr>
              <a:t>LECTURE 05  •  MOTION IN A STRAIGHT LINE</a:t>
            </a:r>
          </a:p>
        </p:txBody>
      </p:sp>
      <p:sp>
        <p:nvSpPr>
          <p:cNvPr id="6" name="TextBox 5"/>
          <p:cNvSpPr txBox="1"/>
          <p:nvPr/>
        </p:nvSpPr>
        <p:spPr>
          <a:xfrm>
            <a:off x="10881360" y="6419088"/>
            <a:ext cx="685800" cy="228600"/>
          </a:xfrm>
          <a:prstGeom prst="rect">
            <a:avLst/>
          </a:prstGeom>
          <a:noFill/>
        </p:spPr>
        <p:txBody>
          <a:bodyPr wrap="none" lIns="27432" rIns="27432" tIns="27432" bIns="27432" anchor="t">
            <a:spAutoFit/>
          </a:bodyPr>
          <a:lstStyle/>
          <a:p>
            <a:pPr algn="r"/>
            <a:r>
              <a:rPr sz="900" b="1">
                <a:solidFill>
                  <a:srgbClr val="5F6976"/>
                </a:solidFill>
                <a:latin typeface="Aptos"/>
              </a:rPr>
              <a:t>10</a:t>
            </a:r>
          </a:p>
        </p:txBody>
      </p:sp>
      <p:sp>
        <p:nvSpPr>
          <p:cNvPr id="7" name="Rectangle 6"/>
          <p:cNvSpPr/>
          <p:nvPr/>
        </p:nvSpPr>
        <p:spPr>
          <a:xfrm>
            <a:off x="1005840" y="2560320"/>
            <a:ext cx="10149840" cy="32004"/>
          </a:xfrm>
          <a:prstGeom prst="rect">
            <a:avLst/>
          </a:prstGeom>
          <a:solidFill>
            <a:srgbClr val="18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94867" y="2450591"/>
            <a:ext cx="21945" cy="246888"/>
          </a:xfrm>
          <a:prstGeom prst="rect">
            <a:avLst/>
          </a:prstGeom>
          <a:solidFill>
            <a:srgbClr val="18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706624"/>
            <a:ext cx="512064" cy="274320"/>
          </a:xfrm>
          <a:prstGeom prst="rect">
            <a:avLst/>
          </a:prstGeom>
          <a:noFill/>
        </p:spPr>
        <p:txBody>
          <a:bodyPr wrap="none" lIns="27432" rIns="27432" tIns="27432" bIns="27432" anchor="t">
            <a:spAutoFit/>
          </a:bodyPr>
          <a:lstStyle/>
          <a:p>
            <a:pPr algn="ctr"/>
            <a:r>
              <a:rPr sz="1200" b="0">
                <a:solidFill>
                  <a:srgbClr val="222831"/>
                </a:solidFill>
                <a:latin typeface="Aptos"/>
              </a:rPr>
              <a:t>-6</a:t>
            </a:r>
          </a:p>
        </p:txBody>
      </p:sp>
      <p:sp>
        <p:nvSpPr>
          <p:cNvPr id="10" name="Rectangle 9"/>
          <p:cNvSpPr/>
          <p:nvPr/>
        </p:nvSpPr>
        <p:spPr>
          <a:xfrm>
            <a:off x="2686507" y="2450591"/>
            <a:ext cx="21945" cy="246888"/>
          </a:xfrm>
          <a:prstGeom prst="rect">
            <a:avLst/>
          </a:prstGeom>
          <a:solidFill>
            <a:srgbClr val="18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441448" y="2706624"/>
            <a:ext cx="512064" cy="274320"/>
          </a:xfrm>
          <a:prstGeom prst="rect">
            <a:avLst/>
          </a:prstGeom>
          <a:noFill/>
        </p:spPr>
        <p:txBody>
          <a:bodyPr wrap="none" lIns="27432" rIns="27432" tIns="27432" bIns="27432" anchor="t">
            <a:spAutoFit/>
          </a:bodyPr>
          <a:lstStyle/>
          <a:p>
            <a:pPr algn="ctr"/>
            <a:r>
              <a:rPr sz="1200" b="0">
                <a:solidFill>
                  <a:srgbClr val="222831"/>
                </a:solidFill>
                <a:latin typeface="Aptos"/>
              </a:rPr>
              <a:t>-4</a:t>
            </a:r>
          </a:p>
        </p:txBody>
      </p:sp>
      <p:sp>
        <p:nvSpPr>
          <p:cNvPr id="12" name="TextBox 11"/>
          <p:cNvSpPr txBox="1"/>
          <p:nvPr/>
        </p:nvSpPr>
        <p:spPr>
          <a:xfrm>
            <a:off x="2148840" y="1993391"/>
            <a:ext cx="1097280" cy="320040"/>
          </a:xfrm>
          <a:prstGeom prst="rect">
            <a:avLst/>
          </a:prstGeom>
          <a:noFill/>
        </p:spPr>
        <p:txBody>
          <a:bodyPr wrap="none" lIns="27432" rIns="27432" tIns="27432" bIns="27432" anchor="t">
            <a:spAutoFit/>
          </a:bodyPr>
          <a:lstStyle/>
          <a:p>
            <a:pPr algn="ctr"/>
            <a:r>
              <a:rPr sz="1300" b="1">
                <a:solidFill>
                  <a:srgbClr val="222831"/>
                </a:solidFill>
                <a:latin typeface="Aptos"/>
              </a:rPr>
              <a:t>A</a:t>
            </a:r>
          </a:p>
        </p:txBody>
      </p:sp>
      <p:sp>
        <p:nvSpPr>
          <p:cNvPr id="13" name="Rectangle 12"/>
          <p:cNvSpPr/>
          <p:nvPr/>
        </p:nvSpPr>
        <p:spPr>
          <a:xfrm>
            <a:off x="4378147" y="2450591"/>
            <a:ext cx="21945" cy="246888"/>
          </a:xfrm>
          <a:prstGeom prst="rect">
            <a:avLst/>
          </a:prstGeom>
          <a:solidFill>
            <a:srgbClr val="18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33087" y="2706624"/>
            <a:ext cx="512064" cy="274320"/>
          </a:xfrm>
          <a:prstGeom prst="rect">
            <a:avLst/>
          </a:prstGeom>
          <a:noFill/>
        </p:spPr>
        <p:txBody>
          <a:bodyPr wrap="none" lIns="27432" rIns="27432" tIns="27432" bIns="27432" anchor="t">
            <a:spAutoFit/>
          </a:bodyPr>
          <a:lstStyle/>
          <a:p>
            <a:pPr algn="ctr"/>
            <a:r>
              <a:rPr sz="1200" b="0">
                <a:solidFill>
                  <a:srgbClr val="222831"/>
                </a:solidFill>
                <a:latin typeface="Aptos"/>
              </a:rPr>
              <a:t>-2</a:t>
            </a:r>
          </a:p>
        </p:txBody>
      </p:sp>
      <p:sp>
        <p:nvSpPr>
          <p:cNvPr id="15" name="Rectangle 14"/>
          <p:cNvSpPr/>
          <p:nvPr/>
        </p:nvSpPr>
        <p:spPr>
          <a:xfrm>
            <a:off x="6069787" y="2450591"/>
            <a:ext cx="21945" cy="246888"/>
          </a:xfrm>
          <a:prstGeom prst="rect">
            <a:avLst/>
          </a:prstGeom>
          <a:solidFill>
            <a:srgbClr val="18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824728" y="2706624"/>
            <a:ext cx="512064" cy="274320"/>
          </a:xfrm>
          <a:prstGeom prst="rect">
            <a:avLst/>
          </a:prstGeom>
          <a:noFill/>
        </p:spPr>
        <p:txBody>
          <a:bodyPr wrap="none" lIns="27432" rIns="27432" tIns="27432" bIns="27432" anchor="t">
            <a:spAutoFit/>
          </a:bodyPr>
          <a:lstStyle/>
          <a:p>
            <a:pPr algn="ctr"/>
            <a:r>
              <a:rPr sz="1200" b="0">
                <a:solidFill>
                  <a:srgbClr val="222831"/>
                </a:solidFill>
                <a:latin typeface="Aptos"/>
              </a:rPr>
              <a:t>0</a:t>
            </a:r>
          </a:p>
        </p:txBody>
      </p:sp>
      <p:sp>
        <p:nvSpPr>
          <p:cNvPr id="17" name="TextBox 16"/>
          <p:cNvSpPr txBox="1"/>
          <p:nvPr/>
        </p:nvSpPr>
        <p:spPr>
          <a:xfrm>
            <a:off x="5532120" y="1993391"/>
            <a:ext cx="1097280" cy="320040"/>
          </a:xfrm>
          <a:prstGeom prst="rect">
            <a:avLst/>
          </a:prstGeom>
          <a:noFill/>
        </p:spPr>
        <p:txBody>
          <a:bodyPr wrap="none" lIns="27432" rIns="27432" tIns="27432" bIns="27432" anchor="t">
            <a:spAutoFit/>
          </a:bodyPr>
          <a:lstStyle/>
          <a:p>
            <a:pPr algn="ctr"/>
            <a:r>
              <a:rPr sz="1300" b="1">
                <a:solidFill>
                  <a:srgbClr val="222831"/>
                </a:solidFill>
                <a:latin typeface="Aptos"/>
              </a:rPr>
              <a:t>O</a:t>
            </a:r>
          </a:p>
        </p:txBody>
      </p:sp>
      <p:sp>
        <p:nvSpPr>
          <p:cNvPr id="18" name="Rectangle 17"/>
          <p:cNvSpPr/>
          <p:nvPr/>
        </p:nvSpPr>
        <p:spPr>
          <a:xfrm>
            <a:off x="7761427" y="2450591"/>
            <a:ext cx="21945" cy="246888"/>
          </a:xfrm>
          <a:prstGeom prst="rect">
            <a:avLst/>
          </a:prstGeom>
          <a:solidFill>
            <a:srgbClr val="18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16368" y="2706624"/>
            <a:ext cx="512064" cy="274320"/>
          </a:xfrm>
          <a:prstGeom prst="rect">
            <a:avLst/>
          </a:prstGeom>
          <a:noFill/>
        </p:spPr>
        <p:txBody>
          <a:bodyPr wrap="none" lIns="27432" rIns="27432" tIns="27432" bIns="27432" anchor="t">
            <a:spAutoFit/>
          </a:bodyPr>
          <a:lstStyle/>
          <a:p>
            <a:pPr algn="ctr"/>
            <a:r>
              <a:rPr sz="1200" b="0">
                <a:solidFill>
                  <a:srgbClr val="222831"/>
                </a:solidFill>
                <a:latin typeface="Aptos"/>
              </a:rPr>
              <a:t>2</a:t>
            </a:r>
          </a:p>
        </p:txBody>
      </p:sp>
      <p:sp>
        <p:nvSpPr>
          <p:cNvPr id="20" name="TextBox 19"/>
          <p:cNvSpPr txBox="1"/>
          <p:nvPr/>
        </p:nvSpPr>
        <p:spPr>
          <a:xfrm>
            <a:off x="7223760" y="1993391"/>
            <a:ext cx="1097280" cy="320040"/>
          </a:xfrm>
          <a:prstGeom prst="rect">
            <a:avLst/>
          </a:prstGeom>
          <a:noFill/>
        </p:spPr>
        <p:txBody>
          <a:bodyPr wrap="none" lIns="27432" rIns="27432" tIns="27432" bIns="27432" anchor="t">
            <a:spAutoFit/>
          </a:bodyPr>
          <a:lstStyle/>
          <a:p>
            <a:pPr algn="ctr"/>
            <a:r>
              <a:rPr sz="1300" b="1">
                <a:solidFill>
                  <a:srgbClr val="222831"/>
                </a:solidFill>
                <a:latin typeface="Aptos"/>
              </a:rPr>
              <a:t>B</a:t>
            </a:r>
          </a:p>
        </p:txBody>
      </p:sp>
      <p:sp>
        <p:nvSpPr>
          <p:cNvPr id="21" name="Rectangle 20"/>
          <p:cNvSpPr/>
          <p:nvPr/>
        </p:nvSpPr>
        <p:spPr>
          <a:xfrm>
            <a:off x="9453067" y="2450591"/>
            <a:ext cx="21945" cy="246888"/>
          </a:xfrm>
          <a:prstGeom prst="rect">
            <a:avLst/>
          </a:prstGeom>
          <a:solidFill>
            <a:srgbClr val="18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208008" y="2706624"/>
            <a:ext cx="512064" cy="274320"/>
          </a:xfrm>
          <a:prstGeom prst="rect">
            <a:avLst/>
          </a:prstGeom>
          <a:noFill/>
        </p:spPr>
        <p:txBody>
          <a:bodyPr wrap="none" lIns="27432" rIns="27432" tIns="27432" bIns="27432" anchor="t">
            <a:spAutoFit/>
          </a:bodyPr>
          <a:lstStyle/>
          <a:p>
            <a:pPr algn="ctr"/>
            <a:r>
              <a:rPr sz="1200" b="0">
                <a:solidFill>
                  <a:srgbClr val="222831"/>
                </a:solidFill>
                <a:latin typeface="Aptos"/>
              </a:rPr>
              <a:t>4</a:t>
            </a:r>
          </a:p>
        </p:txBody>
      </p:sp>
      <p:sp>
        <p:nvSpPr>
          <p:cNvPr id="23" name="Rectangle 22"/>
          <p:cNvSpPr/>
          <p:nvPr/>
        </p:nvSpPr>
        <p:spPr>
          <a:xfrm>
            <a:off x="11144707" y="2450591"/>
            <a:ext cx="21945" cy="246888"/>
          </a:xfrm>
          <a:prstGeom prst="rect">
            <a:avLst/>
          </a:prstGeom>
          <a:solidFill>
            <a:srgbClr val="18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899648" y="2706624"/>
            <a:ext cx="512064" cy="274320"/>
          </a:xfrm>
          <a:prstGeom prst="rect">
            <a:avLst/>
          </a:prstGeom>
          <a:noFill/>
        </p:spPr>
        <p:txBody>
          <a:bodyPr wrap="none" lIns="27432" rIns="27432" tIns="27432" bIns="27432" anchor="t">
            <a:spAutoFit/>
          </a:bodyPr>
          <a:lstStyle/>
          <a:p>
            <a:pPr algn="ctr"/>
            <a:r>
              <a:rPr sz="1200" b="0">
                <a:solidFill>
                  <a:srgbClr val="222831"/>
                </a:solidFill>
                <a:latin typeface="Aptos"/>
              </a:rPr>
              <a:t>6</a:t>
            </a:r>
          </a:p>
        </p:txBody>
      </p:sp>
      <p:sp>
        <p:nvSpPr>
          <p:cNvPr id="25" name="TextBox 24"/>
          <p:cNvSpPr txBox="1"/>
          <p:nvPr/>
        </p:nvSpPr>
        <p:spPr>
          <a:xfrm>
            <a:off x="10607040" y="1993391"/>
            <a:ext cx="1097280" cy="320040"/>
          </a:xfrm>
          <a:prstGeom prst="rect">
            <a:avLst/>
          </a:prstGeom>
          <a:noFill/>
        </p:spPr>
        <p:txBody>
          <a:bodyPr wrap="none" lIns="27432" rIns="27432" tIns="27432" bIns="27432" anchor="t">
            <a:spAutoFit/>
          </a:bodyPr>
          <a:lstStyle/>
          <a:p>
            <a:pPr algn="ctr"/>
            <a:r>
              <a:rPr sz="1300" b="1">
                <a:solidFill>
                  <a:srgbClr val="222831"/>
                </a:solidFill>
                <a:latin typeface="Aptos"/>
              </a:rPr>
              <a:t>C</a:t>
            </a:r>
          </a:p>
        </p:txBody>
      </p:sp>
      <p:sp>
        <p:nvSpPr>
          <p:cNvPr id="26" name="TextBox 25"/>
          <p:cNvSpPr txBox="1"/>
          <p:nvPr/>
        </p:nvSpPr>
        <p:spPr>
          <a:xfrm>
            <a:off x="1097280" y="3657600"/>
            <a:ext cx="9875520" cy="1188720"/>
          </a:xfrm>
          <a:prstGeom prst="rect">
            <a:avLst/>
          </a:prstGeom>
          <a:noFill/>
        </p:spPr>
        <p:txBody>
          <a:bodyPr wrap="square" lIns="109728" rIns="73152">
            <a:spAutoFit/>
          </a:bodyPr>
          <a:lstStyle/>
          <a:p>
            <a:pPr>
              <a:spcAft>
                <a:spcPts val="400"/>
              </a:spcAft>
              <a:defRPr sz="1800">
                <a:solidFill>
                  <a:srgbClr val="222831"/>
                </a:solidFill>
                <a:latin typeface="Aptos"/>
              </a:defRPr>
            </a:pPr>
            <a:r>
              <a:t>• State the position of A, B and C.</a:t>
            </a:r>
          </a:p>
          <a:p>
            <a:pPr>
              <a:spcAft>
                <a:spcPts val="400"/>
              </a:spcAft>
              <a:defRPr sz="1800">
                <a:solidFill>
                  <a:srgbClr val="222831"/>
                </a:solidFill>
                <a:latin typeface="Aptos"/>
              </a:defRPr>
            </a:pPr>
            <a:r>
              <a:t>• Which object is farthest from the origin?</a:t>
            </a:r>
          </a:p>
          <a:p>
            <a:pPr>
              <a:spcAft>
                <a:spcPts val="400"/>
              </a:spcAft>
              <a:defRPr sz="1800">
                <a:solidFill>
                  <a:srgbClr val="222831"/>
                </a:solidFill>
                <a:latin typeface="Aptos"/>
              </a:defRPr>
            </a:pPr>
            <a:r>
              <a:t>• What is the separation between A and 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3840480" cy="320040"/>
          </a:xfrm>
          <a:prstGeom prst="rect">
            <a:avLst/>
          </a:prstGeom>
          <a:noFill/>
        </p:spPr>
        <p:txBody>
          <a:bodyPr wrap="none" lIns="27432" rIns="27432" tIns="27432" bIns="27432" anchor="t">
            <a:spAutoFit/>
          </a:bodyPr>
          <a:lstStyle/>
          <a:p>
            <a:pPr algn="l"/>
            <a:r>
              <a:rPr sz="1100" b="1">
                <a:solidFill>
                  <a:srgbClr val="1F62A6"/>
                </a:solidFill>
                <a:latin typeface="Aptos"/>
              </a:rPr>
              <a:t>PREPARING FOR DISPLACEMENT</a:t>
            </a:r>
          </a:p>
        </p:txBody>
      </p:sp>
      <p:sp>
        <p:nvSpPr>
          <p:cNvPr id="3" name="TextBox 2"/>
          <p:cNvSpPr txBox="1"/>
          <p:nvPr/>
        </p:nvSpPr>
        <p:spPr>
          <a:xfrm>
            <a:off x="594360" y="594360"/>
            <a:ext cx="10972800" cy="658368"/>
          </a:xfrm>
          <a:prstGeom prst="rect">
            <a:avLst/>
          </a:prstGeom>
          <a:noFill/>
        </p:spPr>
        <p:txBody>
          <a:bodyPr wrap="none" lIns="27432" rIns="27432" tIns="27432" bIns="27432" anchor="t">
            <a:spAutoFit/>
          </a:bodyPr>
          <a:lstStyle/>
          <a:p>
            <a:pPr algn="l"/>
            <a:r>
              <a:rPr sz="2800" b="1">
                <a:solidFill>
                  <a:srgbClr val="18365D"/>
                </a:solidFill>
                <a:latin typeface="Aptos"/>
              </a:rPr>
              <a:t>Initial and final position</a:t>
            </a:r>
          </a:p>
        </p:txBody>
      </p:sp>
      <p:sp>
        <p:nvSpPr>
          <p:cNvPr id="4" name="Rectangle 3"/>
          <p:cNvSpPr/>
          <p:nvPr/>
        </p:nvSpPr>
        <p:spPr>
          <a:xfrm>
            <a:off x="594360" y="1261872"/>
            <a:ext cx="10972800" cy="18288"/>
          </a:xfrm>
          <a:prstGeom prst="rect">
            <a:avLst/>
          </a:prstGeom>
          <a:solidFill>
            <a:srgbClr val="D7DD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446520"/>
            <a:ext cx="6400800" cy="201168"/>
          </a:xfrm>
          <a:prstGeom prst="rect">
            <a:avLst/>
          </a:prstGeom>
          <a:noFill/>
        </p:spPr>
        <p:txBody>
          <a:bodyPr wrap="none" lIns="27432" rIns="27432" tIns="27432" bIns="27432" anchor="t">
            <a:spAutoFit/>
          </a:bodyPr>
          <a:lstStyle/>
          <a:p>
            <a:pPr algn="l"/>
            <a:r>
              <a:rPr sz="800" b="0">
                <a:solidFill>
                  <a:srgbClr val="5F6976"/>
                </a:solidFill>
                <a:latin typeface="Aptos"/>
              </a:rPr>
              <a:t>LECTURE 05  •  MOTION IN A STRAIGHT LINE</a:t>
            </a:r>
          </a:p>
        </p:txBody>
      </p:sp>
      <p:sp>
        <p:nvSpPr>
          <p:cNvPr id="6" name="TextBox 5"/>
          <p:cNvSpPr txBox="1"/>
          <p:nvPr/>
        </p:nvSpPr>
        <p:spPr>
          <a:xfrm>
            <a:off x="10881360" y="6419088"/>
            <a:ext cx="685800" cy="228600"/>
          </a:xfrm>
          <a:prstGeom prst="rect">
            <a:avLst/>
          </a:prstGeom>
          <a:noFill/>
        </p:spPr>
        <p:txBody>
          <a:bodyPr wrap="none" lIns="27432" rIns="27432" tIns="27432" bIns="27432" anchor="t">
            <a:spAutoFit/>
          </a:bodyPr>
          <a:lstStyle/>
          <a:p>
            <a:pPr algn="r"/>
            <a:r>
              <a:rPr sz="900" b="1">
                <a:solidFill>
                  <a:srgbClr val="5F6976"/>
                </a:solidFill>
                <a:latin typeface="Aptos"/>
              </a:rPr>
              <a:t>11</a:t>
            </a:r>
          </a:p>
        </p:txBody>
      </p:sp>
      <p:sp>
        <p:nvSpPr>
          <p:cNvPr id="7" name="Rounded Rectangle 6"/>
          <p:cNvSpPr/>
          <p:nvPr/>
        </p:nvSpPr>
        <p:spPr>
          <a:xfrm>
            <a:off x="914400" y="1645920"/>
            <a:ext cx="4754880" cy="831213"/>
          </a:xfrm>
          <a:prstGeom prst="roundRect">
            <a:avLst/>
          </a:prstGeom>
          <a:solidFill>
            <a:srgbClr val="E7F1FC"/>
          </a:solidFill>
          <a:ln w="11430">
            <a:solidFill>
              <a:srgbClr val="1F62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43000" y="1764792"/>
            <a:ext cx="4297680" cy="284860"/>
          </a:xfrm>
          <a:prstGeom prst="rect">
            <a:avLst/>
          </a:prstGeom>
          <a:noFill/>
        </p:spPr>
        <p:txBody>
          <a:bodyPr wrap="none" lIns="18288" rIns="18288" tIns="9144" bIns="9144" anchor="t">
            <a:spAutoFit/>
          </a:bodyPr>
          <a:lstStyle/>
          <a:p>
            <a:pPr algn="l">
              <a:lnSpc>
                <a:spcPct val="100000"/>
              </a:lnSpc>
              <a:spcBef>
                <a:spcPts val="0"/>
              </a:spcBef>
              <a:spcAft>
                <a:spcPts val="0"/>
              </a:spcAft>
            </a:pPr>
            <a:r>
              <a:rPr sz="1700" b="1">
                <a:solidFill>
                  <a:srgbClr val="1F62A6"/>
                </a:solidFill>
                <a:latin typeface="Aptos"/>
              </a:rPr>
              <a:t>Initial position</a:t>
            </a:r>
          </a:p>
        </p:txBody>
      </p:sp>
      <p:sp>
        <p:nvSpPr>
          <p:cNvPr id="9" name="TextBox 8"/>
          <p:cNvSpPr txBox="1"/>
          <p:nvPr/>
        </p:nvSpPr>
        <p:spPr>
          <a:xfrm>
            <a:off x="1143000" y="2086228"/>
            <a:ext cx="4297680" cy="299465"/>
          </a:xfrm>
          <a:prstGeom prst="rect">
            <a:avLst/>
          </a:prstGeom>
          <a:noFill/>
        </p:spPr>
        <p:txBody>
          <a:bodyPr wrap="none" lIns="18288" rIns="18288" tIns="9144" bIns="9144" anchor="t">
            <a:spAutoFit/>
          </a:bodyPr>
          <a:lstStyle/>
          <a:p>
            <a:pPr algn="l">
              <a:lnSpc>
                <a:spcPct val="100000"/>
              </a:lnSpc>
              <a:spcBef>
                <a:spcPts val="0"/>
              </a:spcBef>
              <a:spcAft>
                <a:spcPts val="0"/>
              </a:spcAft>
            </a:pPr>
            <a:r>
              <a:rPr sz="1800" b="1">
                <a:solidFill>
                  <a:srgbClr val="18365D"/>
                </a:solidFill>
                <a:latin typeface="Aptos"/>
              </a:rPr>
              <a:t>xᵢ = −2 m</a:t>
            </a:r>
          </a:p>
        </p:txBody>
      </p:sp>
      <p:sp>
        <p:nvSpPr>
          <p:cNvPr id="10" name="Rounded Rectangle 9"/>
          <p:cNvSpPr/>
          <p:nvPr/>
        </p:nvSpPr>
        <p:spPr>
          <a:xfrm>
            <a:off x="6492240" y="1645920"/>
            <a:ext cx="4754880" cy="831213"/>
          </a:xfrm>
          <a:prstGeom prst="roundRect">
            <a:avLst/>
          </a:prstGeom>
          <a:solidFill>
            <a:srgbClr val="E8F7EF"/>
          </a:solidFill>
          <a:ln w="11430">
            <a:solidFill>
              <a:srgbClr val="2680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20840" y="1764792"/>
            <a:ext cx="4297680" cy="284860"/>
          </a:xfrm>
          <a:prstGeom prst="rect">
            <a:avLst/>
          </a:prstGeom>
          <a:noFill/>
        </p:spPr>
        <p:txBody>
          <a:bodyPr wrap="none" lIns="18288" rIns="18288" tIns="9144" bIns="9144" anchor="t">
            <a:spAutoFit/>
          </a:bodyPr>
          <a:lstStyle/>
          <a:p>
            <a:pPr algn="l">
              <a:lnSpc>
                <a:spcPct val="100000"/>
              </a:lnSpc>
              <a:spcBef>
                <a:spcPts val="0"/>
              </a:spcBef>
              <a:spcAft>
                <a:spcPts val="0"/>
              </a:spcAft>
            </a:pPr>
            <a:r>
              <a:rPr sz="1700" b="1">
                <a:solidFill>
                  <a:srgbClr val="268054"/>
                </a:solidFill>
                <a:latin typeface="Aptos"/>
              </a:rPr>
              <a:t>Final position</a:t>
            </a:r>
          </a:p>
        </p:txBody>
      </p:sp>
      <p:sp>
        <p:nvSpPr>
          <p:cNvPr id="12" name="TextBox 11"/>
          <p:cNvSpPr txBox="1"/>
          <p:nvPr/>
        </p:nvSpPr>
        <p:spPr>
          <a:xfrm>
            <a:off x="6720840" y="2086228"/>
            <a:ext cx="4297680" cy="299465"/>
          </a:xfrm>
          <a:prstGeom prst="rect">
            <a:avLst/>
          </a:prstGeom>
          <a:noFill/>
        </p:spPr>
        <p:txBody>
          <a:bodyPr wrap="none" lIns="18288" rIns="18288" tIns="9144" bIns="9144" anchor="t">
            <a:spAutoFit/>
          </a:bodyPr>
          <a:lstStyle/>
          <a:p>
            <a:pPr algn="l">
              <a:lnSpc>
                <a:spcPct val="100000"/>
              </a:lnSpc>
              <a:spcBef>
                <a:spcPts val="0"/>
              </a:spcBef>
              <a:spcAft>
                <a:spcPts val="0"/>
              </a:spcAft>
            </a:pPr>
            <a:r>
              <a:rPr sz="1800" b="1">
                <a:solidFill>
                  <a:srgbClr val="18365D"/>
                </a:solidFill>
                <a:latin typeface="Aptos"/>
              </a:rPr>
              <a:t>xᶠ = +5 m</a:t>
            </a:r>
          </a:p>
        </p:txBody>
      </p:sp>
      <p:sp>
        <p:nvSpPr>
          <p:cNvPr id="13" name="Rounded Rectangle 12"/>
          <p:cNvSpPr/>
          <p:nvPr/>
        </p:nvSpPr>
        <p:spPr>
          <a:xfrm>
            <a:off x="1965960" y="3429000"/>
            <a:ext cx="8229600" cy="787399"/>
          </a:xfrm>
          <a:prstGeom prst="roundRect">
            <a:avLst/>
          </a:prstGeom>
          <a:solidFill>
            <a:srgbClr val="E7F1FC"/>
          </a:solidFill>
          <a:ln w="11430">
            <a:solidFill>
              <a:srgbClr val="1F62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103120" y="3547872"/>
            <a:ext cx="7955279" cy="328675"/>
          </a:xfrm>
          <a:prstGeom prst="rect">
            <a:avLst/>
          </a:prstGeom>
          <a:noFill/>
        </p:spPr>
        <p:txBody>
          <a:bodyPr wrap="none" lIns="18288" rIns="18288" tIns="9144" bIns="9144" anchor="t">
            <a:spAutoFit/>
          </a:bodyPr>
          <a:lstStyle/>
          <a:p>
            <a:pPr algn="l">
              <a:lnSpc>
                <a:spcPct val="100000"/>
              </a:lnSpc>
              <a:spcBef>
                <a:spcPts val="0"/>
              </a:spcBef>
              <a:spcAft>
                <a:spcPts val="0"/>
              </a:spcAft>
            </a:pPr>
            <a:r>
              <a:rPr sz="2000" b="1">
                <a:solidFill>
                  <a:srgbClr val="18365D"/>
                </a:solidFill>
                <a:latin typeface="Aptos"/>
              </a:rPr>
              <a:t>Change in position = xᶠ − xᵢ</a:t>
            </a:r>
          </a:p>
        </p:txBody>
      </p:sp>
      <p:sp>
        <p:nvSpPr>
          <p:cNvPr id="15" name="TextBox 14"/>
          <p:cNvSpPr txBox="1"/>
          <p:nvPr/>
        </p:nvSpPr>
        <p:spPr>
          <a:xfrm>
            <a:off x="2103120" y="3913123"/>
            <a:ext cx="7955279" cy="211836"/>
          </a:xfrm>
          <a:prstGeom prst="rect">
            <a:avLst/>
          </a:prstGeom>
          <a:noFill/>
        </p:spPr>
        <p:txBody>
          <a:bodyPr wrap="none" lIns="18288" rIns="18288" tIns="9144" bIns="9144" anchor="t">
            <a:spAutoFit/>
          </a:bodyPr>
          <a:lstStyle/>
          <a:p>
            <a:pPr algn="l">
              <a:lnSpc>
                <a:spcPct val="100000"/>
              </a:lnSpc>
              <a:spcBef>
                <a:spcPts val="0"/>
              </a:spcBef>
              <a:spcAft>
                <a:spcPts val="0"/>
              </a:spcAft>
            </a:pPr>
            <a:r>
              <a:rPr sz="1200" b="0">
                <a:solidFill>
                  <a:srgbClr val="5F6976"/>
                </a:solidFill>
                <a:latin typeface="Aptos"/>
              </a:rPr>
              <a:t>Always subtract the initial position from the final position</a:t>
            </a:r>
          </a:p>
        </p:txBody>
      </p:sp>
      <p:sp>
        <p:nvSpPr>
          <p:cNvPr id="16" name="Rectangle 15"/>
          <p:cNvSpPr/>
          <p:nvPr/>
        </p:nvSpPr>
        <p:spPr>
          <a:xfrm>
            <a:off x="914400" y="1645920"/>
            <a:ext cx="59436" cy="831213"/>
          </a:xfrm>
          <a:prstGeom prst="rect">
            <a:avLst/>
          </a:prstGeom>
          <a:solidFill>
            <a:srgbClr val="1F62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92240" y="1645920"/>
            <a:ext cx="59436" cy="831213"/>
          </a:xfrm>
          <a:prstGeom prst="rect">
            <a:avLst/>
          </a:prstGeom>
          <a:solidFill>
            <a:srgbClr val="2680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965960" y="3429000"/>
            <a:ext cx="59436" cy="787399"/>
          </a:xfrm>
          <a:prstGeom prst="rect">
            <a:avLst/>
          </a:prstGeom>
          <a:solidFill>
            <a:srgbClr val="1F62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3840480" cy="320040"/>
          </a:xfrm>
          <a:prstGeom prst="rect">
            <a:avLst/>
          </a:prstGeom>
          <a:noFill/>
        </p:spPr>
        <p:txBody>
          <a:bodyPr wrap="none" lIns="27432" rIns="27432" tIns="27432" bIns="27432" anchor="t">
            <a:spAutoFit/>
          </a:bodyPr>
          <a:lstStyle/>
          <a:p>
            <a:pPr algn="l"/>
            <a:r>
              <a:rPr sz="1100" b="1">
                <a:solidFill>
                  <a:srgbClr val="1F62A6"/>
                </a:solidFill>
                <a:latin typeface="Aptos"/>
              </a:rPr>
              <a:t>FIVE-MINUTE RETRIEVAL</a:t>
            </a:r>
          </a:p>
        </p:txBody>
      </p:sp>
      <p:sp>
        <p:nvSpPr>
          <p:cNvPr id="3" name="TextBox 2"/>
          <p:cNvSpPr txBox="1"/>
          <p:nvPr/>
        </p:nvSpPr>
        <p:spPr>
          <a:xfrm>
            <a:off x="594360" y="594360"/>
            <a:ext cx="10972800" cy="658368"/>
          </a:xfrm>
          <a:prstGeom prst="rect">
            <a:avLst/>
          </a:prstGeom>
          <a:noFill/>
        </p:spPr>
        <p:txBody>
          <a:bodyPr wrap="none" lIns="27432" rIns="27432" tIns="27432" bIns="27432" anchor="t">
            <a:spAutoFit/>
          </a:bodyPr>
          <a:lstStyle/>
          <a:p>
            <a:pPr algn="l"/>
            <a:r>
              <a:rPr sz="2800" b="1">
                <a:solidFill>
                  <a:srgbClr val="18365D"/>
                </a:solidFill>
                <a:latin typeface="Aptos"/>
              </a:rPr>
              <a:t>Checkpoint 1</a:t>
            </a:r>
          </a:p>
        </p:txBody>
      </p:sp>
      <p:sp>
        <p:nvSpPr>
          <p:cNvPr id="4" name="Rectangle 3"/>
          <p:cNvSpPr/>
          <p:nvPr/>
        </p:nvSpPr>
        <p:spPr>
          <a:xfrm>
            <a:off x="594360" y="1261872"/>
            <a:ext cx="10972800" cy="18288"/>
          </a:xfrm>
          <a:prstGeom prst="rect">
            <a:avLst/>
          </a:prstGeom>
          <a:solidFill>
            <a:srgbClr val="D7DD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446520"/>
            <a:ext cx="6400800" cy="201168"/>
          </a:xfrm>
          <a:prstGeom prst="rect">
            <a:avLst/>
          </a:prstGeom>
          <a:noFill/>
        </p:spPr>
        <p:txBody>
          <a:bodyPr wrap="none" lIns="27432" rIns="27432" tIns="27432" bIns="27432" anchor="t">
            <a:spAutoFit/>
          </a:bodyPr>
          <a:lstStyle/>
          <a:p>
            <a:pPr algn="l"/>
            <a:r>
              <a:rPr sz="800" b="0">
                <a:solidFill>
                  <a:srgbClr val="5F6976"/>
                </a:solidFill>
                <a:latin typeface="Aptos"/>
              </a:rPr>
              <a:t>LECTURE 05  •  MOTION IN A STRAIGHT LINE</a:t>
            </a:r>
          </a:p>
        </p:txBody>
      </p:sp>
      <p:sp>
        <p:nvSpPr>
          <p:cNvPr id="6" name="TextBox 5"/>
          <p:cNvSpPr txBox="1"/>
          <p:nvPr/>
        </p:nvSpPr>
        <p:spPr>
          <a:xfrm>
            <a:off x="10881360" y="6419088"/>
            <a:ext cx="685800" cy="228600"/>
          </a:xfrm>
          <a:prstGeom prst="rect">
            <a:avLst/>
          </a:prstGeom>
          <a:noFill/>
        </p:spPr>
        <p:txBody>
          <a:bodyPr wrap="none" lIns="27432" rIns="27432" tIns="27432" bIns="27432" anchor="t">
            <a:spAutoFit/>
          </a:bodyPr>
          <a:lstStyle/>
          <a:p>
            <a:pPr algn="r"/>
            <a:r>
              <a:rPr sz="900" b="1">
                <a:solidFill>
                  <a:srgbClr val="5F6976"/>
                </a:solidFill>
                <a:latin typeface="Aptos"/>
              </a:rPr>
              <a:t>12</a:t>
            </a:r>
          </a:p>
        </p:txBody>
      </p:sp>
      <p:sp>
        <p:nvSpPr>
          <p:cNvPr id="7" name="TextBox 6"/>
          <p:cNvSpPr txBox="1"/>
          <p:nvPr/>
        </p:nvSpPr>
        <p:spPr>
          <a:xfrm>
            <a:off x="914400" y="1600200"/>
            <a:ext cx="10241280" cy="3063240"/>
          </a:xfrm>
          <a:prstGeom prst="rect">
            <a:avLst/>
          </a:prstGeom>
          <a:noFill/>
        </p:spPr>
        <p:txBody>
          <a:bodyPr wrap="square" lIns="109728" rIns="73152">
            <a:spAutoFit/>
          </a:bodyPr>
          <a:lstStyle/>
          <a:p>
            <a:pPr>
              <a:spcAft>
                <a:spcPts val="400"/>
              </a:spcAft>
              <a:defRPr sz="1800">
                <a:solidFill>
                  <a:srgbClr val="222831"/>
                </a:solidFill>
                <a:latin typeface="Aptos"/>
              </a:defRPr>
            </a:pPr>
            <a:r>
              <a:t>• A student sits inside a moving bus. State one frame in which the student is at rest and one in which the student is moving.</a:t>
            </a:r>
          </a:p>
          <a:p>
            <a:pPr>
              <a:spcAft>
                <a:spcPts val="400"/>
              </a:spcAft>
              <a:defRPr sz="1800">
                <a:solidFill>
                  <a:srgbClr val="222831"/>
                </a:solidFill>
                <a:latin typeface="Aptos"/>
              </a:defRPr>
            </a:pPr>
            <a:r>
              <a:t>• An object is 3 m left of the origin. Write its position.</a:t>
            </a:r>
          </a:p>
          <a:p>
            <a:pPr>
              <a:spcAft>
                <a:spcPts val="400"/>
              </a:spcAft>
              <a:defRPr sz="1800">
                <a:solidFill>
                  <a:srgbClr val="222831"/>
                </a:solidFill>
                <a:latin typeface="Aptos"/>
              </a:defRPr>
            </a:pPr>
            <a:r>
              <a:t>• Does negative position necessarily mean the object is moving in the negative direction? Explain.</a:t>
            </a:r>
          </a:p>
        </p:txBody>
      </p:sp>
      <p:sp>
        <p:nvSpPr>
          <p:cNvPr id="8" name="Rounded Rectangle 7"/>
          <p:cNvSpPr/>
          <p:nvPr/>
        </p:nvSpPr>
        <p:spPr>
          <a:xfrm>
            <a:off x="1828800" y="4754880"/>
            <a:ext cx="8503920" cy="480567"/>
          </a:xfrm>
          <a:prstGeom prst="roundRect">
            <a:avLst/>
          </a:prstGeom>
          <a:solidFill>
            <a:srgbClr val="FFF7E0"/>
          </a:solidFill>
          <a:ln w="11430">
            <a:solidFill>
              <a:srgbClr val="BE7E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103120" y="4873752"/>
            <a:ext cx="7955279" cy="270255"/>
          </a:xfrm>
          <a:prstGeom prst="rect">
            <a:avLst/>
          </a:prstGeom>
          <a:noFill/>
        </p:spPr>
        <p:txBody>
          <a:bodyPr wrap="none" lIns="18288" rIns="18288" tIns="9144" bIns="9144" anchor="t">
            <a:spAutoFit/>
          </a:bodyPr>
          <a:lstStyle/>
          <a:p>
            <a:pPr algn="l">
              <a:lnSpc>
                <a:spcPct val="100000"/>
              </a:lnSpc>
              <a:spcBef>
                <a:spcPts val="0"/>
              </a:spcBef>
              <a:spcAft>
                <a:spcPts val="0"/>
              </a:spcAft>
            </a:pPr>
            <a:r>
              <a:rPr sz="1600" b="1">
                <a:solidFill>
                  <a:srgbClr val="BE7E00"/>
                </a:solidFill>
                <a:latin typeface="Aptos"/>
              </a:rPr>
              <a:t>PAIR • EXPLAIN • CORRECT</a:t>
            </a:r>
          </a:p>
        </p:txBody>
      </p:sp>
      <p:sp>
        <p:nvSpPr>
          <p:cNvPr id="10" name="Rectangle 9"/>
          <p:cNvSpPr/>
          <p:nvPr/>
        </p:nvSpPr>
        <p:spPr>
          <a:xfrm>
            <a:off x="1828800" y="4754880"/>
            <a:ext cx="59436" cy="480567"/>
          </a:xfrm>
          <a:prstGeom prst="rect">
            <a:avLst/>
          </a:prstGeom>
          <a:solidFill>
            <a:srgbClr val="BE7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94360" y="256032"/>
            <a:ext cx="3840480" cy="320040"/>
          </a:xfrm>
          <a:prstGeom prst="rect">
            <a:avLst/>
          </a:prstGeom>
          <a:noFill/>
        </p:spPr>
        <p:txBody>
          <a:bodyPr wrap="none" lIns="27432" rIns="27432" tIns="27432" bIns="27432" anchor="t">
            <a:spAutoFit/>
          </a:bodyPr>
          <a:lstStyle/>
          <a:p>
            <a:pPr algn="l"/>
            <a:r>
              <a:rPr sz="1100" b="1">
                <a:solidFill>
                  <a:srgbClr val="1F62A6"/>
                </a:solidFill>
                <a:latin typeface="Aptos"/>
              </a:rPr>
              <a:t>RESET</a:t>
            </a:r>
          </a:p>
        </p:txBody>
      </p:sp>
      <p:sp>
        <p:nvSpPr>
          <p:cNvPr id="3" name="TextBox 2"/>
          <p:cNvSpPr txBox="1"/>
          <p:nvPr/>
        </p:nvSpPr>
        <p:spPr>
          <a:xfrm>
            <a:off x="594360" y="594360"/>
            <a:ext cx="10972800" cy="658368"/>
          </a:xfrm>
          <a:prstGeom prst="rect">
            <a:avLst/>
          </a:prstGeom>
          <a:noFill/>
        </p:spPr>
        <p:txBody>
          <a:bodyPr wrap="none" lIns="27432" rIns="27432" tIns="27432" bIns="27432" anchor="t">
            <a:spAutoFit/>
          </a:bodyPr>
          <a:lstStyle/>
          <a:p>
            <a:pPr algn="l"/>
            <a:r>
              <a:rPr sz="2800" b="1">
                <a:solidFill>
                  <a:srgbClr val="18365D"/>
                </a:solidFill>
                <a:latin typeface="Aptos"/>
              </a:rPr>
              <a:t>Short break</a:t>
            </a:r>
          </a:p>
        </p:txBody>
      </p:sp>
      <p:sp>
        <p:nvSpPr>
          <p:cNvPr id="4" name="Rectangle 3"/>
          <p:cNvSpPr/>
          <p:nvPr/>
        </p:nvSpPr>
        <p:spPr>
          <a:xfrm>
            <a:off x="594360" y="1261872"/>
            <a:ext cx="10972800" cy="18288"/>
          </a:xfrm>
          <a:prstGeom prst="rect">
            <a:avLst/>
          </a:prstGeom>
          <a:solidFill>
            <a:srgbClr val="D7DD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446520"/>
            <a:ext cx="6400800" cy="201168"/>
          </a:xfrm>
          <a:prstGeom prst="rect">
            <a:avLst/>
          </a:prstGeom>
          <a:noFill/>
        </p:spPr>
        <p:txBody>
          <a:bodyPr wrap="none" lIns="27432" rIns="27432" tIns="27432" bIns="27432" anchor="t">
            <a:spAutoFit/>
          </a:bodyPr>
          <a:lstStyle/>
          <a:p>
            <a:pPr algn="l"/>
            <a:r>
              <a:rPr sz="800" b="0">
                <a:solidFill>
                  <a:srgbClr val="5F6976"/>
                </a:solidFill>
                <a:latin typeface="Aptos"/>
              </a:rPr>
              <a:t>LECTURE 05  •  MOTION IN A STRAIGHT LINE</a:t>
            </a:r>
          </a:p>
        </p:txBody>
      </p:sp>
      <p:sp>
        <p:nvSpPr>
          <p:cNvPr id="6" name="TextBox 5"/>
          <p:cNvSpPr txBox="1"/>
          <p:nvPr/>
        </p:nvSpPr>
        <p:spPr>
          <a:xfrm>
            <a:off x="10881360" y="6419088"/>
            <a:ext cx="685800" cy="228600"/>
          </a:xfrm>
          <a:prstGeom prst="rect">
            <a:avLst/>
          </a:prstGeom>
          <a:noFill/>
        </p:spPr>
        <p:txBody>
          <a:bodyPr wrap="none" lIns="27432" rIns="27432" tIns="27432" bIns="27432" anchor="t">
            <a:spAutoFit/>
          </a:bodyPr>
          <a:lstStyle/>
          <a:p>
            <a:pPr algn="r"/>
            <a:r>
              <a:rPr sz="900" b="1">
                <a:solidFill>
                  <a:srgbClr val="5F6976"/>
                </a:solidFill>
                <a:latin typeface="Aptos"/>
              </a:rPr>
              <a:t>13</a:t>
            </a:r>
          </a:p>
        </p:txBody>
      </p:sp>
      <p:sp>
        <p:nvSpPr>
          <p:cNvPr id="7" name="TextBox 6"/>
          <p:cNvSpPr txBox="1"/>
          <p:nvPr/>
        </p:nvSpPr>
        <p:spPr>
          <a:xfrm>
            <a:off x="2286000" y="1828800"/>
            <a:ext cx="7589520" cy="914400"/>
          </a:xfrm>
          <a:prstGeom prst="rect">
            <a:avLst/>
          </a:prstGeom>
          <a:noFill/>
        </p:spPr>
        <p:txBody>
          <a:bodyPr wrap="none" lIns="27432" rIns="27432" tIns="27432" bIns="27432" anchor="t">
            <a:spAutoFit/>
          </a:bodyPr>
          <a:lstStyle/>
          <a:p>
            <a:pPr algn="ctr"/>
            <a:r>
              <a:rPr sz="2500" b="1">
                <a:solidFill>
                  <a:srgbClr val="18365D"/>
                </a:solidFill>
                <a:latin typeface="Aptos"/>
              </a:rPr>
              <a:t>5 minutes</a:t>
            </a:r>
          </a:p>
        </p:txBody>
      </p:sp>
      <p:sp>
        <p:nvSpPr>
          <p:cNvPr id="8" name="TextBox 7"/>
          <p:cNvSpPr txBox="1"/>
          <p:nvPr/>
        </p:nvSpPr>
        <p:spPr>
          <a:xfrm>
            <a:off x="1828800" y="3154680"/>
            <a:ext cx="8503920" cy="502920"/>
          </a:xfrm>
          <a:prstGeom prst="rect">
            <a:avLst/>
          </a:prstGeom>
          <a:noFill/>
        </p:spPr>
        <p:txBody>
          <a:bodyPr wrap="none" lIns="27432" rIns="27432" tIns="27432" bIns="27432" anchor="t">
            <a:spAutoFit/>
          </a:bodyPr>
          <a:lstStyle/>
          <a:p>
            <a:pPr algn="ctr"/>
            <a:r>
              <a:rPr sz="1800" b="1">
                <a:solidFill>
                  <a:srgbClr val="007D8A"/>
                </a:solidFill>
                <a:latin typeface="Aptos"/>
              </a:rPr>
              <a:t>Return ready to compare distance and displacement.</a:t>
            </a:r>
          </a:p>
        </p:txBody>
      </p:sp>
      <p:sp>
        <p:nvSpPr>
          <p:cNvPr id="9" name="TextBox 8"/>
          <p:cNvSpPr txBox="1"/>
          <p:nvPr/>
        </p:nvSpPr>
        <p:spPr>
          <a:xfrm>
            <a:off x="2103120" y="4160520"/>
            <a:ext cx="7955279" cy="411480"/>
          </a:xfrm>
          <a:prstGeom prst="rect">
            <a:avLst/>
          </a:prstGeom>
          <a:noFill/>
        </p:spPr>
        <p:txBody>
          <a:bodyPr wrap="none" lIns="27432" rIns="27432" tIns="27432" bIns="27432" anchor="t">
            <a:spAutoFit/>
          </a:bodyPr>
          <a:lstStyle/>
          <a:p>
            <a:pPr algn="ctr"/>
            <a:r>
              <a:rPr sz="1700" b="0">
                <a:solidFill>
                  <a:srgbClr val="5F6976"/>
                </a:solidFill>
                <a:latin typeface="Aptos"/>
              </a:rPr>
              <a:t>Recall during the break: origin • direction • position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3840480" cy="320040"/>
          </a:xfrm>
          <a:prstGeom prst="rect">
            <a:avLst/>
          </a:prstGeom>
          <a:noFill/>
        </p:spPr>
        <p:txBody>
          <a:bodyPr wrap="none" lIns="27432" rIns="27432" tIns="27432" bIns="27432" anchor="t">
            <a:spAutoFit/>
          </a:bodyPr>
          <a:lstStyle/>
          <a:p>
            <a:pPr algn="l"/>
            <a:r>
              <a:rPr sz="1100" b="1">
                <a:solidFill>
                  <a:srgbClr val="1F62A6"/>
                </a:solidFill>
                <a:latin typeface="Aptos"/>
              </a:rPr>
              <a:t>DEFINITION</a:t>
            </a:r>
          </a:p>
        </p:txBody>
      </p:sp>
      <p:sp>
        <p:nvSpPr>
          <p:cNvPr id="3" name="TextBox 2"/>
          <p:cNvSpPr txBox="1"/>
          <p:nvPr/>
        </p:nvSpPr>
        <p:spPr>
          <a:xfrm>
            <a:off x="594360" y="594360"/>
            <a:ext cx="10972800" cy="658368"/>
          </a:xfrm>
          <a:prstGeom prst="rect">
            <a:avLst/>
          </a:prstGeom>
          <a:noFill/>
        </p:spPr>
        <p:txBody>
          <a:bodyPr wrap="none" lIns="27432" rIns="27432" tIns="27432" bIns="27432" anchor="t">
            <a:spAutoFit/>
          </a:bodyPr>
          <a:lstStyle/>
          <a:p>
            <a:pPr algn="l"/>
            <a:r>
              <a:rPr sz="2800" b="1">
                <a:solidFill>
                  <a:srgbClr val="18365D"/>
                </a:solidFill>
                <a:latin typeface="Aptos"/>
              </a:rPr>
              <a:t>Distance travelled</a:t>
            </a:r>
          </a:p>
        </p:txBody>
      </p:sp>
      <p:sp>
        <p:nvSpPr>
          <p:cNvPr id="4" name="Rectangle 3"/>
          <p:cNvSpPr/>
          <p:nvPr/>
        </p:nvSpPr>
        <p:spPr>
          <a:xfrm>
            <a:off x="594360" y="1261872"/>
            <a:ext cx="10972800" cy="18288"/>
          </a:xfrm>
          <a:prstGeom prst="rect">
            <a:avLst/>
          </a:prstGeom>
          <a:solidFill>
            <a:srgbClr val="D7DD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446520"/>
            <a:ext cx="6400800" cy="201168"/>
          </a:xfrm>
          <a:prstGeom prst="rect">
            <a:avLst/>
          </a:prstGeom>
          <a:noFill/>
        </p:spPr>
        <p:txBody>
          <a:bodyPr wrap="none" lIns="27432" rIns="27432" tIns="27432" bIns="27432" anchor="t">
            <a:spAutoFit/>
          </a:bodyPr>
          <a:lstStyle/>
          <a:p>
            <a:pPr algn="l"/>
            <a:r>
              <a:rPr sz="800" b="0">
                <a:solidFill>
                  <a:srgbClr val="5F6976"/>
                </a:solidFill>
                <a:latin typeface="Aptos"/>
              </a:rPr>
              <a:t>LECTURE 05  •  MOTION IN A STRAIGHT LINE</a:t>
            </a:r>
          </a:p>
        </p:txBody>
      </p:sp>
      <p:sp>
        <p:nvSpPr>
          <p:cNvPr id="6" name="TextBox 5"/>
          <p:cNvSpPr txBox="1"/>
          <p:nvPr/>
        </p:nvSpPr>
        <p:spPr>
          <a:xfrm>
            <a:off x="10881360" y="6419088"/>
            <a:ext cx="685800" cy="228600"/>
          </a:xfrm>
          <a:prstGeom prst="rect">
            <a:avLst/>
          </a:prstGeom>
          <a:noFill/>
        </p:spPr>
        <p:txBody>
          <a:bodyPr wrap="none" lIns="27432" rIns="27432" tIns="27432" bIns="27432" anchor="t">
            <a:spAutoFit/>
          </a:bodyPr>
          <a:lstStyle/>
          <a:p>
            <a:pPr algn="r"/>
            <a:r>
              <a:rPr sz="900" b="1">
                <a:solidFill>
                  <a:srgbClr val="5F6976"/>
                </a:solidFill>
                <a:latin typeface="Aptos"/>
              </a:rPr>
              <a:t>14</a:t>
            </a:r>
          </a:p>
        </p:txBody>
      </p:sp>
      <p:sp>
        <p:nvSpPr>
          <p:cNvPr id="7" name="TextBox 6"/>
          <p:cNvSpPr txBox="1"/>
          <p:nvPr/>
        </p:nvSpPr>
        <p:spPr>
          <a:xfrm>
            <a:off x="914400" y="1645920"/>
            <a:ext cx="10332720" cy="594360"/>
          </a:xfrm>
          <a:prstGeom prst="rect">
            <a:avLst/>
          </a:prstGeom>
          <a:noFill/>
        </p:spPr>
        <p:txBody>
          <a:bodyPr wrap="none" lIns="27432" rIns="27432" tIns="27432" bIns="27432" anchor="t">
            <a:spAutoFit/>
          </a:bodyPr>
          <a:lstStyle/>
          <a:p>
            <a:pPr algn="ctr"/>
            <a:r>
              <a:rPr sz="1800" b="1">
                <a:solidFill>
                  <a:srgbClr val="222831"/>
                </a:solidFill>
                <a:latin typeface="Aptos"/>
              </a:rPr>
              <a:t>Total length of the actual path followed by an object.</a:t>
            </a:r>
          </a:p>
        </p:txBody>
      </p:sp>
      <p:sp>
        <p:nvSpPr>
          <p:cNvPr id="8" name="Rounded Rectangle 7"/>
          <p:cNvSpPr/>
          <p:nvPr/>
        </p:nvSpPr>
        <p:spPr>
          <a:xfrm>
            <a:off x="1645920" y="2468880"/>
            <a:ext cx="8915400" cy="787399"/>
          </a:xfrm>
          <a:prstGeom prst="roundRect">
            <a:avLst/>
          </a:prstGeom>
          <a:solidFill>
            <a:srgbClr val="FFF7E0"/>
          </a:solidFill>
          <a:ln w="11430">
            <a:solidFill>
              <a:srgbClr val="1F62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783080" y="2587752"/>
            <a:ext cx="8641080" cy="328675"/>
          </a:xfrm>
          <a:prstGeom prst="rect">
            <a:avLst/>
          </a:prstGeom>
          <a:noFill/>
        </p:spPr>
        <p:txBody>
          <a:bodyPr wrap="none" lIns="18288" rIns="18288" tIns="9144" bIns="9144" anchor="t">
            <a:spAutoFit/>
          </a:bodyPr>
          <a:lstStyle/>
          <a:p>
            <a:pPr algn="l">
              <a:lnSpc>
                <a:spcPct val="100000"/>
              </a:lnSpc>
              <a:spcBef>
                <a:spcPts val="0"/>
              </a:spcBef>
              <a:spcAft>
                <a:spcPts val="0"/>
              </a:spcAft>
            </a:pPr>
            <a:r>
              <a:rPr sz="2000" b="1">
                <a:solidFill>
                  <a:srgbClr val="18365D"/>
                </a:solidFill>
                <a:latin typeface="Aptos"/>
              </a:rPr>
              <a:t>Distance = sum of lengths of all path segments</a:t>
            </a:r>
          </a:p>
        </p:txBody>
      </p:sp>
      <p:sp>
        <p:nvSpPr>
          <p:cNvPr id="10" name="TextBox 9"/>
          <p:cNvSpPr txBox="1"/>
          <p:nvPr/>
        </p:nvSpPr>
        <p:spPr>
          <a:xfrm>
            <a:off x="1783080" y="2953003"/>
            <a:ext cx="8641080" cy="211836"/>
          </a:xfrm>
          <a:prstGeom prst="rect">
            <a:avLst/>
          </a:prstGeom>
          <a:noFill/>
        </p:spPr>
        <p:txBody>
          <a:bodyPr wrap="none" lIns="18288" rIns="18288" tIns="9144" bIns="9144" anchor="t">
            <a:spAutoFit/>
          </a:bodyPr>
          <a:lstStyle/>
          <a:p>
            <a:pPr algn="l">
              <a:lnSpc>
                <a:spcPct val="100000"/>
              </a:lnSpc>
              <a:spcBef>
                <a:spcPts val="0"/>
              </a:spcBef>
              <a:spcAft>
                <a:spcPts val="0"/>
              </a:spcAft>
            </a:pPr>
            <a:r>
              <a:rPr sz="1200" b="0">
                <a:solidFill>
                  <a:srgbClr val="5F6976"/>
                </a:solidFill>
                <a:latin typeface="Aptos"/>
              </a:rPr>
              <a:t>Scalar • path-dependent • never negative • SI unit: m</a:t>
            </a:r>
          </a:p>
        </p:txBody>
      </p:sp>
      <p:sp>
        <p:nvSpPr>
          <p:cNvPr id="11" name="Rounded Rectangle 10"/>
          <p:cNvSpPr/>
          <p:nvPr/>
        </p:nvSpPr>
        <p:spPr>
          <a:xfrm>
            <a:off x="1234440" y="3840480"/>
            <a:ext cx="9738360" cy="495172"/>
          </a:xfrm>
          <a:prstGeom prst="roundRect">
            <a:avLst/>
          </a:prstGeom>
          <a:solidFill>
            <a:srgbClr val="FDEDED"/>
          </a:solidFill>
          <a:ln w="11430">
            <a:solidFill>
              <a:srgbClr val="B42D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08760" y="3959352"/>
            <a:ext cx="9189720" cy="284860"/>
          </a:xfrm>
          <a:prstGeom prst="rect">
            <a:avLst/>
          </a:prstGeom>
          <a:noFill/>
        </p:spPr>
        <p:txBody>
          <a:bodyPr wrap="none" lIns="18288" rIns="18288" tIns="9144" bIns="9144" anchor="t">
            <a:spAutoFit/>
          </a:bodyPr>
          <a:lstStyle/>
          <a:p>
            <a:pPr algn="l">
              <a:lnSpc>
                <a:spcPct val="100000"/>
              </a:lnSpc>
              <a:spcBef>
                <a:spcPts val="0"/>
              </a:spcBef>
              <a:spcAft>
                <a:spcPts val="0"/>
              </a:spcAft>
            </a:pPr>
            <a:r>
              <a:rPr sz="1700" b="1">
                <a:solidFill>
                  <a:srgbClr val="B42D2D"/>
                </a:solidFill>
                <a:latin typeface="Aptos"/>
              </a:rPr>
              <a:t>Common error: distance is not always |final position − initial position|.</a:t>
            </a:r>
          </a:p>
        </p:txBody>
      </p:sp>
      <p:sp>
        <p:nvSpPr>
          <p:cNvPr id="13" name="Rectangle 12"/>
          <p:cNvSpPr/>
          <p:nvPr/>
        </p:nvSpPr>
        <p:spPr>
          <a:xfrm>
            <a:off x="1645920" y="2468880"/>
            <a:ext cx="59436" cy="787399"/>
          </a:xfrm>
          <a:prstGeom prst="rect">
            <a:avLst/>
          </a:prstGeom>
          <a:solidFill>
            <a:srgbClr val="1F62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234440" y="3840480"/>
            <a:ext cx="59436" cy="495172"/>
          </a:xfrm>
          <a:prstGeom prst="rect">
            <a:avLst/>
          </a:prstGeom>
          <a:solidFill>
            <a:srgbClr val="B4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3840480" cy="320040"/>
          </a:xfrm>
          <a:prstGeom prst="rect">
            <a:avLst/>
          </a:prstGeom>
          <a:noFill/>
        </p:spPr>
        <p:txBody>
          <a:bodyPr wrap="none" lIns="27432" rIns="27432" tIns="27432" bIns="27432" anchor="t">
            <a:spAutoFit/>
          </a:bodyPr>
          <a:lstStyle/>
          <a:p>
            <a:pPr algn="l"/>
            <a:r>
              <a:rPr sz="1100" b="1">
                <a:solidFill>
                  <a:srgbClr val="1F62A6"/>
                </a:solidFill>
                <a:latin typeface="Aptos"/>
              </a:rPr>
              <a:t>DEFINITION</a:t>
            </a:r>
          </a:p>
        </p:txBody>
      </p:sp>
      <p:sp>
        <p:nvSpPr>
          <p:cNvPr id="3" name="TextBox 2"/>
          <p:cNvSpPr txBox="1"/>
          <p:nvPr/>
        </p:nvSpPr>
        <p:spPr>
          <a:xfrm>
            <a:off x="594360" y="594360"/>
            <a:ext cx="10972800" cy="658368"/>
          </a:xfrm>
          <a:prstGeom prst="rect">
            <a:avLst/>
          </a:prstGeom>
          <a:noFill/>
        </p:spPr>
        <p:txBody>
          <a:bodyPr wrap="none" lIns="27432" rIns="27432" tIns="27432" bIns="27432" anchor="t">
            <a:spAutoFit/>
          </a:bodyPr>
          <a:lstStyle/>
          <a:p>
            <a:pPr algn="l"/>
            <a:r>
              <a:rPr sz="2800" b="1">
                <a:solidFill>
                  <a:srgbClr val="18365D"/>
                </a:solidFill>
                <a:latin typeface="Aptos"/>
              </a:rPr>
              <a:t>Displacement</a:t>
            </a:r>
          </a:p>
        </p:txBody>
      </p:sp>
      <p:sp>
        <p:nvSpPr>
          <p:cNvPr id="4" name="Rectangle 3"/>
          <p:cNvSpPr/>
          <p:nvPr/>
        </p:nvSpPr>
        <p:spPr>
          <a:xfrm>
            <a:off x="594360" y="1261872"/>
            <a:ext cx="10972800" cy="18288"/>
          </a:xfrm>
          <a:prstGeom prst="rect">
            <a:avLst/>
          </a:prstGeom>
          <a:solidFill>
            <a:srgbClr val="D7DD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446520"/>
            <a:ext cx="6400800" cy="201168"/>
          </a:xfrm>
          <a:prstGeom prst="rect">
            <a:avLst/>
          </a:prstGeom>
          <a:noFill/>
        </p:spPr>
        <p:txBody>
          <a:bodyPr wrap="none" lIns="27432" rIns="27432" tIns="27432" bIns="27432" anchor="t">
            <a:spAutoFit/>
          </a:bodyPr>
          <a:lstStyle/>
          <a:p>
            <a:pPr algn="l"/>
            <a:r>
              <a:rPr sz="800" b="0">
                <a:solidFill>
                  <a:srgbClr val="5F6976"/>
                </a:solidFill>
                <a:latin typeface="Aptos"/>
              </a:rPr>
              <a:t>LECTURE 05  •  MOTION IN A STRAIGHT LINE</a:t>
            </a:r>
          </a:p>
        </p:txBody>
      </p:sp>
      <p:sp>
        <p:nvSpPr>
          <p:cNvPr id="6" name="TextBox 5"/>
          <p:cNvSpPr txBox="1"/>
          <p:nvPr/>
        </p:nvSpPr>
        <p:spPr>
          <a:xfrm>
            <a:off x="10881360" y="6419088"/>
            <a:ext cx="685800" cy="228600"/>
          </a:xfrm>
          <a:prstGeom prst="rect">
            <a:avLst/>
          </a:prstGeom>
          <a:noFill/>
        </p:spPr>
        <p:txBody>
          <a:bodyPr wrap="none" lIns="27432" rIns="27432" tIns="27432" bIns="27432" anchor="t">
            <a:spAutoFit/>
          </a:bodyPr>
          <a:lstStyle/>
          <a:p>
            <a:pPr algn="r"/>
            <a:r>
              <a:rPr sz="900" b="1">
                <a:solidFill>
                  <a:srgbClr val="5F6976"/>
                </a:solidFill>
                <a:latin typeface="Aptos"/>
              </a:rPr>
              <a:t>15</a:t>
            </a:r>
          </a:p>
        </p:txBody>
      </p:sp>
      <p:sp>
        <p:nvSpPr>
          <p:cNvPr id="7" name="TextBox 6"/>
          <p:cNvSpPr txBox="1"/>
          <p:nvPr/>
        </p:nvSpPr>
        <p:spPr>
          <a:xfrm>
            <a:off x="914400" y="1645920"/>
            <a:ext cx="10332720" cy="594360"/>
          </a:xfrm>
          <a:prstGeom prst="rect">
            <a:avLst/>
          </a:prstGeom>
          <a:noFill/>
        </p:spPr>
        <p:txBody>
          <a:bodyPr wrap="none" lIns="27432" rIns="27432" tIns="27432" bIns="27432" anchor="t">
            <a:spAutoFit/>
          </a:bodyPr>
          <a:lstStyle/>
          <a:p>
            <a:pPr algn="ctr"/>
            <a:r>
              <a:rPr sz="1800" b="1">
                <a:solidFill>
                  <a:srgbClr val="222831"/>
                </a:solidFill>
                <a:latin typeface="Aptos"/>
              </a:rPr>
              <a:t>Change in position from the initial point to the final point.</a:t>
            </a:r>
          </a:p>
        </p:txBody>
      </p:sp>
      <p:sp>
        <p:nvSpPr>
          <p:cNvPr id="8" name="Rounded Rectangle 7"/>
          <p:cNvSpPr/>
          <p:nvPr/>
        </p:nvSpPr>
        <p:spPr>
          <a:xfrm>
            <a:off x="1874519" y="2468880"/>
            <a:ext cx="8458200" cy="787399"/>
          </a:xfrm>
          <a:prstGeom prst="roundRect">
            <a:avLst/>
          </a:prstGeom>
          <a:solidFill>
            <a:srgbClr val="E7F1FC"/>
          </a:solidFill>
          <a:ln w="11430">
            <a:solidFill>
              <a:srgbClr val="1F62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011679" y="2587752"/>
            <a:ext cx="8183879" cy="328675"/>
          </a:xfrm>
          <a:prstGeom prst="rect">
            <a:avLst/>
          </a:prstGeom>
          <a:noFill/>
        </p:spPr>
        <p:txBody>
          <a:bodyPr wrap="none" lIns="18288" rIns="18288" tIns="9144" bIns="9144" anchor="t">
            <a:spAutoFit/>
          </a:bodyPr>
          <a:lstStyle/>
          <a:p>
            <a:pPr algn="l">
              <a:lnSpc>
                <a:spcPct val="100000"/>
              </a:lnSpc>
              <a:spcBef>
                <a:spcPts val="0"/>
              </a:spcBef>
              <a:spcAft>
                <a:spcPts val="0"/>
              </a:spcAft>
            </a:pPr>
            <a:r>
              <a:rPr sz="2000" b="1">
                <a:solidFill>
                  <a:srgbClr val="18365D"/>
                </a:solidFill>
                <a:latin typeface="Aptos"/>
              </a:rPr>
              <a:t>Δx = xᶠ − xᵢ</a:t>
            </a:r>
          </a:p>
        </p:txBody>
      </p:sp>
      <p:sp>
        <p:nvSpPr>
          <p:cNvPr id="10" name="TextBox 9"/>
          <p:cNvSpPr txBox="1"/>
          <p:nvPr/>
        </p:nvSpPr>
        <p:spPr>
          <a:xfrm>
            <a:off x="2011679" y="2953003"/>
            <a:ext cx="8183879" cy="211836"/>
          </a:xfrm>
          <a:prstGeom prst="rect">
            <a:avLst/>
          </a:prstGeom>
          <a:noFill/>
        </p:spPr>
        <p:txBody>
          <a:bodyPr wrap="none" lIns="18288" rIns="18288" tIns="9144" bIns="9144" anchor="t">
            <a:spAutoFit/>
          </a:bodyPr>
          <a:lstStyle/>
          <a:p>
            <a:pPr algn="l">
              <a:lnSpc>
                <a:spcPct val="100000"/>
              </a:lnSpc>
              <a:spcBef>
                <a:spcPts val="0"/>
              </a:spcBef>
              <a:spcAft>
                <a:spcPts val="0"/>
              </a:spcAft>
            </a:pPr>
            <a:r>
              <a:rPr sz="1200" b="0">
                <a:solidFill>
                  <a:srgbClr val="5F6976"/>
                </a:solidFill>
                <a:latin typeface="Aptos"/>
              </a:rPr>
              <a:t>Vector • path-independent • can be positive, negative or zero</a:t>
            </a:r>
          </a:p>
        </p:txBody>
      </p:sp>
      <p:sp>
        <p:nvSpPr>
          <p:cNvPr id="11" name="Rounded Rectangle 10"/>
          <p:cNvSpPr/>
          <p:nvPr/>
        </p:nvSpPr>
        <p:spPr>
          <a:xfrm>
            <a:off x="1234440" y="3840480"/>
            <a:ext cx="9738360" cy="495172"/>
          </a:xfrm>
          <a:prstGeom prst="roundRect">
            <a:avLst/>
          </a:prstGeom>
          <a:solidFill>
            <a:srgbClr val="E8F7EF"/>
          </a:solidFill>
          <a:ln w="11430">
            <a:solidFill>
              <a:srgbClr val="2680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08760" y="3959352"/>
            <a:ext cx="9189720" cy="284860"/>
          </a:xfrm>
          <a:prstGeom prst="rect">
            <a:avLst/>
          </a:prstGeom>
          <a:noFill/>
        </p:spPr>
        <p:txBody>
          <a:bodyPr wrap="none" lIns="18288" rIns="18288" tIns="9144" bIns="9144" anchor="t">
            <a:spAutoFit/>
          </a:bodyPr>
          <a:lstStyle/>
          <a:p>
            <a:pPr algn="l">
              <a:lnSpc>
                <a:spcPct val="100000"/>
              </a:lnSpc>
              <a:spcBef>
                <a:spcPts val="0"/>
              </a:spcBef>
              <a:spcAft>
                <a:spcPts val="0"/>
              </a:spcAft>
            </a:pPr>
            <a:r>
              <a:rPr sz="1700" b="1">
                <a:solidFill>
                  <a:srgbClr val="268054"/>
                </a:solidFill>
                <a:latin typeface="Aptos"/>
              </a:rPr>
              <a:t>Magnitude of displacement = |Δx|  and is always non-negative.</a:t>
            </a:r>
          </a:p>
        </p:txBody>
      </p:sp>
      <p:sp>
        <p:nvSpPr>
          <p:cNvPr id="13" name="Rectangle 12"/>
          <p:cNvSpPr/>
          <p:nvPr/>
        </p:nvSpPr>
        <p:spPr>
          <a:xfrm>
            <a:off x="1874519" y="2468880"/>
            <a:ext cx="59436" cy="787399"/>
          </a:xfrm>
          <a:prstGeom prst="rect">
            <a:avLst/>
          </a:prstGeom>
          <a:solidFill>
            <a:srgbClr val="1F62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234440" y="3840480"/>
            <a:ext cx="59436" cy="495172"/>
          </a:xfrm>
          <a:prstGeom prst="rect">
            <a:avLst/>
          </a:prstGeom>
          <a:solidFill>
            <a:srgbClr val="2680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3840480" cy="320040"/>
          </a:xfrm>
          <a:prstGeom prst="rect">
            <a:avLst/>
          </a:prstGeom>
          <a:noFill/>
        </p:spPr>
        <p:txBody>
          <a:bodyPr wrap="none" lIns="27432" rIns="27432" tIns="27432" bIns="27432" anchor="t">
            <a:spAutoFit/>
          </a:bodyPr>
          <a:lstStyle/>
          <a:p>
            <a:pPr algn="l"/>
            <a:r>
              <a:rPr sz="1100" b="1">
                <a:solidFill>
                  <a:srgbClr val="1F62A6"/>
                </a:solidFill>
                <a:latin typeface="Aptos"/>
              </a:rPr>
              <a:t>COMPARE</a:t>
            </a:r>
          </a:p>
        </p:txBody>
      </p:sp>
      <p:sp>
        <p:nvSpPr>
          <p:cNvPr id="3" name="TextBox 2"/>
          <p:cNvSpPr txBox="1"/>
          <p:nvPr/>
        </p:nvSpPr>
        <p:spPr>
          <a:xfrm>
            <a:off x="594360" y="594360"/>
            <a:ext cx="10972800" cy="658368"/>
          </a:xfrm>
          <a:prstGeom prst="rect">
            <a:avLst/>
          </a:prstGeom>
          <a:noFill/>
        </p:spPr>
        <p:txBody>
          <a:bodyPr wrap="none" lIns="27432" rIns="27432" tIns="27432" bIns="27432" anchor="t">
            <a:spAutoFit/>
          </a:bodyPr>
          <a:lstStyle/>
          <a:p>
            <a:pPr algn="l"/>
            <a:r>
              <a:rPr sz="2800" b="1">
                <a:solidFill>
                  <a:srgbClr val="18365D"/>
                </a:solidFill>
                <a:latin typeface="Aptos"/>
              </a:rPr>
              <a:t>Distance versus displacement</a:t>
            </a:r>
          </a:p>
        </p:txBody>
      </p:sp>
      <p:sp>
        <p:nvSpPr>
          <p:cNvPr id="4" name="Rectangle 3"/>
          <p:cNvSpPr/>
          <p:nvPr/>
        </p:nvSpPr>
        <p:spPr>
          <a:xfrm>
            <a:off x="594360" y="1261872"/>
            <a:ext cx="10972800" cy="18288"/>
          </a:xfrm>
          <a:prstGeom prst="rect">
            <a:avLst/>
          </a:prstGeom>
          <a:solidFill>
            <a:srgbClr val="D7DD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446520"/>
            <a:ext cx="6400800" cy="201168"/>
          </a:xfrm>
          <a:prstGeom prst="rect">
            <a:avLst/>
          </a:prstGeom>
          <a:noFill/>
        </p:spPr>
        <p:txBody>
          <a:bodyPr wrap="none" lIns="27432" rIns="27432" tIns="27432" bIns="27432" anchor="t">
            <a:spAutoFit/>
          </a:bodyPr>
          <a:lstStyle/>
          <a:p>
            <a:pPr algn="l"/>
            <a:r>
              <a:rPr sz="800" b="0">
                <a:solidFill>
                  <a:srgbClr val="5F6976"/>
                </a:solidFill>
                <a:latin typeface="Aptos"/>
              </a:rPr>
              <a:t>LECTURE 05  •  MOTION IN A STRAIGHT LINE</a:t>
            </a:r>
          </a:p>
        </p:txBody>
      </p:sp>
      <p:sp>
        <p:nvSpPr>
          <p:cNvPr id="6" name="TextBox 5"/>
          <p:cNvSpPr txBox="1"/>
          <p:nvPr/>
        </p:nvSpPr>
        <p:spPr>
          <a:xfrm>
            <a:off x="10881360" y="6419088"/>
            <a:ext cx="685800" cy="228600"/>
          </a:xfrm>
          <a:prstGeom prst="rect">
            <a:avLst/>
          </a:prstGeom>
          <a:noFill/>
        </p:spPr>
        <p:txBody>
          <a:bodyPr wrap="none" lIns="27432" rIns="27432" tIns="27432" bIns="27432" anchor="t">
            <a:spAutoFit/>
          </a:bodyPr>
          <a:lstStyle/>
          <a:p>
            <a:pPr algn="r"/>
            <a:r>
              <a:rPr sz="900" b="1">
                <a:solidFill>
                  <a:srgbClr val="5F6976"/>
                </a:solidFill>
                <a:latin typeface="Aptos"/>
              </a:rPr>
              <a:t>16</a:t>
            </a:r>
          </a:p>
        </p:txBody>
      </p:sp>
      <p:sp>
        <p:nvSpPr>
          <p:cNvPr id="7" name="Rectangle 6"/>
          <p:cNvSpPr/>
          <p:nvPr/>
        </p:nvSpPr>
        <p:spPr>
          <a:xfrm>
            <a:off x="731520" y="1600200"/>
            <a:ext cx="2468880" cy="594360"/>
          </a:xfrm>
          <a:prstGeom prst="rect">
            <a:avLst/>
          </a:prstGeom>
          <a:solidFill>
            <a:srgbClr val="18365D"/>
          </a:solidFill>
          <a:ln w="15240">
            <a:solidFill>
              <a:srgbClr val="18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755648"/>
            <a:ext cx="2286000" cy="246888"/>
          </a:xfrm>
          <a:prstGeom prst="rect">
            <a:avLst/>
          </a:prstGeom>
          <a:noFill/>
        </p:spPr>
        <p:txBody>
          <a:bodyPr wrap="none" lIns="27432" rIns="27432" tIns="27432" bIns="27432" anchor="t">
            <a:spAutoFit/>
          </a:bodyPr>
          <a:lstStyle/>
          <a:p>
            <a:pPr algn="ctr"/>
            <a:r>
              <a:rPr sz="1500" b="1">
                <a:solidFill>
                  <a:srgbClr val="FFFFFF"/>
                </a:solidFill>
                <a:latin typeface="Aptos"/>
              </a:rPr>
              <a:t>Feature</a:t>
            </a:r>
          </a:p>
        </p:txBody>
      </p:sp>
      <p:sp>
        <p:nvSpPr>
          <p:cNvPr id="9" name="Rectangle 8"/>
          <p:cNvSpPr/>
          <p:nvPr/>
        </p:nvSpPr>
        <p:spPr>
          <a:xfrm>
            <a:off x="3200400" y="1600200"/>
            <a:ext cx="3931920" cy="594360"/>
          </a:xfrm>
          <a:prstGeom prst="rect">
            <a:avLst/>
          </a:prstGeom>
          <a:solidFill>
            <a:srgbClr val="18365D"/>
          </a:solidFill>
          <a:ln w="15240">
            <a:solidFill>
              <a:srgbClr val="18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91840" y="1755648"/>
            <a:ext cx="3749039" cy="246888"/>
          </a:xfrm>
          <a:prstGeom prst="rect">
            <a:avLst/>
          </a:prstGeom>
          <a:noFill/>
        </p:spPr>
        <p:txBody>
          <a:bodyPr wrap="none" lIns="27432" rIns="27432" tIns="27432" bIns="27432" anchor="t">
            <a:spAutoFit/>
          </a:bodyPr>
          <a:lstStyle/>
          <a:p>
            <a:pPr algn="ctr"/>
            <a:r>
              <a:rPr sz="1500" b="1">
                <a:solidFill>
                  <a:srgbClr val="FFFFFF"/>
                </a:solidFill>
                <a:latin typeface="Aptos"/>
              </a:rPr>
              <a:t>Distance</a:t>
            </a:r>
          </a:p>
        </p:txBody>
      </p:sp>
      <p:sp>
        <p:nvSpPr>
          <p:cNvPr id="11" name="Rectangle 10"/>
          <p:cNvSpPr/>
          <p:nvPr/>
        </p:nvSpPr>
        <p:spPr>
          <a:xfrm>
            <a:off x="7132320" y="1600200"/>
            <a:ext cx="4297680" cy="594360"/>
          </a:xfrm>
          <a:prstGeom prst="rect">
            <a:avLst/>
          </a:prstGeom>
          <a:solidFill>
            <a:srgbClr val="18365D"/>
          </a:solidFill>
          <a:ln w="15240">
            <a:solidFill>
              <a:srgbClr val="18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23759" y="1755648"/>
            <a:ext cx="4114800" cy="246888"/>
          </a:xfrm>
          <a:prstGeom prst="rect">
            <a:avLst/>
          </a:prstGeom>
          <a:noFill/>
        </p:spPr>
        <p:txBody>
          <a:bodyPr wrap="none" lIns="27432" rIns="27432" tIns="27432" bIns="27432" anchor="t">
            <a:spAutoFit/>
          </a:bodyPr>
          <a:lstStyle/>
          <a:p>
            <a:pPr algn="ctr"/>
            <a:r>
              <a:rPr sz="1500" b="1">
                <a:solidFill>
                  <a:srgbClr val="FFFFFF"/>
                </a:solidFill>
                <a:latin typeface="Aptos"/>
              </a:rPr>
              <a:t>Displacement</a:t>
            </a:r>
          </a:p>
        </p:txBody>
      </p:sp>
      <p:sp>
        <p:nvSpPr>
          <p:cNvPr id="13" name="Rectangle 12"/>
          <p:cNvSpPr/>
          <p:nvPr/>
        </p:nvSpPr>
        <p:spPr>
          <a:xfrm>
            <a:off x="731520" y="2194560"/>
            <a:ext cx="2468880" cy="566928"/>
          </a:xfrm>
          <a:prstGeom prst="rect">
            <a:avLst/>
          </a:prstGeom>
          <a:solidFill>
            <a:srgbClr val="FFFFFF"/>
          </a:solidFill>
          <a:ln w="15240">
            <a:solidFill>
              <a:srgbClr val="D7DD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1248" y="2313432"/>
            <a:ext cx="2249424" cy="274320"/>
          </a:xfrm>
          <a:prstGeom prst="rect">
            <a:avLst/>
          </a:prstGeom>
          <a:noFill/>
        </p:spPr>
        <p:txBody>
          <a:bodyPr wrap="none" lIns="27432" rIns="27432" tIns="27432" bIns="27432" anchor="t">
            <a:spAutoFit/>
          </a:bodyPr>
          <a:lstStyle/>
          <a:p>
            <a:pPr algn="ctr"/>
            <a:r>
              <a:rPr sz="1300" b="1">
                <a:solidFill>
                  <a:srgbClr val="222831"/>
                </a:solidFill>
                <a:latin typeface="Aptos"/>
              </a:rPr>
              <a:t>Meaning</a:t>
            </a:r>
          </a:p>
        </p:txBody>
      </p:sp>
      <p:sp>
        <p:nvSpPr>
          <p:cNvPr id="15" name="Rectangle 14"/>
          <p:cNvSpPr/>
          <p:nvPr/>
        </p:nvSpPr>
        <p:spPr>
          <a:xfrm>
            <a:off x="3200400" y="2194560"/>
            <a:ext cx="3931920" cy="566928"/>
          </a:xfrm>
          <a:prstGeom prst="rect">
            <a:avLst/>
          </a:prstGeom>
          <a:solidFill>
            <a:srgbClr val="FFFFFF"/>
          </a:solidFill>
          <a:ln w="15240">
            <a:solidFill>
              <a:srgbClr val="D7DD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310128" y="2313432"/>
            <a:ext cx="3712463" cy="274320"/>
          </a:xfrm>
          <a:prstGeom prst="rect">
            <a:avLst/>
          </a:prstGeom>
          <a:noFill/>
        </p:spPr>
        <p:txBody>
          <a:bodyPr wrap="none" lIns="27432" rIns="27432" tIns="27432" bIns="27432" anchor="t">
            <a:spAutoFit/>
          </a:bodyPr>
          <a:lstStyle/>
          <a:p>
            <a:pPr algn="ctr"/>
            <a:r>
              <a:rPr sz="1300" b="0">
                <a:solidFill>
                  <a:srgbClr val="222831"/>
                </a:solidFill>
                <a:latin typeface="Aptos"/>
              </a:rPr>
              <a:t>Actual path length</a:t>
            </a:r>
          </a:p>
        </p:txBody>
      </p:sp>
      <p:sp>
        <p:nvSpPr>
          <p:cNvPr id="17" name="Rectangle 16"/>
          <p:cNvSpPr/>
          <p:nvPr/>
        </p:nvSpPr>
        <p:spPr>
          <a:xfrm>
            <a:off x="7132320" y="2194560"/>
            <a:ext cx="4297680" cy="566928"/>
          </a:xfrm>
          <a:prstGeom prst="rect">
            <a:avLst/>
          </a:prstGeom>
          <a:solidFill>
            <a:srgbClr val="FFFFFF"/>
          </a:solidFill>
          <a:ln w="15240">
            <a:solidFill>
              <a:srgbClr val="D7DD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42048" y="2313432"/>
            <a:ext cx="4078224" cy="274320"/>
          </a:xfrm>
          <a:prstGeom prst="rect">
            <a:avLst/>
          </a:prstGeom>
          <a:noFill/>
        </p:spPr>
        <p:txBody>
          <a:bodyPr wrap="none" lIns="27432" rIns="27432" tIns="27432" bIns="27432" anchor="t">
            <a:spAutoFit/>
          </a:bodyPr>
          <a:lstStyle/>
          <a:p>
            <a:pPr algn="ctr"/>
            <a:r>
              <a:rPr sz="1300" b="0">
                <a:solidFill>
                  <a:srgbClr val="222831"/>
                </a:solidFill>
                <a:latin typeface="Aptos"/>
              </a:rPr>
              <a:t>Change in position</a:t>
            </a:r>
          </a:p>
        </p:txBody>
      </p:sp>
      <p:sp>
        <p:nvSpPr>
          <p:cNvPr id="19" name="Rectangle 18"/>
          <p:cNvSpPr/>
          <p:nvPr/>
        </p:nvSpPr>
        <p:spPr>
          <a:xfrm>
            <a:off x="731520" y="2761488"/>
            <a:ext cx="2468880" cy="566928"/>
          </a:xfrm>
          <a:prstGeom prst="rect">
            <a:avLst/>
          </a:prstGeom>
          <a:solidFill>
            <a:srgbClr val="F7F9FC"/>
          </a:solidFill>
          <a:ln w="15240">
            <a:solidFill>
              <a:srgbClr val="D7DD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41248" y="2880360"/>
            <a:ext cx="2249424" cy="274320"/>
          </a:xfrm>
          <a:prstGeom prst="rect">
            <a:avLst/>
          </a:prstGeom>
          <a:noFill/>
        </p:spPr>
        <p:txBody>
          <a:bodyPr wrap="none" lIns="27432" rIns="27432" tIns="27432" bIns="27432" anchor="t">
            <a:spAutoFit/>
          </a:bodyPr>
          <a:lstStyle/>
          <a:p>
            <a:pPr algn="ctr"/>
            <a:r>
              <a:rPr sz="1300" b="1">
                <a:solidFill>
                  <a:srgbClr val="222831"/>
                </a:solidFill>
                <a:latin typeface="Aptos"/>
              </a:rPr>
              <a:t>Nature</a:t>
            </a:r>
          </a:p>
        </p:txBody>
      </p:sp>
      <p:sp>
        <p:nvSpPr>
          <p:cNvPr id="21" name="Rectangle 20"/>
          <p:cNvSpPr/>
          <p:nvPr/>
        </p:nvSpPr>
        <p:spPr>
          <a:xfrm>
            <a:off x="3200400" y="2761488"/>
            <a:ext cx="3931920" cy="566928"/>
          </a:xfrm>
          <a:prstGeom prst="rect">
            <a:avLst/>
          </a:prstGeom>
          <a:solidFill>
            <a:srgbClr val="F7F9FC"/>
          </a:solidFill>
          <a:ln w="15240">
            <a:solidFill>
              <a:srgbClr val="D7DD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310128" y="2880360"/>
            <a:ext cx="3712463" cy="274320"/>
          </a:xfrm>
          <a:prstGeom prst="rect">
            <a:avLst/>
          </a:prstGeom>
          <a:noFill/>
        </p:spPr>
        <p:txBody>
          <a:bodyPr wrap="none" lIns="27432" rIns="27432" tIns="27432" bIns="27432" anchor="t">
            <a:spAutoFit/>
          </a:bodyPr>
          <a:lstStyle/>
          <a:p>
            <a:pPr algn="ctr"/>
            <a:r>
              <a:rPr sz="1300" b="0">
                <a:solidFill>
                  <a:srgbClr val="222831"/>
                </a:solidFill>
                <a:latin typeface="Aptos"/>
              </a:rPr>
              <a:t>Scalar</a:t>
            </a:r>
          </a:p>
        </p:txBody>
      </p:sp>
      <p:sp>
        <p:nvSpPr>
          <p:cNvPr id="23" name="Rectangle 22"/>
          <p:cNvSpPr/>
          <p:nvPr/>
        </p:nvSpPr>
        <p:spPr>
          <a:xfrm>
            <a:off x="7132320" y="2761488"/>
            <a:ext cx="4297680" cy="566928"/>
          </a:xfrm>
          <a:prstGeom prst="rect">
            <a:avLst/>
          </a:prstGeom>
          <a:solidFill>
            <a:srgbClr val="F7F9FC"/>
          </a:solidFill>
          <a:ln w="15240">
            <a:solidFill>
              <a:srgbClr val="D7DD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42048" y="2880360"/>
            <a:ext cx="4078224" cy="274320"/>
          </a:xfrm>
          <a:prstGeom prst="rect">
            <a:avLst/>
          </a:prstGeom>
          <a:noFill/>
        </p:spPr>
        <p:txBody>
          <a:bodyPr wrap="none" lIns="27432" rIns="27432" tIns="27432" bIns="27432" anchor="t">
            <a:spAutoFit/>
          </a:bodyPr>
          <a:lstStyle/>
          <a:p>
            <a:pPr algn="ctr"/>
            <a:r>
              <a:rPr sz="1300" b="0">
                <a:solidFill>
                  <a:srgbClr val="222831"/>
                </a:solidFill>
                <a:latin typeface="Aptos"/>
              </a:rPr>
              <a:t>Vector</a:t>
            </a:r>
          </a:p>
        </p:txBody>
      </p:sp>
      <p:sp>
        <p:nvSpPr>
          <p:cNvPr id="25" name="Rectangle 24"/>
          <p:cNvSpPr/>
          <p:nvPr/>
        </p:nvSpPr>
        <p:spPr>
          <a:xfrm>
            <a:off x="731520" y="3328415"/>
            <a:ext cx="2468880" cy="566928"/>
          </a:xfrm>
          <a:prstGeom prst="rect">
            <a:avLst/>
          </a:prstGeom>
          <a:solidFill>
            <a:srgbClr val="FFFFFF"/>
          </a:solidFill>
          <a:ln w="15240">
            <a:solidFill>
              <a:srgbClr val="D7DD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41248" y="3447287"/>
            <a:ext cx="2249424" cy="274320"/>
          </a:xfrm>
          <a:prstGeom prst="rect">
            <a:avLst/>
          </a:prstGeom>
          <a:noFill/>
        </p:spPr>
        <p:txBody>
          <a:bodyPr wrap="none" lIns="27432" rIns="27432" tIns="27432" bIns="27432" anchor="t">
            <a:spAutoFit/>
          </a:bodyPr>
          <a:lstStyle/>
          <a:p>
            <a:pPr algn="ctr"/>
            <a:r>
              <a:rPr sz="1300" b="1">
                <a:solidFill>
                  <a:srgbClr val="222831"/>
                </a:solidFill>
                <a:latin typeface="Aptos"/>
              </a:rPr>
              <a:t>Path</a:t>
            </a:r>
          </a:p>
        </p:txBody>
      </p:sp>
      <p:sp>
        <p:nvSpPr>
          <p:cNvPr id="27" name="Rectangle 26"/>
          <p:cNvSpPr/>
          <p:nvPr/>
        </p:nvSpPr>
        <p:spPr>
          <a:xfrm>
            <a:off x="3200400" y="3328415"/>
            <a:ext cx="3931920" cy="566928"/>
          </a:xfrm>
          <a:prstGeom prst="rect">
            <a:avLst/>
          </a:prstGeom>
          <a:solidFill>
            <a:srgbClr val="FFFFFF"/>
          </a:solidFill>
          <a:ln w="15240">
            <a:solidFill>
              <a:srgbClr val="D7DD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310128" y="3447287"/>
            <a:ext cx="3712463" cy="274320"/>
          </a:xfrm>
          <a:prstGeom prst="rect">
            <a:avLst/>
          </a:prstGeom>
          <a:noFill/>
        </p:spPr>
        <p:txBody>
          <a:bodyPr wrap="none" lIns="27432" rIns="27432" tIns="27432" bIns="27432" anchor="t">
            <a:spAutoFit/>
          </a:bodyPr>
          <a:lstStyle/>
          <a:p>
            <a:pPr algn="ctr"/>
            <a:r>
              <a:rPr sz="1300" b="0">
                <a:solidFill>
                  <a:srgbClr val="222831"/>
                </a:solidFill>
                <a:latin typeface="Aptos"/>
              </a:rPr>
              <a:t>Depends on path</a:t>
            </a:r>
          </a:p>
        </p:txBody>
      </p:sp>
      <p:sp>
        <p:nvSpPr>
          <p:cNvPr id="29" name="Rectangle 28"/>
          <p:cNvSpPr/>
          <p:nvPr/>
        </p:nvSpPr>
        <p:spPr>
          <a:xfrm>
            <a:off x="7132320" y="3328415"/>
            <a:ext cx="4297680" cy="566928"/>
          </a:xfrm>
          <a:prstGeom prst="rect">
            <a:avLst/>
          </a:prstGeom>
          <a:solidFill>
            <a:srgbClr val="FFFFFF"/>
          </a:solidFill>
          <a:ln w="15240">
            <a:solidFill>
              <a:srgbClr val="D7DD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242048" y="3447287"/>
            <a:ext cx="4078224" cy="274320"/>
          </a:xfrm>
          <a:prstGeom prst="rect">
            <a:avLst/>
          </a:prstGeom>
          <a:noFill/>
        </p:spPr>
        <p:txBody>
          <a:bodyPr wrap="none" lIns="27432" rIns="27432" tIns="27432" bIns="27432" anchor="t">
            <a:spAutoFit/>
          </a:bodyPr>
          <a:lstStyle/>
          <a:p>
            <a:pPr algn="ctr"/>
            <a:r>
              <a:rPr sz="1300" b="0">
                <a:solidFill>
                  <a:srgbClr val="222831"/>
                </a:solidFill>
                <a:latin typeface="Aptos"/>
              </a:rPr>
              <a:t>Only endpoints matter</a:t>
            </a:r>
          </a:p>
        </p:txBody>
      </p:sp>
      <p:sp>
        <p:nvSpPr>
          <p:cNvPr id="31" name="Rectangle 30"/>
          <p:cNvSpPr/>
          <p:nvPr/>
        </p:nvSpPr>
        <p:spPr>
          <a:xfrm>
            <a:off x="731520" y="3895344"/>
            <a:ext cx="2468880" cy="566928"/>
          </a:xfrm>
          <a:prstGeom prst="rect">
            <a:avLst/>
          </a:prstGeom>
          <a:solidFill>
            <a:srgbClr val="F7F9FC"/>
          </a:solidFill>
          <a:ln w="15240">
            <a:solidFill>
              <a:srgbClr val="D7DD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41248" y="4014215"/>
            <a:ext cx="2249424" cy="274320"/>
          </a:xfrm>
          <a:prstGeom prst="rect">
            <a:avLst/>
          </a:prstGeom>
          <a:noFill/>
        </p:spPr>
        <p:txBody>
          <a:bodyPr wrap="none" lIns="27432" rIns="27432" tIns="27432" bIns="27432" anchor="t">
            <a:spAutoFit/>
          </a:bodyPr>
          <a:lstStyle/>
          <a:p>
            <a:pPr algn="ctr"/>
            <a:r>
              <a:rPr sz="1300" b="1">
                <a:solidFill>
                  <a:srgbClr val="222831"/>
                </a:solidFill>
                <a:latin typeface="Aptos"/>
              </a:rPr>
              <a:t>Possible value</a:t>
            </a:r>
          </a:p>
        </p:txBody>
      </p:sp>
      <p:sp>
        <p:nvSpPr>
          <p:cNvPr id="33" name="Rectangle 32"/>
          <p:cNvSpPr/>
          <p:nvPr/>
        </p:nvSpPr>
        <p:spPr>
          <a:xfrm>
            <a:off x="3200400" y="3895344"/>
            <a:ext cx="3931920" cy="566928"/>
          </a:xfrm>
          <a:prstGeom prst="rect">
            <a:avLst/>
          </a:prstGeom>
          <a:solidFill>
            <a:srgbClr val="F7F9FC"/>
          </a:solidFill>
          <a:ln w="15240">
            <a:solidFill>
              <a:srgbClr val="D7DD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310128" y="4014215"/>
            <a:ext cx="3712463" cy="274320"/>
          </a:xfrm>
          <a:prstGeom prst="rect">
            <a:avLst/>
          </a:prstGeom>
          <a:noFill/>
        </p:spPr>
        <p:txBody>
          <a:bodyPr wrap="none" lIns="27432" rIns="27432" tIns="27432" bIns="27432" anchor="t">
            <a:spAutoFit/>
          </a:bodyPr>
          <a:lstStyle/>
          <a:p>
            <a:pPr algn="ctr"/>
            <a:r>
              <a:rPr sz="1300" b="0">
                <a:solidFill>
                  <a:srgbClr val="222831"/>
                </a:solidFill>
                <a:latin typeface="Aptos"/>
              </a:rPr>
              <a:t>Zero or positive</a:t>
            </a:r>
          </a:p>
        </p:txBody>
      </p:sp>
      <p:sp>
        <p:nvSpPr>
          <p:cNvPr id="35" name="Rectangle 34"/>
          <p:cNvSpPr/>
          <p:nvPr/>
        </p:nvSpPr>
        <p:spPr>
          <a:xfrm>
            <a:off x="7132320" y="3895344"/>
            <a:ext cx="4297680" cy="566928"/>
          </a:xfrm>
          <a:prstGeom prst="rect">
            <a:avLst/>
          </a:prstGeom>
          <a:solidFill>
            <a:srgbClr val="F7F9FC"/>
          </a:solidFill>
          <a:ln w="15240">
            <a:solidFill>
              <a:srgbClr val="D7DD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242048" y="4014215"/>
            <a:ext cx="4078224" cy="274320"/>
          </a:xfrm>
          <a:prstGeom prst="rect">
            <a:avLst/>
          </a:prstGeom>
          <a:noFill/>
        </p:spPr>
        <p:txBody>
          <a:bodyPr wrap="none" lIns="27432" rIns="27432" tIns="27432" bIns="27432" anchor="t">
            <a:spAutoFit/>
          </a:bodyPr>
          <a:lstStyle/>
          <a:p>
            <a:pPr algn="ctr"/>
            <a:r>
              <a:rPr sz="1300" b="0">
                <a:solidFill>
                  <a:srgbClr val="222831"/>
                </a:solidFill>
                <a:latin typeface="Aptos"/>
              </a:rPr>
              <a:t>Positive, negative or zero</a:t>
            </a:r>
          </a:p>
        </p:txBody>
      </p:sp>
      <p:sp>
        <p:nvSpPr>
          <p:cNvPr id="37" name="Rectangle 36"/>
          <p:cNvSpPr/>
          <p:nvPr/>
        </p:nvSpPr>
        <p:spPr>
          <a:xfrm>
            <a:off x="731520" y="4462272"/>
            <a:ext cx="2468880" cy="566928"/>
          </a:xfrm>
          <a:prstGeom prst="rect">
            <a:avLst/>
          </a:prstGeom>
          <a:solidFill>
            <a:srgbClr val="FFFFFF"/>
          </a:solidFill>
          <a:ln w="15240">
            <a:solidFill>
              <a:srgbClr val="D7DD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41248" y="4581144"/>
            <a:ext cx="2249424" cy="274320"/>
          </a:xfrm>
          <a:prstGeom prst="rect">
            <a:avLst/>
          </a:prstGeom>
          <a:noFill/>
        </p:spPr>
        <p:txBody>
          <a:bodyPr wrap="none" lIns="27432" rIns="27432" tIns="27432" bIns="27432" anchor="t">
            <a:spAutoFit/>
          </a:bodyPr>
          <a:lstStyle/>
          <a:p>
            <a:pPr algn="ctr"/>
            <a:r>
              <a:rPr sz="1300" b="1">
                <a:solidFill>
                  <a:srgbClr val="222831"/>
                </a:solidFill>
                <a:latin typeface="Aptos"/>
              </a:rPr>
              <a:t>SI unit</a:t>
            </a:r>
          </a:p>
        </p:txBody>
      </p:sp>
      <p:sp>
        <p:nvSpPr>
          <p:cNvPr id="39" name="Rectangle 38"/>
          <p:cNvSpPr/>
          <p:nvPr/>
        </p:nvSpPr>
        <p:spPr>
          <a:xfrm>
            <a:off x="3200400" y="4462272"/>
            <a:ext cx="3931920" cy="566928"/>
          </a:xfrm>
          <a:prstGeom prst="rect">
            <a:avLst/>
          </a:prstGeom>
          <a:solidFill>
            <a:srgbClr val="FFFFFF"/>
          </a:solidFill>
          <a:ln w="15240">
            <a:solidFill>
              <a:srgbClr val="D7DD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310128" y="4581144"/>
            <a:ext cx="3712463" cy="274320"/>
          </a:xfrm>
          <a:prstGeom prst="rect">
            <a:avLst/>
          </a:prstGeom>
          <a:noFill/>
        </p:spPr>
        <p:txBody>
          <a:bodyPr wrap="none" lIns="27432" rIns="27432" tIns="27432" bIns="27432" anchor="t">
            <a:spAutoFit/>
          </a:bodyPr>
          <a:lstStyle/>
          <a:p>
            <a:pPr algn="ctr"/>
            <a:r>
              <a:rPr sz="1300" b="0">
                <a:solidFill>
                  <a:srgbClr val="222831"/>
                </a:solidFill>
                <a:latin typeface="Aptos"/>
              </a:rPr>
              <a:t>metre (m)</a:t>
            </a:r>
          </a:p>
        </p:txBody>
      </p:sp>
      <p:sp>
        <p:nvSpPr>
          <p:cNvPr id="41" name="Rectangle 40"/>
          <p:cNvSpPr/>
          <p:nvPr/>
        </p:nvSpPr>
        <p:spPr>
          <a:xfrm>
            <a:off x="7132320" y="4462272"/>
            <a:ext cx="4297680" cy="566928"/>
          </a:xfrm>
          <a:prstGeom prst="rect">
            <a:avLst/>
          </a:prstGeom>
          <a:solidFill>
            <a:srgbClr val="FFFFFF"/>
          </a:solidFill>
          <a:ln w="15240">
            <a:solidFill>
              <a:srgbClr val="D7DD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242048" y="4581144"/>
            <a:ext cx="4078224" cy="274320"/>
          </a:xfrm>
          <a:prstGeom prst="rect">
            <a:avLst/>
          </a:prstGeom>
          <a:noFill/>
        </p:spPr>
        <p:txBody>
          <a:bodyPr wrap="none" lIns="27432" rIns="27432" tIns="27432" bIns="27432" anchor="t">
            <a:spAutoFit/>
          </a:bodyPr>
          <a:lstStyle/>
          <a:p>
            <a:pPr algn="ctr"/>
            <a:r>
              <a:rPr sz="1300" b="0">
                <a:solidFill>
                  <a:srgbClr val="222831"/>
                </a:solidFill>
                <a:latin typeface="Aptos"/>
              </a:rPr>
              <a:t>metre (m)</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3840480" cy="320040"/>
          </a:xfrm>
          <a:prstGeom prst="rect">
            <a:avLst/>
          </a:prstGeom>
          <a:noFill/>
        </p:spPr>
        <p:txBody>
          <a:bodyPr wrap="none" lIns="27432" rIns="27432" tIns="27432" bIns="27432" anchor="t">
            <a:spAutoFit/>
          </a:bodyPr>
          <a:lstStyle/>
          <a:p>
            <a:pPr algn="l"/>
            <a:r>
              <a:rPr sz="1100" b="1">
                <a:solidFill>
                  <a:srgbClr val="1F62A6"/>
                </a:solidFill>
                <a:latin typeface="Aptos"/>
              </a:rPr>
              <a:t>DISTANCE AND DISPLACEMENT</a:t>
            </a:r>
          </a:p>
        </p:txBody>
      </p:sp>
      <p:sp>
        <p:nvSpPr>
          <p:cNvPr id="3" name="TextBox 2"/>
          <p:cNvSpPr txBox="1"/>
          <p:nvPr/>
        </p:nvSpPr>
        <p:spPr>
          <a:xfrm>
            <a:off x="594360" y="594360"/>
            <a:ext cx="10972800" cy="658368"/>
          </a:xfrm>
          <a:prstGeom prst="rect">
            <a:avLst/>
          </a:prstGeom>
          <a:noFill/>
        </p:spPr>
        <p:txBody>
          <a:bodyPr wrap="none" lIns="27432" rIns="27432" tIns="27432" bIns="27432" anchor="t">
            <a:spAutoFit/>
          </a:bodyPr>
          <a:lstStyle/>
          <a:p>
            <a:pPr algn="l"/>
            <a:r>
              <a:rPr sz="2800" b="1">
                <a:solidFill>
                  <a:srgbClr val="18365D"/>
                </a:solidFill>
                <a:latin typeface="Aptos"/>
              </a:rPr>
              <a:t>Worked example 1: straight path</a:t>
            </a:r>
          </a:p>
        </p:txBody>
      </p:sp>
      <p:sp>
        <p:nvSpPr>
          <p:cNvPr id="4" name="Rectangle 3"/>
          <p:cNvSpPr/>
          <p:nvPr/>
        </p:nvSpPr>
        <p:spPr>
          <a:xfrm>
            <a:off x="594360" y="1261872"/>
            <a:ext cx="10972800" cy="18288"/>
          </a:xfrm>
          <a:prstGeom prst="rect">
            <a:avLst/>
          </a:prstGeom>
          <a:solidFill>
            <a:srgbClr val="D7DD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446520"/>
            <a:ext cx="6400800" cy="201168"/>
          </a:xfrm>
          <a:prstGeom prst="rect">
            <a:avLst/>
          </a:prstGeom>
          <a:noFill/>
        </p:spPr>
        <p:txBody>
          <a:bodyPr wrap="none" lIns="27432" rIns="27432" tIns="27432" bIns="27432" anchor="t">
            <a:spAutoFit/>
          </a:bodyPr>
          <a:lstStyle/>
          <a:p>
            <a:pPr algn="l"/>
            <a:r>
              <a:rPr sz="800" b="0">
                <a:solidFill>
                  <a:srgbClr val="5F6976"/>
                </a:solidFill>
                <a:latin typeface="Aptos"/>
              </a:rPr>
              <a:t>LECTURE 05  •  MOTION IN A STRAIGHT LINE</a:t>
            </a:r>
          </a:p>
        </p:txBody>
      </p:sp>
      <p:sp>
        <p:nvSpPr>
          <p:cNvPr id="6" name="TextBox 5"/>
          <p:cNvSpPr txBox="1"/>
          <p:nvPr/>
        </p:nvSpPr>
        <p:spPr>
          <a:xfrm>
            <a:off x="10881360" y="6419088"/>
            <a:ext cx="685800" cy="228600"/>
          </a:xfrm>
          <a:prstGeom prst="rect">
            <a:avLst/>
          </a:prstGeom>
          <a:noFill/>
        </p:spPr>
        <p:txBody>
          <a:bodyPr wrap="none" lIns="27432" rIns="27432" tIns="27432" bIns="27432" anchor="t">
            <a:spAutoFit/>
          </a:bodyPr>
          <a:lstStyle/>
          <a:p>
            <a:pPr algn="r"/>
            <a:r>
              <a:rPr sz="900" b="1">
                <a:solidFill>
                  <a:srgbClr val="5F6976"/>
                </a:solidFill>
                <a:latin typeface="Aptos"/>
              </a:rPr>
              <a:t>17</a:t>
            </a:r>
          </a:p>
        </p:txBody>
      </p:sp>
      <p:sp>
        <p:nvSpPr>
          <p:cNvPr id="7" name="Rectangle 6"/>
          <p:cNvSpPr/>
          <p:nvPr/>
        </p:nvSpPr>
        <p:spPr>
          <a:xfrm>
            <a:off x="1005840" y="2331720"/>
            <a:ext cx="10149840" cy="32004"/>
          </a:xfrm>
          <a:prstGeom prst="rect">
            <a:avLst/>
          </a:prstGeom>
          <a:solidFill>
            <a:srgbClr val="18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94867" y="2221991"/>
            <a:ext cx="21945" cy="246888"/>
          </a:xfrm>
          <a:prstGeom prst="rect">
            <a:avLst/>
          </a:prstGeom>
          <a:solidFill>
            <a:srgbClr val="18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478024"/>
            <a:ext cx="512064" cy="274320"/>
          </a:xfrm>
          <a:prstGeom prst="rect">
            <a:avLst/>
          </a:prstGeom>
          <a:noFill/>
        </p:spPr>
        <p:txBody>
          <a:bodyPr wrap="none" lIns="27432" rIns="27432" tIns="27432" bIns="27432" anchor="t">
            <a:spAutoFit/>
          </a:bodyPr>
          <a:lstStyle/>
          <a:p>
            <a:pPr algn="ctr"/>
            <a:r>
              <a:rPr sz="1200" b="0">
                <a:solidFill>
                  <a:srgbClr val="222831"/>
                </a:solidFill>
                <a:latin typeface="Aptos"/>
              </a:rPr>
              <a:t>0</a:t>
            </a:r>
          </a:p>
        </p:txBody>
      </p:sp>
      <p:sp>
        <p:nvSpPr>
          <p:cNvPr id="10" name="Rectangle 9"/>
          <p:cNvSpPr/>
          <p:nvPr/>
        </p:nvSpPr>
        <p:spPr>
          <a:xfrm>
            <a:off x="3024835" y="2221991"/>
            <a:ext cx="21945" cy="246888"/>
          </a:xfrm>
          <a:prstGeom prst="rect">
            <a:avLst/>
          </a:prstGeom>
          <a:solidFill>
            <a:srgbClr val="18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79776" y="2478024"/>
            <a:ext cx="512064" cy="274320"/>
          </a:xfrm>
          <a:prstGeom prst="rect">
            <a:avLst/>
          </a:prstGeom>
          <a:noFill/>
        </p:spPr>
        <p:txBody>
          <a:bodyPr wrap="none" lIns="27432" rIns="27432" tIns="27432" bIns="27432" anchor="t">
            <a:spAutoFit/>
          </a:bodyPr>
          <a:lstStyle/>
          <a:p>
            <a:pPr algn="ctr"/>
            <a:r>
              <a:rPr sz="1200" b="0">
                <a:solidFill>
                  <a:srgbClr val="222831"/>
                </a:solidFill>
                <a:latin typeface="Aptos"/>
              </a:rPr>
              <a:t>2</a:t>
            </a:r>
          </a:p>
        </p:txBody>
      </p:sp>
      <p:sp>
        <p:nvSpPr>
          <p:cNvPr id="12" name="TextBox 11"/>
          <p:cNvSpPr txBox="1"/>
          <p:nvPr/>
        </p:nvSpPr>
        <p:spPr>
          <a:xfrm>
            <a:off x="2487168" y="1764791"/>
            <a:ext cx="1097280" cy="320040"/>
          </a:xfrm>
          <a:prstGeom prst="rect">
            <a:avLst/>
          </a:prstGeom>
          <a:noFill/>
        </p:spPr>
        <p:txBody>
          <a:bodyPr wrap="none" lIns="27432" rIns="27432" tIns="27432" bIns="27432" anchor="t">
            <a:spAutoFit/>
          </a:bodyPr>
          <a:lstStyle/>
          <a:p>
            <a:pPr algn="ctr"/>
            <a:r>
              <a:rPr sz="1300" b="1">
                <a:solidFill>
                  <a:srgbClr val="222831"/>
                </a:solidFill>
                <a:latin typeface="Aptos"/>
              </a:rPr>
              <a:t>Start</a:t>
            </a:r>
          </a:p>
        </p:txBody>
      </p:sp>
      <p:sp>
        <p:nvSpPr>
          <p:cNvPr id="13" name="Rectangle 12"/>
          <p:cNvSpPr/>
          <p:nvPr/>
        </p:nvSpPr>
        <p:spPr>
          <a:xfrm>
            <a:off x="5054803" y="2221991"/>
            <a:ext cx="21945" cy="246888"/>
          </a:xfrm>
          <a:prstGeom prst="rect">
            <a:avLst/>
          </a:prstGeom>
          <a:solidFill>
            <a:srgbClr val="18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809744" y="2478024"/>
            <a:ext cx="512064" cy="274320"/>
          </a:xfrm>
          <a:prstGeom prst="rect">
            <a:avLst/>
          </a:prstGeom>
          <a:noFill/>
        </p:spPr>
        <p:txBody>
          <a:bodyPr wrap="none" lIns="27432" rIns="27432" tIns="27432" bIns="27432" anchor="t">
            <a:spAutoFit/>
          </a:bodyPr>
          <a:lstStyle/>
          <a:p>
            <a:pPr algn="ctr"/>
            <a:r>
              <a:rPr sz="1200" b="0">
                <a:solidFill>
                  <a:srgbClr val="222831"/>
                </a:solidFill>
                <a:latin typeface="Aptos"/>
              </a:rPr>
              <a:t>4</a:t>
            </a:r>
          </a:p>
        </p:txBody>
      </p:sp>
      <p:sp>
        <p:nvSpPr>
          <p:cNvPr id="15" name="Rectangle 14"/>
          <p:cNvSpPr/>
          <p:nvPr/>
        </p:nvSpPr>
        <p:spPr>
          <a:xfrm>
            <a:off x="7084771" y="2221991"/>
            <a:ext cx="21945" cy="246888"/>
          </a:xfrm>
          <a:prstGeom prst="rect">
            <a:avLst/>
          </a:prstGeom>
          <a:solidFill>
            <a:srgbClr val="18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39712" y="2478024"/>
            <a:ext cx="512064" cy="274320"/>
          </a:xfrm>
          <a:prstGeom prst="rect">
            <a:avLst/>
          </a:prstGeom>
          <a:noFill/>
        </p:spPr>
        <p:txBody>
          <a:bodyPr wrap="none" lIns="27432" rIns="27432" tIns="27432" bIns="27432" anchor="t">
            <a:spAutoFit/>
          </a:bodyPr>
          <a:lstStyle/>
          <a:p>
            <a:pPr algn="ctr"/>
            <a:r>
              <a:rPr sz="1200" b="0">
                <a:solidFill>
                  <a:srgbClr val="222831"/>
                </a:solidFill>
                <a:latin typeface="Aptos"/>
              </a:rPr>
              <a:t>6</a:t>
            </a:r>
          </a:p>
        </p:txBody>
      </p:sp>
      <p:sp>
        <p:nvSpPr>
          <p:cNvPr id="17" name="Rectangle 16"/>
          <p:cNvSpPr/>
          <p:nvPr/>
        </p:nvSpPr>
        <p:spPr>
          <a:xfrm>
            <a:off x="9114739" y="2221991"/>
            <a:ext cx="21945" cy="246888"/>
          </a:xfrm>
          <a:prstGeom prst="rect">
            <a:avLst/>
          </a:prstGeom>
          <a:solidFill>
            <a:srgbClr val="18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869680" y="2478024"/>
            <a:ext cx="512064" cy="274320"/>
          </a:xfrm>
          <a:prstGeom prst="rect">
            <a:avLst/>
          </a:prstGeom>
          <a:noFill/>
        </p:spPr>
        <p:txBody>
          <a:bodyPr wrap="none" lIns="27432" rIns="27432" tIns="27432" bIns="27432" anchor="t">
            <a:spAutoFit/>
          </a:bodyPr>
          <a:lstStyle/>
          <a:p>
            <a:pPr algn="ctr"/>
            <a:r>
              <a:rPr sz="1200" b="0">
                <a:solidFill>
                  <a:srgbClr val="222831"/>
                </a:solidFill>
                <a:latin typeface="Aptos"/>
              </a:rPr>
              <a:t>8</a:t>
            </a:r>
          </a:p>
        </p:txBody>
      </p:sp>
      <p:sp>
        <p:nvSpPr>
          <p:cNvPr id="19" name="Rectangle 18"/>
          <p:cNvSpPr/>
          <p:nvPr/>
        </p:nvSpPr>
        <p:spPr>
          <a:xfrm>
            <a:off x="10129723" y="2221991"/>
            <a:ext cx="21945" cy="246888"/>
          </a:xfrm>
          <a:prstGeom prst="rect">
            <a:avLst/>
          </a:prstGeom>
          <a:solidFill>
            <a:srgbClr val="18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884664" y="2478024"/>
            <a:ext cx="512064" cy="274320"/>
          </a:xfrm>
          <a:prstGeom prst="rect">
            <a:avLst/>
          </a:prstGeom>
          <a:noFill/>
        </p:spPr>
        <p:txBody>
          <a:bodyPr wrap="none" lIns="27432" rIns="27432" tIns="27432" bIns="27432" anchor="t">
            <a:spAutoFit/>
          </a:bodyPr>
          <a:lstStyle/>
          <a:p>
            <a:pPr algn="ctr"/>
            <a:r>
              <a:rPr sz="1200" b="0">
                <a:solidFill>
                  <a:srgbClr val="222831"/>
                </a:solidFill>
                <a:latin typeface="Aptos"/>
              </a:rPr>
              <a:t>9</a:t>
            </a:r>
          </a:p>
        </p:txBody>
      </p:sp>
      <p:sp>
        <p:nvSpPr>
          <p:cNvPr id="21" name="TextBox 20"/>
          <p:cNvSpPr txBox="1"/>
          <p:nvPr/>
        </p:nvSpPr>
        <p:spPr>
          <a:xfrm>
            <a:off x="9592056" y="1764791"/>
            <a:ext cx="1097280" cy="320040"/>
          </a:xfrm>
          <a:prstGeom prst="rect">
            <a:avLst/>
          </a:prstGeom>
          <a:noFill/>
        </p:spPr>
        <p:txBody>
          <a:bodyPr wrap="none" lIns="27432" rIns="27432" tIns="27432" bIns="27432" anchor="t">
            <a:spAutoFit/>
          </a:bodyPr>
          <a:lstStyle/>
          <a:p>
            <a:pPr algn="ctr"/>
            <a:r>
              <a:rPr sz="1300" b="1">
                <a:solidFill>
                  <a:srgbClr val="222831"/>
                </a:solidFill>
                <a:latin typeface="Aptos"/>
              </a:rPr>
              <a:t>Finish</a:t>
            </a:r>
          </a:p>
        </p:txBody>
      </p:sp>
      <p:sp>
        <p:nvSpPr>
          <p:cNvPr id="22" name="Rectangle 21"/>
          <p:cNvSpPr/>
          <p:nvPr/>
        </p:nvSpPr>
        <p:spPr>
          <a:xfrm>
            <a:off x="11144707" y="2221991"/>
            <a:ext cx="21945" cy="246888"/>
          </a:xfrm>
          <a:prstGeom prst="rect">
            <a:avLst/>
          </a:prstGeom>
          <a:solidFill>
            <a:srgbClr val="18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899648" y="2478024"/>
            <a:ext cx="512064" cy="274320"/>
          </a:xfrm>
          <a:prstGeom prst="rect">
            <a:avLst/>
          </a:prstGeom>
          <a:noFill/>
        </p:spPr>
        <p:txBody>
          <a:bodyPr wrap="none" lIns="27432" rIns="27432" tIns="27432" bIns="27432" anchor="t">
            <a:spAutoFit/>
          </a:bodyPr>
          <a:lstStyle/>
          <a:p>
            <a:pPr algn="ctr"/>
            <a:r>
              <a:rPr sz="1200" b="0">
                <a:solidFill>
                  <a:srgbClr val="222831"/>
                </a:solidFill>
                <a:latin typeface="Aptos"/>
              </a:rPr>
              <a:t>10</a:t>
            </a:r>
          </a:p>
        </p:txBody>
      </p:sp>
      <p:sp>
        <p:nvSpPr>
          <p:cNvPr id="24" name="TextBox 23"/>
          <p:cNvSpPr txBox="1"/>
          <p:nvPr/>
        </p:nvSpPr>
        <p:spPr>
          <a:xfrm>
            <a:off x="2011680" y="1508760"/>
            <a:ext cx="8138160" cy="411480"/>
          </a:xfrm>
          <a:prstGeom prst="rect">
            <a:avLst/>
          </a:prstGeom>
          <a:noFill/>
        </p:spPr>
        <p:txBody>
          <a:bodyPr wrap="none" lIns="27432" rIns="27432" tIns="27432" bIns="27432" anchor="t">
            <a:spAutoFit/>
          </a:bodyPr>
          <a:lstStyle/>
          <a:p>
            <a:pPr algn="ctr"/>
            <a:r>
              <a:rPr sz="1800" b="1">
                <a:solidFill>
                  <a:srgbClr val="18365D"/>
                </a:solidFill>
                <a:latin typeface="Aptos"/>
              </a:rPr>
              <a:t>Motion:  x = 2 m  →  x = 9 m</a:t>
            </a:r>
          </a:p>
        </p:txBody>
      </p:sp>
      <p:sp>
        <p:nvSpPr>
          <p:cNvPr id="25" name="Rounded Rectangle 24"/>
          <p:cNvSpPr/>
          <p:nvPr/>
        </p:nvSpPr>
        <p:spPr>
          <a:xfrm>
            <a:off x="1371600" y="3657600"/>
            <a:ext cx="4389120" cy="509777"/>
          </a:xfrm>
          <a:prstGeom prst="roundRect">
            <a:avLst/>
          </a:prstGeom>
          <a:solidFill>
            <a:srgbClr val="FFF7E0"/>
          </a:solidFill>
          <a:ln w="11430">
            <a:solidFill>
              <a:srgbClr val="BE7E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600200" y="3776472"/>
            <a:ext cx="3931920" cy="299465"/>
          </a:xfrm>
          <a:prstGeom prst="rect">
            <a:avLst/>
          </a:prstGeom>
          <a:noFill/>
        </p:spPr>
        <p:txBody>
          <a:bodyPr wrap="none" lIns="18288" rIns="18288" tIns="9144" bIns="9144" anchor="t">
            <a:spAutoFit/>
          </a:bodyPr>
          <a:lstStyle/>
          <a:p>
            <a:pPr algn="l">
              <a:lnSpc>
                <a:spcPct val="100000"/>
              </a:lnSpc>
              <a:spcBef>
                <a:spcPts val="0"/>
              </a:spcBef>
              <a:spcAft>
                <a:spcPts val="0"/>
              </a:spcAft>
            </a:pPr>
            <a:r>
              <a:rPr sz="1800" b="1">
                <a:solidFill>
                  <a:srgbClr val="BE7E00"/>
                </a:solidFill>
                <a:latin typeface="Aptos"/>
              </a:rPr>
              <a:t>Distance = 7 m</a:t>
            </a:r>
          </a:p>
        </p:txBody>
      </p:sp>
      <p:sp>
        <p:nvSpPr>
          <p:cNvPr id="27" name="Rounded Rectangle 26"/>
          <p:cNvSpPr/>
          <p:nvPr/>
        </p:nvSpPr>
        <p:spPr>
          <a:xfrm>
            <a:off x="6400800" y="3657600"/>
            <a:ext cx="4389120" cy="509777"/>
          </a:xfrm>
          <a:prstGeom prst="roundRect">
            <a:avLst/>
          </a:prstGeom>
          <a:solidFill>
            <a:srgbClr val="E7F1FC"/>
          </a:solidFill>
          <a:ln w="11430">
            <a:solidFill>
              <a:srgbClr val="1F62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29400" y="3776472"/>
            <a:ext cx="3931920" cy="299465"/>
          </a:xfrm>
          <a:prstGeom prst="rect">
            <a:avLst/>
          </a:prstGeom>
          <a:noFill/>
        </p:spPr>
        <p:txBody>
          <a:bodyPr wrap="none" lIns="18288" rIns="18288" tIns="9144" bIns="9144" anchor="t">
            <a:spAutoFit/>
          </a:bodyPr>
          <a:lstStyle/>
          <a:p>
            <a:pPr algn="l">
              <a:lnSpc>
                <a:spcPct val="100000"/>
              </a:lnSpc>
              <a:spcBef>
                <a:spcPts val="0"/>
              </a:spcBef>
              <a:spcAft>
                <a:spcPts val="0"/>
              </a:spcAft>
            </a:pPr>
            <a:r>
              <a:rPr sz="1800" b="1">
                <a:solidFill>
                  <a:srgbClr val="1F62A6"/>
                </a:solidFill>
                <a:latin typeface="Aptos"/>
              </a:rPr>
              <a:t>Δx = 9 − 2 = +7 m</a:t>
            </a:r>
          </a:p>
        </p:txBody>
      </p:sp>
      <p:sp>
        <p:nvSpPr>
          <p:cNvPr id="29" name="Rectangle 28"/>
          <p:cNvSpPr/>
          <p:nvPr/>
        </p:nvSpPr>
        <p:spPr>
          <a:xfrm>
            <a:off x="1371600" y="3657600"/>
            <a:ext cx="59436" cy="509777"/>
          </a:xfrm>
          <a:prstGeom prst="rect">
            <a:avLst/>
          </a:prstGeom>
          <a:solidFill>
            <a:srgbClr val="BE7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400800" y="3657600"/>
            <a:ext cx="59436" cy="509777"/>
          </a:xfrm>
          <a:prstGeom prst="rect">
            <a:avLst/>
          </a:prstGeom>
          <a:solidFill>
            <a:srgbClr val="1F62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3840480" cy="320040"/>
          </a:xfrm>
          <a:prstGeom prst="rect">
            <a:avLst/>
          </a:prstGeom>
          <a:noFill/>
        </p:spPr>
        <p:txBody>
          <a:bodyPr wrap="none" lIns="27432" rIns="27432" tIns="27432" bIns="27432" anchor="t">
            <a:spAutoFit/>
          </a:bodyPr>
          <a:lstStyle/>
          <a:p>
            <a:pPr algn="l"/>
            <a:r>
              <a:rPr sz="1100" b="1">
                <a:solidFill>
                  <a:srgbClr val="1F62A6"/>
                </a:solidFill>
                <a:latin typeface="Aptos"/>
              </a:rPr>
              <a:t>DISTANCE AND DISPLACEMENT</a:t>
            </a:r>
          </a:p>
        </p:txBody>
      </p:sp>
      <p:sp>
        <p:nvSpPr>
          <p:cNvPr id="3" name="TextBox 2"/>
          <p:cNvSpPr txBox="1"/>
          <p:nvPr/>
        </p:nvSpPr>
        <p:spPr>
          <a:xfrm>
            <a:off x="594360" y="594360"/>
            <a:ext cx="10972800" cy="658368"/>
          </a:xfrm>
          <a:prstGeom prst="rect">
            <a:avLst/>
          </a:prstGeom>
          <a:noFill/>
        </p:spPr>
        <p:txBody>
          <a:bodyPr wrap="none" lIns="27432" rIns="27432" tIns="27432" bIns="27432" anchor="t">
            <a:spAutoFit/>
          </a:bodyPr>
          <a:lstStyle/>
          <a:p>
            <a:pPr algn="l"/>
            <a:r>
              <a:rPr sz="2800" b="1">
                <a:solidFill>
                  <a:srgbClr val="18365D"/>
                </a:solidFill>
                <a:latin typeface="Aptos"/>
              </a:rPr>
              <a:t>Worked example 2: reversal of direction</a:t>
            </a:r>
          </a:p>
        </p:txBody>
      </p:sp>
      <p:sp>
        <p:nvSpPr>
          <p:cNvPr id="4" name="Rectangle 3"/>
          <p:cNvSpPr/>
          <p:nvPr/>
        </p:nvSpPr>
        <p:spPr>
          <a:xfrm>
            <a:off x="594360" y="1261872"/>
            <a:ext cx="10972800" cy="18288"/>
          </a:xfrm>
          <a:prstGeom prst="rect">
            <a:avLst/>
          </a:prstGeom>
          <a:solidFill>
            <a:srgbClr val="D7DD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446520"/>
            <a:ext cx="6400800" cy="201168"/>
          </a:xfrm>
          <a:prstGeom prst="rect">
            <a:avLst/>
          </a:prstGeom>
          <a:noFill/>
        </p:spPr>
        <p:txBody>
          <a:bodyPr wrap="none" lIns="27432" rIns="27432" tIns="27432" bIns="27432" anchor="t">
            <a:spAutoFit/>
          </a:bodyPr>
          <a:lstStyle/>
          <a:p>
            <a:pPr algn="l"/>
            <a:r>
              <a:rPr sz="800" b="0">
                <a:solidFill>
                  <a:srgbClr val="5F6976"/>
                </a:solidFill>
                <a:latin typeface="Aptos"/>
              </a:rPr>
              <a:t>LECTURE 05  •  MOTION IN A STRAIGHT LINE</a:t>
            </a:r>
          </a:p>
        </p:txBody>
      </p:sp>
      <p:sp>
        <p:nvSpPr>
          <p:cNvPr id="6" name="TextBox 5"/>
          <p:cNvSpPr txBox="1"/>
          <p:nvPr/>
        </p:nvSpPr>
        <p:spPr>
          <a:xfrm>
            <a:off x="10881360" y="6419088"/>
            <a:ext cx="685800" cy="228600"/>
          </a:xfrm>
          <a:prstGeom prst="rect">
            <a:avLst/>
          </a:prstGeom>
          <a:noFill/>
        </p:spPr>
        <p:txBody>
          <a:bodyPr wrap="none" lIns="27432" rIns="27432" tIns="27432" bIns="27432" anchor="t">
            <a:spAutoFit/>
          </a:bodyPr>
          <a:lstStyle/>
          <a:p>
            <a:pPr algn="r"/>
            <a:r>
              <a:rPr sz="900" b="1">
                <a:solidFill>
                  <a:srgbClr val="5F6976"/>
                </a:solidFill>
                <a:latin typeface="Aptos"/>
              </a:rPr>
              <a:t>18</a:t>
            </a:r>
          </a:p>
        </p:txBody>
      </p:sp>
      <p:sp>
        <p:nvSpPr>
          <p:cNvPr id="7" name="TextBox 6"/>
          <p:cNvSpPr txBox="1"/>
          <p:nvPr/>
        </p:nvSpPr>
        <p:spPr>
          <a:xfrm>
            <a:off x="1828800" y="1508760"/>
            <a:ext cx="8503920" cy="438912"/>
          </a:xfrm>
          <a:prstGeom prst="rect">
            <a:avLst/>
          </a:prstGeom>
          <a:noFill/>
        </p:spPr>
        <p:txBody>
          <a:bodyPr wrap="none" lIns="27432" rIns="27432" tIns="27432" bIns="27432" anchor="t">
            <a:spAutoFit/>
          </a:bodyPr>
          <a:lstStyle/>
          <a:p>
            <a:pPr algn="ctr"/>
            <a:r>
              <a:rPr sz="1800" b="1">
                <a:solidFill>
                  <a:srgbClr val="18365D"/>
                </a:solidFill>
                <a:latin typeface="Aptos"/>
              </a:rPr>
              <a:t>Path:  2 m  →  8 m  →  −3 m</a:t>
            </a:r>
          </a:p>
        </p:txBody>
      </p:sp>
      <p:sp>
        <p:nvSpPr>
          <p:cNvPr id="8" name="Rectangle 7"/>
          <p:cNvSpPr/>
          <p:nvPr/>
        </p:nvSpPr>
        <p:spPr>
          <a:xfrm>
            <a:off x="1005840" y="2560320"/>
            <a:ext cx="10149840" cy="32004"/>
          </a:xfrm>
          <a:prstGeom prst="rect">
            <a:avLst/>
          </a:prstGeom>
          <a:solidFill>
            <a:srgbClr val="18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94867" y="2450591"/>
            <a:ext cx="21945" cy="246888"/>
          </a:xfrm>
          <a:prstGeom prst="rect">
            <a:avLst/>
          </a:prstGeom>
          <a:solidFill>
            <a:srgbClr val="18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2706624"/>
            <a:ext cx="512064" cy="274320"/>
          </a:xfrm>
          <a:prstGeom prst="rect">
            <a:avLst/>
          </a:prstGeom>
          <a:noFill/>
        </p:spPr>
        <p:txBody>
          <a:bodyPr wrap="none" lIns="27432" rIns="27432" tIns="27432" bIns="27432" anchor="t">
            <a:spAutoFit/>
          </a:bodyPr>
          <a:lstStyle/>
          <a:p>
            <a:pPr algn="ctr"/>
            <a:r>
              <a:rPr sz="1200" b="0">
                <a:solidFill>
                  <a:srgbClr val="222831"/>
                </a:solidFill>
                <a:latin typeface="Aptos"/>
              </a:rPr>
              <a:t>-4</a:t>
            </a:r>
          </a:p>
        </p:txBody>
      </p:sp>
      <p:sp>
        <p:nvSpPr>
          <p:cNvPr id="11" name="Rectangle 10"/>
          <p:cNvSpPr/>
          <p:nvPr/>
        </p:nvSpPr>
        <p:spPr>
          <a:xfrm>
            <a:off x="1840687" y="2450591"/>
            <a:ext cx="21945" cy="246888"/>
          </a:xfrm>
          <a:prstGeom prst="rect">
            <a:avLst/>
          </a:prstGeom>
          <a:solidFill>
            <a:srgbClr val="18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95628" y="2706624"/>
            <a:ext cx="512064" cy="274320"/>
          </a:xfrm>
          <a:prstGeom prst="rect">
            <a:avLst/>
          </a:prstGeom>
          <a:noFill/>
        </p:spPr>
        <p:txBody>
          <a:bodyPr wrap="none" lIns="27432" rIns="27432" tIns="27432" bIns="27432" anchor="t">
            <a:spAutoFit/>
          </a:bodyPr>
          <a:lstStyle/>
          <a:p>
            <a:pPr algn="ctr"/>
            <a:r>
              <a:rPr sz="1200" b="0">
                <a:solidFill>
                  <a:srgbClr val="222831"/>
                </a:solidFill>
                <a:latin typeface="Aptos"/>
              </a:rPr>
              <a:t>-3</a:t>
            </a:r>
          </a:p>
        </p:txBody>
      </p:sp>
      <p:sp>
        <p:nvSpPr>
          <p:cNvPr id="13" name="TextBox 12"/>
          <p:cNvSpPr txBox="1"/>
          <p:nvPr/>
        </p:nvSpPr>
        <p:spPr>
          <a:xfrm>
            <a:off x="1303019" y="1993391"/>
            <a:ext cx="1097280" cy="320040"/>
          </a:xfrm>
          <a:prstGeom prst="rect">
            <a:avLst/>
          </a:prstGeom>
          <a:noFill/>
        </p:spPr>
        <p:txBody>
          <a:bodyPr wrap="none" lIns="27432" rIns="27432" tIns="27432" bIns="27432" anchor="t">
            <a:spAutoFit/>
          </a:bodyPr>
          <a:lstStyle/>
          <a:p>
            <a:pPr algn="ctr"/>
            <a:r>
              <a:rPr sz="1300" b="1">
                <a:solidFill>
                  <a:srgbClr val="222831"/>
                </a:solidFill>
                <a:latin typeface="Aptos"/>
              </a:rPr>
              <a:t>Finish</a:t>
            </a:r>
          </a:p>
        </p:txBody>
      </p:sp>
      <p:sp>
        <p:nvSpPr>
          <p:cNvPr id="14" name="Rectangle 13"/>
          <p:cNvSpPr/>
          <p:nvPr/>
        </p:nvSpPr>
        <p:spPr>
          <a:xfrm>
            <a:off x="4378147" y="2450591"/>
            <a:ext cx="21945" cy="246888"/>
          </a:xfrm>
          <a:prstGeom prst="rect">
            <a:avLst/>
          </a:prstGeom>
          <a:solidFill>
            <a:srgbClr val="18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133087" y="2706624"/>
            <a:ext cx="512064" cy="274320"/>
          </a:xfrm>
          <a:prstGeom prst="rect">
            <a:avLst/>
          </a:prstGeom>
          <a:noFill/>
        </p:spPr>
        <p:txBody>
          <a:bodyPr wrap="none" lIns="27432" rIns="27432" tIns="27432" bIns="27432" anchor="t">
            <a:spAutoFit/>
          </a:bodyPr>
          <a:lstStyle/>
          <a:p>
            <a:pPr algn="ctr"/>
            <a:r>
              <a:rPr sz="1200" b="0">
                <a:solidFill>
                  <a:srgbClr val="222831"/>
                </a:solidFill>
                <a:latin typeface="Aptos"/>
              </a:rPr>
              <a:t>0</a:t>
            </a:r>
          </a:p>
        </p:txBody>
      </p:sp>
      <p:sp>
        <p:nvSpPr>
          <p:cNvPr id="16" name="Rectangle 15"/>
          <p:cNvSpPr/>
          <p:nvPr/>
        </p:nvSpPr>
        <p:spPr>
          <a:xfrm>
            <a:off x="6069787" y="2450591"/>
            <a:ext cx="21945" cy="246888"/>
          </a:xfrm>
          <a:prstGeom prst="rect">
            <a:avLst/>
          </a:prstGeom>
          <a:solidFill>
            <a:srgbClr val="18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824728" y="2706624"/>
            <a:ext cx="512064" cy="274320"/>
          </a:xfrm>
          <a:prstGeom prst="rect">
            <a:avLst/>
          </a:prstGeom>
          <a:noFill/>
        </p:spPr>
        <p:txBody>
          <a:bodyPr wrap="none" lIns="27432" rIns="27432" tIns="27432" bIns="27432" anchor="t">
            <a:spAutoFit/>
          </a:bodyPr>
          <a:lstStyle/>
          <a:p>
            <a:pPr algn="ctr"/>
            <a:r>
              <a:rPr sz="1200" b="0">
                <a:solidFill>
                  <a:srgbClr val="222831"/>
                </a:solidFill>
                <a:latin typeface="Aptos"/>
              </a:rPr>
              <a:t>2</a:t>
            </a:r>
          </a:p>
        </p:txBody>
      </p:sp>
      <p:sp>
        <p:nvSpPr>
          <p:cNvPr id="18" name="TextBox 17"/>
          <p:cNvSpPr txBox="1"/>
          <p:nvPr/>
        </p:nvSpPr>
        <p:spPr>
          <a:xfrm>
            <a:off x="5532120" y="1993391"/>
            <a:ext cx="1097280" cy="320040"/>
          </a:xfrm>
          <a:prstGeom prst="rect">
            <a:avLst/>
          </a:prstGeom>
          <a:noFill/>
        </p:spPr>
        <p:txBody>
          <a:bodyPr wrap="none" lIns="27432" rIns="27432" tIns="27432" bIns="27432" anchor="t">
            <a:spAutoFit/>
          </a:bodyPr>
          <a:lstStyle/>
          <a:p>
            <a:pPr algn="ctr"/>
            <a:r>
              <a:rPr sz="1300" b="1">
                <a:solidFill>
                  <a:srgbClr val="222831"/>
                </a:solidFill>
                <a:latin typeface="Aptos"/>
              </a:rPr>
              <a:t>Start</a:t>
            </a:r>
          </a:p>
        </p:txBody>
      </p:sp>
      <p:sp>
        <p:nvSpPr>
          <p:cNvPr id="19" name="Rectangle 18"/>
          <p:cNvSpPr/>
          <p:nvPr/>
        </p:nvSpPr>
        <p:spPr>
          <a:xfrm>
            <a:off x="7761427" y="2450591"/>
            <a:ext cx="21945" cy="246888"/>
          </a:xfrm>
          <a:prstGeom prst="rect">
            <a:avLst/>
          </a:prstGeom>
          <a:solidFill>
            <a:srgbClr val="18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16368" y="2706624"/>
            <a:ext cx="512064" cy="274320"/>
          </a:xfrm>
          <a:prstGeom prst="rect">
            <a:avLst/>
          </a:prstGeom>
          <a:noFill/>
        </p:spPr>
        <p:txBody>
          <a:bodyPr wrap="none" lIns="27432" rIns="27432" tIns="27432" bIns="27432" anchor="t">
            <a:spAutoFit/>
          </a:bodyPr>
          <a:lstStyle/>
          <a:p>
            <a:pPr algn="ctr"/>
            <a:r>
              <a:rPr sz="1200" b="0">
                <a:solidFill>
                  <a:srgbClr val="222831"/>
                </a:solidFill>
                <a:latin typeface="Aptos"/>
              </a:rPr>
              <a:t>4</a:t>
            </a:r>
          </a:p>
        </p:txBody>
      </p:sp>
      <p:sp>
        <p:nvSpPr>
          <p:cNvPr id="21" name="Rectangle 20"/>
          <p:cNvSpPr/>
          <p:nvPr/>
        </p:nvSpPr>
        <p:spPr>
          <a:xfrm>
            <a:off x="9453067" y="2450591"/>
            <a:ext cx="21945" cy="246888"/>
          </a:xfrm>
          <a:prstGeom prst="rect">
            <a:avLst/>
          </a:prstGeom>
          <a:solidFill>
            <a:srgbClr val="18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208008" y="2706624"/>
            <a:ext cx="512064" cy="274320"/>
          </a:xfrm>
          <a:prstGeom prst="rect">
            <a:avLst/>
          </a:prstGeom>
          <a:noFill/>
        </p:spPr>
        <p:txBody>
          <a:bodyPr wrap="none" lIns="27432" rIns="27432" tIns="27432" bIns="27432" anchor="t">
            <a:spAutoFit/>
          </a:bodyPr>
          <a:lstStyle/>
          <a:p>
            <a:pPr algn="ctr"/>
            <a:r>
              <a:rPr sz="1200" b="0">
                <a:solidFill>
                  <a:srgbClr val="222831"/>
                </a:solidFill>
                <a:latin typeface="Aptos"/>
              </a:rPr>
              <a:t>6</a:t>
            </a:r>
          </a:p>
        </p:txBody>
      </p:sp>
      <p:sp>
        <p:nvSpPr>
          <p:cNvPr id="23" name="Rectangle 22"/>
          <p:cNvSpPr/>
          <p:nvPr/>
        </p:nvSpPr>
        <p:spPr>
          <a:xfrm>
            <a:off x="11144707" y="2450591"/>
            <a:ext cx="21945" cy="246888"/>
          </a:xfrm>
          <a:prstGeom prst="rect">
            <a:avLst/>
          </a:prstGeom>
          <a:solidFill>
            <a:srgbClr val="18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899648" y="2706624"/>
            <a:ext cx="512064" cy="274320"/>
          </a:xfrm>
          <a:prstGeom prst="rect">
            <a:avLst/>
          </a:prstGeom>
          <a:noFill/>
        </p:spPr>
        <p:txBody>
          <a:bodyPr wrap="none" lIns="27432" rIns="27432" tIns="27432" bIns="27432" anchor="t">
            <a:spAutoFit/>
          </a:bodyPr>
          <a:lstStyle/>
          <a:p>
            <a:pPr algn="ctr"/>
            <a:r>
              <a:rPr sz="1200" b="0">
                <a:solidFill>
                  <a:srgbClr val="222831"/>
                </a:solidFill>
                <a:latin typeface="Aptos"/>
              </a:rPr>
              <a:t>8</a:t>
            </a:r>
          </a:p>
        </p:txBody>
      </p:sp>
      <p:sp>
        <p:nvSpPr>
          <p:cNvPr id="25" name="TextBox 24"/>
          <p:cNvSpPr txBox="1"/>
          <p:nvPr/>
        </p:nvSpPr>
        <p:spPr>
          <a:xfrm>
            <a:off x="10607040" y="1993391"/>
            <a:ext cx="1097280" cy="320040"/>
          </a:xfrm>
          <a:prstGeom prst="rect">
            <a:avLst/>
          </a:prstGeom>
          <a:noFill/>
        </p:spPr>
        <p:txBody>
          <a:bodyPr wrap="none" lIns="27432" rIns="27432" tIns="27432" bIns="27432" anchor="t">
            <a:spAutoFit/>
          </a:bodyPr>
          <a:lstStyle/>
          <a:p>
            <a:pPr algn="ctr"/>
            <a:r>
              <a:rPr sz="1300" b="1">
                <a:solidFill>
                  <a:srgbClr val="222831"/>
                </a:solidFill>
                <a:latin typeface="Aptos"/>
              </a:rPr>
              <a:t>Turn</a:t>
            </a:r>
          </a:p>
        </p:txBody>
      </p:sp>
      <p:sp>
        <p:nvSpPr>
          <p:cNvPr id="26" name="Rounded Rectangle 25"/>
          <p:cNvSpPr/>
          <p:nvPr/>
        </p:nvSpPr>
        <p:spPr>
          <a:xfrm>
            <a:off x="1051560" y="4023360"/>
            <a:ext cx="4754880" cy="509777"/>
          </a:xfrm>
          <a:prstGeom prst="roundRect">
            <a:avLst/>
          </a:prstGeom>
          <a:solidFill>
            <a:srgbClr val="FFF7E0"/>
          </a:solidFill>
          <a:ln w="11430">
            <a:solidFill>
              <a:srgbClr val="BE7E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234440" y="4142232"/>
            <a:ext cx="4389120" cy="299465"/>
          </a:xfrm>
          <a:prstGeom prst="rect">
            <a:avLst/>
          </a:prstGeom>
          <a:noFill/>
        </p:spPr>
        <p:txBody>
          <a:bodyPr wrap="none" lIns="18288" rIns="18288" tIns="9144" bIns="9144" anchor="t">
            <a:spAutoFit/>
          </a:bodyPr>
          <a:lstStyle/>
          <a:p>
            <a:pPr algn="l">
              <a:lnSpc>
                <a:spcPct val="100000"/>
              </a:lnSpc>
              <a:spcBef>
                <a:spcPts val="0"/>
              </a:spcBef>
              <a:spcAft>
                <a:spcPts val="0"/>
              </a:spcAft>
            </a:pPr>
            <a:r>
              <a:rPr sz="1800" b="1">
                <a:solidFill>
                  <a:srgbClr val="BE7E00"/>
                </a:solidFill>
                <a:latin typeface="Aptos"/>
              </a:rPr>
              <a:t>Distance = 6 + 11 = 17 m</a:t>
            </a:r>
          </a:p>
        </p:txBody>
      </p:sp>
      <p:sp>
        <p:nvSpPr>
          <p:cNvPr id="28" name="Rounded Rectangle 27"/>
          <p:cNvSpPr/>
          <p:nvPr/>
        </p:nvSpPr>
        <p:spPr>
          <a:xfrm>
            <a:off x="6355080" y="4023360"/>
            <a:ext cx="4754880" cy="509777"/>
          </a:xfrm>
          <a:prstGeom prst="roundRect">
            <a:avLst/>
          </a:prstGeom>
          <a:solidFill>
            <a:srgbClr val="E7F1FC"/>
          </a:solidFill>
          <a:ln w="11430">
            <a:solidFill>
              <a:srgbClr val="1F62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37960" y="4142232"/>
            <a:ext cx="4389120" cy="299465"/>
          </a:xfrm>
          <a:prstGeom prst="rect">
            <a:avLst/>
          </a:prstGeom>
          <a:noFill/>
        </p:spPr>
        <p:txBody>
          <a:bodyPr wrap="none" lIns="18288" rIns="18288" tIns="9144" bIns="9144" anchor="t">
            <a:spAutoFit/>
          </a:bodyPr>
          <a:lstStyle/>
          <a:p>
            <a:pPr algn="l">
              <a:lnSpc>
                <a:spcPct val="100000"/>
              </a:lnSpc>
              <a:spcBef>
                <a:spcPts val="0"/>
              </a:spcBef>
              <a:spcAft>
                <a:spcPts val="0"/>
              </a:spcAft>
            </a:pPr>
            <a:r>
              <a:rPr sz="1800" b="1">
                <a:solidFill>
                  <a:srgbClr val="1F62A6"/>
                </a:solidFill>
                <a:latin typeface="Aptos"/>
              </a:rPr>
              <a:t>Δx = −3 − 2 = −5 m</a:t>
            </a:r>
          </a:p>
        </p:txBody>
      </p:sp>
      <p:sp>
        <p:nvSpPr>
          <p:cNvPr id="30" name="Rectangle 29"/>
          <p:cNvSpPr/>
          <p:nvPr/>
        </p:nvSpPr>
        <p:spPr>
          <a:xfrm>
            <a:off x="1051560" y="4023360"/>
            <a:ext cx="59436" cy="509777"/>
          </a:xfrm>
          <a:prstGeom prst="rect">
            <a:avLst/>
          </a:prstGeom>
          <a:solidFill>
            <a:srgbClr val="BE7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355080" y="4023360"/>
            <a:ext cx="59436" cy="509777"/>
          </a:xfrm>
          <a:prstGeom prst="rect">
            <a:avLst/>
          </a:prstGeom>
          <a:solidFill>
            <a:srgbClr val="1F62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3840480" cy="320040"/>
          </a:xfrm>
          <a:prstGeom prst="rect">
            <a:avLst/>
          </a:prstGeom>
          <a:noFill/>
        </p:spPr>
        <p:txBody>
          <a:bodyPr wrap="none" lIns="27432" rIns="27432" tIns="27432" bIns="27432" anchor="t">
            <a:spAutoFit/>
          </a:bodyPr>
          <a:lstStyle/>
          <a:p>
            <a:pPr algn="l"/>
            <a:r>
              <a:rPr sz="1100" b="1">
                <a:solidFill>
                  <a:srgbClr val="1F62A6"/>
                </a:solidFill>
                <a:latin typeface="Aptos"/>
              </a:rPr>
              <a:t>SPECIAL CASE</a:t>
            </a:r>
          </a:p>
        </p:txBody>
      </p:sp>
      <p:sp>
        <p:nvSpPr>
          <p:cNvPr id="3" name="TextBox 2"/>
          <p:cNvSpPr txBox="1"/>
          <p:nvPr/>
        </p:nvSpPr>
        <p:spPr>
          <a:xfrm>
            <a:off x="594360" y="594360"/>
            <a:ext cx="10972800" cy="658368"/>
          </a:xfrm>
          <a:prstGeom prst="rect">
            <a:avLst/>
          </a:prstGeom>
          <a:noFill/>
        </p:spPr>
        <p:txBody>
          <a:bodyPr wrap="none" lIns="27432" rIns="27432" tIns="27432" bIns="27432" anchor="t">
            <a:spAutoFit/>
          </a:bodyPr>
          <a:lstStyle/>
          <a:p>
            <a:pPr algn="l"/>
            <a:r>
              <a:rPr sz="2800" b="1">
                <a:solidFill>
                  <a:srgbClr val="18365D"/>
                </a:solidFill>
                <a:latin typeface="Aptos"/>
              </a:rPr>
              <a:t>Worked example 3: round trip</a:t>
            </a:r>
          </a:p>
        </p:txBody>
      </p:sp>
      <p:sp>
        <p:nvSpPr>
          <p:cNvPr id="4" name="Rectangle 3"/>
          <p:cNvSpPr/>
          <p:nvPr/>
        </p:nvSpPr>
        <p:spPr>
          <a:xfrm>
            <a:off x="594360" y="1261872"/>
            <a:ext cx="10972800" cy="18288"/>
          </a:xfrm>
          <a:prstGeom prst="rect">
            <a:avLst/>
          </a:prstGeom>
          <a:solidFill>
            <a:srgbClr val="D7DD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446520"/>
            <a:ext cx="6400800" cy="201168"/>
          </a:xfrm>
          <a:prstGeom prst="rect">
            <a:avLst/>
          </a:prstGeom>
          <a:noFill/>
        </p:spPr>
        <p:txBody>
          <a:bodyPr wrap="none" lIns="27432" rIns="27432" tIns="27432" bIns="27432" anchor="t">
            <a:spAutoFit/>
          </a:bodyPr>
          <a:lstStyle/>
          <a:p>
            <a:pPr algn="l"/>
            <a:r>
              <a:rPr sz="800" b="0">
                <a:solidFill>
                  <a:srgbClr val="5F6976"/>
                </a:solidFill>
                <a:latin typeface="Aptos"/>
              </a:rPr>
              <a:t>LECTURE 05  •  MOTION IN A STRAIGHT LINE</a:t>
            </a:r>
          </a:p>
        </p:txBody>
      </p:sp>
      <p:sp>
        <p:nvSpPr>
          <p:cNvPr id="6" name="TextBox 5"/>
          <p:cNvSpPr txBox="1"/>
          <p:nvPr/>
        </p:nvSpPr>
        <p:spPr>
          <a:xfrm>
            <a:off x="10881360" y="6419088"/>
            <a:ext cx="685800" cy="228600"/>
          </a:xfrm>
          <a:prstGeom prst="rect">
            <a:avLst/>
          </a:prstGeom>
          <a:noFill/>
        </p:spPr>
        <p:txBody>
          <a:bodyPr wrap="none" lIns="27432" rIns="27432" tIns="27432" bIns="27432" anchor="t">
            <a:spAutoFit/>
          </a:bodyPr>
          <a:lstStyle/>
          <a:p>
            <a:pPr algn="r"/>
            <a:r>
              <a:rPr sz="900" b="1">
                <a:solidFill>
                  <a:srgbClr val="5F6976"/>
                </a:solidFill>
                <a:latin typeface="Aptos"/>
              </a:rPr>
              <a:t>19</a:t>
            </a:r>
          </a:p>
        </p:txBody>
      </p:sp>
      <p:sp>
        <p:nvSpPr>
          <p:cNvPr id="7" name="Rounded Rectangle 6"/>
          <p:cNvSpPr/>
          <p:nvPr/>
        </p:nvSpPr>
        <p:spPr>
          <a:xfrm>
            <a:off x="914400" y="1600200"/>
            <a:ext cx="10332720" cy="831213"/>
          </a:xfrm>
          <a:prstGeom prst="roundRect">
            <a:avLst/>
          </a:prstGeom>
          <a:solidFill>
            <a:srgbClr val="F7F9FC"/>
          </a:solidFill>
          <a:ln w="11430">
            <a:solidFill>
              <a:srgbClr val="D7DD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80160" y="1719072"/>
            <a:ext cx="9601200" cy="299465"/>
          </a:xfrm>
          <a:prstGeom prst="rect">
            <a:avLst/>
          </a:prstGeom>
          <a:noFill/>
        </p:spPr>
        <p:txBody>
          <a:bodyPr wrap="none" lIns="18288" rIns="18288" tIns="9144" bIns="9144" anchor="t">
            <a:spAutoFit/>
          </a:bodyPr>
          <a:lstStyle/>
          <a:p>
            <a:pPr algn="l">
              <a:lnSpc>
                <a:spcPct val="100000"/>
              </a:lnSpc>
              <a:spcBef>
                <a:spcPts val="0"/>
              </a:spcBef>
              <a:spcAft>
                <a:spcPts val="0"/>
              </a:spcAft>
            </a:pPr>
            <a:r>
              <a:rPr sz="1800" b="1">
                <a:solidFill>
                  <a:srgbClr val="18365D"/>
                </a:solidFill>
                <a:latin typeface="Aptos"/>
              </a:rPr>
              <a:t>Runner completes one 400 m lap and returns to the starting point.</a:t>
            </a:r>
          </a:p>
        </p:txBody>
      </p:sp>
      <p:sp>
        <p:nvSpPr>
          <p:cNvPr id="9" name="TextBox 8"/>
          <p:cNvSpPr txBox="1"/>
          <p:nvPr/>
        </p:nvSpPr>
        <p:spPr>
          <a:xfrm>
            <a:off x="2560320" y="2055113"/>
            <a:ext cx="7040880" cy="284860"/>
          </a:xfrm>
          <a:prstGeom prst="rect">
            <a:avLst/>
          </a:prstGeom>
          <a:noFill/>
        </p:spPr>
        <p:txBody>
          <a:bodyPr wrap="none" lIns="18288" rIns="18288" tIns="9144" bIns="9144" anchor="t">
            <a:spAutoFit/>
          </a:bodyPr>
          <a:lstStyle/>
          <a:p>
            <a:pPr algn="l">
              <a:lnSpc>
                <a:spcPct val="100000"/>
              </a:lnSpc>
              <a:spcBef>
                <a:spcPts val="0"/>
              </a:spcBef>
              <a:spcAft>
                <a:spcPts val="0"/>
              </a:spcAft>
            </a:pPr>
            <a:r>
              <a:rPr sz="1700" b="1">
                <a:solidFill>
                  <a:srgbClr val="007D8A"/>
                </a:solidFill>
                <a:latin typeface="Aptos"/>
              </a:rPr>
              <a:t>Initial position = Final position</a:t>
            </a:r>
          </a:p>
        </p:txBody>
      </p:sp>
      <p:sp>
        <p:nvSpPr>
          <p:cNvPr id="10" name="Rounded Rectangle 9"/>
          <p:cNvSpPr/>
          <p:nvPr/>
        </p:nvSpPr>
        <p:spPr>
          <a:xfrm>
            <a:off x="1234440" y="3474720"/>
            <a:ext cx="4480560" cy="509777"/>
          </a:xfrm>
          <a:prstGeom prst="roundRect">
            <a:avLst/>
          </a:prstGeom>
          <a:solidFill>
            <a:srgbClr val="FFF7E0"/>
          </a:solidFill>
          <a:ln w="11430">
            <a:solidFill>
              <a:srgbClr val="BE7E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463040" y="3593592"/>
            <a:ext cx="4023360" cy="299465"/>
          </a:xfrm>
          <a:prstGeom prst="rect">
            <a:avLst/>
          </a:prstGeom>
          <a:noFill/>
        </p:spPr>
        <p:txBody>
          <a:bodyPr wrap="none" lIns="18288" rIns="18288" tIns="9144" bIns="9144" anchor="t">
            <a:spAutoFit/>
          </a:bodyPr>
          <a:lstStyle/>
          <a:p>
            <a:pPr algn="l">
              <a:lnSpc>
                <a:spcPct val="100000"/>
              </a:lnSpc>
              <a:spcBef>
                <a:spcPts val="0"/>
              </a:spcBef>
              <a:spcAft>
                <a:spcPts val="0"/>
              </a:spcAft>
            </a:pPr>
            <a:r>
              <a:rPr sz="1800" b="1">
                <a:solidFill>
                  <a:srgbClr val="BE7E00"/>
                </a:solidFill>
                <a:latin typeface="Aptos"/>
              </a:rPr>
              <a:t>Distance = 400 m</a:t>
            </a:r>
          </a:p>
        </p:txBody>
      </p:sp>
      <p:sp>
        <p:nvSpPr>
          <p:cNvPr id="12" name="Rounded Rectangle 11"/>
          <p:cNvSpPr/>
          <p:nvPr/>
        </p:nvSpPr>
        <p:spPr>
          <a:xfrm>
            <a:off x="6446520" y="3474720"/>
            <a:ext cx="4480560" cy="509777"/>
          </a:xfrm>
          <a:prstGeom prst="roundRect">
            <a:avLst/>
          </a:prstGeom>
          <a:solidFill>
            <a:srgbClr val="E7F1FC"/>
          </a:solidFill>
          <a:ln w="11430">
            <a:solidFill>
              <a:srgbClr val="1F62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75120" y="3593592"/>
            <a:ext cx="4023360" cy="299465"/>
          </a:xfrm>
          <a:prstGeom prst="rect">
            <a:avLst/>
          </a:prstGeom>
          <a:noFill/>
        </p:spPr>
        <p:txBody>
          <a:bodyPr wrap="none" lIns="18288" rIns="18288" tIns="9144" bIns="9144" anchor="t">
            <a:spAutoFit/>
          </a:bodyPr>
          <a:lstStyle/>
          <a:p>
            <a:pPr algn="l">
              <a:lnSpc>
                <a:spcPct val="100000"/>
              </a:lnSpc>
              <a:spcBef>
                <a:spcPts val="0"/>
              </a:spcBef>
              <a:spcAft>
                <a:spcPts val="0"/>
              </a:spcAft>
            </a:pPr>
            <a:r>
              <a:rPr sz="1800" b="1">
                <a:solidFill>
                  <a:srgbClr val="1F62A6"/>
                </a:solidFill>
                <a:latin typeface="Aptos"/>
              </a:rPr>
              <a:t>Displacement = 0</a:t>
            </a:r>
          </a:p>
        </p:txBody>
      </p:sp>
      <p:sp>
        <p:nvSpPr>
          <p:cNvPr id="14" name="Rectangle 13"/>
          <p:cNvSpPr/>
          <p:nvPr/>
        </p:nvSpPr>
        <p:spPr>
          <a:xfrm>
            <a:off x="914400" y="1600200"/>
            <a:ext cx="59436" cy="831213"/>
          </a:xfrm>
          <a:prstGeom prst="rect">
            <a:avLst/>
          </a:prstGeom>
          <a:solidFill>
            <a:srgbClr val="1F62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234440" y="3474720"/>
            <a:ext cx="59436" cy="509777"/>
          </a:xfrm>
          <a:prstGeom prst="rect">
            <a:avLst/>
          </a:prstGeom>
          <a:solidFill>
            <a:srgbClr val="BE7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46520" y="3474720"/>
            <a:ext cx="59436" cy="509777"/>
          </a:xfrm>
          <a:prstGeom prst="rect">
            <a:avLst/>
          </a:prstGeom>
          <a:solidFill>
            <a:srgbClr val="1F62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3840480" cy="320040"/>
          </a:xfrm>
          <a:prstGeom prst="rect">
            <a:avLst/>
          </a:prstGeom>
          <a:noFill/>
        </p:spPr>
        <p:txBody>
          <a:bodyPr wrap="none" lIns="27432" rIns="27432" tIns="27432" bIns="27432" anchor="t">
            <a:spAutoFit/>
          </a:bodyPr>
          <a:lstStyle/>
          <a:p>
            <a:pPr algn="l"/>
            <a:r>
              <a:rPr sz="1100" b="1">
                <a:solidFill>
                  <a:srgbClr val="1F62A6"/>
                </a:solidFill>
                <a:latin typeface="Aptos"/>
              </a:rPr>
              <a:t>DISTANCE AND DISPLACEMENT</a:t>
            </a:r>
          </a:p>
        </p:txBody>
      </p:sp>
      <p:sp>
        <p:nvSpPr>
          <p:cNvPr id="3" name="TextBox 2"/>
          <p:cNvSpPr txBox="1"/>
          <p:nvPr/>
        </p:nvSpPr>
        <p:spPr>
          <a:xfrm>
            <a:off x="594360" y="594360"/>
            <a:ext cx="10972800" cy="658368"/>
          </a:xfrm>
          <a:prstGeom prst="rect">
            <a:avLst/>
          </a:prstGeom>
          <a:noFill/>
        </p:spPr>
        <p:txBody>
          <a:bodyPr wrap="none" lIns="27432" rIns="27432" tIns="27432" bIns="27432" anchor="t">
            <a:spAutoFit/>
          </a:bodyPr>
          <a:lstStyle/>
          <a:p>
            <a:pPr algn="l"/>
            <a:r>
              <a:rPr sz="2800" b="1">
                <a:solidFill>
                  <a:srgbClr val="18365D"/>
                </a:solidFill>
                <a:latin typeface="Aptos"/>
              </a:rPr>
              <a:t>The fundamental relation</a:t>
            </a:r>
          </a:p>
        </p:txBody>
      </p:sp>
      <p:sp>
        <p:nvSpPr>
          <p:cNvPr id="4" name="Rectangle 3"/>
          <p:cNvSpPr/>
          <p:nvPr/>
        </p:nvSpPr>
        <p:spPr>
          <a:xfrm>
            <a:off x="594360" y="1261872"/>
            <a:ext cx="10972800" cy="18288"/>
          </a:xfrm>
          <a:prstGeom prst="rect">
            <a:avLst/>
          </a:prstGeom>
          <a:solidFill>
            <a:srgbClr val="D7DD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446520"/>
            <a:ext cx="6400800" cy="201168"/>
          </a:xfrm>
          <a:prstGeom prst="rect">
            <a:avLst/>
          </a:prstGeom>
          <a:noFill/>
        </p:spPr>
        <p:txBody>
          <a:bodyPr wrap="none" lIns="27432" rIns="27432" tIns="27432" bIns="27432" anchor="t">
            <a:spAutoFit/>
          </a:bodyPr>
          <a:lstStyle/>
          <a:p>
            <a:pPr algn="l"/>
            <a:r>
              <a:rPr sz="800" b="0">
                <a:solidFill>
                  <a:srgbClr val="5F6976"/>
                </a:solidFill>
                <a:latin typeface="Aptos"/>
              </a:rPr>
              <a:t>LECTURE 05  •  MOTION IN A STRAIGHT LINE</a:t>
            </a:r>
          </a:p>
        </p:txBody>
      </p:sp>
      <p:sp>
        <p:nvSpPr>
          <p:cNvPr id="6" name="TextBox 5"/>
          <p:cNvSpPr txBox="1"/>
          <p:nvPr/>
        </p:nvSpPr>
        <p:spPr>
          <a:xfrm>
            <a:off x="10881360" y="6419088"/>
            <a:ext cx="685800" cy="228600"/>
          </a:xfrm>
          <a:prstGeom prst="rect">
            <a:avLst/>
          </a:prstGeom>
          <a:noFill/>
        </p:spPr>
        <p:txBody>
          <a:bodyPr wrap="none" lIns="27432" rIns="27432" tIns="27432" bIns="27432" anchor="t">
            <a:spAutoFit/>
          </a:bodyPr>
          <a:lstStyle/>
          <a:p>
            <a:pPr algn="r"/>
            <a:r>
              <a:rPr sz="900" b="1">
                <a:solidFill>
                  <a:srgbClr val="5F6976"/>
                </a:solidFill>
                <a:latin typeface="Aptos"/>
              </a:rPr>
              <a:t>20</a:t>
            </a:r>
          </a:p>
        </p:txBody>
      </p:sp>
      <p:sp>
        <p:nvSpPr>
          <p:cNvPr id="7" name="Rounded Rectangle 6"/>
          <p:cNvSpPr/>
          <p:nvPr/>
        </p:nvSpPr>
        <p:spPr>
          <a:xfrm>
            <a:off x="2011680" y="1600200"/>
            <a:ext cx="8138160" cy="787399"/>
          </a:xfrm>
          <a:prstGeom prst="roundRect">
            <a:avLst/>
          </a:prstGeom>
          <a:solidFill>
            <a:srgbClr val="E8F7EF"/>
          </a:solidFill>
          <a:ln w="11430">
            <a:solidFill>
              <a:srgbClr val="1F62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148840" y="1719072"/>
            <a:ext cx="7863840" cy="328675"/>
          </a:xfrm>
          <a:prstGeom prst="rect">
            <a:avLst/>
          </a:prstGeom>
          <a:noFill/>
        </p:spPr>
        <p:txBody>
          <a:bodyPr wrap="none" lIns="18288" rIns="18288" tIns="9144" bIns="9144" anchor="t">
            <a:spAutoFit/>
          </a:bodyPr>
          <a:lstStyle/>
          <a:p>
            <a:pPr algn="l">
              <a:lnSpc>
                <a:spcPct val="100000"/>
              </a:lnSpc>
              <a:spcBef>
                <a:spcPts val="0"/>
              </a:spcBef>
              <a:spcAft>
                <a:spcPts val="0"/>
              </a:spcAft>
            </a:pPr>
            <a:r>
              <a:rPr sz="2000" b="1">
                <a:solidFill>
                  <a:srgbClr val="18365D"/>
                </a:solidFill>
                <a:latin typeface="Aptos"/>
              </a:rPr>
              <a:t>Distance ≥ |Displacement|</a:t>
            </a:r>
          </a:p>
        </p:txBody>
      </p:sp>
      <p:sp>
        <p:nvSpPr>
          <p:cNvPr id="9" name="TextBox 8"/>
          <p:cNvSpPr txBox="1"/>
          <p:nvPr/>
        </p:nvSpPr>
        <p:spPr>
          <a:xfrm>
            <a:off x="2148840" y="2084323"/>
            <a:ext cx="7863840" cy="211836"/>
          </a:xfrm>
          <a:prstGeom prst="rect">
            <a:avLst/>
          </a:prstGeom>
          <a:noFill/>
        </p:spPr>
        <p:txBody>
          <a:bodyPr wrap="none" lIns="18288" rIns="18288" tIns="9144" bIns="9144" anchor="t">
            <a:spAutoFit/>
          </a:bodyPr>
          <a:lstStyle/>
          <a:p>
            <a:pPr algn="l">
              <a:lnSpc>
                <a:spcPct val="100000"/>
              </a:lnSpc>
              <a:spcBef>
                <a:spcPts val="0"/>
              </a:spcBef>
              <a:spcAft>
                <a:spcPts val="0"/>
              </a:spcAft>
            </a:pPr>
            <a:r>
              <a:rPr sz="1200" b="0">
                <a:solidFill>
                  <a:srgbClr val="5F6976"/>
                </a:solidFill>
                <a:latin typeface="Aptos"/>
              </a:rPr>
              <a:t>For every journey</a:t>
            </a:r>
          </a:p>
        </p:txBody>
      </p:sp>
      <p:sp>
        <p:nvSpPr>
          <p:cNvPr id="10" name="Rounded Rectangle 9"/>
          <p:cNvSpPr/>
          <p:nvPr/>
        </p:nvSpPr>
        <p:spPr>
          <a:xfrm>
            <a:off x="1005840" y="3063240"/>
            <a:ext cx="5029200" cy="1050289"/>
          </a:xfrm>
          <a:prstGeom prst="roundRect">
            <a:avLst/>
          </a:prstGeom>
          <a:solidFill>
            <a:srgbClr val="E8F7EF"/>
          </a:solidFill>
          <a:ln w="11430">
            <a:solidFill>
              <a:srgbClr val="2680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88720" y="3182112"/>
            <a:ext cx="4663440" cy="299465"/>
          </a:xfrm>
          <a:prstGeom prst="rect">
            <a:avLst/>
          </a:prstGeom>
          <a:noFill/>
        </p:spPr>
        <p:txBody>
          <a:bodyPr wrap="none" lIns="18288" rIns="18288" tIns="9144" bIns="9144" anchor="t">
            <a:spAutoFit/>
          </a:bodyPr>
          <a:lstStyle/>
          <a:p>
            <a:pPr algn="l">
              <a:lnSpc>
                <a:spcPct val="100000"/>
              </a:lnSpc>
              <a:spcBef>
                <a:spcPts val="0"/>
              </a:spcBef>
              <a:spcAft>
                <a:spcPts val="0"/>
              </a:spcAft>
            </a:pPr>
            <a:r>
              <a:rPr sz="1800" b="1">
                <a:solidFill>
                  <a:srgbClr val="268054"/>
                </a:solidFill>
                <a:latin typeface="Aptos"/>
              </a:rPr>
              <a:t>Equal</a:t>
            </a:r>
          </a:p>
        </p:txBody>
      </p:sp>
      <p:sp>
        <p:nvSpPr>
          <p:cNvPr id="12" name="TextBox 11"/>
          <p:cNvSpPr txBox="1"/>
          <p:nvPr/>
        </p:nvSpPr>
        <p:spPr>
          <a:xfrm>
            <a:off x="1280160" y="3518153"/>
            <a:ext cx="4480560" cy="503936"/>
          </a:xfrm>
          <a:prstGeom prst="rect">
            <a:avLst/>
          </a:prstGeom>
          <a:noFill/>
        </p:spPr>
        <p:txBody>
          <a:bodyPr wrap="none" lIns="18288" rIns="18288" tIns="9144" bIns="9144" anchor="t">
            <a:spAutoFit/>
          </a:bodyPr>
          <a:lstStyle/>
          <a:p>
            <a:pPr algn="l">
              <a:lnSpc>
                <a:spcPct val="100000"/>
              </a:lnSpc>
              <a:spcBef>
                <a:spcPts val="0"/>
              </a:spcBef>
              <a:spcAft>
                <a:spcPts val="0"/>
              </a:spcAft>
            </a:pPr>
            <a:r>
              <a:rPr sz="1600" b="0">
                <a:solidFill>
                  <a:srgbClr val="222831"/>
                </a:solidFill>
                <a:latin typeface="Aptos"/>
              </a:rPr>
              <a:t>Straight-line motion
without reversing direction</a:t>
            </a:r>
          </a:p>
        </p:txBody>
      </p:sp>
      <p:sp>
        <p:nvSpPr>
          <p:cNvPr id="13" name="Rounded Rectangle 12"/>
          <p:cNvSpPr/>
          <p:nvPr/>
        </p:nvSpPr>
        <p:spPr>
          <a:xfrm>
            <a:off x="6537960" y="3063240"/>
            <a:ext cx="5029200" cy="1050289"/>
          </a:xfrm>
          <a:prstGeom prst="roundRect">
            <a:avLst/>
          </a:prstGeom>
          <a:solidFill>
            <a:srgbClr val="FDEDED"/>
          </a:solidFill>
          <a:ln w="11430">
            <a:solidFill>
              <a:srgbClr val="B42D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20840" y="3182112"/>
            <a:ext cx="4663440" cy="299465"/>
          </a:xfrm>
          <a:prstGeom prst="rect">
            <a:avLst/>
          </a:prstGeom>
          <a:noFill/>
        </p:spPr>
        <p:txBody>
          <a:bodyPr wrap="none" lIns="18288" rIns="18288" tIns="9144" bIns="9144" anchor="t">
            <a:spAutoFit/>
          </a:bodyPr>
          <a:lstStyle/>
          <a:p>
            <a:pPr algn="l">
              <a:lnSpc>
                <a:spcPct val="100000"/>
              </a:lnSpc>
              <a:spcBef>
                <a:spcPts val="0"/>
              </a:spcBef>
              <a:spcAft>
                <a:spcPts val="0"/>
              </a:spcAft>
            </a:pPr>
            <a:r>
              <a:rPr sz="1800" b="1">
                <a:solidFill>
                  <a:srgbClr val="B42D2D"/>
                </a:solidFill>
                <a:latin typeface="Aptos"/>
              </a:rPr>
              <a:t>Distance is greater</a:t>
            </a:r>
          </a:p>
        </p:txBody>
      </p:sp>
      <p:sp>
        <p:nvSpPr>
          <p:cNvPr id="15" name="TextBox 14"/>
          <p:cNvSpPr txBox="1"/>
          <p:nvPr/>
        </p:nvSpPr>
        <p:spPr>
          <a:xfrm>
            <a:off x="6812280" y="3518153"/>
            <a:ext cx="4480560" cy="503936"/>
          </a:xfrm>
          <a:prstGeom prst="rect">
            <a:avLst/>
          </a:prstGeom>
          <a:noFill/>
        </p:spPr>
        <p:txBody>
          <a:bodyPr wrap="none" lIns="18288" rIns="18288" tIns="9144" bIns="9144" anchor="t">
            <a:spAutoFit/>
          </a:bodyPr>
          <a:lstStyle/>
          <a:p>
            <a:pPr algn="l">
              <a:lnSpc>
                <a:spcPct val="100000"/>
              </a:lnSpc>
              <a:spcBef>
                <a:spcPts val="0"/>
              </a:spcBef>
              <a:spcAft>
                <a:spcPts val="0"/>
              </a:spcAft>
            </a:pPr>
            <a:r>
              <a:rPr sz="1600" b="0">
                <a:solidFill>
                  <a:srgbClr val="222831"/>
                </a:solidFill>
                <a:latin typeface="Aptos"/>
              </a:rPr>
              <a:t>Curved path, detour
or reversal of direction</a:t>
            </a:r>
          </a:p>
        </p:txBody>
      </p:sp>
      <p:sp>
        <p:nvSpPr>
          <p:cNvPr id="16" name="Rectangle 15"/>
          <p:cNvSpPr/>
          <p:nvPr/>
        </p:nvSpPr>
        <p:spPr>
          <a:xfrm>
            <a:off x="2011680" y="1600200"/>
            <a:ext cx="59436" cy="787399"/>
          </a:xfrm>
          <a:prstGeom prst="rect">
            <a:avLst/>
          </a:prstGeom>
          <a:solidFill>
            <a:srgbClr val="1F62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005840" y="3063240"/>
            <a:ext cx="59436" cy="1050289"/>
          </a:xfrm>
          <a:prstGeom prst="rect">
            <a:avLst/>
          </a:prstGeom>
          <a:solidFill>
            <a:srgbClr val="2680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37960" y="3063240"/>
            <a:ext cx="59436" cy="1050289"/>
          </a:xfrm>
          <a:prstGeom prst="rect">
            <a:avLst/>
          </a:prstGeom>
          <a:solidFill>
            <a:srgbClr val="B4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3840480" cy="320040"/>
          </a:xfrm>
          <a:prstGeom prst="rect">
            <a:avLst/>
          </a:prstGeom>
          <a:noFill/>
        </p:spPr>
        <p:txBody>
          <a:bodyPr wrap="none" lIns="27432" rIns="27432" tIns="27432" bIns="27432" anchor="t">
            <a:spAutoFit/>
          </a:bodyPr>
          <a:lstStyle/>
          <a:p>
            <a:pPr algn="l"/>
            <a:r>
              <a:rPr sz="1100" b="1">
                <a:solidFill>
                  <a:srgbClr val="1F62A6"/>
                </a:solidFill>
                <a:latin typeface="Aptos"/>
              </a:rPr>
              <a:t>DIRECTION</a:t>
            </a:r>
          </a:p>
        </p:txBody>
      </p:sp>
      <p:sp>
        <p:nvSpPr>
          <p:cNvPr id="3" name="TextBox 2"/>
          <p:cNvSpPr txBox="1"/>
          <p:nvPr/>
        </p:nvSpPr>
        <p:spPr>
          <a:xfrm>
            <a:off x="594360" y="594360"/>
            <a:ext cx="10972800" cy="658368"/>
          </a:xfrm>
          <a:prstGeom prst="rect">
            <a:avLst/>
          </a:prstGeom>
          <a:noFill/>
        </p:spPr>
        <p:txBody>
          <a:bodyPr wrap="none" lIns="27432" rIns="27432" tIns="27432" bIns="27432" anchor="t">
            <a:spAutoFit/>
          </a:bodyPr>
          <a:lstStyle/>
          <a:p>
            <a:pPr algn="l"/>
            <a:r>
              <a:rPr sz="2800" b="1">
                <a:solidFill>
                  <a:srgbClr val="18365D"/>
                </a:solidFill>
                <a:latin typeface="Aptos"/>
              </a:rPr>
              <a:t>What does the sign of displacement mean?</a:t>
            </a:r>
          </a:p>
        </p:txBody>
      </p:sp>
      <p:sp>
        <p:nvSpPr>
          <p:cNvPr id="4" name="Rectangle 3"/>
          <p:cNvSpPr/>
          <p:nvPr/>
        </p:nvSpPr>
        <p:spPr>
          <a:xfrm>
            <a:off x="594360" y="1261872"/>
            <a:ext cx="10972800" cy="18288"/>
          </a:xfrm>
          <a:prstGeom prst="rect">
            <a:avLst/>
          </a:prstGeom>
          <a:solidFill>
            <a:srgbClr val="D7DD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446520"/>
            <a:ext cx="6400800" cy="201168"/>
          </a:xfrm>
          <a:prstGeom prst="rect">
            <a:avLst/>
          </a:prstGeom>
          <a:noFill/>
        </p:spPr>
        <p:txBody>
          <a:bodyPr wrap="none" lIns="27432" rIns="27432" tIns="27432" bIns="27432" anchor="t">
            <a:spAutoFit/>
          </a:bodyPr>
          <a:lstStyle/>
          <a:p>
            <a:pPr algn="l"/>
            <a:r>
              <a:rPr sz="800" b="0">
                <a:solidFill>
                  <a:srgbClr val="5F6976"/>
                </a:solidFill>
                <a:latin typeface="Aptos"/>
              </a:rPr>
              <a:t>LECTURE 05  •  MOTION IN A STRAIGHT LINE</a:t>
            </a:r>
          </a:p>
        </p:txBody>
      </p:sp>
      <p:sp>
        <p:nvSpPr>
          <p:cNvPr id="6" name="TextBox 5"/>
          <p:cNvSpPr txBox="1"/>
          <p:nvPr/>
        </p:nvSpPr>
        <p:spPr>
          <a:xfrm>
            <a:off x="10881360" y="6419088"/>
            <a:ext cx="685800" cy="228600"/>
          </a:xfrm>
          <a:prstGeom prst="rect">
            <a:avLst/>
          </a:prstGeom>
          <a:noFill/>
        </p:spPr>
        <p:txBody>
          <a:bodyPr wrap="none" lIns="27432" rIns="27432" tIns="27432" bIns="27432" anchor="t">
            <a:spAutoFit/>
          </a:bodyPr>
          <a:lstStyle/>
          <a:p>
            <a:pPr algn="r"/>
            <a:r>
              <a:rPr sz="900" b="1">
                <a:solidFill>
                  <a:srgbClr val="5F6976"/>
                </a:solidFill>
                <a:latin typeface="Aptos"/>
              </a:rPr>
              <a:t>21</a:t>
            </a:r>
          </a:p>
        </p:txBody>
      </p:sp>
      <p:sp>
        <p:nvSpPr>
          <p:cNvPr id="7" name="Rounded Rectangle 6"/>
          <p:cNvSpPr/>
          <p:nvPr/>
        </p:nvSpPr>
        <p:spPr>
          <a:xfrm>
            <a:off x="731520" y="1828800"/>
            <a:ext cx="3474720" cy="1050289"/>
          </a:xfrm>
          <a:prstGeom prst="roundRect">
            <a:avLst/>
          </a:prstGeom>
          <a:solidFill>
            <a:srgbClr val="E8F7EF"/>
          </a:solidFill>
          <a:ln w="11430">
            <a:solidFill>
              <a:srgbClr val="2680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947672"/>
            <a:ext cx="3017520" cy="299465"/>
          </a:xfrm>
          <a:prstGeom prst="rect">
            <a:avLst/>
          </a:prstGeom>
          <a:noFill/>
        </p:spPr>
        <p:txBody>
          <a:bodyPr wrap="none" lIns="18288" rIns="18288" tIns="9144" bIns="9144" anchor="t">
            <a:spAutoFit/>
          </a:bodyPr>
          <a:lstStyle/>
          <a:p>
            <a:pPr algn="l">
              <a:lnSpc>
                <a:spcPct val="100000"/>
              </a:lnSpc>
              <a:spcBef>
                <a:spcPts val="0"/>
              </a:spcBef>
              <a:spcAft>
                <a:spcPts val="0"/>
              </a:spcAft>
            </a:pPr>
            <a:r>
              <a:rPr sz="1800" b="1">
                <a:solidFill>
                  <a:srgbClr val="268054"/>
                </a:solidFill>
                <a:latin typeface="Aptos"/>
              </a:rPr>
              <a:t>Δx &gt; 0</a:t>
            </a:r>
          </a:p>
        </p:txBody>
      </p:sp>
      <p:sp>
        <p:nvSpPr>
          <p:cNvPr id="9" name="TextBox 8"/>
          <p:cNvSpPr txBox="1"/>
          <p:nvPr/>
        </p:nvSpPr>
        <p:spPr>
          <a:xfrm>
            <a:off x="1051560" y="2283713"/>
            <a:ext cx="2834640" cy="503936"/>
          </a:xfrm>
          <a:prstGeom prst="rect">
            <a:avLst/>
          </a:prstGeom>
          <a:noFill/>
        </p:spPr>
        <p:txBody>
          <a:bodyPr wrap="none" lIns="18288" rIns="18288" tIns="9144" bIns="9144" anchor="t">
            <a:spAutoFit/>
          </a:bodyPr>
          <a:lstStyle/>
          <a:p>
            <a:pPr algn="l">
              <a:lnSpc>
                <a:spcPct val="100000"/>
              </a:lnSpc>
              <a:spcBef>
                <a:spcPts val="0"/>
              </a:spcBef>
              <a:spcAft>
                <a:spcPts val="0"/>
              </a:spcAft>
            </a:pPr>
            <a:r>
              <a:rPr sz="1600" b="0">
                <a:solidFill>
                  <a:srgbClr val="222831"/>
                </a:solidFill>
                <a:latin typeface="Aptos"/>
              </a:rPr>
              <a:t>Net change in positive direction</a:t>
            </a:r>
          </a:p>
        </p:txBody>
      </p:sp>
      <p:sp>
        <p:nvSpPr>
          <p:cNvPr id="10" name="Rounded Rectangle 9"/>
          <p:cNvSpPr/>
          <p:nvPr/>
        </p:nvSpPr>
        <p:spPr>
          <a:xfrm>
            <a:off x="4617720" y="1828800"/>
            <a:ext cx="3474720" cy="1050289"/>
          </a:xfrm>
          <a:prstGeom prst="roundRect">
            <a:avLst/>
          </a:prstGeom>
          <a:solidFill>
            <a:srgbClr val="FDEDED"/>
          </a:solidFill>
          <a:ln w="11430">
            <a:solidFill>
              <a:srgbClr val="B42D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846320" y="1947672"/>
            <a:ext cx="3017520" cy="299465"/>
          </a:xfrm>
          <a:prstGeom prst="rect">
            <a:avLst/>
          </a:prstGeom>
          <a:noFill/>
        </p:spPr>
        <p:txBody>
          <a:bodyPr wrap="none" lIns="18288" rIns="18288" tIns="9144" bIns="9144" anchor="t">
            <a:spAutoFit/>
          </a:bodyPr>
          <a:lstStyle/>
          <a:p>
            <a:pPr algn="l">
              <a:lnSpc>
                <a:spcPct val="100000"/>
              </a:lnSpc>
              <a:spcBef>
                <a:spcPts val="0"/>
              </a:spcBef>
              <a:spcAft>
                <a:spcPts val="0"/>
              </a:spcAft>
            </a:pPr>
            <a:r>
              <a:rPr sz="1800" b="1">
                <a:solidFill>
                  <a:srgbClr val="B42D2D"/>
                </a:solidFill>
                <a:latin typeface="Aptos"/>
              </a:rPr>
              <a:t>Δx &lt; 0</a:t>
            </a:r>
          </a:p>
        </p:txBody>
      </p:sp>
      <p:sp>
        <p:nvSpPr>
          <p:cNvPr id="12" name="TextBox 11"/>
          <p:cNvSpPr txBox="1"/>
          <p:nvPr/>
        </p:nvSpPr>
        <p:spPr>
          <a:xfrm>
            <a:off x="4937759" y="2283713"/>
            <a:ext cx="2834640" cy="503936"/>
          </a:xfrm>
          <a:prstGeom prst="rect">
            <a:avLst/>
          </a:prstGeom>
          <a:noFill/>
        </p:spPr>
        <p:txBody>
          <a:bodyPr wrap="none" lIns="18288" rIns="18288" tIns="9144" bIns="9144" anchor="t">
            <a:spAutoFit/>
          </a:bodyPr>
          <a:lstStyle/>
          <a:p>
            <a:pPr algn="l">
              <a:lnSpc>
                <a:spcPct val="100000"/>
              </a:lnSpc>
              <a:spcBef>
                <a:spcPts val="0"/>
              </a:spcBef>
              <a:spcAft>
                <a:spcPts val="0"/>
              </a:spcAft>
            </a:pPr>
            <a:r>
              <a:rPr sz="1600" b="0">
                <a:solidFill>
                  <a:srgbClr val="222831"/>
                </a:solidFill>
                <a:latin typeface="Aptos"/>
              </a:rPr>
              <a:t>Net change in negative direction</a:t>
            </a:r>
          </a:p>
        </p:txBody>
      </p:sp>
      <p:sp>
        <p:nvSpPr>
          <p:cNvPr id="13" name="Rounded Rectangle 12"/>
          <p:cNvSpPr/>
          <p:nvPr/>
        </p:nvSpPr>
        <p:spPr>
          <a:xfrm>
            <a:off x="8503920" y="1828800"/>
            <a:ext cx="3474720" cy="1050289"/>
          </a:xfrm>
          <a:prstGeom prst="roundRect">
            <a:avLst/>
          </a:prstGeom>
          <a:solidFill>
            <a:srgbClr val="E7F1FC"/>
          </a:solidFill>
          <a:ln w="11430">
            <a:solidFill>
              <a:srgbClr val="1F62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32520" y="1947672"/>
            <a:ext cx="3017520" cy="299465"/>
          </a:xfrm>
          <a:prstGeom prst="rect">
            <a:avLst/>
          </a:prstGeom>
          <a:noFill/>
        </p:spPr>
        <p:txBody>
          <a:bodyPr wrap="none" lIns="18288" rIns="18288" tIns="9144" bIns="9144" anchor="t">
            <a:spAutoFit/>
          </a:bodyPr>
          <a:lstStyle/>
          <a:p>
            <a:pPr algn="l">
              <a:lnSpc>
                <a:spcPct val="100000"/>
              </a:lnSpc>
              <a:spcBef>
                <a:spcPts val="0"/>
              </a:spcBef>
              <a:spcAft>
                <a:spcPts val="0"/>
              </a:spcAft>
            </a:pPr>
            <a:r>
              <a:rPr sz="1800" b="1">
                <a:solidFill>
                  <a:srgbClr val="1F62A6"/>
                </a:solidFill>
                <a:latin typeface="Aptos"/>
              </a:rPr>
              <a:t>Δx = 0</a:t>
            </a:r>
          </a:p>
        </p:txBody>
      </p:sp>
      <p:sp>
        <p:nvSpPr>
          <p:cNvPr id="15" name="TextBox 14"/>
          <p:cNvSpPr txBox="1"/>
          <p:nvPr/>
        </p:nvSpPr>
        <p:spPr>
          <a:xfrm>
            <a:off x="8823960" y="2283713"/>
            <a:ext cx="2834640" cy="503936"/>
          </a:xfrm>
          <a:prstGeom prst="rect">
            <a:avLst/>
          </a:prstGeom>
          <a:noFill/>
        </p:spPr>
        <p:txBody>
          <a:bodyPr wrap="none" lIns="18288" rIns="18288" tIns="9144" bIns="9144" anchor="t">
            <a:spAutoFit/>
          </a:bodyPr>
          <a:lstStyle/>
          <a:p>
            <a:pPr algn="l">
              <a:lnSpc>
                <a:spcPct val="100000"/>
              </a:lnSpc>
              <a:spcBef>
                <a:spcPts val="0"/>
              </a:spcBef>
              <a:spcAft>
                <a:spcPts val="0"/>
              </a:spcAft>
            </a:pPr>
            <a:r>
              <a:rPr sz="1600" b="0">
                <a:solidFill>
                  <a:srgbClr val="222831"/>
                </a:solidFill>
                <a:latin typeface="Aptos"/>
              </a:rPr>
              <a:t>Initial and final positions coincide</a:t>
            </a:r>
          </a:p>
        </p:txBody>
      </p:sp>
      <p:sp>
        <p:nvSpPr>
          <p:cNvPr id="16" name="Rectangle 15"/>
          <p:cNvSpPr/>
          <p:nvPr/>
        </p:nvSpPr>
        <p:spPr>
          <a:xfrm>
            <a:off x="731520" y="1828800"/>
            <a:ext cx="59436" cy="1050289"/>
          </a:xfrm>
          <a:prstGeom prst="rect">
            <a:avLst/>
          </a:prstGeom>
          <a:solidFill>
            <a:srgbClr val="2680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617720" y="1828800"/>
            <a:ext cx="59436" cy="1050289"/>
          </a:xfrm>
          <a:prstGeom prst="rect">
            <a:avLst/>
          </a:prstGeom>
          <a:solidFill>
            <a:srgbClr val="B4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503920" y="1828800"/>
            <a:ext cx="59436" cy="1050289"/>
          </a:xfrm>
          <a:prstGeom prst="rect">
            <a:avLst/>
          </a:prstGeom>
          <a:solidFill>
            <a:srgbClr val="1F62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3840480" cy="320040"/>
          </a:xfrm>
          <a:prstGeom prst="rect">
            <a:avLst/>
          </a:prstGeom>
          <a:noFill/>
        </p:spPr>
        <p:txBody>
          <a:bodyPr wrap="none" lIns="27432" rIns="27432" tIns="27432" bIns="27432" anchor="t">
            <a:spAutoFit/>
          </a:bodyPr>
          <a:lstStyle/>
          <a:p>
            <a:pPr algn="l"/>
            <a:r>
              <a:rPr sz="1100" b="1">
                <a:solidFill>
                  <a:srgbClr val="1F62A6"/>
                </a:solidFill>
                <a:latin typeface="Aptos"/>
              </a:rPr>
              <a:t>APPLICATION</a:t>
            </a:r>
          </a:p>
        </p:txBody>
      </p:sp>
      <p:sp>
        <p:nvSpPr>
          <p:cNvPr id="3" name="TextBox 2"/>
          <p:cNvSpPr txBox="1"/>
          <p:nvPr/>
        </p:nvSpPr>
        <p:spPr>
          <a:xfrm>
            <a:off x="594360" y="594360"/>
            <a:ext cx="10972800" cy="658368"/>
          </a:xfrm>
          <a:prstGeom prst="rect">
            <a:avLst/>
          </a:prstGeom>
          <a:noFill/>
        </p:spPr>
        <p:txBody>
          <a:bodyPr wrap="none" lIns="27432" rIns="27432" tIns="27432" bIns="27432" anchor="t">
            <a:spAutoFit/>
          </a:bodyPr>
          <a:lstStyle/>
          <a:p>
            <a:pPr algn="l"/>
            <a:r>
              <a:rPr sz="2800" b="1">
                <a:solidFill>
                  <a:srgbClr val="18365D"/>
                </a:solidFill>
                <a:latin typeface="Aptos"/>
              </a:rPr>
              <a:t>Real-life instruments tell different stories</a:t>
            </a:r>
          </a:p>
        </p:txBody>
      </p:sp>
      <p:sp>
        <p:nvSpPr>
          <p:cNvPr id="4" name="Rectangle 3"/>
          <p:cNvSpPr/>
          <p:nvPr/>
        </p:nvSpPr>
        <p:spPr>
          <a:xfrm>
            <a:off x="594360" y="1261872"/>
            <a:ext cx="10972800" cy="18288"/>
          </a:xfrm>
          <a:prstGeom prst="rect">
            <a:avLst/>
          </a:prstGeom>
          <a:solidFill>
            <a:srgbClr val="D7DD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446520"/>
            <a:ext cx="6400800" cy="201168"/>
          </a:xfrm>
          <a:prstGeom prst="rect">
            <a:avLst/>
          </a:prstGeom>
          <a:noFill/>
        </p:spPr>
        <p:txBody>
          <a:bodyPr wrap="none" lIns="27432" rIns="27432" tIns="27432" bIns="27432" anchor="t">
            <a:spAutoFit/>
          </a:bodyPr>
          <a:lstStyle/>
          <a:p>
            <a:pPr algn="l"/>
            <a:r>
              <a:rPr sz="800" b="0">
                <a:solidFill>
                  <a:srgbClr val="5F6976"/>
                </a:solidFill>
                <a:latin typeface="Aptos"/>
              </a:rPr>
              <a:t>LECTURE 05  •  MOTION IN A STRAIGHT LINE</a:t>
            </a:r>
          </a:p>
        </p:txBody>
      </p:sp>
      <p:sp>
        <p:nvSpPr>
          <p:cNvPr id="6" name="TextBox 5"/>
          <p:cNvSpPr txBox="1"/>
          <p:nvPr/>
        </p:nvSpPr>
        <p:spPr>
          <a:xfrm>
            <a:off x="10881360" y="6419088"/>
            <a:ext cx="685800" cy="228600"/>
          </a:xfrm>
          <a:prstGeom prst="rect">
            <a:avLst/>
          </a:prstGeom>
          <a:noFill/>
        </p:spPr>
        <p:txBody>
          <a:bodyPr wrap="none" lIns="27432" rIns="27432" tIns="27432" bIns="27432" anchor="t">
            <a:spAutoFit/>
          </a:bodyPr>
          <a:lstStyle/>
          <a:p>
            <a:pPr algn="r"/>
            <a:r>
              <a:rPr sz="900" b="1">
                <a:solidFill>
                  <a:srgbClr val="5F6976"/>
                </a:solidFill>
                <a:latin typeface="Aptos"/>
              </a:rPr>
              <a:t>22</a:t>
            </a:r>
          </a:p>
        </p:txBody>
      </p:sp>
      <p:sp>
        <p:nvSpPr>
          <p:cNvPr id="7" name="Rounded Rectangle 6"/>
          <p:cNvSpPr/>
          <p:nvPr/>
        </p:nvSpPr>
        <p:spPr>
          <a:xfrm>
            <a:off x="1051560" y="1645920"/>
            <a:ext cx="4572000" cy="1400935"/>
          </a:xfrm>
          <a:prstGeom prst="roundRect">
            <a:avLst/>
          </a:prstGeom>
          <a:solidFill>
            <a:srgbClr val="FFF7E0"/>
          </a:solidFill>
          <a:ln w="11430">
            <a:solidFill>
              <a:srgbClr val="BE7E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80160" y="1764792"/>
            <a:ext cx="4114800" cy="299465"/>
          </a:xfrm>
          <a:prstGeom prst="rect">
            <a:avLst/>
          </a:prstGeom>
          <a:noFill/>
        </p:spPr>
        <p:txBody>
          <a:bodyPr wrap="none" lIns="18288" rIns="18288" tIns="9144" bIns="9144" anchor="t">
            <a:spAutoFit/>
          </a:bodyPr>
          <a:lstStyle/>
          <a:p>
            <a:pPr algn="l">
              <a:lnSpc>
                <a:spcPct val="100000"/>
              </a:lnSpc>
              <a:spcBef>
                <a:spcPts val="0"/>
              </a:spcBef>
              <a:spcAft>
                <a:spcPts val="0"/>
              </a:spcAft>
            </a:pPr>
            <a:r>
              <a:rPr sz="1800" b="1">
                <a:solidFill>
                  <a:srgbClr val="BE7E00"/>
                </a:solidFill>
                <a:latin typeface="Aptos"/>
              </a:rPr>
              <a:t>ODOMETER</a:t>
            </a:r>
          </a:p>
        </p:txBody>
      </p:sp>
      <p:sp>
        <p:nvSpPr>
          <p:cNvPr id="9" name="TextBox 8"/>
          <p:cNvSpPr txBox="1"/>
          <p:nvPr/>
        </p:nvSpPr>
        <p:spPr>
          <a:xfrm>
            <a:off x="1280160" y="2100833"/>
            <a:ext cx="4114800" cy="533146"/>
          </a:xfrm>
          <a:prstGeom prst="rect">
            <a:avLst/>
          </a:prstGeom>
          <a:noFill/>
        </p:spPr>
        <p:txBody>
          <a:bodyPr wrap="none" lIns="18288" rIns="18288" tIns="9144" bIns="9144" anchor="t">
            <a:spAutoFit/>
          </a:bodyPr>
          <a:lstStyle/>
          <a:p>
            <a:pPr algn="l">
              <a:lnSpc>
                <a:spcPct val="100000"/>
              </a:lnSpc>
              <a:spcBef>
                <a:spcPts val="0"/>
              </a:spcBef>
              <a:spcAft>
                <a:spcPts val="0"/>
              </a:spcAft>
            </a:pPr>
            <a:r>
              <a:rPr sz="1700" b="0">
                <a:solidFill>
                  <a:srgbClr val="222831"/>
                </a:solidFill>
                <a:latin typeface="Aptos"/>
              </a:rPr>
              <a:t>Records total path length
travelled by the vehicle</a:t>
            </a:r>
          </a:p>
        </p:txBody>
      </p:sp>
      <p:sp>
        <p:nvSpPr>
          <p:cNvPr id="10" name="TextBox 9"/>
          <p:cNvSpPr txBox="1"/>
          <p:nvPr/>
        </p:nvSpPr>
        <p:spPr>
          <a:xfrm>
            <a:off x="1280160" y="2670555"/>
            <a:ext cx="4114800" cy="284860"/>
          </a:xfrm>
          <a:prstGeom prst="rect">
            <a:avLst/>
          </a:prstGeom>
          <a:noFill/>
        </p:spPr>
        <p:txBody>
          <a:bodyPr wrap="none" lIns="18288" rIns="18288" tIns="9144" bIns="9144" anchor="t">
            <a:spAutoFit/>
          </a:bodyPr>
          <a:lstStyle/>
          <a:p>
            <a:pPr algn="l">
              <a:lnSpc>
                <a:spcPct val="100000"/>
              </a:lnSpc>
              <a:spcBef>
                <a:spcPts val="0"/>
              </a:spcBef>
              <a:spcAft>
                <a:spcPts val="0"/>
              </a:spcAft>
            </a:pPr>
            <a:r>
              <a:rPr sz="1700" b="1">
                <a:solidFill>
                  <a:srgbClr val="BE7E00"/>
                </a:solidFill>
                <a:latin typeface="Aptos"/>
              </a:rPr>
              <a:t>DISTANCE</a:t>
            </a:r>
          </a:p>
        </p:txBody>
      </p:sp>
      <p:sp>
        <p:nvSpPr>
          <p:cNvPr id="11" name="Rounded Rectangle 10"/>
          <p:cNvSpPr/>
          <p:nvPr/>
        </p:nvSpPr>
        <p:spPr>
          <a:xfrm>
            <a:off x="6565392" y="1645920"/>
            <a:ext cx="4572000" cy="1400935"/>
          </a:xfrm>
          <a:prstGeom prst="roundRect">
            <a:avLst/>
          </a:prstGeom>
          <a:solidFill>
            <a:srgbClr val="E7F1FC"/>
          </a:solidFill>
          <a:ln w="11430">
            <a:solidFill>
              <a:srgbClr val="1F62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93992" y="1764792"/>
            <a:ext cx="4114800" cy="299465"/>
          </a:xfrm>
          <a:prstGeom prst="rect">
            <a:avLst/>
          </a:prstGeom>
          <a:noFill/>
        </p:spPr>
        <p:txBody>
          <a:bodyPr wrap="none" lIns="18288" rIns="18288" tIns="9144" bIns="9144" anchor="t">
            <a:spAutoFit/>
          </a:bodyPr>
          <a:lstStyle/>
          <a:p>
            <a:pPr algn="l">
              <a:lnSpc>
                <a:spcPct val="100000"/>
              </a:lnSpc>
              <a:spcBef>
                <a:spcPts val="0"/>
              </a:spcBef>
              <a:spcAft>
                <a:spcPts val="0"/>
              </a:spcAft>
            </a:pPr>
            <a:r>
              <a:rPr sz="1800" b="1">
                <a:solidFill>
                  <a:srgbClr val="1F62A6"/>
                </a:solidFill>
                <a:latin typeface="Aptos"/>
              </a:rPr>
              <a:t>MAP / GPS</a:t>
            </a:r>
          </a:p>
        </p:txBody>
      </p:sp>
      <p:sp>
        <p:nvSpPr>
          <p:cNvPr id="13" name="TextBox 12"/>
          <p:cNvSpPr txBox="1"/>
          <p:nvPr/>
        </p:nvSpPr>
        <p:spPr>
          <a:xfrm>
            <a:off x="6793992" y="2100833"/>
            <a:ext cx="4114800" cy="533146"/>
          </a:xfrm>
          <a:prstGeom prst="rect">
            <a:avLst/>
          </a:prstGeom>
          <a:noFill/>
        </p:spPr>
        <p:txBody>
          <a:bodyPr wrap="none" lIns="18288" rIns="18288" tIns="9144" bIns="9144" anchor="t">
            <a:spAutoFit/>
          </a:bodyPr>
          <a:lstStyle/>
          <a:p>
            <a:pPr algn="l">
              <a:lnSpc>
                <a:spcPct val="100000"/>
              </a:lnSpc>
              <a:spcBef>
                <a:spcPts val="0"/>
              </a:spcBef>
              <a:spcAft>
                <a:spcPts val="0"/>
              </a:spcAft>
            </a:pPr>
            <a:r>
              <a:rPr sz="1700" b="0">
                <a:solidFill>
                  <a:srgbClr val="222831"/>
                </a:solidFill>
                <a:latin typeface="Aptos"/>
              </a:rPr>
              <a:t>Can compare start and finish
with direction</a:t>
            </a:r>
          </a:p>
        </p:txBody>
      </p:sp>
      <p:sp>
        <p:nvSpPr>
          <p:cNvPr id="14" name="TextBox 13"/>
          <p:cNvSpPr txBox="1"/>
          <p:nvPr/>
        </p:nvSpPr>
        <p:spPr>
          <a:xfrm>
            <a:off x="6793992" y="2670555"/>
            <a:ext cx="4114800" cy="284860"/>
          </a:xfrm>
          <a:prstGeom prst="rect">
            <a:avLst/>
          </a:prstGeom>
          <a:noFill/>
        </p:spPr>
        <p:txBody>
          <a:bodyPr wrap="none" lIns="18288" rIns="18288" tIns="9144" bIns="9144" anchor="t">
            <a:spAutoFit/>
          </a:bodyPr>
          <a:lstStyle/>
          <a:p>
            <a:pPr algn="l">
              <a:lnSpc>
                <a:spcPct val="100000"/>
              </a:lnSpc>
              <a:spcBef>
                <a:spcPts val="0"/>
              </a:spcBef>
              <a:spcAft>
                <a:spcPts val="0"/>
              </a:spcAft>
            </a:pPr>
            <a:r>
              <a:rPr sz="1700" b="1">
                <a:solidFill>
                  <a:srgbClr val="1F62A6"/>
                </a:solidFill>
                <a:latin typeface="Aptos"/>
              </a:rPr>
              <a:t>DISPLACEMENT</a:t>
            </a:r>
          </a:p>
        </p:txBody>
      </p:sp>
      <p:sp>
        <p:nvSpPr>
          <p:cNvPr id="15" name="Rectangle 14"/>
          <p:cNvSpPr/>
          <p:nvPr/>
        </p:nvSpPr>
        <p:spPr>
          <a:xfrm>
            <a:off x="1051560" y="1645920"/>
            <a:ext cx="59436" cy="1400935"/>
          </a:xfrm>
          <a:prstGeom prst="rect">
            <a:avLst/>
          </a:prstGeom>
          <a:solidFill>
            <a:srgbClr val="BE7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565392" y="1645920"/>
            <a:ext cx="59436" cy="1400935"/>
          </a:xfrm>
          <a:prstGeom prst="rect">
            <a:avLst/>
          </a:prstGeom>
          <a:solidFill>
            <a:srgbClr val="1F62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3840480" cy="320040"/>
          </a:xfrm>
          <a:prstGeom prst="rect">
            <a:avLst/>
          </a:prstGeom>
          <a:noFill/>
        </p:spPr>
        <p:txBody>
          <a:bodyPr wrap="none" lIns="27432" rIns="27432" tIns="27432" bIns="27432" anchor="t">
            <a:spAutoFit/>
          </a:bodyPr>
          <a:lstStyle/>
          <a:p>
            <a:pPr algn="l"/>
            <a:r>
              <a:rPr sz="1100" b="1">
                <a:solidFill>
                  <a:srgbClr val="1F62A6"/>
                </a:solidFill>
                <a:latin typeface="Aptos"/>
              </a:rPr>
              <a:t>SOLVE ON THE BOARD</a:t>
            </a:r>
          </a:p>
        </p:txBody>
      </p:sp>
      <p:sp>
        <p:nvSpPr>
          <p:cNvPr id="3" name="TextBox 2"/>
          <p:cNvSpPr txBox="1"/>
          <p:nvPr/>
        </p:nvSpPr>
        <p:spPr>
          <a:xfrm>
            <a:off x="594360" y="594360"/>
            <a:ext cx="10972800" cy="658368"/>
          </a:xfrm>
          <a:prstGeom prst="rect">
            <a:avLst/>
          </a:prstGeom>
          <a:noFill/>
        </p:spPr>
        <p:txBody>
          <a:bodyPr wrap="none" lIns="27432" rIns="27432" tIns="27432" bIns="27432" anchor="t">
            <a:spAutoFit/>
          </a:bodyPr>
          <a:lstStyle/>
          <a:p>
            <a:pPr algn="l"/>
            <a:r>
              <a:rPr sz="2800" b="1">
                <a:solidFill>
                  <a:srgbClr val="18365D"/>
                </a:solidFill>
                <a:latin typeface="Aptos"/>
              </a:rPr>
              <a:t>Guided practice</a:t>
            </a:r>
          </a:p>
        </p:txBody>
      </p:sp>
      <p:sp>
        <p:nvSpPr>
          <p:cNvPr id="4" name="Rectangle 3"/>
          <p:cNvSpPr/>
          <p:nvPr/>
        </p:nvSpPr>
        <p:spPr>
          <a:xfrm>
            <a:off x="594360" y="1261872"/>
            <a:ext cx="10972800" cy="18288"/>
          </a:xfrm>
          <a:prstGeom prst="rect">
            <a:avLst/>
          </a:prstGeom>
          <a:solidFill>
            <a:srgbClr val="D7DD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446520"/>
            <a:ext cx="6400800" cy="201168"/>
          </a:xfrm>
          <a:prstGeom prst="rect">
            <a:avLst/>
          </a:prstGeom>
          <a:noFill/>
        </p:spPr>
        <p:txBody>
          <a:bodyPr wrap="none" lIns="27432" rIns="27432" tIns="27432" bIns="27432" anchor="t">
            <a:spAutoFit/>
          </a:bodyPr>
          <a:lstStyle/>
          <a:p>
            <a:pPr algn="l"/>
            <a:r>
              <a:rPr sz="800" b="0">
                <a:solidFill>
                  <a:srgbClr val="5F6976"/>
                </a:solidFill>
                <a:latin typeface="Aptos"/>
              </a:rPr>
              <a:t>LECTURE 05  •  MOTION IN A STRAIGHT LINE</a:t>
            </a:r>
          </a:p>
        </p:txBody>
      </p:sp>
      <p:sp>
        <p:nvSpPr>
          <p:cNvPr id="6" name="TextBox 5"/>
          <p:cNvSpPr txBox="1"/>
          <p:nvPr/>
        </p:nvSpPr>
        <p:spPr>
          <a:xfrm>
            <a:off x="10881360" y="6419088"/>
            <a:ext cx="685800" cy="228600"/>
          </a:xfrm>
          <a:prstGeom prst="rect">
            <a:avLst/>
          </a:prstGeom>
          <a:noFill/>
        </p:spPr>
        <p:txBody>
          <a:bodyPr wrap="none" lIns="27432" rIns="27432" tIns="27432" bIns="27432" anchor="t">
            <a:spAutoFit/>
          </a:bodyPr>
          <a:lstStyle/>
          <a:p>
            <a:pPr algn="r"/>
            <a:r>
              <a:rPr sz="900" b="1">
                <a:solidFill>
                  <a:srgbClr val="5F6976"/>
                </a:solidFill>
                <a:latin typeface="Aptos"/>
              </a:rPr>
              <a:t>23</a:t>
            </a:r>
          </a:p>
        </p:txBody>
      </p:sp>
      <p:sp>
        <p:nvSpPr>
          <p:cNvPr id="7" name="TextBox 6"/>
          <p:cNvSpPr txBox="1"/>
          <p:nvPr/>
        </p:nvSpPr>
        <p:spPr>
          <a:xfrm>
            <a:off x="868680" y="1554480"/>
            <a:ext cx="10378440" cy="3154680"/>
          </a:xfrm>
          <a:prstGeom prst="rect">
            <a:avLst/>
          </a:prstGeom>
          <a:noFill/>
        </p:spPr>
        <p:txBody>
          <a:bodyPr wrap="square" lIns="109728" rIns="73152">
            <a:spAutoFit/>
          </a:bodyPr>
          <a:lstStyle/>
          <a:p>
            <a:pPr>
              <a:spcAft>
                <a:spcPts val="400"/>
              </a:spcAft>
              <a:defRPr sz="1800">
                <a:solidFill>
                  <a:srgbClr val="222831"/>
                </a:solidFill>
                <a:latin typeface="Aptos"/>
              </a:defRPr>
            </a:pPr>
            <a:r>
              <a:t>• A moves from x = −5 m to x = +4 m, then returns to x = −2 m. Find distance and displacement.</a:t>
            </a:r>
          </a:p>
          <a:p>
            <a:pPr>
              <a:spcAft>
                <a:spcPts val="400"/>
              </a:spcAft>
              <a:defRPr sz="1800">
                <a:solidFill>
                  <a:srgbClr val="222831"/>
                </a:solidFill>
                <a:latin typeface="Aptos"/>
              </a:defRPr>
            </a:pPr>
            <a:r>
              <a:t>• A child walks 8 m east and then 8 m west. Find distance and displacement.</a:t>
            </a:r>
          </a:p>
          <a:p>
            <a:pPr>
              <a:spcAft>
                <a:spcPts val="400"/>
              </a:spcAft>
              <a:defRPr sz="1800">
                <a:solidFill>
                  <a:srgbClr val="222831"/>
                </a:solidFill>
                <a:latin typeface="Aptos"/>
              </a:defRPr>
            </a:pPr>
            <a:r>
              <a:t>• An object moves directly from x = +12 m to x = −8 m. Find distance and displacement.</a:t>
            </a:r>
          </a:p>
        </p:txBody>
      </p:sp>
      <p:sp>
        <p:nvSpPr>
          <p:cNvPr id="8" name="Rounded Rectangle 7"/>
          <p:cNvSpPr/>
          <p:nvPr/>
        </p:nvSpPr>
        <p:spPr>
          <a:xfrm>
            <a:off x="2103120" y="4800600"/>
            <a:ext cx="7955279" cy="475488"/>
          </a:xfrm>
          <a:prstGeom prst="roundRect">
            <a:avLst/>
          </a:prstGeom>
          <a:solidFill>
            <a:srgbClr val="E7F1FC"/>
          </a:solidFill>
          <a:ln w="11430">
            <a:solidFill>
              <a:srgbClr val="1F62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31720" y="4919472"/>
            <a:ext cx="7498079" cy="241045"/>
          </a:xfrm>
          <a:prstGeom prst="rect">
            <a:avLst/>
          </a:prstGeom>
          <a:noFill/>
        </p:spPr>
        <p:txBody>
          <a:bodyPr wrap="none" lIns="18288" rIns="18288" tIns="9144" bIns="9144" anchor="t">
            <a:spAutoFit/>
          </a:bodyPr>
          <a:lstStyle/>
          <a:p>
            <a:pPr algn="l">
              <a:lnSpc>
                <a:spcPct val="100000"/>
              </a:lnSpc>
              <a:spcBef>
                <a:spcPts val="0"/>
              </a:spcBef>
              <a:spcAft>
                <a:spcPts val="0"/>
              </a:spcAft>
            </a:pPr>
            <a:r>
              <a:rPr sz="1400" b="1">
                <a:solidFill>
                  <a:srgbClr val="1F62A6"/>
                </a:solidFill>
                <a:latin typeface="Aptos"/>
              </a:rPr>
              <a:t>Show: path segments • formula • substitution • unit • direction</a:t>
            </a:r>
          </a:p>
        </p:txBody>
      </p:sp>
      <p:sp>
        <p:nvSpPr>
          <p:cNvPr id="10" name="Rectangle 9"/>
          <p:cNvSpPr/>
          <p:nvPr/>
        </p:nvSpPr>
        <p:spPr>
          <a:xfrm>
            <a:off x="2103120" y="4800600"/>
            <a:ext cx="59436" cy="475488"/>
          </a:xfrm>
          <a:prstGeom prst="rect">
            <a:avLst/>
          </a:prstGeom>
          <a:solidFill>
            <a:srgbClr val="1F62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3840480" cy="320040"/>
          </a:xfrm>
          <a:prstGeom prst="rect">
            <a:avLst/>
          </a:prstGeom>
          <a:noFill/>
        </p:spPr>
        <p:txBody>
          <a:bodyPr wrap="none" lIns="27432" rIns="27432" tIns="27432" bIns="27432" anchor="t">
            <a:spAutoFit/>
          </a:bodyPr>
          <a:lstStyle/>
          <a:p>
            <a:pPr algn="l"/>
            <a:r>
              <a:rPr sz="1100" b="1">
                <a:solidFill>
                  <a:srgbClr val="1F62A6"/>
                </a:solidFill>
                <a:latin typeface="Aptos"/>
              </a:rPr>
              <a:t>MULTIPLE CHOICE</a:t>
            </a:r>
          </a:p>
        </p:txBody>
      </p:sp>
      <p:sp>
        <p:nvSpPr>
          <p:cNvPr id="3" name="TextBox 2"/>
          <p:cNvSpPr txBox="1"/>
          <p:nvPr/>
        </p:nvSpPr>
        <p:spPr>
          <a:xfrm>
            <a:off x="594360" y="594360"/>
            <a:ext cx="10972800" cy="658368"/>
          </a:xfrm>
          <a:prstGeom prst="rect">
            <a:avLst/>
          </a:prstGeom>
          <a:noFill/>
        </p:spPr>
        <p:txBody>
          <a:bodyPr wrap="none" lIns="27432" rIns="27432" tIns="27432" bIns="27432" anchor="t">
            <a:spAutoFit/>
          </a:bodyPr>
          <a:lstStyle/>
          <a:p>
            <a:pPr algn="l"/>
            <a:r>
              <a:rPr sz="2800" b="1">
                <a:solidFill>
                  <a:srgbClr val="18365D"/>
                </a:solidFill>
                <a:latin typeface="Aptos"/>
              </a:rPr>
              <a:t>NEET concept check</a:t>
            </a:r>
          </a:p>
        </p:txBody>
      </p:sp>
      <p:sp>
        <p:nvSpPr>
          <p:cNvPr id="4" name="Rectangle 3"/>
          <p:cNvSpPr/>
          <p:nvPr/>
        </p:nvSpPr>
        <p:spPr>
          <a:xfrm>
            <a:off x="594360" y="1261872"/>
            <a:ext cx="10972800" cy="18288"/>
          </a:xfrm>
          <a:prstGeom prst="rect">
            <a:avLst/>
          </a:prstGeom>
          <a:solidFill>
            <a:srgbClr val="D7DD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446520"/>
            <a:ext cx="6400800" cy="201168"/>
          </a:xfrm>
          <a:prstGeom prst="rect">
            <a:avLst/>
          </a:prstGeom>
          <a:noFill/>
        </p:spPr>
        <p:txBody>
          <a:bodyPr wrap="none" lIns="27432" rIns="27432" tIns="27432" bIns="27432" anchor="t">
            <a:spAutoFit/>
          </a:bodyPr>
          <a:lstStyle/>
          <a:p>
            <a:pPr algn="l"/>
            <a:r>
              <a:rPr sz="800" b="0">
                <a:solidFill>
                  <a:srgbClr val="5F6976"/>
                </a:solidFill>
                <a:latin typeface="Aptos"/>
              </a:rPr>
              <a:t>LECTURE 05  •  MOTION IN A STRAIGHT LINE</a:t>
            </a:r>
          </a:p>
        </p:txBody>
      </p:sp>
      <p:sp>
        <p:nvSpPr>
          <p:cNvPr id="6" name="TextBox 5"/>
          <p:cNvSpPr txBox="1"/>
          <p:nvPr/>
        </p:nvSpPr>
        <p:spPr>
          <a:xfrm>
            <a:off x="10881360" y="6419088"/>
            <a:ext cx="685800" cy="228600"/>
          </a:xfrm>
          <a:prstGeom prst="rect">
            <a:avLst/>
          </a:prstGeom>
          <a:noFill/>
        </p:spPr>
        <p:txBody>
          <a:bodyPr wrap="none" lIns="27432" rIns="27432" tIns="27432" bIns="27432" anchor="t">
            <a:spAutoFit/>
          </a:bodyPr>
          <a:lstStyle/>
          <a:p>
            <a:pPr algn="r"/>
            <a:r>
              <a:rPr sz="900" b="1">
                <a:solidFill>
                  <a:srgbClr val="5F6976"/>
                </a:solidFill>
                <a:latin typeface="Aptos"/>
              </a:rPr>
              <a:t>24</a:t>
            </a:r>
          </a:p>
        </p:txBody>
      </p:sp>
      <p:sp>
        <p:nvSpPr>
          <p:cNvPr id="7" name="TextBox 6"/>
          <p:cNvSpPr txBox="1"/>
          <p:nvPr/>
        </p:nvSpPr>
        <p:spPr>
          <a:xfrm>
            <a:off x="822960" y="1508760"/>
            <a:ext cx="10607040" cy="365760"/>
          </a:xfrm>
          <a:prstGeom prst="rect">
            <a:avLst/>
          </a:prstGeom>
          <a:noFill/>
        </p:spPr>
        <p:txBody>
          <a:bodyPr wrap="none" lIns="27432" rIns="27432" tIns="27432" bIns="27432" anchor="t">
            <a:spAutoFit/>
          </a:bodyPr>
          <a:lstStyle/>
          <a:p>
            <a:pPr algn="l"/>
            <a:r>
              <a:rPr sz="1800" b="1">
                <a:solidFill>
                  <a:srgbClr val="18365D"/>
                </a:solidFill>
                <a:latin typeface="Aptos"/>
              </a:rPr>
              <a:t>1. Distance equals magnitude of displacement when motion is:</a:t>
            </a:r>
          </a:p>
        </p:txBody>
      </p:sp>
      <p:sp>
        <p:nvSpPr>
          <p:cNvPr id="8" name="TextBox 7"/>
          <p:cNvSpPr txBox="1"/>
          <p:nvPr/>
        </p:nvSpPr>
        <p:spPr>
          <a:xfrm>
            <a:off x="1143000" y="1965960"/>
            <a:ext cx="10058400" cy="347472"/>
          </a:xfrm>
          <a:prstGeom prst="rect">
            <a:avLst/>
          </a:prstGeom>
          <a:noFill/>
        </p:spPr>
        <p:txBody>
          <a:bodyPr wrap="none" lIns="27432" rIns="27432" tIns="27432" bIns="27432" anchor="t">
            <a:spAutoFit/>
          </a:bodyPr>
          <a:lstStyle/>
          <a:p>
            <a:pPr algn="l"/>
            <a:r>
              <a:rPr sz="1600" b="0">
                <a:solidFill>
                  <a:srgbClr val="222831"/>
                </a:solidFill>
                <a:latin typeface="Aptos"/>
              </a:rPr>
              <a:t>A. circular   B. straight without reversal   C. random   D. always</a:t>
            </a:r>
          </a:p>
        </p:txBody>
      </p:sp>
      <p:sp>
        <p:nvSpPr>
          <p:cNvPr id="9" name="TextBox 8"/>
          <p:cNvSpPr txBox="1"/>
          <p:nvPr/>
        </p:nvSpPr>
        <p:spPr>
          <a:xfrm>
            <a:off x="822960" y="2697480"/>
            <a:ext cx="10607040" cy="365760"/>
          </a:xfrm>
          <a:prstGeom prst="rect">
            <a:avLst/>
          </a:prstGeom>
          <a:noFill/>
        </p:spPr>
        <p:txBody>
          <a:bodyPr wrap="none" lIns="27432" rIns="27432" tIns="27432" bIns="27432" anchor="t">
            <a:spAutoFit/>
          </a:bodyPr>
          <a:lstStyle/>
          <a:p>
            <a:pPr algn="l"/>
            <a:r>
              <a:rPr sz="1800" b="1">
                <a:solidFill>
                  <a:srgbClr val="18365D"/>
                </a:solidFill>
                <a:latin typeface="Aptos"/>
              </a:rPr>
              <a:t>2. After one complete revolution on a circular track, displacement is:</a:t>
            </a:r>
          </a:p>
        </p:txBody>
      </p:sp>
      <p:sp>
        <p:nvSpPr>
          <p:cNvPr id="10" name="TextBox 9"/>
          <p:cNvSpPr txBox="1"/>
          <p:nvPr/>
        </p:nvSpPr>
        <p:spPr>
          <a:xfrm>
            <a:off x="1143000" y="3154680"/>
            <a:ext cx="10058400" cy="347472"/>
          </a:xfrm>
          <a:prstGeom prst="rect">
            <a:avLst/>
          </a:prstGeom>
          <a:noFill/>
        </p:spPr>
        <p:txBody>
          <a:bodyPr wrap="none" lIns="27432" rIns="27432" tIns="27432" bIns="27432" anchor="t">
            <a:spAutoFit/>
          </a:bodyPr>
          <a:lstStyle/>
          <a:p>
            <a:pPr algn="l"/>
            <a:r>
              <a:rPr sz="1600" b="0">
                <a:solidFill>
                  <a:srgbClr val="222831"/>
                </a:solidFill>
                <a:latin typeface="Aptos"/>
              </a:rPr>
              <a:t>A. circumference   B. radius   C. zero   D. diameter</a:t>
            </a:r>
          </a:p>
        </p:txBody>
      </p:sp>
      <p:sp>
        <p:nvSpPr>
          <p:cNvPr id="11" name="TextBox 10"/>
          <p:cNvSpPr txBox="1"/>
          <p:nvPr/>
        </p:nvSpPr>
        <p:spPr>
          <a:xfrm>
            <a:off x="822960" y="3886200"/>
            <a:ext cx="10607040" cy="365760"/>
          </a:xfrm>
          <a:prstGeom prst="rect">
            <a:avLst/>
          </a:prstGeom>
          <a:noFill/>
        </p:spPr>
        <p:txBody>
          <a:bodyPr wrap="none" lIns="27432" rIns="27432" tIns="27432" bIns="27432" anchor="t">
            <a:spAutoFit/>
          </a:bodyPr>
          <a:lstStyle/>
          <a:p>
            <a:pPr algn="l"/>
            <a:r>
              <a:rPr sz="1800" b="1">
                <a:solidFill>
                  <a:srgbClr val="18365D"/>
                </a:solidFill>
                <a:latin typeface="Aptos"/>
              </a:rPr>
              <a:t>3. Which quantity changes if only the origin is shifted?</a:t>
            </a:r>
          </a:p>
        </p:txBody>
      </p:sp>
      <p:sp>
        <p:nvSpPr>
          <p:cNvPr id="12" name="TextBox 11"/>
          <p:cNvSpPr txBox="1"/>
          <p:nvPr/>
        </p:nvSpPr>
        <p:spPr>
          <a:xfrm>
            <a:off x="1143000" y="4343400"/>
            <a:ext cx="10058400" cy="347472"/>
          </a:xfrm>
          <a:prstGeom prst="rect">
            <a:avLst/>
          </a:prstGeom>
          <a:noFill/>
        </p:spPr>
        <p:txBody>
          <a:bodyPr wrap="none" lIns="27432" rIns="27432" tIns="27432" bIns="27432" anchor="t">
            <a:spAutoFit/>
          </a:bodyPr>
          <a:lstStyle/>
          <a:p>
            <a:pPr algn="l"/>
            <a:r>
              <a:rPr sz="1600" b="0">
                <a:solidFill>
                  <a:srgbClr val="222831"/>
                </a:solidFill>
                <a:latin typeface="Aptos"/>
              </a:rPr>
              <a:t>A. distance travelled   B. position coordinate   C. path length   D. elapsed time</a:t>
            </a:r>
          </a:p>
        </p:txBody>
      </p:sp>
      <p:sp>
        <p:nvSpPr>
          <p:cNvPr id="13" name="Rounded Rectangle 12"/>
          <p:cNvSpPr/>
          <p:nvPr/>
        </p:nvSpPr>
        <p:spPr>
          <a:xfrm>
            <a:off x="2743200" y="4709160"/>
            <a:ext cx="6675120" cy="480567"/>
          </a:xfrm>
          <a:prstGeom prst="roundRect">
            <a:avLst/>
          </a:prstGeom>
          <a:solidFill>
            <a:srgbClr val="FFF7E0"/>
          </a:solidFill>
          <a:ln w="11430">
            <a:solidFill>
              <a:srgbClr val="BE7E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971800" y="4828032"/>
            <a:ext cx="6217920" cy="270255"/>
          </a:xfrm>
          <a:prstGeom prst="rect">
            <a:avLst/>
          </a:prstGeom>
          <a:noFill/>
        </p:spPr>
        <p:txBody>
          <a:bodyPr wrap="none" lIns="18288" rIns="18288" tIns="9144" bIns="9144" anchor="t">
            <a:spAutoFit/>
          </a:bodyPr>
          <a:lstStyle/>
          <a:p>
            <a:pPr algn="l">
              <a:lnSpc>
                <a:spcPct val="100000"/>
              </a:lnSpc>
              <a:spcBef>
                <a:spcPts val="0"/>
              </a:spcBef>
              <a:spcAft>
                <a:spcPts val="0"/>
              </a:spcAft>
            </a:pPr>
            <a:r>
              <a:rPr sz="1600" b="1">
                <a:solidFill>
                  <a:srgbClr val="BE7E00"/>
                </a:solidFill>
                <a:latin typeface="Aptos"/>
              </a:rPr>
              <a:t>Choose first. Justify second.</a:t>
            </a:r>
          </a:p>
        </p:txBody>
      </p:sp>
      <p:sp>
        <p:nvSpPr>
          <p:cNvPr id="15" name="Rectangle 14"/>
          <p:cNvSpPr/>
          <p:nvPr/>
        </p:nvSpPr>
        <p:spPr>
          <a:xfrm>
            <a:off x="2743200" y="4709160"/>
            <a:ext cx="59436" cy="480567"/>
          </a:xfrm>
          <a:prstGeom prst="rect">
            <a:avLst/>
          </a:prstGeom>
          <a:solidFill>
            <a:srgbClr val="BE7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3840480" cy="320040"/>
          </a:xfrm>
          <a:prstGeom prst="rect">
            <a:avLst/>
          </a:prstGeom>
          <a:noFill/>
        </p:spPr>
        <p:txBody>
          <a:bodyPr wrap="none" lIns="27432" rIns="27432" tIns="27432" bIns="27432" anchor="t">
            <a:spAutoFit/>
          </a:bodyPr>
          <a:lstStyle/>
          <a:p>
            <a:pPr algn="l"/>
            <a:r>
              <a:rPr sz="1100" b="1">
                <a:solidFill>
                  <a:srgbClr val="1F62A6"/>
                </a:solidFill>
                <a:latin typeface="Aptos"/>
              </a:rPr>
              <a:t>CONSTRUCT A COMPLETE RESPONSE</a:t>
            </a:r>
          </a:p>
        </p:txBody>
      </p:sp>
      <p:sp>
        <p:nvSpPr>
          <p:cNvPr id="3" name="TextBox 2"/>
          <p:cNvSpPr txBox="1"/>
          <p:nvPr/>
        </p:nvSpPr>
        <p:spPr>
          <a:xfrm>
            <a:off x="594360" y="594360"/>
            <a:ext cx="10972800" cy="658368"/>
          </a:xfrm>
          <a:prstGeom prst="rect">
            <a:avLst/>
          </a:prstGeom>
          <a:noFill/>
        </p:spPr>
        <p:txBody>
          <a:bodyPr wrap="none" lIns="27432" rIns="27432" tIns="27432" bIns="27432" anchor="t">
            <a:spAutoFit/>
          </a:bodyPr>
          <a:lstStyle/>
          <a:p>
            <a:pPr algn="l"/>
            <a:r>
              <a:rPr sz="2800" b="1">
                <a:solidFill>
                  <a:srgbClr val="18365D"/>
                </a:solidFill>
                <a:latin typeface="Aptos"/>
              </a:rPr>
              <a:t>CBSE written-answer practice</a:t>
            </a:r>
          </a:p>
        </p:txBody>
      </p:sp>
      <p:sp>
        <p:nvSpPr>
          <p:cNvPr id="4" name="Rectangle 3"/>
          <p:cNvSpPr/>
          <p:nvPr/>
        </p:nvSpPr>
        <p:spPr>
          <a:xfrm>
            <a:off x="594360" y="1261872"/>
            <a:ext cx="10972800" cy="18288"/>
          </a:xfrm>
          <a:prstGeom prst="rect">
            <a:avLst/>
          </a:prstGeom>
          <a:solidFill>
            <a:srgbClr val="D7DD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446520"/>
            <a:ext cx="6400800" cy="201168"/>
          </a:xfrm>
          <a:prstGeom prst="rect">
            <a:avLst/>
          </a:prstGeom>
          <a:noFill/>
        </p:spPr>
        <p:txBody>
          <a:bodyPr wrap="none" lIns="27432" rIns="27432" tIns="27432" bIns="27432" anchor="t">
            <a:spAutoFit/>
          </a:bodyPr>
          <a:lstStyle/>
          <a:p>
            <a:pPr algn="l"/>
            <a:r>
              <a:rPr sz="800" b="0">
                <a:solidFill>
                  <a:srgbClr val="5F6976"/>
                </a:solidFill>
                <a:latin typeface="Aptos"/>
              </a:rPr>
              <a:t>LECTURE 05  •  MOTION IN A STRAIGHT LINE</a:t>
            </a:r>
          </a:p>
        </p:txBody>
      </p:sp>
      <p:sp>
        <p:nvSpPr>
          <p:cNvPr id="6" name="TextBox 5"/>
          <p:cNvSpPr txBox="1"/>
          <p:nvPr/>
        </p:nvSpPr>
        <p:spPr>
          <a:xfrm>
            <a:off x="10881360" y="6419088"/>
            <a:ext cx="685800" cy="228600"/>
          </a:xfrm>
          <a:prstGeom prst="rect">
            <a:avLst/>
          </a:prstGeom>
          <a:noFill/>
        </p:spPr>
        <p:txBody>
          <a:bodyPr wrap="none" lIns="27432" rIns="27432" tIns="27432" bIns="27432" anchor="t">
            <a:spAutoFit/>
          </a:bodyPr>
          <a:lstStyle/>
          <a:p>
            <a:pPr algn="r"/>
            <a:r>
              <a:rPr sz="900" b="1">
                <a:solidFill>
                  <a:srgbClr val="5F6976"/>
                </a:solidFill>
                <a:latin typeface="Aptos"/>
              </a:rPr>
              <a:t>25</a:t>
            </a:r>
          </a:p>
        </p:txBody>
      </p:sp>
      <p:sp>
        <p:nvSpPr>
          <p:cNvPr id="7" name="Rounded Rectangle 6"/>
          <p:cNvSpPr/>
          <p:nvPr/>
        </p:nvSpPr>
        <p:spPr>
          <a:xfrm>
            <a:off x="822960" y="1554480"/>
            <a:ext cx="10515600" cy="509777"/>
          </a:xfrm>
          <a:prstGeom prst="roundRect">
            <a:avLst/>
          </a:prstGeom>
          <a:solidFill>
            <a:srgbClr val="E7F1FC"/>
          </a:solidFill>
          <a:ln w="11430">
            <a:solidFill>
              <a:srgbClr val="1F62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673352"/>
            <a:ext cx="9966960" cy="299465"/>
          </a:xfrm>
          <a:prstGeom prst="rect">
            <a:avLst/>
          </a:prstGeom>
          <a:noFill/>
        </p:spPr>
        <p:txBody>
          <a:bodyPr wrap="none" lIns="18288" rIns="18288" tIns="9144" bIns="9144" anchor="t">
            <a:spAutoFit/>
          </a:bodyPr>
          <a:lstStyle/>
          <a:p>
            <a:pPr algn="l">
              <a:lnSpc>
                <a:spcPct val="100000"/>
              </a:lnSpc>
              <a:spcBef>
                <a:spcPts val="0"/>
              </a:spcBef>
              <a:spcAft>
                <a:spcPts val="0"/>
              </a:spcAft>
            </a:pPr>
            <a:r>
              <a:rPr sz="1800" b="1">
                <a:solidFill>
                  <a:srgbClr val="18365D"/>
                </a:solidFill>
                <a:latin typeface="Aptos"/>
              </a:rPr>
              <a:t>Question: Distinguish between distance and displacement with one suitable example.</a:t>
            </a:r>
          </a:p>
        </p:txBody>
      </p:sp>
      <p:sp>
        <p:nvSpPr>
          <p:cNvPr id="9" name="Rounded Rectangle 8"/>
          <p:cNvSpPr/>
          <p:nvPr/>
        </p:nvSpPr>
        <p:spPr>
          <a:xfrm>
            <a:off x="914400" y="3063240"/>
            <a:ext cx="3337560" cy="787399"/>
          </a:xfrm>
          <a:prstGeom prst="roundRect">
            <a:avLst/>
          </a:prstGeom>
          <a:solidFill>
            <a:srgbClr val="F7F9FC"/>
          </a:solidFill>
          <a:ln w="11430">
            <a:solidFill>
              <a:srgbClr val="D7DD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182112"/>
            <a:ext cx="2971800" cy="284860"/>
          </a:xfrm>
          <a:prstGeom prst="rect">
            <a:avLst/>
          </a:prstGeom>
          <a:noFill/>
        </p:spPr>
        <p:txBody>
          <a:bodyPr wrap="none" lIns="18288" rIns="18288" tIns="9144" bIns="9144" anchor="t">
            <a:spAutoFit/>
          </a:bodyPr>
          <a:lstStyle/>
          <a:p>
            <a:pPr algn="l">
              <a:lnSpc>
                <a:spcPct val="100000"/>
              </a:lnSpc>
              <a:spcBef>
                <a:spcPts val="0"/>
              </a:spcBef>
              <a:spcAft>
                <a:spcPts val="0"/>
              </a:spcAft>
            </a:pPr>
            <a:r>
              <a:rPr sz="1700" b="1">
                <a:solidFill>
                  <a:srgbClr val="1F62A6"/>
                </a:solidFill>
                <a:latin typeface="Aptos"/>
              </a:rPr>
              <a:t>1 mark</a:t>
            </a:r>
          </a:p>
        </p:txBody>
      </p:sp>
      <p:sp>
        <p:nvSpPr>
          <p:cNvPr id="11" name="TextBox 10"/>
          <p:cNvSpPr txBox="1"/>
          <p:nvPr/>
        </p:nvSpPr>
        <p:spPr>
          <a:xfrm>
            <a:off x="1188720" y="3503548"/>
            <a:ext cx="2788920" cy="255651"/>
          </a:xfrm>
          <a:prstGeom prst="rect">
            <a:avLst/>
          </a:prstGeom>
          <a:noFill/>
        </p:spPr>
        <p:txBody>
          <a:bodyPr wrap="none" lIns="18288" rIns="18288" tIns="9144" bIns="9144" anchor="t">
            <a:spAutoFit/>
          </a:bodyPr>
          <a:lstStyle/>
          <a:p>
            <a:pPr algn="l">
              <a:lnSpc>
                <a:spcPct val="100000"/>
              </a:lnSpc>
              <a:spcBef>
                <a:spcPts val="0"/>
              </a:spcBef>
              <a:spcAft>
                <a:spcPts val="0"/>
              </a:spcAft>
            </a:pPr>
            <a:r>
              <a:rPr sz="1500" b="0">
                <a:solidFill>
                  <a:srgbClr val="222831"/>
                </a:solidFill>
                <a:latin typeface="Aptos"/>
              </a:rPr>
              <a:t>Correct definitions</a:t>
            </a:r>
          </a:p>
        </p:txBody>
      </p:sp>
      <p:sp>
        <p:nvSpPr>
          <p:cNvPr id="12" name="Rounded Rectangle 11"/>
          <p:cNvSpPr/>
          <p:nvPr/>
        </p:nvSpPr>
        <p:spPr>
          <a:xfrm>
            <a:off x="4663440" y="3063240"/>
            <a:ext cx="3337560" cy="1006474"/>
          </a:xfrm>
          <a:prstGeom prst="roundRect">
            <a:avLst/>
          </a:prstGeom>
          <a:solidFill>
            <a:srgbClr val="F7F9FC"/>
          </a:solidFill>
          <a:ln w="11430">
            <a:solidFill>
              <a:srgbClr val="D7DD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46320" y="3182112"/>
            <a:ext cx="2971800" cy="284860"/>
          </a:xfrm>
          <a:prstGeom prst="rect">
            <a:avLst/>
          </a:prstGeom>
          <a:noFill/>
        </p:spPr>
        <p:txBody>
          <a:bodyPr wrap="none" lIns="18288" rIns="18288" tIns="9144" bIns="9144" anchor="t">
            <a:spAutoFit/>
          </a:bodyPr>
          <a:lstStyle/>
          <a:p>
            <a:pPr algn="l">
              <a:lnSpc>
                <a:spcPct val="100000"/>
              </a:lnSpc>
              <a:spcBef>
                <a:spcPts val="0"/>
              </a:spcBef>
              <a:spcAft>
                <a:spcPts val="0"/>
              </a:spcAft>
            </a:pPr>
            <a:r>
              <a:rPr sz="1700" b="1">
                <a:solidFill>
                  <a:srgbClr val="1F62A6"/>
                </a:solidFill>
                <a:latin typeface="Aptos"/>
              </a:rPr>
              <a:t>1 mark</a:t>
            </a:r>
          </a:p>
        </p:txBody>
      </p:sp>
      <p:sp>
        <p:nvSpPr>
          <p:cNvPr id="14" name="TextBox 13"/>
          <p:cNvSpPr txBox="1"/>
          <p:nvPr/>
        </p:nvSpPr>
        <p:spPr>
          <a:xfrm>
            <a:off x="4937759" y="3503548"/>
            <a:ext cx="2788920" cy="474726"/>
          </a:xfrm>
          <a:prstGeom prst="rect">
            <a:avLst/>
          </a:prstGeom>
          <a:noFill/>
        </p:spPr>
        <p:txBody>
          <a:bodyPr wrap="none" lIns="18288" rIns="18288" tIns="9144" bIns="9144" anchor="t">
            <a:spAutoFit/>
          </a:bodyPr>
          <a:lstStyle/>
          <a:p>
            <a:pPr algn="l">
              <a:lnSpc>
                <a:spcPct val="100000"/>
              </a:lnSpc>
              <a:spcBef>
                <a:spcPts val="0"/>
              </a:spcBef>
              <a:spcAft>
                <a:spcPts val="0"/>
              </a:spcAft>
            </a:pPr>
            <a:r>
              <a:rPr sz="1500" b="0">
                <a:solidFill>
                  <a:srgbClr val="222831"/>
                </a:solidFill>
                <a:latin typeface="Aptos"/>
              </a:rPr>
              <a:t>Scalar/vector and path dependence</a:t>
            </a:r>
          </a:p>
        </p:txBody>
      </p:sp>
      <p:sp>
        <p:nvSpPr>
          <p:cNvPr id="15" name="Rounded Rectangle 14"/>
          <p:cNvSpPr/>
          <p:nvPr/>
        </p:nvSpPr>
        <p:spPr>
          <a:xfrm>
            <a:off x="8412480" y="3063240"/>
            <a:ext cx="3337560" cy="1006474"/>
          </a:xfrm>
          <a:prstGeom prst="roundRect">
            <a:avLst/>
          </a:prstGeom>
          <a:solidFill>
            <a:srgbClr val="F7F9FC"/>
          </a:solidFill>
          <a:ln w="11430">
            <a:solidFill>
              <a:srgbClr val="D7DD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95359" y="3182112"/>
            <a:ext cx="2971800" cy="284860"/>
          </a:xfrm>
          <a:prstGeom prst="rect">
            <a:avLst/>
          </a:prstGeom>
          <a:noFill/>
        </p:spPr>
        <p:txBody>
          <a:bodyPr wrap="none" lIns="18288" rIns="18288" tIns="9144" bIns="9144" anchor="t">
            <a:spAutoFit/>
          </a:bodyPr>
          <a:lstStyle/>
          <a:p>
            <a:pPr algn="l">
              <a:lnSpc>
                <a:spcPct val="100000"/>
              </a:lnSpc>
              <a:spcBef>
                <a:spcPts val="0"/>
              </a:spcBef>
              <a:spcAft>
                <a:spcPts val="0"/>
              </a:spcAft>
            </a:pPr>
            <a:r>
              <a:rPr sz="1700" b="1">
                <a:solidFill>
                  <a:srgbClr val="1F62A6"/>
                </a:solidFill>
                <a:latin typeface="Aptos"/>
              </a:rPr>
              <a:t>1 mark</a:t>
            </a:r>
          </a:p>
        </p:txBody>
      </p:sp>
      <p:sp>
        <p:nvSpPr>
          <p:cNvPr id="17" name="TextBox 16"/>
          <p:cNvSpPr txBox="1"/>
          <p:nvPr/>
        </p:nvSpPr>
        <p:spPr>
          <a:xfrm>
            <a:off x="8686800" y="3503548"/>
            <a:ext cx="2788920" cy="474726"/>
          </a:xfrm>
          <a:prstGeom prst="rect">
            <a:avLst/>
          </a:prstGeom>
          <a:noFill/>
        </p:spPr>
        <p:txBody>
          <a:bodyPr wrap="none" lIns="18288" rIns="18288" tIns="9144" bIns="9144" anchor="t">
            <a:spAutoFit/>
          </a:bodyPr>
          <a:lstStyle/>
          <a:p>
            <a:pPr algn="l">
              <a:lnSpc>
                <a:spcPct val="100000"/>
              </a:lnSpc>
              <a:spcBef>
                <a:spcPts val="0"/>
              </a:spcBef>
              <a:spcAft>
                <a:spcPts val="0"/>
              </a:spcAft>
            </a:pPr>
            <a:r>
              <a:rPr sz="1500" b="0">
                <a:solidFill>
                  <a:srgbClr val="222831"/>
                </a:solidFill>
                <a:latin typeface="Aptos"/>
              </a:rPr>
              <a:t>Example with values and units</a:t>
            </a:r>
          </a:p>
        </p:txBody>
      </p:sp>
      <p:sp>
        <p:nvSpPr>
          <p:cNvPr id="18" name="Rectangle 17"/>
          <p:cNvSpPr/>
          <p:nvPr/>
        </p:nvSpPr>
        <p:spPr>
          <a:xfrm>
            <a:off x="822960" y="1554480"/>
            <a:ext cx="59436" cy="509777"/>
          </a:xfrm>
          <a:prstGeom prst="rect">
            <a:avLst/>
          </a:prstGeom>
          <a:solidFill>
            <a:srgbClr val="1F62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14400" y="3063240"/>
            <a:ext cx="59436" cy="787399"/>
          </a:xfrm>
          <a:prstGeom prst="rect">
            <a:avLst/>
          </a:prstGeom>
          <a:solidFill>
            <a:srgbClr val="1F62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663440" y="3063240"/>
            <a:ext cx="59436" cy="1006474"/>
          </a:xfrm>
          <a:prstGeom prst="rect">
            <a:avLst/>
          </a:prstGeom>
          <a:solidFill>
            <a:srgbClr val="1F62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412480" y="3063240"/>
            <a:ext cx="59436" cy="1006474"/>
          </a:xfrm>
          <a:prstGeom prst="rect">
            <a:avLst/>
          </a:prstGeom>
          <a:solidFill>
            <a:srgbClr val="1F62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3840480" cy="320040"/>
          </a:xfrm>
          <a:prstGeom prst="rect">
            <a:avLst/>
          </a:prstGeom>
          <a:noFill/>
        </p:spPr>
        <p:txBody>
          <a:bodyPr wrap="none" lIns="27432" rIns="27432" tIns="27432" bIns="27432" anchor="t">
            <a:spAutoFit/>
          </a:bodyPr>
          <a:lstStyle/>
          <a:p>
            <a:pPr algn="l"/>
            <a:r>
              <a:rPr sz="1100" b="1">
                <a:solidFill>
                  <a:srgbClr val="1F62A6"/>
                </a:solidFill>
                <a:latin typeface="Aptos"/>
              </a:rPr>
              <a:t>EXAM READINESS</a:t>
            </a:r>
          </a:p>
        </p:txBody>
      </p:sp>
      <p:sp>
        <p:nvSpPr>
          <p:cNvPr id="3" name="TextBox 2"/>
          <p:cNvSpPr txBox="1"/>
          <p:nvPr/>
        </p:nvSpPr>
        <p:spPr>
          <a:xfrm>
            <a:off x="594360" y="594360"/>
            <a:ext cx="10972800" cy="658368"/>
          </a:xfrm>
          <a:prstGeom prst="rect">
            <a:avLst/>
          </a:prstGeom>
          <a:noFill/>
        </p:spPr>
        <p:txBody>
          <a:bodyPr wrap="none" lIns="27432" rIns="27432" tIns="27432" bIns="27432" anchor="t">
            <a:spAutoFit/>
          </a:bodyPr>
          <a:lstStyle/>
          <a:p>
            <a:pPr algn="l"/>
            <a:r>
              <a:rPr sz="2800" b="1">
                <a:solidFill>
                  <a:srgbClr val="18365D"/>
                </a:solidFill>
                <a:latin typeface="Aptos"/>
              </a:rPr>
              <a:t>Common errors to eliminate</a:t>
            </a:r>
          </a:p>
        </p:txBody>
      </p:sp>
      <p:sp>
        <p:nvSpPr>
          <p:cNvPr id="4" name="Rectangle 3"/>
          <p:cNvSpPr/>
          <p:nvPr/>
        </p:nvSpPr>
        <p:spPr>
          <a:xfrm>
            <a:off x="594360" y="1261872"/>
            <a:ext cx="10972800" cy="18288"/>
          </a:xfrm>
          <a:prstGeom prst="rect">
            <a:avLst/>
          </a:prstGeom>
          <a:solidFill>
            <a:srgbClr val="D7DD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446520"/>
            <a:ext cx="6400800" cy="201168"/>
          </a:xfrm>
          <a:prstGeom prst="rect">
            <a:avLst/>
          </a:prstGeom>
          <a:noFill/>
        </p:spPr>
        <p:txBody>
          <a:bodyPr wrap="none" lIns="27432" rIns="27432" tIns="27432" bIns="27432" anchor="t">
            <a:spAutoFit/>
          </a:bodyPr>
          <a:lstStyle/>
          <a:p>
            <a:pPr algn="l"/>
            <a:r>
              <a:rPr sz="800" b="0">
                <a:solidFill>
                  <a:srgbClr val="5F6976"/>
                </a:solidFill>
                <a:latin typeface="Aptos"/>
              </a:rPr>
              <a:t>LECTURE 05  •  MOTION IN A STRAIGHT LINE</a:t>
            </a:r>
          </a:p>
        </p:txBody>
      </p:sp>
      <p:sp>
        <p:nvSpPr>
          <p:cNvPr id="6" name="TextBox 5"/>
          <p:cNvSpPr txBox="1"/>
          <p:nvPr/>
        </p:nvSpPr>
        <p:spPr>
          <a:xfrm>
            <a:off x="10881360" y="6419088"/>
            <a:ext cx="685800" cy="228600"/>
          </a:xfrm>
          <a:prstGeom prst="rect">
            <a:avLst/>
          </a:prstGeom>
          <a:noFill/>
        </p:spPr>
        <p:txBody>
          <a:bodyPr wrap="none" lIns="27432" rIns="27432" tIns="27432" bIns="27432" anchor="t">
            <a:spAutoFit/>
          </a:bodyPr>
          <a:lstStyle/>
          <a:p>
            <a:pPr algn="r"/>
            <a:r>
              <a:rPr sz="900" b="1">
                <a:solidFill>
                  <a:srgbClr val="5F6976"/>
                </a:solidFill>
                <a:latin typeface="Aptos"/>
              </a:rPr>
              <a:t>26</a:t>
            </a:r>
          </a:p>
        </p:txBody>
      </p:sp>
      <p:sp>
        <p:nvSpPr>
          <p:cNvPr id="7" name="TextBox 6"/>
          <p:cNvSpPr txBox="1"/>
          <p:nvPr/>
        </p:nvSpPr>
        <p:spPr>
          <a:xfrm>
            <a:off x="914400" y="1600200"/>
            <a:ext cx="10241280" cy="3337560"/>
          </a:xfrm>
          <a:prstGeom prst="rect">
            <a:avLst/>
          </a:prstGeom>
          <a:noFill/>
        </p:spPr>
        <p:txBody>
          <a:bodyPr wrap="square" lIns="109728" rIns="73152">
            <a:spAutoFit/>
          </a:bodyPr>
          <a:lstStyle/>
          <a:p>
            <a:pPr>
              <a:spcAft>
                <a:spcPts val="400"/>
              </a:spcAft>
              <a:defRPr sz="1800">
                <a:solidFill>
                  <a:srgbClr val="B42D2D"/>
                </a:solidFill>
                <a:latin typeface="Aptos"/>
              </a:defRPr>
            </a:pPr>
            <a:r>
              <a:t>• Treating distance and displacement as identical</a:t>
            </a:r>
          </a:p>
          <a:p>
            <a:pPr>
              <a:spcAft>
                <a:spcPts val="400"/>
              </a:spcAft>
              <a:defRPr sz="1800">
                <a:solidFill>
                  <a:srgbClr val="B42D2D"/>
                </a:solidFill>
                <a:latin typeface="Aptos"/>
              </a:defRPr>
            </a:pPr>
            <a:r>
              <a:t>• Forgetting: displacement = final position − initial position</a:t>
            </a:r>
          </a:p>
          <a:p>
            <a:pPr>
              <a:spcAft>
                <a:spcPts val="400"/>
              </a:spcAft>
              <a:defRPr sz="1800">
                <a:solidFill>
                  <a:srgbClr val="B42D2D"/>
                </a:solidFill>
                <a:latin typeface="Aptos"/>
              </a:defRPr>
            </a:pPr>
            <a:r>
              <a:t>• Using a negative sign for distance</a:t>
            </a:r>
          </a:p>
          <a:p>
            <a:pPr>
              <a:spcAft>
                <a:spcPts val="400"/>
              </a:spcAft>
              <a:defRPr sz="1800">
                <a:solidFill>
                  <a:srgbClr val="B42D2D"/>
                </a:solidFill>
                <a:latin typeface="Aptos"/>
              </a:defRPr>
            </a:pPr>
            <a:r>
              <a:t>• Assuming zero displacement means no motion occurred</a:t>
            </a:r>
          </a:p>
          <a:p>
            <a:pPr>
              <a:spcAft>
                <a:spcPts val="400"/>
              </a:spcAft>
              <a:defRPr sz="1800">
                <a:solidFill>
                  <a:srgbClr val="B42D2D"/>
                </a:solidFill>
                <a:latin typeface="Aptos"/>
              </a:defRPr>
            </a:pPr>
            <a:r>
              <a:t>• Writing a numerical answer without unit or direction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3840480" cy="320040"/>
          </a:xfrm>
          <a:prstGeom prst="rect">
            <a:avLst/>
          </a:prstGeom>
          <a:noFill/>
        </p:spPr>
        <p:txBody>
          <a:bodyPr wrap="none" lIns="27432" rIns="27432" tIns="27432" bIns="27432" anchor="t">
            <a:spAutoFit/>
          </a:bodyPr>
          <a:lstStyle/>
          <a:p>
            <a:pPr algn="l"/>
            <a:r>
              <a:rPr sz="1100" b="1">
                <a:solidFill>
                  <a:srgbClr val="1F62A6"/>
                </a:solidFill>
                <a:latin typeface="Aptos"/>
              </a:rPr>
              <a:t>INDIVIDUAL RESPONSE</a:t>
            </a:r>
          </a:p>
        </p:txBody>
      </p:sp>
      <p:sp>
        <p:nvSpPr>
          <p:cNvPr id="3" name="TextBox 2"/>
          <p:cNvSpPr txBox="1"/>
          <p:nvPr/>
        </p:nvSpPr>
        <p:spPr>
          <a:xfrm>
            <a:off x="594360" y="594360"/>
            <a:ext cx="10972800" cy="658368"/>
          </a:xfrm>
          <a:prstGeom prst="rect">
            <a:avLst/>
          </a:prstGeom>
          <a:noFill/>
        </p:spPr>
        <p:txBody>
          <a:bodyPr wrap="none" lIns="27432" rIns="27432" tIns="27432" bIns="27432" anchor="t">
            <a:spAutoFit/>
          </a:bodyPr>
          <a:lstStyle/>
          <a:p>
            <a:pPr algn="l"/>
            <a:r>
              <a:rPr sz="2800" b="1">
                <a:solidFill>
                  <a:srgbClr val="18365D"/>
                </a:solidFill>
                <a:latin typeface="Aptos"/>
              </a:rPr>
              <a:t>Exit test</a:t>
            </a:r>
          </a:p>
        </p:txBody>
      </p:sp>
      <p:sp>
        <p:nvSpPr>
          <p:cNvPr id="4" name="Rectangle 3"/>
          <p:cNvSpPr/>
          <p:nvPr/>
        </p:nvSpPr>
        <p:spPr>
          <a:xfrm>
            <a:off x="594360" y="1261872"/>
            <a:ext cx="10972800" cy="18288"/>
          </a:xfrm>
          <a:prstGeom prst="rect">
            <a:avLst/>
          </a:prstGeom>
          <a:solidFill>
            <a:srgbClr val="D7DD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446520"/>
            <a:ext cx="6400800" cy="201168"/>
          </a:xfrm>
          <a:prstGeom prst="rect">
            <a:avLst/>
          </a:prstGeom>
          <a:noFill/>
        </p:spPr>
        <p:txBody>
          <a:bodyPr wrap="none" lIns="27432" rIns="27432" tIns="27432" bIns="27432" anchor="t">
            <a:spAutoFit/>
          </a:bodyPr>
          <a:lstStyle/>
          <a:p>
            <a:pPr algn="l"/>
            <a:r>
              <a:rPr sz="800" b="0">
                <a:solidFill>
                  <a:srgbClr val="5F6976"/>
                </a:solidFill>
                <a:latin typeface="Aptos"/>
              </a:rPr>
              <a:t>LECTURE 05  •  MOTION IN A STRAIGHT LINE</a:t>
            </a:r>
          </a:p>
        </p:txBody>
      </p:sp>
      <p:sp>
        <p:nvSpPr>
          <p:cNvPr id="6" name="TextBox 5"/>
          <p:cNvSpPr txBox="1"/>
          <p:nvPr/>
        </p:nvSpPr>
        <p:spPr>
          <a:xfrm>
            <a:off x="10881360" y="6419088"/>
            <a:ext cx="685800" cy="228600"/>
          </a:xfrm>
          <a:prstGeom prst="rect">
            <a:avLst/>
          </a:prstGeom>
          <a:noFill/>
        </p:spPr>
        <p:txBody>
          <a:bodyPr wrap="none" lIns="27432" rIns="27432" tIns="27432" bIns="27432" anchor="t">
            <a:spAutoFit/>
          </a:bodyPr>
          <a:lstStyle/>
          <a:p>
            <a:pPr algn="r"/>
            <a:r>
              <a:rPr sz="900" b="1">
                <a:solidFill>
                  <a:srgbClr val="5F6976"/>
                </a:solidFill>
                <a:latin typeface="Aptos"/>
              </a:rPr>
              <a:t>27</a:t>
            </a:r>
          </a:p>
        </p:txBody>
      </p:sp>
      <p:sp>
        <p:nvSpPr>
          <p:cNvPr id="7" name="TextBox 6"/>
          <p:cNvSpPr txBox="1"/>
          <p:nvPr/>
        </p:nvSpPr>
        <p:spPr>
          <a:xfrm>
            <a:off x="868680" y="1463040"/>
            <a:ext cx="10424160" cy="3429000"/>
          </a:xfrm>
          <a:prstGeom prst="rect">
            <a:avLst/>
          </a:prstGeom>
          <a:noFill/>
        </p:spPr>
        <p:txBody>
          <a:bodyPr wrap="square" lIns="109728" rIns="73152">
            <a:spAutoFit/>
          </a:bodyPr>
          <a:lstStyle/>
          <a:p>
            <a:pPr>
              <a:spcAft>
                <a:spcPts val="400"/>
              </a:spcAft>
              <a:defRPr sz="1800">
                <a:solidFill>
                  <a:srgbClr val="222831"/>
                </a:solidFill>
                <a:latin typeface="Aptos"/>
              </a:defRPr>
            </a:pPr>
            <a:r>
              <a:t>• What must be specified before calling an object at rest or in motion?</a:t>
            </a:r>
          </a:p>
          <a:p>
            <a:pPr>
              <a:spcAft>
                <a:spcPts val="400"/>
              </a:spcAft>
              <a:defRPr sz="1800">
                <a:solidFill>
                  <a:srgbClr val="222831"/>
                </a:solidFill>
                <a:latin typeface="Aptos"/>
              </a:defRPr>
            </a:pPr>
            <a:r>
              <a:t>• Write the position of an object 6 m left of the origin.</a:t>
            </a:r>
          </a:p>
          <a:p>
            <a:pPr>
              <a:spcAft>
                <a:spcPts val="400"/>
              </a:spcAft>
              <a:defRPr sz="1800">
                <a:solidFill>
                  <a:srgbClr val="222831"/>
                </a:solidFill>
                <a:latin typeface="Aptos"/>
              </a:defRPr>
            </a:pPr>
            <a:r>
              <a:t>• A moves 8 m east and 6 m west. Find distance and displacement.</a:t>
            </a:r>
          </a:p>
          <a:p>
            <a:pPr>
              <a:spcAft>
                <a:spcPts val="400"/>
              </a:spcAft>
              <a:defRPr sz="1800">
                <a:solidFill>
                  <a:srgbClr val="222831"/>
                </a:solidFill>
                <a:latin typeface="Aptos"/>
              </a:defRPr>
            </a:pPr>
            <a:r>
              <a:t>• What is displacement after returning to the starting point?</a:t>
            </a:r>
          </a:p>
          <a:p>
            <a:pPr>
              <a:spcAft>
                <a:spcPts val="400"/>
              </a:spcAft>
              <a:defRPr sz="1800">
                <a:solidFill>
                  <a:srgbClr val="222831"/>
                </a:solidFill>
                <a:latin typeface="Aptos"/>
              </a:defRPr>
            </a:pPr>
            <a:r>
              <a:t>• When does distance equal magnitude of displacement?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56032"/>
            <a:ext cx="3840480" cy="320040"/>
          </a:xfrm>
          <a:prstGeom prst="rect">
            <a:avLst/>
          </a:prstGeom>
          <a:noFill/>
        </p:spPr>
        <p:txBody>
          <a:bodyPr wrap="none" lIns="27432" rIns="27432" tIns="27432" bIns="27432" anchor="t">
            <a:spAutoFit/>
          </a:bodyPr>
          <a:lstStyle/>
          <a:p>
            <a:pPr algn="l"/>
            <a:r>
              <a:rPr sz="1100" b="1">
                <a:solidFill>
                  <a:srgbClr val="1F62A6"/>
                </a:solidFill>
                <a:latin typeface="Aptos"/>
              </a:rPr>
              <a:t>CLOSURE</a:t>
            </a:r>
          </a:p>
        </p:txBody>
      </p:sp>
      <p:sp>
        <p:nvSpPr>
          <p:cNvPr id="3" name="TextBox 2"/>
          <p:cNvSpPr txBox="1"/>
          <p:nvPr/>
        </p:nvSpPr>
        <p:spPr>
          <a:xfrm>
            <a:off x="594360" y="594360"/>
            <a:ext cx="10972800" cy="658368"/>
          </a:xfrm>
          <a:prstGeom prst="rect">
            <a:avLst/>
          </a:prstGeom>
          <a:noFill/>
        </p:spPr>
        <p:txBody>
          <a:bodyPr wrap="none" lIns="27432" rIns="27432" tIns="27432" bIns="27432" anchor="t">
            <a:spAutoFit/>
          </a:bodyPr>
          <a:lstStyle/>
          <a:p>
            <a:pPr algn="l"/>
            <a:r>
              <a:rPr sz="2800" b="1">
                <a:solidFill>
                  <a:srgbClr val="18365D"/>
                </a:solidFill>
                <a:latin typeface="Aptos"/>
              </a:rPr>
              <a:t>Takeaway and daily practice</a:t>
            </a:r>
          </a:p>
        </p:txBody>
      </p:sp>
      <p:sp>
        <p:nvSpPr>
          <p:cNvPr id="4" name="Rectangle 3"/>
          <p:cNvSpPr/>
          <p:nvPr/>
        </p:nvSpPr>
        <p:spPr>
          <a:xfrm>
            <a:off x="594360" y="1261872"/>
            <a:ext cx="10972800" cy="18288"/>
          </a:xfrm>
          <a:prstGeom prst="rect">
            <a:avLst/>
          </a:prstGeom>
          <a:solidFill>
            <a:srgbClr val="D7DD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446520"/>
            <a:ext cx="6400800" cy="201168"/>
          </a:xfrm>
          <a:prstGeom prst="rect">
            <a:avLst/>
          </a:prstGeom>
          <a:noFill/>
        </p:spPr>
        <p:txBody>
          <a:bodyPr wrap="none" lIns="27432" rIns="27432" tIns="27432" bIns="27432" anchor="t">
            <a:spAutoFit/>
          </a:bodyPr>
          <a:lstStyle/>
          <a:p>
            <a:pPr algn="l"/>
            <a:r>
              <a:rPr sz="800" b="0">
                <a:solidFill>
                  <a:srgbClr val="5F6976"/>
                </a:solidFill>
                <a:latin typeface="Aptos"/>
              </a:rPr>
              <a:t>LECTURE 05  •  MOTION IN A STRAIGHT LINE</a:t>
            </a:r>
          </a:p>
        </p:txBody>
      </p:sp>
      <p:sp>
        <p:nvSpPr>
          <p:cNvPr id="6" name="TextBox 5"/>
          <p:cNvSpPr txBox="1"/>
          <p:nvPr/>
        </p:nvSpPr>
        <p:spPr>
          <a:xfrm>
            <a:off x="10881360" y="6419088"/>
            <a:ext cx="685800" cy="228600"/>
          </a:xfrm>
          <a:prstGeom prst="rect">
            <a:avLst/>
          </a:prstGeom>
          <a:noFill/>
        </p:spPr>
        <p:txBody>
          <a:bodyPr wrap="none" lIns="27432" rIns="27432" tIns="27432" bIns="27432" anchor="t">
            <a:spAutoFit/>
          </a:bodyPr>
          <a:lstStyle/>
          <a:p>
            <a:pPr algn="r"/>
            <a:r>
              <a:rPr sz="900" b="1">
                <a:solidFill>
                  <a:srgbClr val="5F6976"/>
                </a:solidFill>
                <a:latin typeface="Aptos"/>
              </a:rPr>
              <a:t>28</a:t>
            </a:r>
          </a:p>
        </p:txBody>
      </p:sp>
      <p:sp>
        <p:nvSpPr>
          <p:cNvPr id="7" name="Rounded Rectangle 6"/>
          <p:cNvSpPr/>
          <p:nvPr/>
        </p:nvSpPr>
        <p:spPr>
          <a:xfrm>
            <a:off x="822960" y="1600200"/>
            <a:ext cx="5074920" cy="495172"/>
          </a:xfrm>
          <a:prstGeom prst="roundRect">
            <a:avLst/>
          </a:prstGeom>
          <a:solidFill>
            <a:srgbClr val="F7F9FC"/>
          </a:solidFill>
          <a:ln w="11430">
            <a:solidFill>
              <a:srgbClr val="D7DD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719072"/>
            <a:ext cx="1691640" cy="284860"/>
          </a:xfrm>
          <a:prstGeom prst="rect">
            <a:avLst/>
          </a:prstGeom>
          <a:noFill/>
        </p:spPr>
        <p:txBody>
          <a:bodyPr wrap="none" lIns="18288" rIns="18288" tIns="9144" bIns="9144" anchor="t">
            <a:spAutoFit/>
          </a:bodyPr>
          <a:lstStyle/>
          <a:p>
            <a:pPr algn="l">
              <a:lnSpc>
                <a:spcPct val="100000"/>
              </a:lnSpc>
              <a:spcBef>
                <a:spcPts val="0"/>
              </a:spcBef>
              <a:spcAft>
                <a:spcPts val="0"/>
              </a:spcAft>
            </a:pPr>
            <a:r>
              <a:rPr sz="1700" b="1">
                <a:solidFill>
                  <a:srgbClr val="1F62A6"/>
                </a:solidFill>
                <a:latin typeface="Aptos"/>
              </a:rPr>
              <a:t>Frame</a:t>
            </a:r>
          </a:p>
        </p:txBody>
      </p:sp>
      <p:sp>
        <p:nvSpPr>
          <p:cNvPr id="9" name="TextBox 8"/>
          <p:cNvSpPr txBox="1"/>
          <p:nvPr/>
        </p:nvSpPr>
        <p:spPr>
          <a:xfrm>
            <a:off x="2697479" y="1719072"/>
            <a:ext cx="2926080" cy="255651"/>
          </a:xfrm>
          <a:prstGeom prst="rect">
            <a:avLst/>
          </a:prstGeom>
          <a:noFill/>
        </p:spPr>
        <p:txBody>
          <a:bodyPr wrap="none" lIns="18288" rIns="18288" tIns="9144" bIns="9144" anchor="t">
            <a:spAutoFit/>
          </a:bodyPr>
          <a:lstStyle/>
          <a:p>
            <a:pPr algn="l">
              <a:lnSpc>
                <a:spcPct val="100000"/>
              </a:lnSpc>
              <a:spcBef>
                <a:spcPts val="0"/>
              </a:spcBef>
              <a:spcAft>
                <a:spcPts val="0"/>
              </a:spcAft>
            </a:pPr>
            <a:r>
              <a:rPr sz="1500" b="0">
                <a:solidFill>
                  <a:srgbClr val="222831"/>
                </a:solidFill>
                <a:latin typeface="Aptos"/>
              </a:rPr>
              <a:t>origin + direction + clock</a:t>
            </a:r>
          </a:p>
        </p:txBody>
      </p:sp>
      <p:sp>
        <p:nvSpPr>
          <p:cNvPr id="10" name="Rounded Rectangle 9"/>
          <p:cNvSpPr/>
          <p:nvPr/>
        </p:nvSpPr>
        <p:spPr>
          <a:xfrm>
            <a:off x="6355080" y="1600200"/>
            <a:ext cx="5074920" cy="495172"/>
          </a:xfrm>
          <a:prstGeom prst="roundRect">
            <a:avLst/>
          </a:prstGeom>
          <a:solidFill>
            <a:srgbClr val="F7F9FC"/>
          </a:solidFill>
          <a:ln w="11430">
            <a:solidFill>
              <a:srgbClr val="D7DD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37960" y="1719072"/>
            <a:ext cx="1691640" cy="284860"/>
          </a:xfrm>
          <a:prstGeom prst="rect">
            <a:avLst/>
          </a:prstGeom>
          <a:noFill/>
        </p:spPr>
        <p:txBody>
          <a:bodyPr wrap="none" lIns="18288" rIns="18288" tIns="9144" bIns="9144" anchor="t">
            <a:spAutoFit/>
          </a:bodyPr>
          <a:lstStyle/>
          <a:p>
            <a:pPr algn="l">
              <a:lnSpc>
                <a:spcPct val="100000"/>
              </a:lnSpc>
              <a:spcBef>
                <a:spcPts val="0"/>
              </a:spcBef>
              <a:spcAft>
                <a:spcPts val="0"/>
              </a:spcAft>
            </a:pPr>
            <a:r>
              <a:rPr sz="1700" b="1">
                <a:solidFill>
                  <a:srgbClr val="1F62A6"/>
                </a:solidFill>
                <a:latin typeface="Aptos"/>
              </a:rPr>
              <a:t>Position</a:t>
            </a:r>
          </a:p>
        </p:txBody>
      </p:sp>
      <p:sp>
        <p:nvSpPr>
          <p:cNvPr id="12" name="TextBox 11"/>
          <p:cNvSpPr txBox="1"/>
          <p:nvPr/>
        </p:nvSpPr>
        <p:spPr>
          <a:xfrm>
            <a:off x="8229600" y="1719072"/>
            <a:ext cx="2926080" cy="255651"/>
          </a:xfrm>
          <a:prstGeom prst="rect">
            <a:avLst/>
          </a:prstGeom>
          <a:noFill/>
        </p:spPr>
        <p:txBody>
          <a:bodyPr wrap="none" lIns="18288" rIns="18288" tIns="9144" bIns="9144" anchor="t">
            <a:spAutoFit/>
          </a:bodyPr>
          <a:lstStyle/>
          <a:p>
            <a:pPr algn="l">
              <a:lnSpc>
                <a:spcPct val="100000"/>
              </a:lnSpc>
              <a:spcBef>
                <a:spcPts val="0"/>
              </a:spcBef>
              <a:spcAft>
                <a:spcPts val="0"/>
              </a:spcAft>
            </a:pPr>
            <a:r>
              <a:rPr sz="1500" b="0">
                <a:solidFill>
                  <a:srgbClr val="222831"/>
                </a:solidFill>
                <a:latin typeface="Aptos"/>
              </a:rPr>
              <a:t>location relative to origin</a:t>
            </a:r>
          </a:p>
        </p:txBody>
      </p:sp>
      <p:sp>
        <p:nvSpPr>
          <p:cNvPr id="13" name="Rounded Rectangle 12"/>
          <p:cNvSpPr/>
          <p:nvPr/>
        </p:nvSpPr>
        <p:spPr>
          <a:xfrm>
            <a:off x="822960" y="3017520"/>
            <a:ext cx="5074920" cy="495172"/>
          </a:xfrm>
          <a:prstGeom prst="roundRect">
            <a:avLst/>
          </a:prstGeom>
          <a:solidFill>
            <a:srgbClr val="F7F9FC"/>
          </a:solidFill>
          <a:ln w="11430">
            <a:solidFill>
              <a:srgbClr val="D7DD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3136392"/>
            <a:ext cx="1691640" cy="284860"/>
          </a:xfrm>
          <a:prstGeom prst="rect">
            <a:avLst/>
          </a:prstGeom>
          <a:noFill/>
        </p:spPr>
        <p:txBody>
          <a:bodyPr wrap="none" lIns="18288" rIns="18288" tIns="9144" bIns="9144" anchor="t">
            <a:spAutoFit/>
          </a:bodyPr>
          <a:lstStyle/>
          <a:p>
            <a:pPr algn="l">
              <a:lnSpc>
                <a:spcPct val="100000"/>
              </a:lnSpc>
              <a:spcBef>
                <a:spcPts val="0"/>
              </a:spcBef>
              <a:spcAft>
                <a:spcPts val="0"/>
              </a:spcAft>
            </a:pPr>
            <a:r>
              <a:rPr sz="1700" b="1">
                <a:solidFill>
                  <a:srgbClr val="1F62A6"/>
                </a:solidFill>
                <a:latin typeface="Aptos"/>
              </a:rPr>
              <a:t>Distance</a:t>
            </a:r>
          </a:p>
        </p:txBody>
      </p:sp>
      <p:sp>
        <p:nvSpPr>
          <p:cNvPr id="15" name="TextBox 14"/>
          <p:cNvSpPr txBox="1"/>
          <p:nvPr/>
        </p:nvSpPr>
        <p:spPr>
          <a:xfrm>
            <a:off x="2697479" y="3136392"/>
            <a:ext cx="2926080" cy="255651"/>
          </a:xfrm>
          <a:prstGeom prst="rect">
            <a:avLst/>
          </a:prstGeom>
          <a:noFill/>
        </p:spPr>
        <p:txBody>
          <a:bodyPr wrap="none" lIns="18288" rIns="18288" tIns="9144" bIns="9144" anchor="t">
            <a:spAutoFit/>
          </a:bodyPr>
          <a:lstStyle/>
          <a:p>
            <a:pPr algn="l">
              <a:lnSpc>
                <a:spcPct val="100000"/>
              </a:lnSpc>
              <a:spcBef>
                <a:spcPts val="0"/>
              </a:spcBef>
              <a:spcAft>
                <a:spcPts val="0"/>
              </a:spcAft>
            </a:pPr>
            <a:r>
              <a:rPr sz="1500" b="0">
                <a:solidFill>
                  <a:srgbClr val="222831"/>
                </a:solidFill>
                <a:latin typeface="Aptos"/>
              </a:rPr>
              <a:t>total actual path length</a:t>
            </a:r>
          </a:p>
        </p:txBody>
      </p:sp>
      <p:sp>
        <p:nvSpPr>
          <p:cNvPr id="16" name="Rounded Rectangle 15"/>
          <p:cNvSpPr/>
          <p:nvPr/>
        </p:nvSpPr>
        <p:spPr>
          <a:xfrm>
            <a:off x="6355080" y="3017520"/>
            <a:ext cx="5074920" cy="495172"/>
          </a:xfrm>
          <a:prstGeom prst="roundRect">
            <a:avLst/>
          </a:prstGeom>
          <a:solidFill>
            <a:srgbClr val="F7F9FC"/>
          </a:solidFill>
          <a:ln w="11430">
            <a:solidFill>
              <a:srgbClr val="D7DD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37960" y="3136392"/>
            <a:ext cx="1691640" cy="284860"/>
          </a:xfrm>
          <a:prstGeom prst="rect">
            <a:avLst/>
          </a:prstGeom>
          <a:noFill/>
        </p:spPr>
        <p:txBody>
          <a:bodyPr wrap="none" lIns="18288" rIns="18288" tIns="9144" bIns="9144" anchor="t">
            <a:spAutoFit/>
          </a:bodyPr>
          <a:lstStyle/>
          <a:p>
            <a:pPr algn="l">
              <a:lnSpc>
                <a:spcPct val="100000"/>
              </a:lnSpc>
              <a:spcBef>
                <a:spcPts val="0"/>
              </a:spcBef>
              <a:spcAft>
                <a:spcPts val="0"/>
              </a:spcAft>
            </a:pPr>
            <a:r>
              <a:rPr sz="1700" b="1">
                <a:solidFill>
                  <a:srgbClr val="1F62A6"/>
                </a:solidFill>
                <a:latin typeface="Aptos"/>
              </a:rPr>
              <a:t>Displacement</a:t>
            </a:r>
          </a:p>
        </p:txBody>
      </p:sp>
      <p:sp>
        <p:nvSpPr>
          <p:cNvPr id="18" name="TextBox 17"/>
          <p:cNvSpPr txBox="1"/>
          <p:nvPr/>
        </p:nvSpPr>
        <p:spPr>
          <a:xfrm>
            <a:off x="8229600" y="3136392"/>
            <a:ext cx="2926080" cy="255651"/>
          </a:xfrm>
          <a:prstGeom prst="rect">
            <a:avLst/>
          </a:prstGeom>
          <a:noFill/>
        </p:spPr>
        <p:txBody>
          <a:bodyPr wrap="none" lIns="18288" rIns="18288" tIns="9144" bIns="9144" anchor="t">
            <a:spAutoFit/>
          </a:bodyPr>
          <a:lstStyle/>
          <a:p>
            <a:pPr algn="l">
              <a:lnSpc>
                <a:spcPct val="100000"/>
              </a:lnSpc>
              <a:spcBef>
                <a:spcPts val="0"/>
              </a:spcBef>
              <a:spcAft>
                <a:spcPts val="0"/>
              </a:spcAft>
            </a:pPr>
            <a:r>
              <a:rPr sz="1500" b="0">
                <a:solidFill>
                  <a:srgbClr val="222831"/>
                </a:solidFill>
                <a:latin typeface="Aptos"/>
              </a:rPr>
              <a:t>Δx = xᶠ − xᵢ</a:t>
            </a:r>
          </a:p>
        </p:txBody>
      </p:sp>
      <p:sp>
        <p:nvSpPr>
          <p:cNvPr id="19" name="Rounded Rectangle 18"/>
          <p:cNvSpPr/>
          <p:nvPr/>
        </p:nvSpPr>
        <p:spPr>
          <a:xfrm>
            <a:off x="1051560" y="4434840"/>
            <a:ext cx="10058400" cy="509777"/>
          </a:xfrm>
          <a:prstGeom prst="roundRect">
            <a:avLst/>
          </a:prstGeom>
          <a:solidFill>
            <a:srgbClr val="FFF7E0"/>
          </a:solidFill>
          <a:ln w="11430">
            <a:solidFill>
              <a:srgbClr val="BE7E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4553712"/>
            <a:ext cx="9509760" cy="299465"/>
          </a:xfrm>
          <a:prstGeom prst="rect">
            <a:avLst/>
          </a:prstGeom>
          <a:noFill/>
        </p:spPr>
        <p:txBody>
          <a:bodyPr wrap="none" lIns="18288" rIns="18288" tIns="9144" bIns="9144" anchor="t">
            <a:spAutoFit/>
          </a:bodyPr>
          <a:lstStyle/>
          <a:p>
            <a:pPr algn="l">
              <a:lnSpc>
                <a:spcPct val="100000"/>
              </a:lnSpc>
              <a:spcBef>
                <a:spcPts val="0"/>
              </a:spcBef>
              <a:spcAft>
                <a:spcPts val="0"/>
              </a:spcAft>
            </a:pPr>
            <a:r>
              <a:rPr sz="1800" b="1">
                <a:solidFill>
                  <a:srgbClr val="BE7E00"/>
                </a:solidFill>
                <a:latin typeface="Aptos"/>
              </a:rPr>
              <a:t>Next: average speed, average velocity and motion graphs</a:t>
            </a:r>
          </a:p>
        </p:txBody>
      </p:sp>
      <p:sp>
        <p:nvSpPr>
          <p:cNvPr id="21" name="Rectangle 20"/>
          <p:cNvSpPr/>
          <p:nvPr/>
        </p:nvSpPr>
        <p:spPr>
          <a:xfrm>
            <a:off x="822960" y="1600200"/>
            <a:ext cx="59436" cy="495172"/>
          </a:xfrm>
          <a:prstGeom prst="rect">
            <a:avLst/>
          </a:prstGeom>
          <a:solidFill>
            <a:srgbClr val="1F62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355080" y="1600200"/>
            <a:ext cx="59436" cy="495172"/>
          </a:xfrm>
          <a:prstGeom prst="rect">
            <a:avLst/>
          </a:prstGeom>
          <a:solidFill>
            <a:srgbClr val="1F62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22960" y="3017520"/>
            <a:ext cx="59436" cy="495172"/>
          </a:xfrm>
          <a:prstGeom prst="rect">
            <a:avLst/>
          </a:prstGeom>
          <a:solidFill>
            <a:srgbClr val="1F62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355080" y="3017520"/>
            <a:ext cx="59436" cy="495172"/>
          </a:xfrm>
          <a:prstGeom prst="rect">
            <a:avLst/>
          </a:prstGeom>
          <a:solidFill>
            <a:srgbClr val="1F62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051560" y="4434840"/>
            <a:ext cx="59436" cy="509777"/>
          </a:xfrm>
          <a:prstGeom prst="rect">
            <a:avLst/>
          </a:prstGeom>
          <a:solidFill>
            <a:srgbClr val="BE7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